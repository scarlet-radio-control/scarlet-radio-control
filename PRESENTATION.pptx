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256" r:id="rId2"/>
    <p:sldId id="257" r:id="rId3"/>
    <p:sldId id="258" r:id="rId4"/>
    <p:sldId id="259" r:id="rId5"/>
    <p:sldId id="292" r:id="rId6"/>
    <p:sldId id="260" r:id="rId7"/>
    <p:sldId id="261" r:id="rId8"/>
    <p:sldId id="262" r:id="rId9"/>
    <p:sldId id="263" r:id="rId10"/>
    <p:sldId id="264" r:id="rId11"/>
    <p:sldId id="265" r:id="rId12"/>
    <p:sldId id="266" r:id="rId13"/>
    <p:sldId id="293" r:id="rId14"/>
    <p:sldId id="267" r:id="rId15"/>
    <p:sldId id="268" r:id="rId16"/>
    <p:sldId id="270" r:id="rId17"/>
    <p:sldId id="269" r:id="rId18"/>
    <p:sldId id="288" r:id="rId19"/>
    <p:sldId id="271" r:id="rId20"/>
    <p:sldId id="272" r:id="rId21"/>
    <p:sldId id="289" r:id="rId22"/>
    <p:sldId id="290" r:id="rId23"/>
    <p:sldId id="273" r:id="rId24"/>
    <p:sldId id="274" r:id="rId25"/>
    <p:sldId id="291" r:id="rId26"/>
    <p:sldId id="275" r:id="rId27"/>
    <p:sldId id="297" r:id="rId28"/>
    <p:sldId id="276" r:id="rId29"/>
    <p:sldId id="294" r:id="rId30"/>
    <p:sldId id="277" r:id="rId31"/>
    <p:sldId id="278" r:id="rId32"/>
    <p:sldId id="279" r:id="rId33"/>
    <p:sldId id="280" r:id="rId34"/>
    <p:sldId id="281" r:id="rId35"/>
    <p:sldId id="295" r:id="rId36"/>
    <p:sldId id="282" r:id="rId37"/>
    <p:sldId id="283" r:id="rId38"/>
    <p:sldId id="296" r:id="rId39"/>
    <p:sldId id="284" r:id="rId40"/>
    <p:sldId id="285" r:id="rId41"/>
    <p:sldId id="286" r:id="rId42"/>
    <p:sldId id="287" r:id="rId4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Theory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Issues and Iterations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r>
              <a:t>Logitech originally advertised the C920 with H.264 video encoding. Logitech later explained that it removed in-camera encoding resources from C920 and related webcam models.</a:t>
            </a:r>
          </a:p>
          <a:p>
            <a:r>
              <a:t>The advertised capability therefore does not describe newer hardware revisions. The project camera supplies MJPEG, and the repository configures FFmpeg to decode it and encode H.264 with libx264.</a:t>
            </a:r>
          </a:p>
          <a:p>
            <a:r>
              <a:t>Software encoding adds CPU work, heat and encoding latency on the Raspberry Pi. No measured CPU percentage or encoding-only latency is claimed.</a:t>
            </a:r>
          </a:p>
          <a:p>
            <a:r>
              <a:t>The external FFmpeg process improves deployment isolation but leaves software encoding on the Raspberry Pi.</a:t>
            </a:r>
          </a:p>
          <a:p>
            <a:r>
              <a:t>Sources:</a:t>
            </a:r>
          </a:p>
          <a:p>
            <a:r>
              <a:t>Logitech, Logitech Webcams and H.264 Encoding: https://support.logi.com/hc/en-gb/articles/40102104890647-Logitech-Webcams-and-H-264-Encoding</a:t>
            </a:r>
          </a:p>
          <a:p>
            <a:r>
              <a:t>Logitech, 2012 C920 announcement: https://news.logitech.com/press-releases/news-details/2012/Logitech-Unveils-Full-HD-Webcam-for-1080p-Video-Calling/default.aspx</a:t>
            </a:r>
          </a:p>
          <a:p>
            <a:r>
              <a:t>Repository: PLAN.md, appsettings.json and CameraVideoSource.cs.</a:t>
            </a:r>
          </a:p>
          <a:p>
            <a:r>
              <a:t>TFM.docx, pp. 29-30 and 36-39.</a:t>
            </a:r>
          </a:p>
          <a:p>
            <a:r>
              <a:t>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solution is pending implementation. The current prototype still captures MJPEG and uses libx264 to encode H.264 in software.</a:t>
            </a:r>
          </a:p>
          <a:p>
            <a:r>
              <a:t>Select and verify a webcam whose exact hardware revision exposes an onboard H.264 stream. No replacement camera has been selected or validated for this slide.</a:t>
            </a:r>
          </a:p>
          <a:p>
            <a:r>
              <a:t>Adapt capture to receive browser-compatible H.264 and feed the encoded video into the existing RTP and WebRTC pipeline. Confirm profile, SPS/PPS, packetization, bitrate and keyframe behavior during integration.</a:t>
            </a:r>
          </a:p>
          <a:p>
            <a:r>
              <a:t>The expected benefit is removing MJPEG decoding and software H.264 encoding from the Raspberry Pi. CPU savings and end-to-end latency remain to be measured.</a:t>
            </a:r>
          </a:p>
          <a:p>
            <a:r>
              <a:t>Sources: existing presentation slide Hardware and Direct H.264; repository PLAN.md, appsettings.json and CameraVideoSource.cs; requested implementation status.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author reports brief Raspberry Pi disconnections when the RC car demands high current. A supply-voltage dip is a suspected mechanism, not a measured brownout diagnosis.</a:t>
            </a:r>
          </a:p>
          <a:p>
            <a:r>
              <a:t>The prototype uses a NiMH battery and an existing small DC-DC regulator. Electrical protection and validation are proposed future work on the following slide.</a:t>
            </a:r>
          </a:p>
          <a:p>
            <a:r>
              <a:t>Sources: PLAN.md, author observation on electrical input; TFM.docx, Power Supply System and Protected Electrical Design. No measured voltage waveform or completed protection validation is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implemented temporary solution uses a Xiaomi 33W power bank to supply the Raspberry Pi. The aim is to separate its power source from the motor current demand described on the preceding problem slide.</a:t>
            </a:r>
          </a:p>
          <a:p>
            <a:r>
              <a:t>The user confirmed the power bank and temporary status on 8 September 2026. No exact model, battery capacity, output profile, operating duration or measured improvement was provided. The 33W label identifies the user-described product; it is not a measurement of Raspberry Pi power consumption.</a:t>
            </a:r>
          </a:p>
          <a:p>
            <a:r>
              <a:t>The permanent protected electrical design remains future work, as described in TFM.docx under Protected Electrical Design and in the corresponding Future Work slide. It is separate from the temporary power bank setup.</a:t>
            </a:r>
          </a:p>
          <a:p>
            <a:r>
              <a:t>Image source: Xiaomi official product page, https://www.mi.com/global/product/xiaomi-33w-power-bank-10000-integrated-cable/</a:t>
            </a:r>
          </a:p>
          <a:p>
            <a:r>
              <a:t>Original image: https://i02.appmifile.com/mi-com-product/fly-birds/xiaomi-33w-power-bank-10000-integrated-cable/pc/e3920e7dc32c0b681d251394550f7f70.jpg</a:t>
            </a:r>
          </a:p>
          <a:p>
            <a:r>
              <a:t>The photograph is a product reference for the Xiaomi 33W Power Bank 10000 (Integrated Cable), not a photograph of the prototype. The user did not specify capacity or colour. No added model specification is a claim about the installed unit.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Potential Aplications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Video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E3D74CF7-519A-49EC-90B5-C5D6B3ED2585}"/>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Theory</a:t>
            </a:r>
          </a:p>
        </p:txBody>
      </p:sp>
      <p:sp>
        <p:nvSpPr>
          <p:cNvPr id="3" name="Rectángulo 2">
            <a:extLst>
              <a:ext uri="{FF2B5EF4-FFF2-40B4-BE49-F238E27FC236}">
                <a16:creationId xmlns:a16="http://schemas.microsoft.com/office/drawing/2014/main" id="{3B6837E8-75CC-400F-893D-84CDCECE82C4}"/>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49759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07</a:t>
            </a:r>
            <a:endParaRPr sz="1125" b="1">
              <a:solidFill>
                <a:srgbClr val="6F686D"/>
              </a:solidFill>
              <a:latin typeface="Arial"/>
              <a:ea typeface="Arial"/>
              <a:cs typeface="Arial"/>
            </a:endParaRP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08</a:t>
            </a:r>
            <a:endParaRPr sz="1125" b="1">
              <a:solidFill>
                <a:srgbClr val="6F686D"/>
              </a:solidFill>
              <a:latin typeface="Arial"/>
              <a:ea typeface="Arial"/>
              <a:cs typeface="Arial"/>
            </a:endParaRP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lnSpcReduction="20000"/>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fontScale="92500"/>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11</a:t>
            </a:r>
            <a:endParaRPr sz="1125" b="1">
              <a:solidFill>
                <a:srgbClr val="6F686D"/>
              </a:solidFill>
              <a:latin typeface="Arial"/>
              <a:ea typeface="Arial"/>
              <a:cs typeface="Arial"/>
            </a:endParaRP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12</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3F9CECB-13C6-436F-8CCF-DE854985E5F3}"/>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Issues and Iterations</a:t>
            </a:r>
          </a:p>
        </p:txBody>
      </p:sp>
      <p:sp>
        <p:nvSpPr>
          <p:cNvPr id="3" name="Rectángulo 2">
            <a:extLst>
              <a:ext uri="{FF2B5EF4-FFF2-40B4-BE49-F238E27FC236}">
                <a16:creationId xmlns:a16="http://schemas.microsoft.com/office/drawing/2014/main" id="{A87A1E2A-CAA0-46AE-A133-AF40FF2AA099}"/>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4557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15</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17</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18</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19</a:t>
            </a:r>
            <a:endParaRPr sz="1125" b="1">
              <a:solidFill>
                <a:srgbClr val="6F686D"/>
              </a:solidFill>
              <a:latin typeface="Arial"/>
              <a:ea typeface="Arial"/>
              <a:cs typeface="Arial"/>
            </a:endParaRP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20</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21</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22</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Problem: CPU Encoding</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CPU ENCODING COST</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238500" y="5200650"/>
            <a:ext cx="7715250" cy="36195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More CPU load, heat and encoding latency</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38500" y="5657850"/>
            <a:ext cx="7810500" cy="26670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Low-latency settings reduce buffering, but encoding still runs on the CPU.</a:t>
            </a:r>
          </a:p>
        </p:txBody>
      </p:sp>
      <p:sp>
        <p:nvSpPr>
          <p:cNvPr id="100" name="CPU encoding text 100"/>
          <p:cNvSpPr>
            <a:spLocks noGrp="1"/>
          </p:cNvSpPr>
          <p:nvPr/>
        </p:nvSpPr>
        <p:spPr>
          <a:xfrm>
            <a:off x="685800" y="17145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H.264 support</a:t>
            </a:r>
          </a:p>
        </p:txBody>
      </p:sp>
      <p:sp>
        <p:nvSpPr>
          <p:cNvPr id="101" name="CPU encoding text 101"/>
          <p:cNvSpPr>
            <a:spLocks noGrp="1"/>
          </p:cNvSpPr>
          <p:nvPr/>
        </p:nvSpPr>
        <p:spPr>
          <a:xfrm>
            <a:off x="685800" y="2133600"/>
            <a:ext cx="6591300" cy="809625"/>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Logitech advertised the C920 as H.264-ready.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Newer revisions removed the in-camera encoder.</a:t>
            </a:r>
          </a:p>
        </p:txBody>
      </p:sp>
      <p:sp>
        <p:nvSpPr>
          <p:cNvPr id="102" name="CPU encoding text 102"/>
          <p:cNvSpPr>
            <a:spLocks noGrp="1"/>
          </p:cNvSpPr>
          <p:nvPr/>
        </p:nvSpPr>
        <p:spPr>
          <a:xfrm>
            <a:off x="685800" y="32766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Re-encoding on the Raspberry Pi</a:t>
            </a:r>
          </a:p>
        </p:txBody>
      </p:sp>
      <p:sp>
        <p:nvSpPr>
          <p:cNvPr id="103" name="CPU encoding text 103"/>
          <p:cNvSpPr>
            <a:spLocks noGrp="1"/>
          </p:cNvSpPr>
          <p:nvPr/>
        </p:nvSpPr>
        <p:spPr>
          <a:xfrm>
            <a:off x="685800" y="3695700"/>
            <a:ext cx="6591300" cy="106680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Our camera supplies MJPEG. The Raspberry Pi</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must decode it and re-encode to H.264 using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FFmpeg/libx264 for our WebRTC stream.</a:t>
            </a:r>
          </a:p>
        </p:txBody>
      </p:sp>
    </p:spTree>
    <p:extLst>
      <p:ext uri="{BB962C8B-B14F-4D97-AF65-F5344CB8AC3E}">
        <p14:creationId xmlns:p14="http://schemas.microsoft.com/office/powerpoint/2010/main" val="171794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D6E54195-700E-4987-97B1-9F6B39CA5C29}"/>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FB4C0CE-1C00-49FD-A428-2187462683F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WebCam with H264</a:t>
            </a:r>
          </a:p>
        </p:txBody>
      </p:sp>
      <p:sp>
        <p:nvSpPr>
          <p:cNvPr id="3" name="Rectángulo 2">
            <a:extLst>
              <a:ext uri="{FF2B5EF4-FFF2-40B4-BE49-F238E27FC236}">
                <a16:creationId xmlns:a16="http://schemas.microsoft.com/office/drawing/2014/main" id="{1A22150B-823A-40F8-AF42-E5E95B70EFF7}"/>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39F9313-55C5-4DDF-8023-4ADF4908E6E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25</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1">
                <a:solidFill>
                  <a:srgbClr val="830051"/>
                </a:solidFill>
                <a:latin typeface="Arial"/>
                <a:ea typeface="Arial"/>
                <a:cs typeface="Arial"/>
              </a:defRPr>
            </a:pPr>
            <a:r>
              <a:rPr sz="1800" b="1" dirty="0" err="1">
                <a:solidFill>
                  <a:srgbClr val="830051"/>
                </a:solidFill>
                <a:latin typeface="Arial"/>
                <a:ea typeface="Arial"/>
                <a:cs typeface="Arial"/>
              </a:rPr>
              <a:t>PENDING IMPLEMENTATION</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Proposed hardware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a webcam with a verified onboard H.264 encoder.</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Check H.264 output on the exact hardware revision.</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Planned media path</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Capture browser-compatible H.264 directly and feed it</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into the existing RTP and WebRTC pipeline.</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Expected benefit</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Skip MJPEG decoding and software H.264 encoding.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Measure CPU savings and latency after integration.</a:t>
            </a:r>
          </a:p>
        </p:txBody>
      </p:sp>
    </p:spTree>
    <p:extLst>
      <p:ext uri="{BB962C8B-B14F-4D97-AF65-F5344CB8AC3E}">
        <p14:creationId xmlns:p14="http://schemas.microsoft.com/office/powerpoint/2010/main" val="6740365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26</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695575"/>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695575"/>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Suspected</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voltage dip</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695575"/>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3171825"/>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3171825"/>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00" name="Power supply text 100">
            <a:extLst>
              <a:ext uri="{FF2B5EF4-FFF2-40B4-BE49-F238E27FC236}">
                <a16:creationId xmlns:a16="http://schemas.microsoft.com/office/drawing/2014/main" id="{B1ED62EE-685E-45B9-B710-D3157B114E08}"/>
              </a:ext>
            </a:extLst>
          </p:cNvPr>
          <p:cNvSpPr>
            <a:spLocks noGrp="1"/>
          </p:cNvSpPr>
          <p:nvPr/>
        </p:nvSpPr>
        <p:spPr>
          <a:xfrm>
            <a:off x="723900" y="3962400"/>
            <a:ext cx="7620000" cy="381000"/>
          </a:xfrm>
          <a:prstGeom prst="rect">
            <a:avLst/>
          </a:prstGeom>
          <a:noFill/>
          <a:ln w="0">
            <a:noFill/>
          </a:ln>
        </p:spPr>
        <p:txBody>
          <a:bodyPr wrap="square" lIns="0" tIns="0" rIns="0" bIns="0" anchor="t">
            <a:noAutofit/>
          </a:bodyPr>
          <a:lstStyle/>
          <a:p>
            <a:pPr algn="l">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Effect on video</a:t>
            </a:r>
          </a:p>
        </p:txBody>
      </p:sp>
      <p:sp>
        <p:nvSpPr>
          <p:cNvPr id="101" name="Power supply text 101">
            <a:extLst>
              <a:ext uri="{FF2B5EF4-FFF2-40B4-BE49-F238E27FC236}">
                <a16:creationId xmlns:a16="http://schemas.microsoft.com/office/drawing/2014/main" id="{B1ED62EE-685E-45B9-B710-D3157B114E08}"/>
              </a:ext>
            </a:extLst>
          </p:cNvPr>
          <p:cNvSpPr>
            <a:spLocks noGrp="1"/>
          </p:cNvSpPr>
          <p:nvPr/>
        </p:nvSpPr>
        <p:spPr>
          <a:xfrm>
            <a:off x="723900" y="4391025"/>
            <a:ext cx="7620000" cy="7048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Brief Raspberry Pi disconnections</a:t>
            </a:r>
          </a:p>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interrupt the live stream.</a:t>
            </a:r>
          </a:p>
        </p:txBody>
      </p:sp>
      <p:sp>
        <p:nvSpPr>
          <p:cNvPr id="102" name="Power supply text 102">
            <a:extLst>
              <a:ext uri="{FF2B5EF4-FFF2-40B4-BE49-F238E27FC236}">
                <a16:creationId xmlns:a16="http://schemas.microsoft.com/office/drawing/2014/main" id="{B1ED62EE-685E-45B9-B710-D3157B114E08}"/>
              </a:ext>
            </a:extLst>
          </p:cNvPr>
          <p:cNvSpPr>
            <a:spLocks noGrp="1"/>
          </p:cNvSpPr>
          <p:nvPr/>
        </p:nvSpPr>
        <p:spPr>
          <a:xfrm>
            <a:off x="723900" y="5476875"/>
            <a:ext cx="10572750" cy="6096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The prototype already has a small DC-DC regulator.</a:t>
            </a:r>
          </a:p>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Supply voltage during motor load still needs measurement.</a:t>
            </a:r>
          </a:p>
        </p:txBody>
      </p:sp>
    </p:spTree>
    <p:extLst>
      <p:ext uri="{BB962C8B-B14F-4D97-AF65-F5344CB8AC3E}">
        <p14:creationId xmlns:p14="http://schemas.microsoft.com/office/powerpoint/2010/main" val="9515104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CE9DE16E-B253-4103-83EB-B9115FB5637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92D0E2D-1215-4528-9D77-23FA60334437}"/>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Temporary Solution: Xiaomi 33W Power Bank</a:t>
            </a:r>
          </a:p>
        </p:txBody>
      </p:sp>
      <p:sp>
        <p:nvSpPr>
          <p:cNvPr id="3" name="Rectángulo 2">
            <a:extLst>
              <a:ext uri="{FF2B5EF4-FFF2-40B4-BE49-F238E27FC236}">
                <a16:creationId xmlns:a16="http://schemas.microsoft.com/office/drawing/2014/main" id="{B29AFFE6-5C8B-4317-8C7C-AC6327146B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B278C8B-3503-4A80-8235-862E248E90F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27</a:t>
            </a:r>
          </a:p>
        </p:txBody>
      </p:sp>
      <p:sp>
        <p:nvSpPr>
          <p:cNvPr id="101" name="Power supply text 101"/>
          <p:cNvSpPr>
            <a:spLocks noGrp="1"/>
          </p:cNvSpPr>
          <p:nvPr/>
        </p:nvSpPr>
        <p:spPr>
          <a:xfrm>
            <a:off x="723900" y="238125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Power source</a:t>
            </a:r>
          </a:p>
        </p:txBody>
      </p:sp>
      <p:sp>
        <p:nvSpPr>
          <p:cNvPr id="102" name="Power supply text 102"/>
          <p:cNvSpPr>
            <a:spLocks noGrp="1"/>
          </p:cNvSpPr>
          <p:nvPr/>
        </p:nvSpPr>
        <p:spPr>
          <a:xfrm>
            <a:off x="723900" y="280035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Raspberry Pi uses a Xiaomi 33W power bank.</a:t>
            </a:r>
          </a:p>
        </p:txBody>
      </p:sp>
      <p:sp>
        <p:nvSpPr>
          <p:cNvPr id="103" name="Power supply text 103"/>
          <p:cNvSpPr>
            <a:spLocks noGrp="1"/>
          </p:cNvSpPr>
          <p:nvPr/>
        </p:nvSpPr>
        <p:spPr>
          <a:xfrm>
            <a:off x="723900" y="3571875"/>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Reason for the change</a:t>
            </a:r>
          </a:p>
        </p:txBody>
      </p:sp>
      <p:sp>
        <p:nvSpPr>
          <p:cNvPr id="104" name="Power supply text 104"/>
          <p:cNvSpPr>
            <a:spLocks noGrp="1"/>
          </p:cNvSpPr>
          <p:nvPr/>
        </p:nvSpPr>
        <p:spPr>
          <a:xfrm>
            <a:off x="723900" y="3990975"/>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Separate its power supply from the motor’s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high current demand.</a:t>
            </a:r>
          </a:p>
        </p:txBody>
      </p:sp>
      <p:sp>
        <p:nvSpPr>
          <p:cNvPr id="105" name="Power supply text 105"/>
          <p:cNvSpPr>
            <a:spLocks noGrp="1"/>
          </p:cNvSpPr>
          <p:nvPr/>
        </p:nvSpPr>
        <p:spPr>
          <a:xfrm>
            <a:off x="723900" y="476250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Temporary workaround</a:t>
            </a:r>
          </a:p>
        </p:txBody>
      </p:sp>
      <p:sp>
        <p:nvSpPr>
          <p:cNvPr id="106" name="Power supply text 106"/>
          <p:cNvSpPr>
            <a:spLocks noGrp="1"/>
          </p:cNvSpPr>
          <p:nvPr/>
        </p:nvSpPr>
        <p:spPr>
          <a:xfrm>
            <a:off x="723900" y="518160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the power bank for the prototype.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 permanent protected supply remains future work.</a:t>
            </a:r>
          </a:p>
        </p:txBody>
      </p:sp>
      <p:pic>
        <p:nvPicPr>
          <p:cNvPr id="200" name="Xiaomi 33W power bank product image" descr="Official Xiaomi product reference image showing tan and blue Xiaomi 33W Power Bank 10000 units. Exact prototype model and colour were not specified."/>
          <p:cNvPicPr>
            <a:picLocks noChangeAspect="1"/>
          </p:cNvPicPr>
          <p:nvPr/>
        </p:nvPicPr>
        <p:blipFill>
          <a:blip r:embed="rId3"/>
          <a:srcRect l="6000" t="6500" r="49000" b="5000"/>
          <a:stretch/>
        </p:blipFill>
        <p:spPr>
          <a:xfrm>
            <a:off x="7620000" y="2028825"/>
            <a:ext cx="3810000" cy="3952875"/>
          </a:xfrm>
          <a:prstGeom prst="rect">
            <a:avLst/>
          </a:prstGeom>
        </p:spPr>
      </p:pic>
      <p:sp>
        <p:nvSpPr>
          <p:cNvPr id="201" name="Product image caption"/>
          <p:cNvSpPr>
            <a:spLocks noGrp="1"/>
          </p:cNvSpPr>
          <p:nvPr/>
        </p:nvSpPr>
        <p:spPr>
          <a:xfrm>
            <a:off x="7620000" y="6076950"/>
            <a:ext cx="3810000" cy="228600"/>
          </a:xfrm>
          <a:prstGeom prst="rect">
            <a:avLst/>
          </a:prstGeom>
          <a:noFill/>
          <a:ln w="0">
            <a:noFill/>
          </a:ln>
        </p:spPr>
        <p:txBody>
          <a:bodyPr wrap="square" lIns="0" tIns="0" rIns="0" bIns="0" anchor="t">
            <a:noAutofit/>
          </a:bodyPr>
          <a:lstStyle/>
          <a:p>
            <a:pPr algn="ctr">
              <a:lnSpc>
                <a:spcPct val="106000"/>
              </a:lnSpc>
              <a:buNone/>
              <a:defRPr sz="1200" b="0">
                <a:solidFill>
                  <a:srgbClr val="6F686D"/>
                </a:solidFill>
                <a:latin typeface="Arial"/>
                <a:ea typeface="Arial"/>
                <a:cs typeface="Arial"/>
              </a:defRPr>
            </a:pPr>
            <a:r>
              <a:rPr sz="1200" b="0">
                <a:solidFill>
                  <a:srgbClr val="6F686D"/>
                </a:solidFill>
                <a:latin typeface="Arial"/>
                <a:ea typeface="Arial"/>
                <a:cs typeface="Arial"/>
              </a:rPr>
              <a:t>Xiaomi product image</a:t>
            </a:r>
          </a:p>
        </p:txBody>
      </p:sp>
    </p:spTree>
    <p:extLst>
      <p:ext uri="{BB962C8B-B14F-4D97-AF65-F5344CB8AC3E}">
        <p14:creationId xmlns:p14="http://schemas.microsoft.com/office/powerpoint/2010/main" val="316897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28</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Tree>
    <p:extLst>
      <p:ext uri="{BB962C8B-B14F-4D97-AF65-F5344CB8AC3E}">
        <p14:creationId xmlns:p14="http://schemas.microsoft.com/office/powerpoint/2010/main" val="11654244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E7A7356-5D72-41ED-8B09-642C144217EA}"/>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Future Work</a:t>
            </a:r>
          </a:p>
        </p:txBody>
      </p:sp>
      <p:sp>
        <p:nvSpPr>
          <p:cNvPr id="3" name="Rectángulo 2">
            <a:extLst>
              <a:ext uri="{FF2B5EF4-FFF2-40B4-BE49-F238E27FC236}">
                <a16:creationId xmlns:a16="http://schemas.microsoft.com/office/drawing/2014/main" id="{D650C7E7-DB9E-4697-842B-65DF66D2E84F}"/>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1863635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31</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32</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34</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A46B80B7-611E-4531-A3DF-340030B4DDC6}"/>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Potential Aplications</a:t>
            </a:r>
          </a:p>
        </p:txBody>
      </p:sp>
      <p:sp>
        <p:nvSpPr>
          <p:cNvPr id="3" name="Rectángulo 2">
            <a:extLst>
              <a:ext uri="{FF2B5EF4-FFF2-40B4-BE49-F238E27FC236}">
                <a16:creationId xmlns:a16="http://schemas.microsoft.com/office/drawing/2014/main" id="{6BF7D17D-DB6F-4CAB-B12D-4BD15E1078B2}"/>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4285285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9D79B0A8-B680-4985-979C-360D458218E2}"/>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Demo / Video</a:t>
            </a:r>
          </a:p>
        </p:txBody>
      </p:sp>
      <p:sp>
        <p:nvSpPr>
          <p:cNvPr id="3" name="Rectángulo 2">
            <a:extLst>
              <a:ext uri="{FF2B5EF4-FFF2-40B4-BE49-F238E27FC236}">
                <a16:creationId xmlns:a16="http://schemas.microsoft.com/office/drawing/2014/main" id="{C5EC0C37-72F4-4793-94FF-5E1844FC6C5D}"/>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0854652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41</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9</TotalTime>
  <Words>6872</Words>
  <Application>Microsoft Office PowerPoint</Application>
  <DocSecurity>0</DocSecurity>
  <PresentationFormat>Panorámica</PresentationFormat>
  <Paragraphs>882</Paragraphs>
  <Slides>42</Slides>
  <Notes>42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42</vt:i4>
      </vt:variant>
    </vt:vector>
  </HeadingPairs>
  <TitlesOfParts>
    <vt:vector size="46"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11</cp:revision>
  <dcterms:created xsi:type="dcterms:W3CDTF">2026-09-06T22:45:51Z</dcterms:created>
  <dcterms:modified xsi:type="dcterms:W3CDTF">2026-09-08T07:08:31Z</dcterms:modified>
</cp:coreProperties>
</file>