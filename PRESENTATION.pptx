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69"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WHIP and WHEP supplied a useful vocabulary for publisher, viewer, signaling state, and teardown.</a:t>
            </a:r>
          </a:p>
          <a:p>
            <a:r>
              <a:t>A complete implementation would put a central media server into the video path, which conflicts with this project's central architectural goal.</a:t>
            </a:r>
          </a:p>
          <a:p>
            <a:r>
              <a:t>The concepts moved into the SignalR flow. The HTTP actions remain explicit stubs.</a:t>
            </a:r>
          </a:p>
          <a:p>
            <a:endParaRPr/>
          </a:p>
          <a:p>
            <a:r>
              <a:t>Sources:</a:t>
            </a:r>
          </a:p>
          <a:p>
            <a:r>
              <a:t>- RFC 9725: https://www.rfc-editor.org/rfc/rfc9725.html</a:t>
            </a:r>
          </a:p>
          <a:p>
            <a:r>
              <a:t>- WHEP draft-04: https://www.ietf.org/archive/id/draft-ietf-wish-whep-04.html</a:t>
            </a:r>
          </a:p>
          <a:p>
            <a:r>
              <a:t>- Repository history: commits 248f094, 529de9a, 72b7dd1, 87bc7cc.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libcamera was considered as the Raspberry Pi CSI-camera stack, but no recorded revision implemented it. The final USB-camera path uses V4L2.</a:t>
            </a:r>
          </a:p>
          <a:p>
            <a:r>
              <a:t>The first implementation used SIPSorceryMedia.FFmpeg and FFmpeg.AutoGen for direct callbacks, which coupled deployment to exact native FFmpeg libraries.</a:t>
            </a:r>
          </a:p>
          <a:p>
            <a:r>
              <a:t>The final version supervises an FFmpeg executable and receives H.264 over loopback RTP. That boundary is easier to deploy but adds depacketization and repacketization.</a:t>
            </a:r>
          </a:p>
          <a:p>
            <a:endParaRPr/>
          </a:p>
          <a:p>
            <a:r>
              <a:t>Sources:</a:t>
            </a:r>
          </a:p>
          <a:p>
            <a:r>
              <a:t>- Repository history: commit 4b357dd, historical PLAN at 3f9931d, and commit d8e2a27.</a:t>
            </a:r>
          </a:p>
          <a:p>
            <a:r>
              <a:t>- TFM.docx, pp. 29–30 and 36.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The camera outputs MJPEG, so FFmpeg must decode every frame before libx264 can encode H.264 in software.</a:t>
            </a:r>
          </a:p>
          <a:p>
            <a:r>
              <a:t>Discuss CPU, memory bandwidth, heat, and latency qualitatively. No measured CPU percentage exists in the evidence.</a:t>
            </a:r>
          </a:p>
          <a:p>
            <a:r>
              <a:t>The external process made deployment more robust. It did not remove the compute cost.</a:t>
            </a:r>
          </a:p>
          <a:p>
            <a:endParaRPr/>
          </a:p>
          <a:p>
            <a:r>
              <a:t>Sources:</a:t>
            </a:r>
          </a:p>
          <a:p>
            <a:r>
              <a:t>- TFM.docx, pp. 29–30 and 36–39.</a:t>
            </a:r>
          </a:p>
          <a:p>
            <a:r>
              <a:t>- Repository: appsettings.json and CameraVideoSource.cs.</a:t>
            </a:r>
          </a:p>
          <a:p>
            <a:r>
              <a:t>- 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When the car demands too much current, the Raspberry Pi disconnects momentarily. Treat this as an author-reported observation because the thesis does not document a measured incident trace.</a:t>
            </a:r>
          </a:p>
          <a:p>
            <a:r>
              <a:t>The thesis does support the mechanism and mitigation: motor-stall peaks, supply monitoring, a fused branch, transient protection, decoupling, and careful grounding.</a:t>
            </a:r>
          </a:p>
          <a:p>
            <a:endParaRPr/>
          </a:p>
          <a:p>
            <a:r>
              <a:t>Sources:</a:t>
            </a:r>
          </a:p>
          <a:p>
            <a:r>
              <a:t>- PLAN.md, Issues with electrical input to the RPI.</a:t>
            </a:r>
          </a:p>
          <a:p>
            <a:r>
              <a:t>- TFM.docx, pp. 13 and 39.</a:t>
            </a:r>
          </a:p>
          <a:p>
            <a:r>
              <a:t>- Image: TFM.docx Figure 6, NiMH battery.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ESP32-P4 is a long-term consolidation candidate because it combines RISC-V cores, camera interfaces, an image pipeline, hardware H.264, and Ethernet.</a:t>
            </a:r>
          </a:p>
          <a:p>
            <a:r>
              <a:t>It has no integrated 5G radio, so a modem or network companion remains necessary. Rust HAL support exists, but peripheral maturity and a practical WebRTC stack still need validation.</a:t>
            </a:r>
          </a:p>
          <a:p>
            <a:endParaRPr/>
          </a:p>
          <a:p>
            <a:r>
              <a:t>Sources:</a:t>
            </a:r>
          </a:p>
          <a:p>
            <a:r>
              <a:t>- TFM.docx, p. 39.</a:t>
            </a:r>
          </a:p>
          <a:p>
            <a:r>
              <a:t>- Espressif ESP32-P4 datasheet: https://documentation.espressif.com/esp32-p4_datasheet_en.html</a:t>
            </a:r>
          </a:p>
          <a:p>
            <a:r>
              <a:t>- Espressif product overview: https://www.espressif.com/en/node/7617</a:t>
            </a:r>
          </a:p>
          <a:p>
            <a:r>
              <a:t>- esp-hal: https://github.com/esp-rs/esp-hal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05</a:t>
            </a: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06</a:t>
            </a: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07</a:t>
            </a: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08</a:t>
            </a: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09</a:t>
            </a: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10</a:t>
            </a: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11</a:t>
            </a: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13</a:t>
            </a: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14</a:t>
            </a: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5.xml><?xml version="1.0" encoding="utf-8"?>
<p:sld xmlns:p="http://schemas.openxmlformats.org/presentationml/2006/main">
  <p:cSld>
    <p:bg>
      <p:bgPr>
        <a:solidFill xmlns:a="http://schemas.openxmlformats.org/drawingml/2006/main">
          <a:srgbClr val="F9F8F8"/>
        </a:solidFill>
      </p:bgPr>
    </p:bg>
    <p:spTree>
      <p:nvGrpSpPr>
        <p:cNvPr id="1" name=""/>
        <p:cNvGrpSpPr/>
        <p:nvPr/>
      </p:nvGrpSpPr>
      <p:grpSpPr>
        <a:xfrm xmlns:a="http://schemas.openxmlformats.org/drawingml/2006/main"/>
      </p:grpSpPr>
      <p:sp>
        <p:nvSpPr>
          <p:cNvPr id="21" name="Rectángulo 20">
            <a:extLst xmlns:a="http://schemas.openxmlformats.org/drawingml/2006/main">
              <a:ext uri="{FF2B5EF4-FFF2-40B4-BE49-F238E27FC236}">
                <a16:creationId xmlns:a16="http://schemas.microsoft.com/office/drawing/2014/main" id="{E01EAB4A-07EE-40F9-88AD-C1326D264252}"/>
              </a:ext>
            </a:extLst>
          </p:cNvPr>
          <p:cNvSpPr>
            <a:spLocks xmlns:a="http://schemas.openxmlformats.org/drawingml/2006/main" noGrp="1"/>
          </p:cNvSpPr>
          <p:nvPr/>
        </p:nvSpPr>
        <p:spPr>
          <a:xfrm xmlns:a="http://schemas.openxmlformats.org/drawingml/2006/main">
            <a:off x="533400" y="266700"/>
            <a:ext cx="7429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xmlns:a="http://schemas.openxmlformats.org/drawingml/2006/main">
              <a:ext uri="{FF2B5EF4-FFF2-40B4-BE49-F238E27FC236}">
                <a16:creationId xmlns:a16="http://schemas.microsoft.com/office/drawing/2014/main" id="{3D52D4C3-E2F8-4788-BAC9-805C36ABD1C6}"/>
              </a:ext>
            </a:extLst>
          </p:cNvPr>
          <p:cNvSpPr>
            <a:spLocks xmlns:a="http://schemas.openxmlformats.org/drawingml/2006/main" noGrp="1"/>
          </p:cNvSpPr>
          <p:nvPr/>
        </p:nvSpPr>
        <p:spPr>
          <a:xfrm xmlns:a="http://schemas.openxmlformats.org/drawingml/2006/main">
            <a:off x="533400" y="59055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xmlns:a="http://schemas.openxmlformats.org/drawingml/2006/main">
              <a:ext uri="{FF2B5EF4-FFF2-40B4-BE49-F238E27FC236}">
                <a16:creationId xmlns:a16="http://schemas.microsoft.com/office/drawing/2014/main" id="{5CD16D6D-476C-4FB6-8EDE-5CC68D2C450A}"/>
              </a:ext>
            </a:extLst>
          </p:cNvPr>
          <p:cNvSpPr>
            <a:spLocks xmlns:a="http://schemas.openxmlformats.org/drawingml/2006/main" noGrp="1"/>
          </p:cNvSpPr>
          <p:nvPr/>
        </p:nvSpPr>
        <p:spPr>
          <a:xfrm xmlns:a="http://schemas.openxmlformats.org/drawingml/2006/main">
            <a:off x="533400" y="1257300"/>
            <a:ext cx="11125200" cy="28575"/>
          </a:xfrm>
          <a:prstGeom xmlns:a="http://schemas.openxmlformats.org/drawingml/2006/main" prst="rect">
            <a:avLst/>
          </a:prstGeom>
          <a:solidFill xmlns:a="http://schemas.openxmlformats.org/drawingml/2006/main">
            <a:srgbClr val="830051"/>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ángulo 3">
            <a:extLst xmlns:a="http://schemas.openxmlformats.org/drawingml/2006/main">
              <a:ext uri="{FF2B5EF4-FFF2-40B4-BE49-F238E27FC236}">
                <a16:creationId xmlns:a16="http://schemas.microsoft.com/office/drawing/2014/main" id="{8F762F46-2E43-41A9-AE74-FC68A7FAC8B0}"/>
              </a:ext>
            </a:extLst>
          </p:cNvPr>
          <p:cNvSpPr>
            <a:spLocks xmlns:a="http://schemas.openxmlformats.org/drawingml/2006/main" noGrp="1"/>
          </p:cNvSpPr>
          <p:nvPr/>
        </p:nvSpPr>
        <p:spPr>
          <a:xfrm xmlns:a="http://schemas.openxmlformats.org/drawingml/2006/main">
            <a:off x="10858500" y="6457950"/>
            <a:ext cx="800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15</a:t>
            </a:r>
          </a:p>
        </p:txBody>
      </p:sp>
      <p:sp>
        <p:nvSpPr>
          <p:cNvPr id="5" name="Rectángulo 4">
            <a:extLst xmlns:a="http://schemas.openxmlformats.org/drawingml/2006/main">
              <a:ext uri="{FF2B5EF4-FFF2-40B4-BE49-F238E27FC236}">
                <a16:creationId xmlns:a16="http://schemas.microsoft.com/office/drawing/2014/main" id="{D8D4C5D7-9846-4918-B8FE-C3161D44B664}"/>
              </a:ext>
            </a:extLst>
          </p:cNvPr>
          <p:cNvSpPr>
            <a:spLocks xmlns:a="http://schemas.openxmlformats.org/drawingml/2006/main" noGrp="1"/>
          </p:cNvSpPr>
          <p:nvPr/>
        </p:nvSpPr>
        <p:spPr>
          <a:xfrm xmlns:a="http://schemas.openxmlformats.org/drawingml/2006/main">
            <a:off x="704850" y="1609725"/>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xmlns:a="http://schemas.openxmlformats.org/drawingml/2006/main">
              <a:ext uri="{FF2B5EF4-FFF2-40B4-BE49-F238E27FC236}">
                <a16:creationId xmlns:a16="http://schemas.microsoft.com/office/drawing/2014/main" id="{547B3DB8-0586-4E53-90D1-3DA19B60A794}"/>
              </a:ext>
            </a:extLst>
          </p:cNvPr>
          <p:cNvSpPr>
            <a:spLocks xmlns:a="http://schemas.openxmlformats.org/drawingml/2006/main" noGrp="1"/>
          </p:cNvSpPr>
          <p:nvPr/>
        </p:nvSpPr>
        <p:spPr>
          <a:xfrm xmlns:a="http://schemas.openxmlformats.org/drawingml/2006/main">
            <a:off x="704850" y="19716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xmlns:a="http://schemas.openxmlformats.org/drawingml/2006/main">
              <a:ext uri="{FF2B5EF4-FFF2-40B4-BE49-F238E27FC236}">
                <a16:creationId xmlns:a16="http://schemas.microsoft.com/office/drawing/2014/main" id="{101ED8DC-B90C-4626-AF66-BD55CF908135}"/>
              </a:ext>
            </a:extLst>
          </p:cNvPr>
          <p:cNvSpPr>
            <a:spLocks xmlns:a="http://schemas.openxmlformats.org/drawingml/2006/main" noGrp="1"/>
          </p:cNvSpPr>
          <p:nvPr/>
        </p:nvSpPr>
        <p:spPr>
          <a:xfrm xmlns:a="http://schemas.openxmlformats.org/drawingml/2006/main">
            <a:off x="704850" y="2438400"/>
            <a:ext cx="4953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xmlns:a="http://schemas.openxmlformats.org/drawingml/2006/main">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xmlns:a="http://schemas.openxmlformats.org/drawingml/2006/main">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xmlns:a="http://schemas.openxmlformats.org/drawingml/2006/main">
              <a:ext uri="{FF2B5EF4-FFF2-40B4-BE49-F238E27FC236}">
                <a16:creationId xmlns:a16="http://schemas.microsoft.com/office/drawing/2014/main" id="{6629F8E9-E380-4308-9AD7-AC25EAF7EED6}"/>
              </a:ext>
            </a:extLst>
          </p:cNvPr>
          <p:cNvSpPr>
            <a:spLocks xmlns:a="http://schemas.openxmlformats.org/drawingml/2006/main" noGrp="1"/>
          </p:cNvSpPr>
          <p:nvPr/>
        </p:nvSpPr>
        <p:spPr>
          <a:xfrm xmlns:a="http://schemas.openxmlformats.org/drawingml/2006/main">
            <a:off x="3162300" y="2152650"/>
            <a:ext cx="1943100" cy="0"/>
          </a:xfrm>
          <a:prstGeom xmlns:a="http://schemas.openxmlformats.org/drawingml/2006/main" prst="line">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ectángulo 8">
            <a:extLst xmlns:a="http://schemas.openxmlformats.org/drawingml/2006/main">
              <a:ext uri="{FF2B5EF4-FFF2-40B4-BE49-F238E27FC236}">
                <a16:creationId xmlns:a16="http://schemas.microsoft.com/office/drawing/2014/main" id="{63D62EDE-0990-4E82-A9F6-3A48DB8C1B76}"/>
              </a:ext>
            </a:extLst>
          </p:cNvPr>
          <p:cNvSpPr>
            <a:spLocks xmlns:a="http://schemas.openxmlformats.org/drawingml/2006/main" noGrp="1"/>
          </p:cNvSpPr>
          <p:nvPr/>
        </p:nvSpPr>
        <p:spPr>
          <a:xfrm xmlns:a="http://schemas.openxmlformats.org/drawingml/2006/main">
            <a:off x="6191250" y="16097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xmlns:a="http://schemas.openxmlformats.org/drawingml/2006/main">
              <a:ext uri="{FF2B5EF4-FFF2-40B4-BE49-F238E27FC236}">
                <a16:creationId xmlns:a16="http://schemas.microsoft.com/office/drawing/2014/main" id="{6879CD94-B09B-4144-A91A-F0F7E18CDD40}"/>
              </a:ext>
            </a:extLst>
          </p:cNvPr>
          <p:cNvSpPr>
            <a:spLocks xmlns:a="http://schemas.openxmlformats.org/drawingml/2006/main" noGrp="1"/>
          </p:cNvSpPr>
          <p:nvPr/>
        </p:nvSpPr>
        <p:spPr>
          <a:xfrm xmlns:a="http://schemas.openxmlformats.org/drawingml/2006/main">
            <a:off x="6191250" y="19716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xmlns:a="http://schemas.openxmlformats.org/drawingml/2006/main">
              <a:ext uri="{FF2B5EF4-FFF2-40B4-BE49-F238E27FC236}">
                <a16:creationId xmlns:a16="http://schemas.microsoft.com/office/drawing/2014/main" id="{F49B5258-5D0D-4B3F-803F-8B9505F4E8BC}"/>
              </a:ext>
            </a:extLst>
          </p:cNvPr>
          <p:cNvSpPr>
            <a:spLocks xmlns:a="http://schemas.openxmlformats.org/drawingml/2006/main" noGrp="1"/>
          </p:cNvSpPr>
          <p:nvPr/>
        </p:nvSpPr>
        <p:spPr>
          <a:xfrm xmlns:a="http://schemas.openxmlformats.org/drawingml/2006/main">
            <a:off x="6191250" y="2438400"/>
            <a:ext cx="533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xmlns:a="http://schemas.openxmlformats.org/drawingml/2006/main">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xmlns:a="http://schemas.openxmlformats.org/drawingml/2006/main">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xmlns:a="http://schemas.openxmlformats.org/drawingml/2006/main">
              <a:ext uri="{FF2B5EF4-FFF2-40B4-BE49-F238E27FC236}">
                <a16:creationId xmlns:a16="http://schemas.microsoft.com/office/drawing/2014/main" id="{96752687-ED8C-408A-AEAA-F03C5AF5B7EF}"/>
              </a:ext>
            </a:extLst>
          </p:cNvPr>
          <p:cNvSpPr>
            <a:spLocks xmlns:a="http://schemas.openxmlformats.org/drawingml/2006/main" noGrp="1"/>
          </p:cNvSpPr>
          <p:nvPr/>
        </p:nvSpPr>
        <p:spPr>
          <a:xfrm xmlns:a="http://schemas.openxmlformats.org/drawingml/2006/main">
            <a:off x="1047750" y="3790950"/>
            <a:ext cx="1619250" cy="8001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9050">
            <a:solidFill>
              <a:srgbClr val="830051"/>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xmlns:a="http://schemas.openxmlformats.org/drawingml/2006/main">
              <a:ext uri="{FF2B5EF4-FFF2-40B4-BE49-F238E27FC236}">
                <a16:creationId xmlns:a16="http://schemas.microsoft.com/office/drawing/2014/main" id="{85467C66-A8B3-4795-9E9B-5FD7BC14D2B2}"/>
              </a:ext>
            </a:extLst>
          </p:cNvPr>
          <p:cNvSpPr>
            <a:spLocks xmlns:a="http://schemas.openxmlformats.org/drawingml/2006/main" noGrp="1"/>
          </p:cNvSpPr>
          <p:nvPr/>
        </p:nvSpPr>
        <p:spPr>
          <a:xfrm xmlns:a="http://schemas.openxmlformats.org/drawingml/2006/main">
            <a:off x="9525000" y="3790950"/>
            <a:ext cx="1619250" cy="8001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9050">
            <a:solidFill>
              <a:srgbClr val="830051"/>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xmlns:a="http://schemas.openxmlformats.org/drawingml/2006/main">
              <a:ext uri="{FF2B5EF4-FFF2-40B4-BE49-F238E27FC236}">
                <a16:creationId xmlns:a16="http://schemas.microsoft.com/office/drawing/2014/main" id="{D04E8C78-19C8-4C61-A4E5-D96828612C8E}"/>
              </a:ext>
            </a:extLst>
          </p:cNvPr>
          <p:cNvSpPr>
            <a:spLocks xmlns:a="http://schemas.openxmlformats.org/drawingml/2006/main" noGrp="1"/>
          </p:cNvSpPr>
          <p:nvPr/>
        </p:nvSpPr>
        <p:spPr>
          <a:xfrm xmlns:a="http://schemas.openxmlformats.org/drawingml/2006/main">
            <a:off x="5162550" y="4800600"/>
            <a:ext cx="1866900" cy="857250"/>
          </a:xfrm>
          <a:prstGeom xmlns:a="http://schemas.openxmlformats.org/drawingml/2006/main" prst="roundRect">
            <a:avLst>
              <a:gd name="adj" fmla="val 15556"/>
            </a:avLst>
          </a:prstGeom>
          <a:solidFill xmlns:a="http://schemas.openxmlformats.org/drawingml/2006/main">
            <a:srgbClr val="830051"/>
          </a:solidFill>
          <a:ln xmlns:a="http://schemas.openxmlformats.org/drawingml/2006/main" w="19050">
            <a:solidFill>
              <a:srgbClr val="830051"/>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xmlns:a="http://schemas.openxmlformats.org/drawingml/2006/main" id="12" idx="3"/>
            <a:endCxn xmlns:a="http://schemas.openxmlformats.org/drawingml/2006/main" id="13" idx="1"/>
          </p:cNvCxnSpPr>
          <p:nvPr/>
        </p:nvCxnSpPr>
        <p:spPr>
          <a:xfrm xmlns:a="http://schemas.openxmlformats.org/drawingml/2006/main">
            <a:off x="2667000" y="4191000"/>
            <a:ext cx="6858000" cy="0"/>
          </a:xfrm>
          <a:prstGeom xmlns:a="http://schemas.openxmlformats.org/drawingml/2006/main" prst="straightConnector1">
            <a:avLst/>
          </a:prstGeom>
          <a:ln xmlns:a="http://schemas.openxmlformats.org/drawingml/2006/main" w="38100">
            <a:solidFill>
              <a:srgbClr val="830051"/>
            </a:solidFill>
            <a:prstDash val="solid"/>
            <a:tailEnd type="triangle" w="sm" len="sm"/>
          </a:ln>
        </p:spPr>
      </p:cxnSp>
      <p:sp>
        <p:nvSpPr>
          <p:cNvPr id="16" name="Rectángulo 15">
            <a:extLst xmlns:a="http://schemas.openxmlformats.org/drawingml/2006/main">
              <a:ext uri="{FF2B5EF4-FFF2-40B4-BE49-F238E27FC236}">
                <a16:creationId xmlns:a16="http://schemas.microsoft.com/office/drawing/2014/main" id="{FEA17C36-2732-496D-A9ED-EDFB0B411564}"/>
              </a:ext>
            </a:extLst>
          </p:cNvPr>
          <p:cNvSpPr>
            <a:spLocks xmlns:a="http://schemas.openxmlformats.org/drawingml/2006/main" noGrp="1"/>
          </p:cNvSpPr>
          <p:nvPr/>
        </p:nvSpPr>
        <p:spPr>
          <a:xfrm xmlns:a="http://schemas.openxmlformats.org/drawingml/2006/main">
            <a:off x="3962400" y="354330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xmlns:a="http://schemas.openxmlformats.org/drawingml/2006/main" id="12" idx="2"/>
            <a:endCxn xmlns:a="http://schemas.openxmlformats.org/drawingml/2006/main" id="14" idx="1"/>
          </p:cNvCxnSpPr>
          <p:nvPr/>
        </p:nvCxnSpPr>
        <p:spPr>
          <a:xfrm xmlns:a="http://schemas.openxmlformats.org/drawingml/2006/main">
            <a:off x="1857375" y="4591050"/>
            <a:ext cx="3305175" cy="638175"/>
          </a:xfrm>
          <a:prstGeom xmlns:a="http://schemas.openxmlformats.org/drawingml/2006/main" prst="straightConnector1">
            <a:avLst/>
          </a:prstGeom>
          <a:ln xmlns:a="http://schemas.openxmlformats.org/drawingml/2006/main" w="19050">
            <a:solidFill>
              <a:srgbClr val="6F686D"/>
            </a:solidFill>
            <a:prstDash val="dash"/>
            <a:tailEnd type="triangle" w="sm" len="sm"/>
          </a:ln>
        </p:spPr>
      </p:cxnSp>
      <p:cxnSp>
        <p:nvCxnSpPr>
          <p:cNvPr id="56" name="Conector recto de flecha 37"/>
          <p:cNvCxnSpPr>
            <a:stCxn xmlns:a="http://schemas.openxmlformats.org/drawingml/2006/main" id="14" idx="3"/>
            <a:endCxn xmlns:a="http://schemas.openxmlformats.org/drawingml/2006/main" id="13" idx="2"/>
          </p:cNvCxnSpPr>
          <p:nvPr/>
        </p:nvCxnSpPr>
        <p:spPr>
          <a:xfrm xmlns:a="http://schemas.openxmlformats.org/drawingml/2006/main" flipV="1">
            <a:off x="7029450" y="4591050"/>
            <a:ext cx="3305175" cy="638175"/>
          </a:xfrm>
          <a:prstGeom xmlns:a="http://schemas.openxmlformats.org/drawingml/2006/main" prst="straightConnector1">
            <a:avLst/>
          </a:prstGeom>
          <a:ln xmlns:a="http://schemas.openxmlformats.org/drawingml/2006/main" w="19050">
            <a:solidFill>
              <a:srgbClr val="6F686D"/>
            </a:solidFill>
            <a:prstDash val="dash"/>
            <a:tailEnd type="triangle" w="sm" len="sm"/>
          </a:ln>
        </p:spPr>
      </p:cxnSp>
      <p:sp>
        <p:nvSpPr>
          <p:cNvPr id="19" name="Rectángulo 18">
            <a:extLst xmlns:a="http://schemas.openxmlformats.org/drawingml/2006/main">
              <a:ext uri="{FF2B5EF4-FFF2-40B4-BE49-F238E27FC236}">
                <a16:creationId xmlns:a16="http://schemas.microsoft.com/office/drawing/2014/main" id="{91EB4C4D-784D-4D24-B79E-21FEFBA717D1}"/>
              </a:ext>
            </a:extLst>
          </p:cNvPr>
          <p:cNvSpPr>
            <a:spLocks xmlns:a="http://schemas.openxmlformats.org/drawingml/2006/main" noGrp="1"/>
          </p:cNvSpPr>
          <p:nvPr/>
        </p:nvSpPr>
        <p:spPr>
          <a:xfrm xmlns:a="http://schemas.openxmlformats.org/drawingml/2006/main">
            <a:off x="3143250" y="5810250"/>
            <a:ext cx="590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xmlns:a="http://schemas.openxmlformats.org/drawingml/2006/main">
              <a:ext uri="{FF2B5EF4-FFF2-40B4-BE49-F238E27FC236}">
                <a16:creationId xmlns:a16="http://schemas.microsoft.com/office/drawing/2014/main" id="{13D42BC2-3C9E-4267-AFF8-91C518EAE24E}"/>
              </a:ext>
            </a:extLst>
          </p:cNvPr>
          <p:cNvSpPr>
            <a:spLocks xmlns:a="http://schemas.openxmlformats.org/drawingml/2006/main" noGrp="1"/>
          </p:cNvSpPr>
          <p:nvPr/>
        </p:nvSpPr>
        <p:spPr>
          <a:xfrm xmlns:a="http://schemas.openxmlformats.org/drawingml/2006/main">
            <a:off x="1524000" y="6200775"/>
            <a:ext cx="914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1FBE574-1A20-428E-9E93-3A78B67C917E}"/>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Discovery of WHIP and WHEP</a:t>
            </a:r>
          </a:p>
        </p:txBody>
      </p:sp>
      <p:sp>
        <p:nvSpPr>
          <p:cNvPr id="3"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17</a:t>
            </a:r>
          </a:p>
        </p:txBody>
      </p:sp>
      <p:sp>
        <p:nvSpPr>
          <p:cNvPr id="5" name="Rectángulo 4">
            <a:extLst>
              <a:ext uri="{FF2B5EF4-FFF2-40B4-BE49-F238E27FC236}">
                <a16:creationId xmlns:a16="http://schemas.microsoft.com/office/drawing/2014/main" id="{0AF0D841-1B4E-455D-ABF0-3EEE4C885EEE}"/>
              </a:ext>
            </a:extLst>
          </p:cNvPr>
          <p:cNvSpPr>
            <a:spLocks noGrp="1"/>
          </p:cNvSpPr>
          <p:nvPr/>
        </p:nvSpPr>
        <p:spPr>
          <a:xfrm>
            <a:off x="742950" y="1676400"/>
            <a:ext cx="4000500" cy="400050"/>
          </a:xfrm>
          <a:prstGeom prst="rect">
            <a:avLst/>
          </a:prstGeom>
          <a:noFill/>
          <a:ln w="0">
            <a:noFill/>
          </a:ln>
        </p:spPr>
        <p:txBody>
          <a:bodyPr wrap="square" lIns="0" tIns="0" rIns="0" bIns="0" anchor="t">
            <a:noAutofit/>
          </a:bodyPr>
          <a:lstStyle/>
          <a:p>
            <a:pPr algn="l">
              <a:lnSpc>
                <a:spcPct val="104000"/>
              </a:lnSpc>
              <a:buNone/>
              <a:defRPr sz="2325" b="1">
                <a:solidFill>
                  <a:srgbClr val="830051"/>
                </a:solidFill>
                <a:latin typeface="Arial"/>
                <a:ea typeface="Arial"/>
                <a:cs typeface="Arial"/>
              </a:defRPr>
            </a:pPr>
            <a:r>
              <a:rPr sz="2325" b="1">
                <a:solidFill>
                  <a:srgbClr val="830051"/>
                </a:solidFill>
                <a:latin typeface="Arial"/>
                <a:ea typeface="Arial"/>
                <a:cs typeface="Arial"/>
              </a:rPr>
              <a:t>Specifications clarified</a:t>
            </a:r>
          </a:p>
        </p:txBody>
      </p:sp>
      <p:sp>
        <p:nvSpPr>
          <p:cNvPr id="6" name="Rectángulo 5">
            <a:extLst>
              <a:ext uri="{FF2B5EF4-FFF2-40B4-BE49-F238E27FC236}">
                <a16:creationId xmlns:a16="http://schemas.microsoft.com/office/drawing/2014/main" id="{EB25F421-4F5D-447A-85F6-C25AB05648D3}"/>
              </a:ext>
            </a:extLst>
          </p:cNvPr>
          <p:cNvSpPr>
            <a:spLocks noGrp="1"/>
          </p:cNvSpPr>
          <p:nvPr/>
        </p:nvSpPr>
        <p:spPr>
          <a:xfrm>
            <a:off x="819150" y="2228850"/>
            <a:ext cx="3810000" cy="1581150"/>
          </a:xfrm>
          <a:prstGeom prst="rect">
            <a:avLst/>
          </a:prstGeom>
          <a:noFill/>
          <a:ln w="0">
            <a:noFill/>
          </a:ln>
        </p:spPr>
        <p:txBody>
          <a:bodyPr wrap="square" lIns="38100" tIns="38100" rIns="38100" bIns="38100">
            <a:noAutofit/>
          </a:bodyPr>
          <a:lstStyle/>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publisher and viewer roles</a:t>
            </a:r>
          </a:p>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SDP and ICE exchange</a:t>
            </a:r>
          </a:p>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session creation and teardown</a:t>
            </a:r>
          </a:p>
        </p:txBody>
      </p:sp>
      <p:sp>
        <p:nvSpPr>
          <p:cNvPr id="7" name="Conector recto 6">
            <a:extLst>
              <a:ext uri="{FF2B5EF4-FFF2-40B4-BE49-F238E27FC236}">
                <a16:creationId xmlns:a16="http://schemas.microsoft.com/office/drawing/2014/main" id="{D24A4CBC-5EC1-40C3-9C42-6544BD94CF15}"/>
              </a:ext>
            </a:extLst>
          </p:cNvPr>
          <p:cNvSpPr>
            <a:spLocks noGrp="1"/>
          </p:cNvSpPr>
          <p:nvPr/>
        </p:nvSpPr>
        <p:spPr>
          <a:xfrm>
            <a:off x="4953000" y="1638300"/>
            <a:ext cx="0" cy="3962400"/>
          </a:xfrm>
          <a:prstGeom prst="line">
            <a:avLst/>
          </a:prstGeom>
          <a:noFill/>
          <a:ln w="19050">
            <a:solidFill>
              <a:srgbClr val="E7E3E5"/>
            </a:solidFill>
            <a:prstDash val="solid"/>
          </a:ln>
        </p:spPr>
        <p:txBody>
          <a:bodyPr/>
          <a:lstStyle/>
          <a:p>
            <a:endParaRPr/>
          </a:p>
        </p:txBody>
      </p:sp>
      <p:sp>
        <p:nvSpPr>
          <p:cNvPr id="8" name="Rectángulo 7">
            <a:extLst>
              <a:ext uri="{FF2B5EF4-FFF2-40B4-BE49-F238E27FC236}">
                <a16:creationId xmlns:a16="http://schemas.microsoft.com/office/drawing/2014/main" id="{05B4A0D7-5350-456D-8DE2-897B15022E19}"/>
              </a:ext>
            </a:extLst>
          </p:cNvPr>
          <p:cNvSpPr>
            <a:spLocks noGrp="1"/>
          </p:cNvSpPr>
          <p:nvPr/>
        </p:nvSpPr>
        <p:spPr>
          <a:xfrm>
            <a:off x="5486400" y="1676400"/>
            <a:ext cx="4000500" cy="400050"/>
          </a:xfrm>
          <a:prstGeom prst="rect">
            <a:avLst/>
          </a:prstGeom>
          <a:noFill/>
          <a:ln w="0">
            <a:noFill/>
          </a:ln>
        </p:spPr>
        <p:txBody>
          <a:bodyPr wrap="square" lIns="0" tIns="0" rIns="0" bIns="0" anchor="t">
            <a:noAutofit/>
          </a:bodyPr>
          <a:lstStyle/>
          <a:p>
            <a:pPr algn="l">
              <a:lnSpc>
                <a:spcPct val="104000"/>
              </a:lnSpc>
              <a:buNone/>
              <a:defRPr sz="2325" b="1">
                <a:solidFill>
                  <a:srgbClr val="830051"/>
                </a:solidFill>
                <a:latin typeface="Arial"/>
                <a:ea typeface="Arial"/>
                <a:cs typeface="Arial"/>
              </a:defRPr>
            </a:pPr>
            <a:r>
              <a:rPr sz="2325" b="1">
                <a:solidFill>
                  <a:srgbClr val="830051"/>
                </a:solidFill>
                <a:latin typeface="Arial"/>
                <a:ea typeface="Arial"/>
                <a:cs typeface="Arial"/>
              </a:rPr>
              <a:t>Architecture decision</a:t>
            </a:r>
          </a:p>
        </p:txBody>
      </p:sp>
      <p:sp>
        <p:nvSpPr>
          <p:cNvPr id="9" name="Rectángulo: esquinas redondeadas 8">
            <a:extLst>
              <a:ext uri="{FF2B5EF4-FFF2-40B4-BE49-F238E27FC236}">
                <a16:creationId xmlns:a16="http://schemas.microsoft.com/office/drawing/2014/main" id="{1F7EAE9D-7F47-44C0-B87B-1126A65F10CF}"/>
              </a:ext>
            </a:extLst>
          </p:cNvPr>
          <p:cNvSpPr>
            <a:spLocks noGrp="1"/>
          </p:cNvSpPr>
          <p:nvPr/>
        </p:nvSpPr>
        <p:spPr>
          <a:xfrm>
            <a:off x="5524500" y="2381250"/>
            <a:ext cx="2667000" cy="819150"/>
          </a:xfrm>
          <a:prstGeom prst="roundRect">
            <a:avLst>
              <a:gd name="adj" fmla="val 16279"/>
            </a:avLst>
          </a:prstGeom>
          <a:solidFill>
            <a:srgbClr val="E7E3E5"/>
          </a:solidFill>
          <a:ln w="19050">
            <a:solidFill>
              <a:srgbClr val="A69FA3"/>
            </a:solidFill>
            <a:prstDash val="dash"/>
          </a:ln>
        </p:spPr>
        <p:txBody>
          <a:bodyPr wrap="square" lIns="114300" tIns="76200" rIns="114300" bIns="76200" anchor="ctr">
            <a:noAutofit/>
          </a:bodyPr>
          <a:lstStyle/>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Full HTTP WHIP / WHEP</a:t>
            </a:r>
          </a:p>
        </p:txBody>
      </p:sp>
      <p:sp>
        <p:nvSpPr>
          <p:cNvPr id="10" name="Rectángulo: esquinas redondeadas 9">
            <a:extLst>
              <a:ext uri="{FF2B5EF4-FFF2-40B4-BE49-F238E27FC236}">
                <a16:creationId xmlns:a16="http://schemas.microsoft.com/office/drawing/2014/main" id="{F8E7CE6F-D50F-4A84-BF1B-FB68F6FE45D6}"/>
              </a:ext>
            </a:extLst>
          </p:cNvPr>
          <p:cNvSpPr>
            <a:spLocks noGrp="1"/>
          </p:cNvSpPr>
          <p:nvPr/>
        </p:nvSpPr>
        <p:spPr>
          <a:xfrm>
            <a:off x="8724900" y="2286000"/>
            <a:ext cx="2667000" cy="1009650"/>
          </a:xfrm>
          <a:prstGeom prst="roundRect">
            <a:avLst>
              <a:gd name="adj" fmla="val 13208"/>
            </a:avLst>
          </a:prstGeom>
          <a:solidFill>
            <a:srgbClr val="E7E3E5"/>
          </a:solidFill>
          <a:ln w="19050">
            <a:solidFill>
              <a:srgbClr val="A69FA3"/>
            </a:solidFill>
            <a:prstDash val="dash"/>
          </a:ln>
        </p:spPr>
        <p:txBody>
          <a:bodyPr wrap="square" lIns="114300" tIns="76200" rIns="114300" bIns="76200" anchor="ctr">
            <a:noAutofit/>
          </a:bodyPr>
          <a:lstStyle/>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Central media server</a:t>
            </a:r>
          </a:p>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terminates both sessions</a:t>
            </a:r>
          </a:p>
        </p:txBody>
      </p:sp>
      <p:cxnSp>
        <p:nvCxnSpPr>
          <p:cNvPr id="30" name="Conector recto de flecha 29"/>
          <p:cNvCxnSpPr>
            <a:stCxn id="9" idx="3"/>
            <a:endCxn id="10" idx="1"/>
          </p:cNvCxnSpPr>
          <p:nvPr/>
        </p:nvCxnSpPr>
        <p:spPr>
          <a:xfrm>
            <a:off x="8191500" y="2790825"/>
            <a:ext cx="533400" cy="0"/>
          </a:xfrm>
          <a:prstGeom prst="straightConnector1">
            <a:avLst/>
          </a:prstGeom>
          <a:ln w="19050">
            <a:solidFill>
              <a:srgbClr val="A69FA3"/>
            </a:solidFill>
            <a:prstDash val="solid"/>
            <a:tailEnd type="triangle" w="sm" len="sm"/>
          </a:ln>
        </p:spPr>
      </p:cxnSp>
      <p:sp>
        <p:nvSpPr>
          <p:cNvPr id="12" name="Rectángulo 11">
            <a:extLst>
              <a:ext uri="{FF2B5EF4-FFF2-40B4-BE49-F238E27FC236}">
                <a16:creationId xmlns:a16="http://schemas.microsoft.com/office/drawing/2014/main" id="{93DD227C-B10C-4D44-A118-DA1ED8193E12}"/>
              </a:ext>
            </a:extLst>
          </p:cNvPr>
          <p:cNvSpPr>
            <a:spLocks noGrp="1"/>
          </p:cNvSpPr>
          <p:nvPr/>
        </p:nvSpPr>
        <p:spPr>
          <a:xfrm>
            <a:off x="6896100" y="3429000"/>
            <a:ext cx="33337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Rejected for this architecture</a:t>
            </a:r>
          </a:p>
        </p:txBody>
      </p:sp>
      <p:sp>
        <p:nvSpPr>
          <p:cNvPr id="13" name="Rectángulo: esquinas redondeadas 12">
            <a:extLst>
              <a:ext uri="{FF2B5EF4-FFF2-40B4-BE49-F238E27FC236}">
                <a16:creationId xmlns:a16="http://schemas.microsoft.com/office/drawing/2014/main" id="{00659DAE-BF44-4E56-99AB-C949EA5D5EDB}"/>
              </a:ext>
            </a:extLst>
          </p:cNvPr>
          <p:cNvSpPr>
            <a:spLocks noGrp="1"/>
          </p:cNvSpPr>
          <p:nvPr/>
        </p:nvSpPr>
        <p:spPr>
          <a:xfrm>
            <a:off x="5524500" y="4362450"/>
            <a:ext cx="2667000" cy="819150"/>
          </a:xfrm>
          <a:prstGeom prst="roundRect">
            <a:avLst>
              <a:gd name="adj" fmla="val 1627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SignalR concept mapping</a:t>
            </a:r>
          </a:p>
        </p:txBody>
      </p:sp>
      <p:sp>
        <p:nvSpPr>
          <p:cNvPr id="14" name="Rectángulo: esquinas redondeadas 13">
            <a:extLst>
              <a:ext uri="{FF2B5EF4-FFF2-40B4-BE49-F238E27FC236}">
                <a16:creationId xmlns:a16="http://schemas.microsoft.com/office/drawing/2014/main" id="{D52D2D9F-4823-4CBF-B087-44DE9B03E06F}"/>
              </a:ext>
            </a:extLst>
          </p:cNvPr>
          <p:cNvSpPr>
            <a:spLocks noGrp="1"/>
          </p:cNvSpPr>
          <p:nvPr/>
        </p:nvSpPr>
        <p:spPr>
          <a:xfrm>
            <a:off x="8724900" y="4267200"/>
            <a:ext cx="2667000" cy="1009650"/>
          </a:xfrm>
          <a:prstGeom prst="roundRect">
            <a:avLst>
              <a:gd name="adj" fmla="val 13208"/>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Application server stays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outside the video path</a:t>
            </a:r>
          </a:p>
        </p:txBody>
      </p:sp>
      <p:cxnSp>
        <p:nvCxnSpPr>
          <p:cNvPr id="34" name="Conector recto de flecha 33"/>
          <p:cNvCxnSpPr>
            <a:stCxn id="13" idx="3"/>
            <a:endCxn id="14" idx="1"/>
          </p:cNvCxnSpPr>
          <p:nvPr/>
        </p:nvCxnSpPr>
        <p:spPr>
          <a:xfrm>
            <a:off x="8191500" y="4772025"/>
            <a:ext cx="533400" cy="0"/>
          </a:xfrm>
          <a:prstGeom prst="straightConnector1">
            <a:avLst/>
          </a:prstGeom>
          <a:ln w="19050">
            <a:solidFill>
              <a:srgbClr val="830051"/>
            </a:solidFill>
            <a:prstDash val="solid"/>
            <a:tailEnd type="triangle" w="sm" len="sm"/>
          </a:ln>
        </p:spPr>
      </p:cxnSp>
      <p:sp>
        <p:nvSpPr>
          <p:cNvPr id="16" name="Rectángulo 15">
            <a:extLst>
              <a:ext uri="{FF2B5EF4-FFF2-40B4-BE49-F238E27FC236}">
                <a16:creationId xmlns:a16="http://schemas.microsoft.com/office/drawing/2014/main" id="{FDB79F98-299D-4A8F-BE55-5F195F84958E}"/>
              </a:ext>
            </a:extLst>
          </p:cNvPr>
          <p:cNvSpPr>
            <a:spLocks noGrp="1"/>
          </p:cNvSpPr>
          <p:nvPr/>
        </p:nvSpPr>
        <p:spPr>
          <a:xfrm>
            <a:off x="6858000" y="5410200"/>
            <a:ext cx="1905000" cy="2667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Adopted</a:t>
            </a:r>
          </a:p>
        </p:txBody>
      </p:sp>
      <p:sp>
        <p:nvSpPr>
          <p:cNvPr id="17" name="Rectángulo: esquinas redondeadas 16">
            <a:extLst>
              <a:ext uri="{FF2B5EF4-FFF2-40B4-BE49-F238E27FC236}">
                <a16:creationId xmlns:a16="http://schemas.microsoft.com/office/drawing/2014/main" id="{ED2A86B1-0B2E-44D2-A601-7785CBBDA6D4}"/>
              </a:ext>
            </a:extLst>
          </p:cNvPr>
          <p:cNvSpPr>
            <a:spLocks noGrp="1"/>
          </p:cNvSpPr>
          <p:nvPr/>
        </p:nvSpPr>
        <p:spPr>
          <a:xfrm>
            <a:off x="762000" y="4438650"/>
            <a:ext cx="3810000" cy="1123950"/>
          </a:xfrm>
          <a:prstGeom prst="roundRect">
            <a:avLst>
              <a:gd name="adj" fmla="val 10169"/>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3A4444BD-D2CF-44B1-95EF-395CF4DBC8A8}"/>
              </a:ext>
            </a:extLst>
          </p:cNvPr>
          <p:cNvSpPr>
            <a:spLocks noGrp="1"/>
          </p:cNvSpPr>
          <p:nvPr/>
        </p:nvSpPr>
        <p:spPr>
          <a:xfrm>
            <a:off x="990600" y="4591050"/>
            <a:ext cx="3352800" cy="285750"/>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HTTP endpoints remain stubs</a:t>
            </a:r>
          </a:p>
        </p:txBody>
      </p:sp>
      <p:sp>
        <p:nvSpPr>
          <p:cNvPr id="19" name="Rectángulo 18">
            <a:extLst>
              <a:ext uri="{FF2B5EF4-FFF2-40B4-BE49-F238E27FC236}">
                <a16:creationId xmlns:a16="http://schemas.microsoft.com/office/drawing/2014/main" id="{86B71BB8-775B-4544-80E6-533F2DF6F095}"/>
              </a:ext>
            </a:extLst>
          </p:cNvPr>
          <p:cNvSpPr>
            <a:spLocks noGrp="1"/>
          </p:cNvSpPr>
          <p:nvPr/>
        </p:nvSpPr>
        <p:spPr>
          <a:xfrm>
            <a:off x="1066800" y="5067300"/>
            <a:ext cx="3200400" cy="361950"/>
          </a:xfrm>
          <a:prstGeom prst="rect">
            <a:avLst/>
          </a:prstGeom>
          <a:noFill/>
          <a:ln w="0">
            <a:noFill/>
          </a:ln>
        </p:spPr>
        <p:txBody>
          <a:bodyPr wrap="square" lIns="0" tIns="0" rIns="0" bIns="0" anchor="t">
            <a:noAutofit/>
          </a:bodyPr>
          <a:lstStyle/>
          <a:p>
            <a:pPr algn="ctr">
              <a:lnSpc>
                <a:spcPct val="104000"/>
              </a:lnSpc>
              <a:buNone/>
              <a:defRPr sz="1350" b="0">
                <a:solidFill>
                  <a:srgbClr val="171417"/>
                </a:solidFill>
                <a:latin typeface="Arial"/>
                <a:ea typeface="Arial"/>
                <a:cs typeface="Arial"/>
              </a:defRPr>
            </a:pPr>
            <a:r>
              <a:rPr sz="1350" b="0">
                <a:solidFill>
                  <a:srgbClr val="171417"/>
                </a:solidFill>
                <a:latin typeface="Arial"/>
                <a:ea typeface="Arial"/>
                <a:cs typeface="Arial"/>
              </a:rPr>
              <a:t>POST validates SDP, then returns HTTP 501</a:t>
            </a:r>
          </a:p>
        </p:txBody>
      </p:sp>
    </p:spTree>
    <p:extLst>
      <p:ext uri="{BB962C8B-B14F-4D97-AF65-F5344CB8AC3E}">
        <p14:creationId xmlns:p14="http://schemas.microsoft.com/office/powerpoint/2010/main" val="9699304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7" name="Rectángulo 6">
            <a:extLst>
              <a:ext uri="{FF2B5EF4-FFF2-40B4-BE49-F238E27FC236}">
                <a16:creationId xmlns:a16="http://schemas.microsoft.com/office/drawing/2014/main" id="{4CE6AB0E-780C-4A05-8A6F-57ACBB036B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5196033-CDD2-4239-B209-9672A838A42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Camera Integration Iterations</a:t>
            </a:r>
          </a:p>
        </p:txBody>
      </p:sp>
      <p:sp>
        <p:nvSpPr>
          <p:cNvPr id="3" name="Rectángulo 2">
            <a:extLst>
              <a:ext uri="{FF2B5EF4-FFF2-40B4-BE49-F238E27FC236}">
                <a16:creationId xmlns:a16="http://schemas.microsoft.com/office/drawing/2014/main" id="{641D31BB-6F8D-43C5-9A70-A09646811F4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4A931E4-C079-4FB9-9B0E-8F75898BEE9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18</a:t>
            </a:r>
          </a:p>
        </p:txBody>
      </p:sp>
      <p:graphicFrame>
        <p:nvGraphicFramePr>
          <p:cNvPr id="11" name="Tabla 10"/>
          <p:cNvGraphicFramePr/>
          <p:nvPr/>
        </p:nvGraphicFramePr>
        <p:xfrm>
          <a:off x="571500" y="1562100"/>
          <a:ext cx="11049000" cy="4095750"/>
        </p:xfrm>
        <a:graphic>
          <a:graphicData uri="http://schemas.openxmlformats.org/drawingml/2006/table">
            <a:tbl>
              <a:tblPr/>
              <a:tblGrid>
                <a:gridCol w="20002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3143250">
                  <a:extLst>
                    <a:ext uri="{9D8B030D-6E8A-4147-A177-3AD203B41FA5}">
                      <a16:colId xmlns:a16="http://schemas.microsoft.com/office/drawing/2014/main" val="20002"/>
                    </a:ext>
                  </a:extLst>
                </a:gridCol>
                <a:gridCol w="3714750">
                  <a:extLst>
                    <a:ext uri="{9D8B030D-6E8A-4147-A177-3AD203B41FA5}">
                      <a16:colId xmlns:a16="http://schemas.microsoft.com/office/drawing/2014/main" val="20003"/>
                    </a:ext>
                  </a:extLst>
                </a:gridCol>
              </a:tblGrid>
              <a:tr h="609600">
                <a:tc>
                  <a:txBody>
                    <a:bodyPr/>
                    <a:lstStyle/>
                    <a:p>
                      <a:pPr algn="ctr">
                        <a:buNone/>
                      </a:pPr>
                      <a:r>
                        <a:rPr sz="1500" b="1">
                          <a:solidFill>
                            <a:srgbClr val="FFFFFF"/>
                          </a:solidFill>
                          <a:latin typeface="Arial"/>
                          <a:ea typeface="Arial"/>
                          <a:cs typeface="Arial"/>
                        </a:rPr>
                        <a:t>Approach</a:t>
                      </a:r>
                    </a:p>
                  </a:txBody>
                  <a:tcPr anchor="ctr">
                    <a:solidFill>
                      <a:srgbClr val="830051"/>
                    </a:solidFill>
                  </a:tcPr>
                </a:tc>
                <a:tc>
                  <a:txBody>
                    <a:bodyPr/>
                    <a:lstStyle/>
                    <a:p>
                      <a:pPr algn="ctr">
                        <a:buNone/>
                      </a:pPr>
                      <a:r>
                        <a:rPr sz="1500" b="1">
                          <a:solidFill>
                            <a:srgbClr val="FFFFFF"/>
                          </a:solidFill>
                          <a:latin typeface="Arial"/>
                          <a:ea typeface="Arial"/>
                          <a:cs typeface="Arial"/>
                        </a:rPr>
                        <a:t>Repository status</a:t>
                      </a:r>
                    </a:p>
                  </a:txBody>
                  <a:tcPr anchor="ctr">
                    <a:solidFill>
                      <a:srgbClr val="830051"/>
                    </a:solidFill>
                  </a:tcPr>
                </a:tc>
                <a:tc>
                  <a:txBody>
                    <a:bodyPr/>
                    <a:lstStyle/>
                    <a:p>
                      <a:pPr algn="ctr">
                        <a:buNone/>
                      </a:pPr>
                      <a:r>
                        <a:rPr sz="1500" b="1">
                          <a:solidFill>
                            <a:srgbClr val="FFFFFF"/>
                          </a:solidFill>
                          <a:latin typeface="Arial"/>
                          <a:ea typeface="Arial"/>
                          <a:cs typeface="Arial"/>
                        </a:rPr>
                        <a:t>Strength</a:t>
                      </a:r>
                    </a:p>
                  </a:txBody>
                  <a:tcPr anchor="ctr">
                    <a:solidFill>
                      <a:srgbClr val="830051"/>
                    </a:solidFill>
                  </a:tcPr>
                </a:tc>
                <a:tc>
                  <a:txBody>
                    <a:bodyPr/>
                    <a:lstStyle/>
                    <a:p>
                      <a:pPr algn="ctr">
                        <a:buNone/>
                      </a:pPr>
                      <a:r>
                        <a:rPr sz="1500" b="1">
                          <a:solidFill>
                            <a:srgbClr val="FFFFFF"/>
                          </a:solidFill>
                          <a:latin typeface="Arial"/>
                          <a:ea typeface="Arial"/>
                          <a:cs typeface="Arial"/>
                        </a:rPr>
                        <a:t>Limitation / trade-off</a:t>
                      </a:r>
                    </a:p>
                  </a:txBody>
                  <a:tcPr anchor="ctr">
                    <a:solidFill>
                      <a:srgbClr val="830051"/>
                    </a:solidFill>
                  </a:tcPr>
                </a:tc>
                <a:extLst>
                  <a:ext uri="{0D108BD9-81ED-4DB2-BD59-A6C34878D82A}">
                    <a16:rowId xmlns:a16="http://schemas.microsoft.com/office/drawing/2014/main" val="10000"/>
                  </a:ext>
                </a:extLst>
              </a:tr>
              <a:tr h="1066800">
                <a:tc>
                  <a:txBody>
                    <a:bodyPr/>
                    <a:lstStyle/>
                    <a:p>
                      <a:r>
                        <a:rPr sz="1425" b="1">
                          <a:solidFill>
                            <a:srgbClr val="171417"/>
                          </a:solidFill>
                          <a:latin typeface="Arial"/>
                          <a:ea typeface="Arial"/>
                          <a:cs typeface="Arial"/>
                        </a:rPr>
                        <a:t>libcamera</a:t>
                      </a:r>
                    </a:p>
                  </a:txBody>
                  <a:tcPr anchor="ctr">
                    <a:solidFill>
                      <a:srgbClr val="FFFFFF"/>
                    </a:solidFill>
                  </a:tcPr>
                </a:tc>
                <a:tc>
                  <a:txBody>
                    <a:bodyPr/>
                    <a:lstStyle/>
                    <a:p>
                      <a:r>
                        <a:rPr sz="1425" b="0">
                          <a:solidFill>
                            <a:srgbClr val="171417"/>
                          </a:solidFill>
                          <a:latin typeface="Arial"/>
                          <a:ea typeface="Arial"/>
                          <a:cs typeface="Arial"/>
                        </a:rPr>
                        <a:t>Considered</a:t>
                      </a:r>
                    </a:p>
                  </a:txBody>
                  <a:tcPr anchor="ctr">
                    <a:solidFill>
                      <a:srgbClr val="FFFFFF"/>
                    </a:solidFill>
                  </a:tcPr>
                </a:tc>
                <a:tc>
                  <a:txBody>
                    <a:bodyPr/>
                    <a:lstStyle/>
                    <a:p>
                      <a:r>
                        <a:rPr sz="1425" b="0">
                          <a:solidFill>
                            <a:srgbClr val="171417"/>
                          </a:solidFill>
                          <a:latin typeface="Arial"/>
                          <a:ea typeface="Arial"/>
                          <a:cs typeface="Arial"/>
                        </a:rPr>
                        <a:t>Native Raspberry Pi camera stack for CSI cameras</a:t>
                      </a:r>
                    </a:p>
                  </a:txBody>
                  <a:tcPr anchor="ctr">
                    <a:solidFill>
                      <a:srgbClr val="FFFFFF"/>
                    </a:solidFill>
                  </a:tcPr>
                </a:tc>
                <a:tc>
                  <a:txBody>
                    <a:bodyPr/>
                    <a:lstStyle/>
                    <a:p>
                      <a:r>
                        <a:rPr sz="1425" b="0">
                          <a:solidFill>
                            <a:srgbClr val="171417"/>
                          </a:solidFill>
                          <a:latin typeface="Arial"/>
                          <a:ea typeface="Arial"/>
                          <a:cs typeface="Arial"/>
                        </a:rPr>
                        <a:t>No recorded implementation. Final Logitech C920 capture uses V4L2.</a:t>
                      </a:r>
                    </a:p>
                  </a:txBody>
                  <a:tcPr anchor="ctr">
                    <a:solidFill>
                      <a:srgbClr val="FFFFFF"/>
                    </a:solidFill>
                  </a:tcPr>
                </a:tc>
                <a:extLst>
                  <a:ext uri="{0D108BD9-81ED-4DB2-BD59-A6C34878D82A}">
                    <a16:rowId xmlns:a16="http://schemas.microsoft.com/office/drawing/2014/main" val="10001"/>
                  </a:ext>
                </a:extLst>
              </a:tr>
              <a:tr h="1200150">
                <a:tc>
                  <a:txBody>
                    <a:bodyPr/>
                    <a:lstStyle/>
                    <a:p>
                      <a:r>
                        <a:rPr sz="1425" b="1">
                          <a:solidFill>
                            <a:srgbClr val="171417"/>
                          </a:solidFill>
                          <a:latin typeface="Arial"/>
                          <a:ea typeface="Arial"/>
                          <a:cs typeface="Arial"/>
                        </a:rPr>
                        <a:t>FFmpeg shared libraries</a:t>
                      </a:r>
                    </a:p>
                  </a:txBody>
                  <a:tcPr anchor="ctr">
                    <a:solidFill>
                      <a:srgbClr val="FFFFFF"/>
                    </a:solidFill>
                  </a:tcPr>
                </a:tc>
                <a:tc>
                  <a:txBody>
                    <a:bodyPr/>
                    <a:lstStyle/>
                    <a:p>
                      <a:r>
                        <a:rPr sz="1425" b="0">
                          <a:solidFill>
                            <a:srgbClr val="171417"/>
                          </a:solidFill>
                          <a:latin typeface="Arial"/>
                          <a:ea typeface="Arial"/>
                          <a:cs typeface="Arial"/>
                        </a:rPr>
                        <a:t>Implemented first</a:t>
                      </a:r>
                    </a:p>
                  </a:txBody>
                  <a:tcPr anchor="ctr">
                    <a:solidFill>
                      <a:srgbClr val="FFFFFF"/>
                    </a:solidFill>
                  </a:tcPr>
                </a:tc>
                <a:tc>
                  <a:txBody>
                    <a:bodyPr/>
                    <a:lstStyle/>
                    <a:p>
                      <a:r>
                        <a:rPr sz="1425" b="0">
                          <a:solidFill>
                            <a:srgbClr val="171417"/>
                          </a:solidFill>
                          <a:latin typeface="Arial"/>
                          <a:ea typeface="Arial"/>
                          <a:cs typeface="Arial"/>
                        </a:rPr>
                        <a:t>Direct in-process encoded-sample callbacks</a:t>
                      </a:r>
                    </a:p>
                  </a:txBody>
                  <a:tcPr anchor="ctr">
                    <a:solidFill>
                      <a:srgbClr val="FFFFFF"/>
                    </a:solidFill>
                  </a:tcPr>
                </a:tc>
                <a:tc>
                  <a:txBody>
                    <a:bodyPr/>
                    <a:lstStyle/>
                    <a:p>
                      <a:r>
                        <a:rPr sz="1425" b="0">
                          <a:solidFill>
                            <a:srgbClr val="171417"/>
                          </a:solidFill>
                          <a:latin typeface="Arial"/>
                          <a:ea typeface="Arial"/>
                          <a:cs typeface="Arial"/>
                        </a:rPr>
                        <a:t>Required exact FFmpeg 8.1 native-library and FFmpeg.AutoGen compatibility.</a:t>
                      </a:r>
                    </a:p>
                  </a:txBody>
                  <a:tcPr anchor="ctr">
                    <a:solidFill>
                      <a:srgbClr val="FFFFFF"/>
                    </a:solidFill>
                  </a:tcPr>
                </a:tc>
                <a:extLst>
                  <a:ext uri="{0D108BD9-81ED-4DB2-BD59-A6C34878D82A}">
                    <a16:rowId xmlns:a16="http://schemas.microsoft.com/office/drawing/2014/main" val="10002"/>
                  </a:ext>
                </a:extLst>
              </a:tr>
              <a:tr h="1219200">
                <a:tc>
                  <a:txBody>
                    <a:bodyPr/>
                    <a:lstStyle/>
                    <a:p>
                      <a:r>
                        <a:rPr sz="1425" b="1">
                          <a:solidFill>
                            <a:srgbClr val="171417"/>
                          </a:solidFill>
                          <a:latin typeface="Arial"/>
                          <a:ea typeface="Arial"/>
                          <a:cs typeface="Arial"/>
                        </a:rPr>
                        <a:t>External FFmpeg RTP emission</a:t>
                      </a:r>
                    </a:p>
                  </a:txBody>
                  <a:tcPr anchor="ctr">
                    <a:solidFill>
                      <a:srgbClr val="F5EDF2"/>
                    </a:solidFill>
                  </a:tcPr>
                </a:tc>
                <a:tc>
                  <a:txBody>
                    <a:bodyPr/>
                    <a:lstStyle/>
                    <a:p>
                      <a:r>
                        <a:rPr sz="1425" b="0">
                          <a:solidFill>
                            <a:srgbClr val="171417"/>
                          </a:solidFill>
                          <a:latin typeface="Arial"/>
                          <a:ea typeface="Arial"/>
                          <a:cs typeface="Arial"/>
                        </a:rPr>
                        <a:t>Final implementation</a:t>
                      </a:r>
                    </a:p>
                  </a:txBody>
                  <a:tcPr anchor="ctr">
                    <a:solidFill>
                      <a:srgbClr val="F5EDF2"/>
                    </a:solidFill>
                  </a:tcPr>
                </a:tc>
                <a:tc>
                  <a:txBody>
                    <a:bodyPr/>
                    <a:lstStyle/>
                    <a:p>
                      <a:r>
                        <a:rPr sz="1425" b="0">
                          <a:solidFill>
                            <a:srgbClr val="171417"/>
                          </a:solidFill>
                          <a:latin typeface="Arial"/>
                          <a:ea typeface="Arial"/>
                          <a:cs typeface="Arial"/>
                        </a:rPr>
                        <a:t>Executable supervision creates a clearer deployment boundary</a:t>
                      </a:r>
                    </a:p>
                  </a:txBody>
                  <a:tcPr anchor="ctr">
                    <a:solidFill>
                      <a:srgbClr val="F5EDF2"/>
                    </a:solidFill>
                  </a:tcPr>
                </a:tc>
                <a:tc>
                  <a:txBody>
                    <a:bodyPr/>
                    <a:lstStyle/>
                    <a:p>
                      <a:r>
                        <a:rPr sz="1425" b="0">
                          <a:solidFill>
                            <a:srgbClr val="171417"/>
                          </a:solidFill>
                          <a:latin typeface="Arial"/>
                          <a:ea typeface="Arial"/>
                          <a:cs typeface="Arial"/>
                        </a:rPr>
                        <a:t>Adds loopback RTP depacketization and WebRTC repacketization.</a:t>
                      </a:r>
                    </a:p>
                  </a:txBody>
                  <a:tcPr anchor="ctr">
                    <a:solidFill>
                      <a:srgbClr val="F5EDF2"/>
                    </a:solidFill>
                  </a:tcPr>
                </a:tc>
                <a:extLst>
                  <a:ext uri="{0D108BD9-81ED-4DB2-BD59-A6C34878D82A}">
                    <a16:rowId xmlns:a16="http://schemas.microsoft.com/office/drawing/2014/main" val="10003"/>
                  </a:ext>
                </a:extLst>
              </a:tr>
            </a:tbl>
          </a:graphicData>
        </a:graphic>
      </p:graphicFrame>
      <p:sp>
        <p:nvSpPr>
          <p:cNvPr id="6" name="Rectángulo 5">
            <a:extLst>
              <a:ext uri="{FF2B5EF4-FFF2-40B4-BE49-F238E27FC236}">
                <a16:creationId xmlns:a16="http://schemas.microsoft.com/office/drawing/2014/main" id="{69ADFE70-7D8B-4B25-A753-F737CE8AEF5C}"/>
              </a:ext>
            </a:extLst>
          </p:cNvPr>
          <p:cNvSpPr>
            <a:spLocks noGrp="1"/>
          </p:cNvSpPr>
          <p:nvPr/>
        </p:nvSpPr>
        <p:spPr>
          <a:xfrm>
            <a:off x="1181100" y="5905500"/>
            <a:ext cx="9829800" cy="30480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External FFmpeg solved native-library fragility, not software encoding load.</a:t>
            </a:r>
          </a:p>
        </p:txBody>
      </p:sp>
    </p:spTree>
    <p:extLst>
      <p:ext uri="{BB962C8B-B14F-4D97-AF65-F5344CB8AC3E}">
        <p14:creationId xmlns:p14="http://schemas.microsoft.com/office/powerpoint/2010/main" val="1538976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19</a:t>
            </a: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Discovery of CPU Encoding Cost</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20</a:t>
            </a: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7" name="Rectángulo 6">
            <a:extLst>
              <a:ext uri="{FF2B5EF4-FFF2-40B4-BE49-F238E27FC236}">
                <a16:creationId xmlns:a16="http://schemas.microsoft.com/office/drawing/2014/main" id="{3D014795-FAEC-425B-B2CA-8EBE4BCDC572}"/>
              </a:ext>
            </a:extLst>
          </p:cNvPr>
          <p:cNvSpPr>
            <a:spLocks noGrp="1"/>
          </p:cNvSpPr>
          <p:nvPr/>
        </p:nvSpPr>
        <p:spPr>
          <a:xfrm>
            <a:off x="685800" y="16192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WORK ON THE RASPBERRY PI</a:t>
            </a:r>
          </a:p>
        </p:txBody>
      </p:sp>
      <p:sp>
        <p:nvSpPr>
          <p:cNvPr id="8" name="Rectángulo: esquinas redondeadas 7">
            <a:extLst>
              <a:ext uri="{FF2B5EF4-FFF2-40B4-BE49-F238E27FC236}">
                <a16:creationId xmlns:a16="http://schemas.microsoft.com/office/drawing/2014/main" id="{619604F6-8EB9-4669-A91F-90A588504219}"/>
              </a:ext>
            </a:extLst>
          </p:cNvPr>
          <p:cNvSpPr>
            <a:spLocks noGrp="1"/>
          </p:cNvSpPr>
          <p:nvPr/>
        </p:nvSpPr>
        <p:spPr>
          <a:xfrm>
            <a:off x="723900" y="20383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9" name="Rectángulo 8">
            <a:extLst>
              <a:ext uri="{FF2B5EF4-FFF2-40B4-BE49-F238E27FC236}">
                <a16:creationId xmlns:a16="http://schemas.microsoft.com/office/drawing/2014/main" id="{F1F8E700-494E-4D7D-BA5C-10E64E8B8D21}"/>
              </a:ext>
            </a:extLst>
          </p:cNvPr>
          <p:cNvSpPr>
            <a:spLocks noGrp="1"/>
          </p:cNvSpPr>
          <p:nvPr/>
        </p:nvSpPr>
        <p:spPr>
          <a:xfrm>
            <a:off x="1390650" y="20383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Decode camera MJPEG</a:t>
            </a:r>
          </a:p>
        </p:txBody>
      </p:sp>
      <p:sp>
        <p:nvSpPr>
          <p:cNvPr id="10" name="Rectángulo 9">
            <a:extLst>
              <a:ext uri="{FF2B5EF4-FFF2-40B4-BE49-F238E27FC236}">
                <a16:creationId xmlns:a16="http://schemas.microsoft.com/office/drawing/2014/main" id="{A4539854-07C8-444B-A4F5-D7F4741C148A}"/>
              </a:ext>
            </a:extLst>
          </p:cNvPr>
          <p:cNvSpPr>
            <a:spLocks noGrp="1"/>
          </p:cNvSpPr>
          <p:nvPr/>
        </p:nvSpPr>
        <p:spPr>
          <a:xfrm>
            <a:off x="1390650" y="24098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memory bandwidth</a:t>
            </a:r>
          </a:p>
        </p:txBody>
      </p:sp>
      <p:sp>
        <p:nvSpPr>
          <p:cNvPr id="11" name="Rectángulo: esquinas redondeadas 10">
            <a:extLst>
              <a:ext uri="{FF2B5EF4-FFF2-40B4-BE49-F238E27FC236}">
                <a16:creationId xmlns:a16="http://schemas.microsoft.com/office/drawing/2014/main" id="{FC65867E-032C-4ECF-8039-E5CE57A6852B}"/>
              </a:ext>
            </a:extLst>
          </p:cNvPr>
          <p:cNvSpPr>
            <a:spLocks noGrp="1"/>
          </p:cNvSpPr>
          <p:nvPr/>
        </p:nvSpPr>
        <p:spPr>
          <a:xfrm>
            <a:off x="723900" y="300990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12" name="Rectángulo 11">
            <a:extLst>
              <a:ext uri="{FF2B5EF4-FFF2-40B4-BE49-F238E27FC236}">
                <a16:creationId xmlns:a16="http://schemas.microsoft.com/office/drawing/2014/main" id="{E9F9CFA3-70DA-473C-9A85-B8C76F76B25C}"/>
              </a:ext>
            </a:extLst>
          </p:cNvPr>
          <p:cNvSpPr>
            <a:spLocks noGrp="1"/>
          </p:cNvSpPr>
          <p:nvPr/>
        </p:nvSpPr>
        <p:spPr>
          <a:xfrm>
            <a:off x="1390650" y="300990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Software-encode H.264</a:t>
            </a:r>
          </a:p>
        </p:txBody>
      </p:sp>
      <p:sp>
        <p:nvSpPr>
          <p:cNvPr id="13" name="Rectángulo 12">
            <a:extLst>
              <a:ext uri="{FF2B5EF4-FFF2-40B4-BE49-F238E27FC236}">
                <a16:creationId xmlns:a16="http://schemas.microsoft.com/office/drawing/2014/main" id="{7D49353A-2CB9-4374-AF43-BD429585750F}"/>
              </a:ext>
            </a:extLst>
          </p:cNvPr>
          <p:cNvSpPr>
            <a:spLocks noGrp="1"/>
          </p:cNvSpPr>
          <p:nvPr/>
        </p:nvSpPr>
        <p:spPr>
          <a:xfrm>
            <a:off x="1390650" y="338137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heat + latency</a:t>
            </a:r>
          </a:p>
        </p:txBody>
      </p:sp>
      <p:sp>
        <p:nvSpPr>
          <p:cNvPr id="14" name="Rectángulo: esquinas redondeadas 13">
            <a:extLst>
              <a:ext uri="{FF2B5EF4-FFF2-40B4-BE49-F238E27FC236}">
                <a16:creationId xmlns:a16="http://schemas.microsoft.com/office/drawing/2014/main" id="{986DA9AA-EA3B-4772-ABD9-FD0486DFBAAD}"/>
              </a:ext>
            </a:extLst>
          </p:cNvPr>
          <p:cNvSpPr>
            <a:spLocks noGrp="1"/>
          </p:cNvSpPr>
          <p:nvPr/>
        </p:nvSpPr>
        <p:spPr>
          <a:xfrm>
            <a:off x="723900" y="39814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5" name="Rectángulo 14">
            <a:extLst>
              <a:ext uri="{FF2B5EF4-FFF2-40B4-BE49-F238E27FC236}">
                <a16:creationId xmlns:a16="http://schemas.microsoft.com/office/drawing/2014/main" id="{93B59D26-2D69-400A-B1C1-C3084AFD8D63}"/>
              </a:ext>
            </a:extLst>
          </p:cNvPr>
          <p:cNvSpPr>
            <a:spLocks noGrp="1"/>
          </p:cNvSpPr>
          <p:nvPr/>
        </p:nvSpPr>
        <p:spPr>
          <a:xfrm>
            <a:off x="1390650" y="39814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Packetize and encrypt</a:t>
            </a:r>
          </a:p>
        </p:txBody>
      </p:sp>
      <p:sp>
        <p:nvSpPr>
          <p:cNvPr id="16" name="Rectángulo 15">
            <a:extLst>
              <a:ext uri="{FF2B5EF4-FFF2-40B4-BE49-F238E27FC236}">
                <a16:creationId xmlns:a16="http://schemas.microsoft.com/office/drawing/2014/main" id="{4DE0070F-B615-4EC9-91AB-A261A74CD519}"/>
              </a:ext>
            </a:extLst>
          </p:cNvPr>
          <p:cNvSpPr>
            <a:spLocks noGrp="1"/>
          </p:cNvSpPr>
          <p:nvPr/>
        </p:nvSpPr>
        <p:spPr>
          <a:xfrm>
            <a:off x="1390650" y="43529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Additional real-time work</a:t>
            </a:r>
          </a:p>
        </p:txBody>
      </p:sp>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LOW-LATENCY SETTINGS</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429000" y="5200650"/>
            <a:ext cx="7524750" cy="34290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superfast   zerolatency   no B-frames   small VBV buffer</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76600" y="5657850"/>
            <a:ext cx="7791450" cy="238125"/>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External FFmpeg improved deployment isolation; CPU encoding stayed on the Pi.</a:t>
            </a:r>
          </a:p>
        </p:txBody>
      </p:sp>
    </p:spTree>
    <p:extLst>
      <p:ext uri="{BB962C8B-B14F-4D97-AF65-F5344CB8AC3E}">
        <p14:creationId xmlns:p14="http://schemas.microsoft.com/office/powerpoint/2010/main" val="1717942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21</a:t>
            </a: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171700"/>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171700"/>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Supply voltage</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dips</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171700"/>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2647950"/>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2647950"/>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4" name="Rectángulo: esquinas redondeadas 13">
            <a:extLst>
              <a:ext uri="{FF2B5EF4-FFF2-40B4-BE49-F238E27FC236}">
                <a16:creationId xmlns:a16="http://schemas.microsoft.com/office/drawing/2014/main" id="{9C86A77B-6CBD-42B6-B034-7241FD91FCB1}"/>
              </a:ext>
            </a:extLst>
          </p:cNvPr>
          <p:cNvSpPr>
            <a:spLocks noGrp="1"/>
          </p:cNvSpPr>
          <p:nvPr/>
        </p:nvSpPr>
        <p:spPr>
          <a:xfrm>
            <a:off x="685800" y="4686300"/>
            <a:ext cx="10553700" cy="1257300"/>
          </a:xfrm>
          <a:prstGeom prst="roundRect">
            <a:avLst>
              <a:gd name="adj" fmla="val 9091"/>
            </a:avLst>
          </a:prstGeom>
          <a:solidFill>
            <a:srgbClr val="FFFFFF"/>
          </a:solidFill>
          <a:ln w="9525">
            <a:solidFill>
              <a:srgbClr val="E7E3E5"/>
            </a:solidFill>
            <a:prstDash val="solid"/>
          </a:ln>
        </p:spPr>
        <p:txBody>
          <a:bodyPr/>
          <a:lstStyle/>
          <a:p>
            <a:endParaRPr/>
          </a:p>
        </p:txBody>
      </p:sp>
      <p:sp>
        <p:nvSpPr>
          <p:cNvPr id="15" name="Rectángulo 14">
            <a:extLst>
              <a:ext uri="{FF2B5EF4-FFF2-40B4-BE49-F238E27FC236}">
                <a16:creationId xmlns:a16="http://schemas.microsoft.com/office/drawing/2014/main" id="{5C589F36-6A91-4E78-9359-363836C58CF6}"/>
              </a:ext>
            </a:extLst>
          </p:cNvPr>
          <p:cNvSpPr>
            <a:spLocks noGrp="1"/>
          </p:cNvSpPr>
          <p:nvPr/>
        </p:nvSpPr>
        <p:spPr>
          <a:xfrm>
            <a:off x="933450" y="4914900"/>
            <a:ext cx="27241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PROTECTED POWER DESIGN</a:t>
            </a:r>
          </a:p>
        </p:txBody>
      </p:sp>
      <p:sp>
        <p:nvSpPr>
          <p:cNvPr id="16" name="Rectángulo 15">
            <a:extLst>
              <a:ext uri="{FF2B5EF4-FFF2-40B4-BE49-F238E27FC236}">
                <a16:creationId xmlns:a16="http://schemas.microsoft.com/office/drawing/2014/main" id="{24E2CF15-F669-45E1-9F2E-27B878F5CA14}"/>
              </a:ext>
            </a:extLst>
          </p:cNvPr>
          <p:cNvSpPr>
            <a:spLocks noGrp="1"/>
          </p:cNvSpPr>
          <p:nvPr/>
        </p:nvSpPr>
        <p:spPr>
          <a:xfrm>
            <a:off x="3790950" y="4857750"/>
            <a:ext cx="2000250" cy="32385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Separate fused branch</a:t>
            </a:r>
          </a:p>
        </p:txBody>
      </p:sp>
      <p:sp>
        <p:nvSpPr>
          <p:cNvPr id="17" name="Rectángulo 16">
            <a:extLst>
              <a:ext uri="{FF2B5EF4-FFF2-40B4-BE49-F238E27FC236}">
                <a16:creationId xmlns:a16="http://schemas.microsoft.com/office/drawing/2014/main" id="{51F073C2-6AB0-4618-A236-6B8B38B3DE7B}"/>
              </a:ext>
            </a:extLst>
          </p:cNvPr>
          <p:cNvSpPr>
            <a:spLocks noGrp="1"/>
          </p:cNvSpPr>
          <p:nvPr/>
        </p:nvSpPr>
        <p:spPr>
          <a:xfrm>
            <a:off x="5943600" y="4857750"/>
            <a:ext cx="24574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DC-DC regulation + decoupling</a:t>
            </a:r>
          </a:p>
        </p:txBody>
      </p:sp>
      <p:sp>
        <p:nvSpPr>
          <p:cNvPr id="18" name="Rectángulo 17">
            <a:extLst>
              <a:ext uri="{FF2B5EF4-FFF2-40B4-BE49-F238E27FC236}">
                <a16:creationId xmlns:a16="http://schemas.microsoft.com/office/drawing/2014/main" id="{2AE9619B-1060-4933-8B7C-8002B1D95397}"/>
              </a:ext>
            </a:extLst>
          </p:cNvPr>
          <p:cNvSpPr>
            <a:spLocks noGrp="1"/>
          </p:cNvSpPr>
          <p:nvPr/>
        </p:nvSpPr>
        <p:spPr>
          <a:xfrm>
            <a:off x="8572500" y="4857750"/>
            <a:ext cx="23812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Transient suppression + grounding</a:t>
            </a:r>
          </a:p>
        </p:txBody>
      </p:sp>
      <p:sp>
        <p:nvSpPr>
          <p:cNvPr id="19" name="Rectángulo 18">
            <a:extLst>
              <a:ext uri="{FF2B5EF4-FFF2-40B4-BE49-F238E27FC236}">
                <a16:creationId xmlns:a16="http://schemas.microsoft.com/office/drawing/2014/main" id="{B1ED62EE-685E-45B9-B710-D3157B114E08}"/>
              </a:ext>
            </a:extLst>
          </p:cNvPr>
          <p:cNvSpPr>
            <a:spLocks noGrp="1"/>
          </p:cNvSpPr>
          <p:nvPr/>
        </p:nvSpPr>
        <p:spPr>
          <a:xfrm>
            <a:off x="3162300" y="5543550"/>
            <a:ext cx="7620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Add brownout monitoring and verify worst-case motor-stall current before field tests.</a:t>
            </a:r>
          </a:p>
        </p:txBody>
      </p:sp>
    </p:spTree>
    <p:extLst>
      <p:ext uri="{BB962C8B-B14F-4D97-AF65-F5344CB8AC3E}">
        <p14:creationId xmlns:p14="http://schemas.microsoft.com/office/powerpoint/2010/main" val="9515104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22</a:t>
            </a: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
        <p:nvSpPr>
          <p:cNvPr id="14" name="Rectángulo 13">
            <a:extLst>
              <a:ext uri="{FF2B5EF4-FFF2-40B4-BE49-F238E27FC236}">
                <a16:creationId xmlns:a16="http://schemas.microsoft.com/office/drawing/2014/main" id="{0D311266-5698-4FF5-8A33-B42F04387995}"/>
              </a:ext>
            </a:extLst>
          </p:cNvPr>
          <p:cNvSpPr>
            <a:spLocks noGrp="1"/>
          </p:cNvSpPr>
          <p:nvPr/>
        </p:nvSpPr>
        <p:spPr>
          <a:xfrm>
            <a:off x="1276350" y="6153150"/>
            <a:ext cx="96393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Evidence of feasibility, not a statistical guarantee or completed 5G validation</a:t>
            </a:r>
          </a:p>
        </p:txBody>
      </p:sp>
    </p:spTree>
    <p:extLst>
      <p:ext uri="{BB962C8B-B14F-4D97-AF65-F5344CB8AC3E}">
        <p14:creationId xmlns:p14="http://schemas.microsoft.com/office/powerpoint/2010/main" val="11654244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23</a:t>
            </a: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24</a:t>
            </a: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Network Resilience</a:t>
            </a: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25</a:t>
            </a: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PLANNED TEST MATRIX</a:t>
            </a:r>
          </a:p>
        </p:txBody>
      </p:sp>
      <p:graphicFrame>
        <p:nvGraphicFramePr>
          <p:cNvPr id="18" name="Tabla 17"/>
          <p:cNvGraphicFramePr/>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sz="1650" b="1">
                          <a:solidFill>
                            <a:srgbClr val="FFFFFF"/>
                          </a:solidFill>
                          <a:latin typeface="Arial"/>
                          <a:ea typeface="Arial"/>
                          <a:cs typeface="Arial"/>
                        </a:rPr>
                        <a:t>Candidate path</a:t>
                      </a:r>
                    </a:p>
                  </a:txBody>
                  <a:tcPr anchor="ctr">
                    <a:solidFill>
                      <a:srgbClr val="830051"/>
                    </a:solidFill>
                  </a:tcPr>
                </a:tc>
                <a:tc>
                  <a:txBody>
                    <a:bodyPr/>
                    <a:lstStyle/>
                    <a:p>
                      <a:pPr algn="ctr">
                        <a:buNone/>
                      </a:pPr>
                      <a:r>
                        <a:rPr sz="1650" b="1">
                          <a:solidFill>
                            <a:srgbClr val="FFFFFF"/>
                          </a:solidFill>
                          <a:latin typeface="Arial"/>
                          <a:ea typeface="Arial"/>
                          <a:cs typeface="Arial"/>
                        </a:rPr>
                        <a:t>4G</a:t>
                      </a:r>
                    </a:p>
                  </a:txBody>
                  <a:tcPr anchor="ctr">
                    <a:solidFill>
                      <a:srgbClr val="830051"/>
                    </a:solidFill>
                  </a:tcPr>
                </a:tc>
                <a:tc>
                  <a:txBody>
                    <a:bodyPr/>
                    <a:lstStyle/>
                    <a:p>
                      <a:pPr algn="ctr">
                        <a:buNone/>
                      </a:pPr>
                      <a:r>
                        <a:rPr sz="1650" b="1">
                          <a:solidFill>
                            <a:srgbClr val="FFFFFF"/>
                          </a:solidFill>
                          <a:latin typeface="Arial"/>
                          <a:ea typeface="Arial"/>
                          <a:cs typeface="Arial"/>
                        </a:rPr>
                        <a:t>5G NSA</a:t>
                      </a:r>
                    </a:p>
                  </a:txBody>
                  <a:tcPr anchor="ctr">
                    <a:solidFill>
                      <a:srgbClr val="830051"/>
                    </a:solidFill>
                  </a:tcPr>
                </a:tc>
                <a:tc>
                  <a:txBody>
                    <a:bodyPr/>
                    <a:lstStyle/>
                    <a:p>
                      <a:pPr algn="ctr">
                        <a:buNone/>
                      </a:pPr>
                      <a:r>
                        <a:rPr sz="1650" b="1">
                          <a:solidFill>
                            <a:srgbClr val="FFFFFF"/>
                          </a:solidFill>
                          <a:latin typeface="Arial"/>
                          <a:ea typeface="Arial"/>
                          <a:cs typeface="Arial"/>
                        </a:rPr>
                        <a:t>5G SA</a:t>
                      </a: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sz="1650" b="1">
                          <a:solidFill>
                            <a:srgbClr val="510034"/>
                          </a:solidFill>
                          <a:latin typeface="Arial"/>
                          <a:ea typeface="Arial"/>
                          <a:cs typeface="Arial"/>
                        </a:rPr>
                        <a:t>IPv4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sz="1650" b="1">
                          <a:solidFill>
                            <a:srgbClr val="510034"/>
                          </a:solidFill>
                          <a:latin typeface="Arial"/>
                          <a:ea typeface="Arial"/>
                          <a:cs typeface="Arial"/>
                        </a:rPr>
                        <a:t>IPv6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sz="1650" b="1">
                          <a:solidFill>
                            <a:srgbClr val="510034"/>
                          </a:solidFill>
                          <a:latin typeface="Arial"/>
                          <a:ea typeface="Arial"/>
                          <a:cs typeface="Arial"/>
                        </a:rPr>
                        <a:t>TURN relay</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RECORD FOR EVERY RUN</a:t>
            </a: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connection success</a:t>
            </a: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latency distribution</a:t>
            </a: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jitter + loss</a:t>
            </a: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mobility stability</a:t>
            </a: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uplink consistency</a:t>
            </a:r>
          </a:p>
        </p:txBody>
      </p:sp>
    </p:spTree>
    <p:extLst>
      <p:ext uri="{BB962C8B-B14F-4D97-AF65-F5344CB8AC3E}">
        <p14:creationId xmlns:p14="http://schemas.microsoft.com/office/powerpoint/2010/main" val="17612719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Protected Electrical Design</a:t>
            </a: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26</a:t>
            </a: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HARDWARE TRACK</a:t>
            </a: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Separate noisy motor current from the compute rail; add decoupling, strain relief, and brownout logging.</a:t>
            </a: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SEPARATE PROTOCOL TRACK</a:t>
            </a: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Complete WHIP / WHEP</a:t>
            </a: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Implement session resources, Location, PATCH, DELETE, HTTPS, and authorization if a central media-server architecture becomes a requirement.</a:t>
            </a: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This protocol track changes the media architecture and must be evaluated explicitly.</a:t>
            </a:r>
          </a:p>
        </p:txBody>
      </p:sp>
    </p:spTree>
    <p:extLst>
      <p:ext uri="{BB962C8B-B14F-4D97-AF65-F5344CB8AC3E}">
        <p14:creationId xmlns:p14="http://schemas.microsoft.com/office/powerpoint/2010/main" val="372192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27</a:t>
            </a:r>
          </a:p>
        </p:txBody>
      </p:sp>
      <p:sp>
        <p:nvSpPr>
          <p:cNvPr id="5" name="Rectángulo 4">
            <a:extLst>
              <a:ext uri="{FF2B5EF4-FFF2-40B4-BE49-F238E27FC236}">
                <a16:creationId xmlns:a16="http://schemas.microsoft.com/office/drawing/2014/main" id="{4E20405B-9A19-4E89-8A06-55176DC06A78}"/>
              </a:ext>
            </a:extLst>
          </p:cNvPr>
          <p:cNvSpPr>
            <a:spLocks noGrp="1"/>
          </p:cNvSpPr>
          <p:nvPr/>
        </p:nvSpPr>
        <p:spPr>
          <a:xfrm>
            <a:off x="666750" y="158115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CANDIDATE PLATFORM, NOT IMPLEMENTED</a:t>
            </a:r>
          </a:p>
        </p:txBody>
      </p:sp>
      <p:sp>
        <p:nvSpPr>
          <p:cNvPr id="6" name="Rectángulo: esquinas redondeadas 5">
            <a:extLst>
              <a:ext uri="{FF2B5EF4-FFF2-40B4-BE49-F238E27FC236}">
                <a16:creationId xmlns:a16="http://schemas.microsoft.com/office/drawing/2014/main" id="{16ACCE06-2353-4C10-842E-6E107126FD53}"/>
              </a:ext>
            </a:extLst>
          </p:cNvPr>
          <p:cNvSpPr>
            <a:spLocks noGrp="1"/>
          </p:cNvSpPr>
          <p:nvPr/>
        </p:nvSpPr>
        <p:spPr>
          <a:xfrm>
            <a:off x="762000" y="2400300"/>
            <a:ext cx="1676400" cy="857250"/>
          </a:xfrm>
          <a:prstGeom prst="roundRect">
            <a:avLst>
              <a:gd name="adj" fmla="val 15556"/>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MIPI-CSI</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camera</a:t>
            </a:r>
          </a:p>
        </p:txBody>
      </p:sp>
      <p:sp>
        <p:nvSpPr>
          <p:cNvPr id="7" name="Rectángulo: esquinas redondeadas 6">
            <a:extLst>
              <a:ext uri="{FF2B5EF4-FFF2-40B4-BE49-F238E27FC236}">
                <a16:creationId xmlns:a16="http://schemas.microsoft.com/office/drawing/2014/main" id="{25AEFA47-2B18-4431-B939-E5105D88C3F4}"/>
              </a:ext>
            </a:extLst>
          </p:cNvPr>
          <p:cNvSpPr>
            <a:spLocks noGrp="1"/>
          </p:cNvSpPr>
          <p:nvPr/>
        </p:nvSpPr>
        <p:spPr>
          <a:xfrm>
            <a:off x="2914650" y="2305050"/>
            <a:ext cx="2000250" cy="1047750"/>
          </a:xfrm>
          <a:prstGeom prst="roundRect">
            <a:avLst>
              <a:gd name="adj" fmla="val 1272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ISP +</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encoder</a:t>
            </a:r>
          </a:p>
        </p:txBody>
      </p:sp>
      <p:sp>
        <p:nvSpPr>
          <p:cNvPr id="8" name="Rectángulo: esquinas redondeadas 7">
            <a:extLst>
              <a:ext uri="{FF2B5EF4-FFF2-40B4-BE49-F238E27FC236}">
                <a16:creationId xmlns:a16="http://schemas.microsoft.com/office/drawing/2014/main" id="{B9FA3AB5-455F-4AF1-9214-ED30410D5C56}"/>
              </a:ext>
            </a:extLst>
          </p:cNvPr>
          <p:cNvSpPr>
            <a:spLocks noGrp="1"/>
          </p:cNvSpPr>
          <p:nvPr/>
        </p:nvSpPr>
        <p:spPr>
          <a:xfrm>
            <a:off x="5391150" y="2209800"/>
            <a:ext cx="2286000" cy="1238250"/>
          </a:xfrm>
          <a:prstGeom prst="roundRect">
            <a:avLst>
              <a:gd name="adj" fmla="val 1076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Rust application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media + safety state</a:t>
            </a:r>
          </a:p>
        </p:txBody>
      </p:sp>
      <p:sp>
        <p:nvSpPr>
          <p:cNvPr id="9" name="Rectángulo: esquinas redondeadas 8">
            <a:extLst>
              <a:ext uri="{FF2B5EF4-FFF2-40B4-BE49-F238E27FC236}">
                <a16:creationId xmlns:a16="http://schemas.microsoft.com/office/drawing/2014/main" id="{7CC33D2B-90E2-48F2-B78A-ACBBD77C3392}"/>
              </a:ext>
            </a:extLst>
          </p:cNvPr>
          <p:cNvSpPr>
            <a:spLocks noGrp="1"/>
          </p:cNvSpPr>
          <p:nvPr/>
        </p:nvSpPr>
        <p:spPr>
          <a:xfrm>
            <a:off x="8153400" y="2305050"/>
            <a:ext cx="2476500" cy="1047750"/>
          </a:xfrm>
          <a:prstGeom prst="roundRect">
            <a:avLst>
              <a:gd name="adj" fmla="val 1272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Ethernet or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external radio / modem</a:t>
            </a:r>
          </a:p>
        </p:txBody>
      </p:sp>
      <p:cxnSp>
        <p:nvCxnSpPr>
          <p:cNvPr id="28" name="Conector recto de flecha 27"/>
          <p:cNvCxnSpPr>
            <a:stCxn id="6" idx="3"/>
            <a:endCxn id="7" idx="1"/>
          </p:cNvCxnSpPr>
          <p:nvPr/>
        </p:nvCxnSpPr>
        <p:spPr>
          <a:xfrm>
            <a:off x="2438400" y="2828925"/>
            <a:ext cx="4762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914900" y="2828925"/>
            <a:ext cx="476250" cy="0"/>
          </a:xfrm>
          <a:prstGeom prst="straightConnector1">
            <a:avLst/>
          </a:prstGeom>
          <a:ln w="19050">
            <a:solidFill>
              <a:srgbClr val="830051"/>
            </a:solidFill>
            <a:prstDash val="solid"/>
            <a:tailEnd type="triangle" w="sm" len="sm"/>
          </a:ln>
        </p:spPr>
      </p:cxnSp>
      <p:cxnSp>
        <p:nvCxnSpPr>
          <p:cNvPr id="30" name="Conector recto de flecha 29"/>
          <p:cNvCxnSpPr>
            <a:stCxn id="8" idx="3"/>
            <a:endCxn id="9" idx="1"/>
          </p:cNvCxnSpPr>
          <p:nvPr/>
        </p:nvCxnSpPr>
        <p:spPr>
          <a:xfrm>
            <a:off x="7677150" y="2828925"/>
            <a:ext cx="476250" cy="0"/>
          </a:xfrm>
          <a:prstGeom prst="straightConnector1">
            <a:avLst/>
          </a:prstGeom>
          <a:ln w="19050">
            <a:solidFill>
              <a:srgbClr val="830051"/>
            </a:solidFill>
            <a:prstDash val="solid"/>
            <a:tailEnd type="triangle" w="sm" len="sm"/>
          </a:ln>
        </p:spPr>
      </p:cxn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spTree>
    <p:extLst>
      <p:ext uri="{BB962C8B-B14F-4D97-AF65-F5344CB8AC3E}">
        <p14:creationId xmlns:p14="http://schemas.microsoft.com/office/powerpoint/2010/main" val="8533198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30</a:t>
            </a: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31</a:t>
            </a: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32</a:t>
            </a: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1</TotalTime>
  <Words>5269</Words>
  <Application>Microsoft Office PowerPoint</Application>
  <DocSecurity>0</DocSecurity>
  <PresentationFormat>Panorámica</PresentationFormat>
  <Paragraphs>795</Paragraphs>
  <Slides>32</Slides>
  <Notes>32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32</vt:i4>
      </vt:variant>
    </vt:vector>
  </HeadingPairs>
  <TitlesOfParts>
    <vt:vector size="36"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4</cp:revision>
  <dcterms:created xsi:type="dcterms:W3CDTF">2026-09-06T22:45:51Z</dcterms:created>
  <dcterms:modified xsi:type="dcterms:W3CDTF">2026-09-06T22:57:11Z</dcterms:modified>
</cp:coreProperties>
</file>