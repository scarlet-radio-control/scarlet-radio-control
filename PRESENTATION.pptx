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3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5" d="100"/>
          <a:sy n="105" d="100"/>
        </p:scale>
        <p:origin x="79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ableStyles" Target="tableStyle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Timing: 30 seconds</a:t>
            </a:r>
          </a:p>
          <a:p>
            <a:endParaRPr/>
          </a:p>
          <a:p>
            <a:r>
              <a:t>Introduce the project as a video-path study built around a physical RC-car prototype.</a:t>
            </a:r>
          </a:p>
          <a:p>
            <a:r>
              <a:t>State the central design choice: the application server coordinates peers but does not carry video.</a:t>
            </a:r>
          </a:p>
          <a:p>
            <a:endParaRPr/>
          </a:p>
          <a:p>
            <a:r>
              <a:t>Sources:</a:t>
            </a:r>
          </a:p>
          <a:p>
            <a:r>
              <a:t>- TFM.docx, cover and pp. 7–9.</a:t>
            </a:r>
          </a:p>
          <a:p>
            <a:r>
              <a:t>- UdL brand: https://www.imatge.udl.cat/ca/marca/color-corporatiu/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Timing: 50 seconds</a:t>
            </a:r>
          </a:p>
          <a:p>
            <a:endParaRPr/>
          </a:p>
          <a:p>
            <a:r>
              <a:t>Read the question once, then separate the intended 5G context from the network used for the prototype measurement.</a:t>
            </a:r>
          </a:p>
          <a:p>
            <a:r>
              <a:t>Do not imply that the thesis validated 5G behavior. The tested mobile link used a Huawei 4G dongle.</a:t>
            </a:r>
          </a:p>
          <a:p>
            <a:endParaRPr/>
          </a:p>
          <a:p>
            <a:r>
              <a:t>Sources:</a:t>
            </a:r>
          </a:p>
          <a:p>
            <a:r>
              <a:t>- TFM.docx, pp. 7–9, 13, 36–37.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Timing: 55 seconds</a:t>
            </a:r>
          </a:p>
          <a:p>
            <a:endParaRPr/>
          </a:p>
          <a:p>
            <a:r>
              <a:t>Use the exact scope statement because later slides discuss control only as future work.</a:t>
            </a:r>
          </a:p>
          <a:p>
            <a:r>
              <a:t>The repository contains unused DataChannel scaffolding, but it does not implement vehicle control.</a:t>
            </a:r>
          </a:p>
          <a:p>
            <a:endParaRPr/>
          </a:p>
          <a:p>
            <a:r>
              <a:t>Sources:</a:t>
            </a:r>
          </a:p>
          <a:p>
            <a:r>
              <a:t>- PLAN.md, Project Scope.</a:t>
            </a:r>
          </a:p>
          <a:p>
            <a:r>
              <a:t>- TFM.docx, pp. 8–9 and 37.</a:t>
            </a:r>
          </a:p>
          <a:p>
            <a:r>
              <a:t>- Repository: useRtcPeerConnection.tsx and WebRtcSessionManager.cs; DataChannels are created but unused.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Timing: 45 seconds</a:t>
            </a:r>
          </a:p>
          <a:p>
            <a:endParaRPr/>
          </a:p>
          <a:p>
            <a:r>
              <a:t>Preview the five main sections in this exact order.</a:t>
            </a:r>
          </a:p>
          <a:p>
            <a:r>
              <a:t>The timings leave about one minute for transitions inside the thirty-minute defense.</a:t>
            </a:r>
          </a:p>
          <a:p>
            <a:endParaRPr/>
          </a:p>
          <a:p>
            <a:r>
              <a:t>Sources:</a:t>
            </a:r>
          </a:p>
          <a:p>
            <a:r>
              <a:t>- PLAN.md, Slide Structure and Visual and Source Treatment.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Timing: 60 seconds</a:t>
            </a:r>
          </a:p>
          <a:p>
            <a:endParaRPr/>
          </a:p>
          <a:p>
            <a:r>
              <a:t>Present WebRTC as a system rather than a single wire protocol.</a:t>
            </a:r>
          </a:p>
          <a:p>
            <a:r>
              <a:t>The browser API manages peer state. The IETF protocols provide connectivity, secure media transport, and feedback.</a:t>
            </a:r>
          </a:p>
          <a:p>
            <a:r>
              <a:t>SignalR is an application choice for signaling because WebRTC deliberately leaves that transport open.</a:t>
            </a:r>
          </a:p>
          <a:p>
            <a:endParaRPr/>
          </a:p>
          <a:p>
            <a:r>
              <a:t>Sources:</a:t>
            </a:r>
          </a:p>
          <a:p>
            <a:r>
              <a:t>- RFC 8825: https://www.rfc-editor.org/rfc/rfc8825.html</a:t>
            </a:r>
          </a:p>
          <a:p>
            <a:r>
              <a:t>- W3C WebRTC: https://www.w3.org/TR/webrtc/</a:t>
            </a:r>
          </a:p>
          <a:p>
            <a:r>
              <a:t>- RFC 9429 JSEP: https://www.rfc-editor.org/rfc/rfc9429.html</a:t>
            </a:r>
          </a:p>
          <a:p>
            <a:r>
              <a:t>- TFM.docx, p. 20.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Timing: 60 seconds</a:t>
            </a:r>
          </a:p>
          <a:p>
            <a:endParaRPr/>
          </a:p>
          <a:p>
            <a:r>
              <a:t>Walk from capture at the top to UDP and IP at the bottom.</a:t>
            </a:r>
          </a:p>
          <a:p>
            <a:r>
              <a:t>RTP and RTCP carry media and feedback. WebRTC protects them as SRTP and SRTCP.</a:t>
            </a:r>
          </a:p>
          <a:p>
            <a:r>
              <a:t>DTLS-SRTP derives media keys on the selected ICE path. DataChannel is part of the standard but outside this project's implemented scope.</a:t>
            </a:r>
          </a:p>
          <a:p>
            <a:endParaRPr/>
          </a:p>
          <a:p>
            <a:r>
              <a:t>Sources:</a:t>
            </a:r>
          </a:p>
          <a:p>
            <a:r>
              <a:t>- RFC 8835: https://www.rfc-editor.org/rfc/rfc8835.html</a:t>
            </a:r>
          </a:p>
          <a:p>
            <a:r>
              <a:t>- RFC 8834: https://www.rfc-editor.org/rfc/rfc8834.html</a:t>
            </a:r>
          </a:p>
          <a:p>
            <a:r>
              <a:t>- RFC 3711: https://www.rfc-editor.org/rfc/rfc3711.html</a:t>
            </a:r>
          </a:p>
          <a:p>
            <a:r>
              <a:t>- RFC 5764: https://www.rfc-editor.org/rfc/rfc5764.html</a:t>
            </a:r>
          </a:p>
          <a:p>
            <a:r>
              <a:t>- TFM.docx, pp. 22–23.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STUN lookup: each peer asks a STUN server for its public mapped IP address and port. STUN does not carry the media stream.</a:t>
            </a:r>
          </a:p>
          <a:p>
            <a:r>
              <a:t>Direct path: ICE checks candidate pairs and prefers a working direct connection.</a:t>
            </a:r>
          </a:p>
          <a:p>
            <a:r>
              <a:t>TURN fallback: when no direct candidate pair succeeds, the peers use an authenticated allocation on the Metered TURN service and media crosses the relay.</a:t>
            </a:r>
          </a:p>
          <a:p>
            <a:r>
              <a:t>Project sources: WebRtcHub.cs lines 10–16 and 24–35; WebRtcSessionManager.cs lines 33–69 and 78; Control.tsx around line 128.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Timing: 65 seconds</a:t>
            </a:r>
          </a:p>
          <a:p>
            <a:endParaRPr lang="en-GB"/>
          </a:p>
          <a:p>
            <a:r>
              <a:rPr lang="en-GB"/>
              <a:t>The Raspberry Pi creates the offer after a browser joins. SignalR forwards that offer to the selected browser.</a:t>
            </a:r>
          </a:p>
          <a:p>
            <a:r>
              <a:rPr lang="en-GB"/>
              <a:t>The browser applies the offer, creates the answer, and returns it through the hub.</a:t>
            </a:r>
          </a:p>
          <a:p>
            <a:r>
              <a:rPr lang="en-GB"/>
              <a:t>SDP carries the parameters needed to agree on media and establish ICE and DTLS. The application server does not become a media endpoint.</a:t>
            </a:r>
          </a:p>
          <a:p>
            <a:endParaRPr lang="en-GB"/>
          </a:p>
          <a:p>
            <a:r>
              <a:rPr lang="en-GB"/>
              <a:t>The SDP excerpt on the slide uses illustrative values adapted from RFC 9429. The fingerprint is shortened for readability.</a:t>
            </a:r>
          </a:p>
          <a:p>
            <a:endParaRPr lang="en-GB"/>
          </a:p>
          <a:p>
            <a:r>
              <a:rPr lang="en-GB"/>
              <a:t>Sources:</a:t>
            </a:r>
          </a:p>
          <a:p>
            <a:r>
              <a:rPr lang="en-GB"/>
              <a:t>- RFC 8866 SDP: https://www.rfc-editor.org/rfc/rfc8866.html</a:t>
            </a:r>
          </a:p>
          <a:p>
            <a:r>
              <a:rPr lang="en-GB"/>
              <a:t>- RFC 9429 JSEP: https://www.rfc-editor.org/rfc/rfc9429.html</a:t>
            </a:r>
          </a:p>
          <a:p>
            <a:r>
              <a:rPr lang="en-GB"/>
              <a:t>- TFM.docx, pp. 21, 33–34.</a:t>
            </a:r>
          </a:p>
          <a:p>
            <a:r>
              <a:rPr lang="en-GB"/>
              <a:t>- Repository: WebRtcSessionManager.cs, WebRtcSignalingBackgroundService.cs, Control.tsx.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Timing: 70 seconds</a:t>
            </a:r>
          </a:p>
          <a:p>
            <a:endParaRPr/>
          </a:p>
          <a:p>
            <a:r>
              <a:t>Present SDP first for explanatory clarity, then note that gathering can already be in progress while the descriptions are created.</a:t>
            </a:r>
          </a:p>
          <a:p>
            <a:r>
              <a:t>Trickle ICE sends candidates incrementally. Each side forms pairs, runs STUN checks, ranks viable paths, and nominates the selected pair.</a:t>
            </a:r>
          </a:p>
          <a:p>
            <a:r>
              <a:t>Peer-reflexive candidates can appear during checks even when they were not gathered beforehand.</a:t>
            </a:r>
          </a:p>
          <a:p>
            <a:endParaRPr/>
          </a:p>
          <a:p>
            <a:r>
              <a:t>Sources:</a:t>
            </a:r>
          </a:p>
          <a:p>
            <a:r>
              <a:t>- RFC 8445: https://www.rfc-editor.org/rfc/rfc8445.html</a:t>
            </a:r>
          </a:p>
          <a:p>
            <a:r>
              <a:t>- RFC 8838: https://www.rfc-editor.org/rfc/rfc8838.html</a:t>
            </a:r>
          </a:p>
          <a:p>
            <a:r>
              <a:t>- W3C ICE events: https://www.w3.org/TR/webrtc/#rtcpeerconnectioniceevent</a:t>
            </a:r>
          </a:p>
          <a:p>
            <a:r>
              <a:t>- TFM.docx, p. 21.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Timing: 65 seconds</a:t>
            </a:r>
          </a:p>
          <a:p>
            <a:endParaRPr/>
          </a:p>
          <a:p>
            <a:r>
              <a:t>VP8 and H.264 Constrained Baseline form the mandatory video interoperability baseline for WebRTC endpoints that support video.</a:t>
            </a:r>
          </a:p>
          <a:p>
            <a:r>
              <a:t>VP9 and AV1 depend on endpoint capabilities. H.265 cannot serve as a universal browser assumption.</a:t>
            </a:r>
          </a:p>
          <a:p>
            <a:r>
              <a:t>The prototype converts the C920 MJPEG stream to H.264. Its SDP advertises packetization mode 1 and profile-level-id 42e01f.</a:t>
            </a:r>
          </a:p>
          <a:p>
            <a:endParaRPr/>
          </a:p>
          <a:p>
            <a:r>
              <a:t>Sources:</a:t>
            </a:r>
          </a:p>
          <a:p>
            <a:r>
              <a:t>- RFC 7742 sections 5–6: https://www.rfc-editor.org/rfc/rfc7742.html#section-5</a:t>
            </a:r>
          </a:p>
          <a:p>
            <a:r>
              <a:t>- W3C getCapabilities: https://www.w3.org/TR/webrtc/#dom-rtcrtpsender-getcapabilities</a:t>
            </a:r>
          </a:p>
          <a:p>
            <a:r>
              <a:t>- TFM.docx, pp. 23–24.</a:t>
            </a:r>
          </a:p>
          <a:p>
            <a:r>
              <a:t>- Repository: CameraVideoSource.cs lines 28–35 and appsettings.json.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Timing: 70 seconds</a:t>
            </a:r>
          </a:p>
          <a:p>
            <a:endParaRPr/>
          </a:p>
          <a:p>
            <a:r>
              <a:t>WHIP covers unidirectional ingest from a publisher to a media server. WHEP covers egress from a media server to a viewer.</a:t>
            </a:r>
          </a:p>
          <a:p>
            <a:r>
              <a:t>Combining them normally creates two server-terminated WebRTC sessions, so the media server sits in the video path.</a:t>
            </a:r>
          </a:p>
          <a:p>
            <a:r>
              <a:t>WHIP is a Standards Track RFC. WHEP is still an active Internet-Draft, revision 04, on the date of this defense.</a:t>
            </a:r>
          </a:p>
          <a:p>
            <a:endParaRPr/>
          </a:p>
          <a:p>
            <a:r>
              <a:t>Sources:</a:t>
            </a:r>
          </a:p>
          <a:p>
            <a:r>
              <a:t>- RFC 9725: https://www.rfc-editor.org/rfc/rfc9725.html</a:t>
            </a:r>
          </a:p>
          <a:p>
            <a:r>
              <a:t>- WHEP draft-04: https://www.ietf.org/archive/id/draft-ietf-wish-whep-04.html</a:t>
            </a:r>
          </a:p>
          <a:p>
            <a:r>
              <a:t>- WHEP status: https://datatracker.ietf.org/doc/draft-ietf-wish-whep/</a:t>
            </a:r>
          </a:p>
          <a:p>
            <a:r>
              <a:t>- TFM.docx, pp. 24–25.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Timing: 80 seconds</a:t>
            </a:r>
          </a:p>
          <a:p>
            <a:endParaRPr/>
          </a:p>
          <a:p>
            <a:r>
              <a:t>Read the statement directly because it resolves a central architectural distinction.</a:t>
            </a:r>
          </a:p>
          <a:p>
            <a:r>
              <a:t>The project maps publisher and viewer roles, SDP and ICE exchange, and peer state through SignalR. Termination is only a partial disconnect and cleanup mapping, not a complete protocol lifecycle.</a:t>
            </a:r>
          </a:p>
          <a:p>
            <a:r>
              <a:t>The current WHIP and WHEP controller methods contain TODOs and return HTTP 501. They provide neither the required session resources nor the PATCH and DELETE lifecycle.</a:t>
            </a:r>
          </a:p>
          <a:p>
            <a:endParaRPr/>
          </a:p>
          <a:p>
            <a:r>
              <a:t>Sources:</a:t>
            </a:r>
          </a:p>
          <a:p>
            <a:r>
              <a:t>- PLAN.md, required statement.</a:t>
            </a:r>
          </a:p>
          <a:p>
            <a:r>
              <a:t>- RFC 9725: https://www.rfc-editor.org/rfc/rfc9725.html</a:t>
            </a:r>
          </a:p>
          <a:p>
            <a:r>
              <a:t>- WHEP draft-04: https://www.ietf.org/archive/id/draft-ietf-wish-whep-04.html</a:t>
            </a:r>
          </a:p>
          <a:p>
            <a:r>
              <a:t>- Repository: DevicesController.WhipAsync.cs and DevicesController.WhepAsync.cs.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Timing: 50 seconds</a:t>
            </a:r>
          </a:p>
          <a:p>
            <a:endParaRPr/>
          </a:p>
          <a:p>
            <a:r>
              <a:t>The first design already separated signaling from media. ASP.NET and SignalR coordinated the two peers, while WebRTC was expected to carry video directly.</a:t>
            </a:r>
          </a:p>
          <a:p>
            <a:r>
              <a:t>The early configuration contained Google STUN only. TURN was explicitly absent.</a:t>
            </a:r>
          </a:p>
          <a:p>
            <a:endParaRPr/>
          </a:p>
          <a:p>
            <a:r>
              <a:t>Sources:</a:t>
            </a:r>
          </a:p>
          <a:p>
            <a:r>
              <a:t>- Repository history: commit 5b2433a, 14 February 2026; commit 6bc9041, 19 February 2026.</a:t>
            </a:r>
          </a:p>
          <a:p>
            <a:r>
              <a:t>- TFM.docx, pp. 16–19.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Timing: 60 seconds</a:t>
            </a:r>
          </a:p>
          <a:p>
            <a:endParaRPr/>
          </a:p>
          <a:p>
            <a:r>
              <a:t>Both endpoints can sit behind private IPv4 addressing. The mobile side adds carrier-grade NAT, and the browser side may add another NAT and firewall.</a:t>
            </a:r>
          </a:p>
          <a:p>
            <a:r>
              <a:t>STUN can reveal a mapping without proving that the remote peer can send to it. Destination-dependent mapping and blocked inbound UDP can still defeat direct checks.</a:t>
            </a:r>
          </a:p>
          <a:p>
            <a:endParaRPr/>
          </a:p>
          <a:p>
            <a:r>
              <a:t>Sources:</a:t>
            </a:r>
          </a:p>
          <a:p>
            <a:r>
              <a:t>- RFC 8489: https://www.rfc-editor.org/rfc/rfc8489.html</a:t>
            </a:r>
          </a:p>
          <a:p>
            <a:r>
              <a:t>- RFC 8445: https://www.rfc-editor.org/rfc/rfc8445.html</a:t>
            </a:r>
          </a:p>
          <a:p>
            <a:r>
              <a:t>- TFM.docx, pp. 21–22 and 36–38.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Timing: 55 seconds</a:t>
            </a:r>
          </a:p>
          <a:p>
            <a:endParaRPr/>
          </a:p>
          <a:p>
            <a:r>
              <a:t>STUN did not work across every network. TURN therefore became an ICE fallback rather than the preferred path.</a:t>
            </a:r>
          </a:p>
          <a:p>
            <a:r>
              <a:t>The application server still stays outside the video path. When ICE selects a relay candidate, the separate TURN server carries the encrypted media.</a:t>
            </a:r>
          </a:p>
          <a:p>
            <a:endParaRPr/>
          </a:p>
          <a:p>
            <a:r>
              <a:t>Sources:</a:t>
            </a:r>
          </a:p>
          <a:p>
            <a:r>
              <a:t>- Repository history: commit 5b2433a and commit 66702f6 / merge adeac59.</a:t>
            </a:r>
          </a:p>
          <a:p>
            <a:r>
              <a:t>- RFC 8656: https://www.rfc-editor.org/rfc/rfc8656.html</a:t>
            </a:r>
          </a:p>
          <a:p>
            <a:r>
              <a:t>- TFM.docx, pp. 16–19, 21–22.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Timing: 50 seconds</a:t>
            </a:r>
          </a:p>
          <a:p>
            <a:endParaRPr/>
          </a:p>
          <a:p>
            <a:r>
              <a:t>IPv6 could remove the mobile carrier-grade IPv4 translation layer, so ICE should test it alongside IPv4 and TURN.</a:t>
            </a:r>
          </a:p>
          <a:p>
            <a:r>
              <a:t>IPv6 does not bypass endpoint firewalls and is not automatically faster.</a:t>
            </a:r>
          </a:p>
          <a:p>
            <a:r>
              <a:t>The current repository uses IPv6 loopback only between FFmpeg and .NET. No end-to-end public IPv6 test has been recorded.</a:t>
            </a:r>
          </a:p>
          <a:p>
            <a:endParaRPr/>
          </a:p>
          <a:p>
            <a:r>
              <a:t>Sources:</a:t>
            </a:r>
          </a:p>
          <a:p>
            <a:r>
              <a:t>- TFM.docx, pp. 36 and 38.</a:t>
            </a:r>
          </a:p>
          <a:p>
            <a:r>
              <a:t>- Repository: CameraVideoSource.cs line 158 uses IPv6Loopback for local RTP only.</a:t>
            </a:r>
          </a:p>
          <a:p>
            <a:r>
              <a:t>- RFC 8445: https://www.rfc-editor.org/rfc/rfc8445.html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Timing: 50 seconds</a:t>
            </a:r>
          </a:p>
          <a:p>
            <a:endParaRPr/>
          </a:p>
          <a:p>
            <a:r>
              <a:t>WHIP and WHEP supplied a useful vocabulary for publisher, viewer, signaling state, and teardown.</a:t>
            </a:r>
          </a:p>
          <a:p>
            <a:r>
              <a:t>A complete implementation would put a central media server into the video path, which conflicts with this project's central architectural goal.</a:t>
            </a:r>
          </a:p>
          <a:p>
            <a:r>
              <a:t>The concepts moved into the SignalR flow. The HTTP actions remain explicit stubs.</a:t>
            </a:r>
          </a:p>
          <a:p>
            <a:endParaRPr/>
          </a:p>
          <a:p>
            <a:r>
              <a:t>Sources:</a:t>
            </a:r>
          </a:p>
          <a:p>
            <a:r>
              <a:t>- RFC 9725: https://www.rfc-editor.org/rfc/rfc9725.html</a:t>
            </a:r>
          </a:p>
          <a:p>
            <a:r>
              <a:t>- WHEP draft-04: https://www.ietf.org/archive/id/draft-ietf-wish-whep-04.html</a:t>
            </a:r>
          </a:p>
          <a:p>
            <a:r>
              <a:t>- Repository history: commits 248f094, 529de9a, 72b7dd1, 87bc7cc.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Timing: 70 seconds</a:t>
            </a:r>
          </a:p>
          <a:p>
            <a:endParaRPr/>
          </a:p>
          <a:p>
            <a:r>
              <a:t>libcamera was considered as the Raspberry Pi CSI-camera stack, but no recorded revision implemented it. The final USB-camera path uses V4L2.</a:t>
            </a:r>
          </a:p>
          <a:p>
            <a:r>
              <a:t>The first implementation used SIPSorceryMedia.FFmpeg and FFmpeg.AutoGen for direct callbacks, which coupled deployment to exact native FFmpeg libraries.</a:t>
            </a:r>
          </a:p>
          <a:p>
            <a:r>
              <a:t>The final version supervises an FFmpeg executable and receives H.264 over loopback RTP. That boundary is easier to deploy but adds depacketization and repacketization.</a:t>
            </a:r>
          </a:p>
          <a:p>
            <a:endParaRPr/>
          </a:p>
          <a:p>
            <a:r>
              <a:t>Sources:</a:t>
            </a:r>
          </a:p>
          <a:p>
            <a:r>
              <a:t>- Repository history: commit 4b357dd, historical PLAN at 3f9931d, and commit d8e2a27.</a:t>
            </a:r>
          </a:p>
          <a:p>
            <a:r>
              <a:t>- TFM.docx, pp. 29–30 and 36.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Timing: 80 seconds</a:t>
            </a:r>
          </a:p>
          <a:p>
            <a:endParaRPr/>
          </a:p>
          <a:p>
            <a:r>
              <a:t>Follow the pipeline from the C920 to the browser. FFmpeg receives MJPEG through V4L2, decodes it, and software-encodes H.264 Constrained Baseline.</a:t>
            </a:r>
          </a:p>
          <a:p>
            <a:r>
              <a:t>FFmpeg emits RTP on IPv6 loopback. .NET parses RTP, depacketizes H.264, assembles Annex-B access units, and caches SPS and PPS.</a:t>
            </a:r>
          </a:p>
          <a:p>
            <a:r>
              <a:t>SIPSorcery repacketizes the encoded access unit into the negotiated WebRTC stream and owns SRTP and the peer connection.</a:t>
            </a:r>
          </a:p>
          <a:p>
            <a:r>
              <a:t>The .NET layer avoids a second decode and encode, but FFmpeg still performs the MJPEG decode and software H.264 encode.</a:t>
            </a:r>
          </a:p>
          <a:p>
            <a:endParaRPr/>
          </a:p>
          <a:p>
            <a:r>
              <a:t>Sources:</a:t>
            </a:r>
          </a:p>
          <a:p>
            <a:r>
              <a:t>- TFM.docx, pp. 29–30 and 36.</a:t>
            </a:r>
          </a:p>
          <a:p>
            <a:r>
              <a:t>- Repository: appsettings.json; CameraVideoSource.cs lines 152–188, 359–493; WebRtcSessionManager.cs lines 99–101 and 247–264.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Timing: 60 seconds</a:t>
            </a:r>
          </a:p>
          <a:p>
            <a:endParaRPr/>
          </a:p>
          <a:p>
            <a:r>
              <a:t>The camera outputs MJPEG, so FFmpeg must decode every frame before libx264 can encode H.264 in software.</a:t>
            </a:r>
          </a:p>
          <a:p>
            <a:r>
              <a:t>Discuss CPU, memory bandwidth, heat, and latency qualitatively. No measured CPU percentage exists in the evidence.</a:t>
            </a:r>
          </a:p>
          <a:p>
            <a:r>
              <a:t>The external process made deployment more robust. It did not remove the compute cost.</a:t>
            </a:r>
          </a:p>
          <a:p>
            <a:endParaRPr/>
          </a:p>
          <a:p>
            <a:r>
              <a:t>Sources:</a:t>
            </a:r>
          </a:p>
          <a:p>
            <a:r>
              <a:t>- TFM.docx, pp. 29–30 and 36–39.</a:t>
            </a:r>
          </a:p>
          <a:p>
            <a:r>
              <a:t>- Repository: appsettings.json and CameraVideoSource.cs.</a:t>
            </a:r>
          </a:p>
          <a:p>
            <a:r>
              <a:t>- Image: TFM.docx Figure 3, Raspberry Pi 5 product image.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Timing: 50 seconds</a:t>
            </a:r>
          </a:p>
          <a:p>
            <a:endParaRPr/>
          </a:p>
          <a:p>
            <a:r>
              <a:t>When the car demands too much current, the Raspberry Pi disconnects momentarily. Treat this as an author-reported observation because the thesis does not document a measured incident trace.</a:t>
            </a:r>
          </a:p>
          <a:p>
            <a:r>
              <a:t>The thesis does support the mechanism and mitigation: motor-stall peaks, supply monitoring, a fused branch, transient protection, decoupling, and careful grounding.</a:t>
            </a:r>
          </a:p>
          <a:p>
            <a:endParaRPr/>
          </a:p>
          <a:p>
            <a:r>
              <a:t>Sources:</a:t>
            </a:r>
          </a:p>
          <a:p>
            <a:r>
              <a:t>- PLAN.md, Issues with electrical input to the RPI.</a:t>
            </a:r>
          </a:p>
          <a:p>
            <a:r>
              <a:t>- TFM.docx, pp. 13 and 39.</a:t>
            </a:r>
          </a:p>
          <a:p>
            <a:r>
              <a:t>- Image: TFM.docx Figure 6, NiMH battery.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Timing: 75 seconds</a:t>
            </a:r>
          </a:p>
          <a:p>
            <a:endParaRPr/>
          </a:p>
          <a:p>
            <a:r>
              <a:t>The measurement compares the visible time reference with the received browser image. The two Unix timestamps differ by exactly 340 milliseconds.</a:t>
            </a:r>
          </a:p>
          <a:p>
            <a:r>
              <a:t>The browser status line shows a relay local candidate in this captured run, so the observed path appears TURN-relayed.</a:t>
            </a:r>
          </a:p>
          <a:p>
            <a:r>
              <a:t>Treat this as one 4G observation that supports feasibility. It does not establish a latency distribution, a guarantee, or 5G validation.</a:t>
            </a:r>
          </a:p>
          <a:p>
            <a:endParaRPr/>
          </a:p>
          <a:p>
            <a:r>
              <a:t>Sources:</a:t>
            </a:r>
          </a:p>
          <a:p>
            <a:r>
              <a:t>- TFM.docx, pp. 8–9 and 36; Figure 10.</a:t>
            </a:r>
          </a:p>
          <a:p>
            <a:r>
              <a:t>- Resum-TFG-TFM-Raul-Hidalgo-Caballero.docx.pdf, p.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Timing: 45 seconds</a:t>
            </a:r>
          </a:p>
          <a:p>
            <a:endParaRPr/>
          </a:p>
          <a:p>
            <a:r>
              <a:t>Vehicle control belongs to the next phase, not the completed project scope.</a:t>
            </a:r>
          </a:p>
          <a:p>
            <a:r>
              <a:t>A production command loop needs explicit sequencing, timestamps, validation, actuation, and a neutral fail-safe whenever communication or input becomes unsafe.</a:t>
            </a:r>
          </a:p>
          <a:p>
            <a:endParaRPr/>
          </a:p>
          <a:p>
            <a:r>
              <a:t>Sources:</a:t>
            </a:r>
          </a:p>
          <a:p>
            <a:r>
              <a:t>- TFM.docx, pp. 37–38.</a:t>
            </a:r>
          </a:p>
          <a:p>
            <a:r>
              <a:t>- Image: TFM.docx Figure 2, 3D chassis design.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Timing: 35 seconds</a:t>
            </a:r>
          </a:p>
          <a:p>
            <a:endParaRPr/>
          </a:p>
          <a:p>
            <a:r>
              <a:t>The best next optimization is direct H.264 from the camera or a hardware encoder, removing MJPEG decode and software libx264 where possible.</a:t>
            </a:r>
          </a:p>
          <a:p>
            <a:r>
              <a:t>Direct output still needs validation. The profile, parameter sets, packetization, GOP, buffering, and measured latency must match the WebRTC path.</a:t>
            </a:r>
          </a:p>
          <a:p>
            <a:endParaRPr/>
          </a:p>
          <a:p>
            <a:r>
              <a:t>Sources:</a:t>
            </a:r>
          </a:p>
          <a:p>
            <a:r>
              <a:t>- TFM.docx, pp. 38–39.</a:t>
            </a:r>
          </a:p>
          <a:p>
            <a:r>
              <a:t>- Image: TFM.docx Figure 4, Logitech HD Pro C920.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Timing: 35 seconds</a:t>
            </a:r>
          </a:p>
          <a:p>
            <a:endParaRPr/>
          </a:p>
          <a:p>
            <a:r>
              <a:t>Run a controlled matrix rather than another single demonstration. Compare IPv4 direct, IPv6 direct, and TURN relay across realistic mobile network modes.</a:t>
            </a:r>
          </a:p>
          <a:p>
            <a:r>
              <a:t>Record distributions and stability, not only a best-case latency number. Include NAT type, mobility, loss, and uplink consistency.</a:t>
            </a:r>
          </a:p>
          <a:p>
            <a:endParaRPr/>
          </a:p>
          <a:p>
            <a:r>
              <a:t>Sources:</a:t>
            </a:r>
          </a:p>
          <a:p>
            <a:r>
              <a:t>- TFM.docx, pp. 38 and 40.</a:t>
            </a:r>
          </a:p>
          <a:p>
            <a:r>
              <a:t>- RFC 8445: https://www.rfc-editor.org/rfc/rfc8445.html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Timing: 35 seconds</a:t>
            </a:r>
          </a:p>
          <a:p>
            <a:endParaRPr/>
          </a:p>
          <a:p>
            <a:r>
              <a:t>The hardware priority is a protected and measurable power tree that isolates motor transients from the Raspberry Pi rail.</a:t>
            </a:r>
          </a:p>
          <a:p>
            <a:r>
              <a:t>The plan also calls for complete WHIP and WHEP. That is a separate protocol track because true compliance requires HTTP session resources and a central media server that terminates WebRTC.</a:t>
            </a:r>
          </a:p>
          <a:p>
            <a:endParaRPr/>
          </a:p>
          <a:p>
            <a:r>
              <a:t>Sources:</a:t>
            </a:r>
          </a:p>
          <a:p>
            <a:r>
              <a:t>- TFM.docx, p. 39.</a:t>
            </a:r>
          </a:p>
          <a:p>
            <a:r>
              <a:t>- RFC 9725: https://www.rfc-editor.org/rfc/rfc9725.html</a:t>
            </a:r>
          </a:p>
          <a:p>
            <a:r>
              <a:t>- WHEP draft-04: https://www.ietf.org/archive/id/draft-ietf-wish-whep-04.html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Timing: 30 seconds</a:t>
            </a:r>
          </a:p>
          <a:p>
            <a:endParaRPr/>
          </a:p>
          <a:p>
            <a:r>
              <a:t>ESP32-P4 is a long-term consolidation candidate because it combines RISC-V cores, camera interfaces, an image pipeline, hardware H.264, and Ethernet.</a:t>
            </a:r>
          </a:p>
          <a:p>
            <a:r>
              <a:t>It has no integrated 5G radio, so a modem or network companion remains necessary. Rust HAL support exists, but peripheral maturity and a practical WebRTC stack still need validation.</a:t>
            </a:r>
          </a:p>
          <a:p>
            <a:endParaRPr/>
          </a:p>
          <a:p>
            <a:r>
              <a:t>Sources:</a:t>
            </a:r>
          </a:p>
          <a:p>
            <a:r>
              <a:t>- TFM.docx, p. 39.</a:t>
            </a:r>
          </a:p>
          <a:p>
            <a:r>
              <a:t>- Espressif ESP32-P4 datasheet: https://documentation.espressif.com/esp32-p4_datasheet_en.html</a:t>
            </a:r>
          </a:p>
          <a:p>
            <a:r>
              <a:t>- Espressif product overview: https://www.espressif.com/en/node/7617</a:t>
            </a:r>
          </a:p>
          <a:p>
            <a:r>
              <a:t>- esp-hal: https://github.com/esp-rs/esp-hal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Timing: 60 seconds</a:t>
            </a:r>
          </a:p>
          <a:p>
            <a:endParaRPr/>
          </a:p>
          <a:p>
            <a:r>
              <a:t>Use this as an application concept, not as a tested system.</a:t>
            </a:r>
          </a:p>
          <a:p>
            <a:r>
              <a:t>The motorway segment can run autonomously, while a remote operator handles the final approach where context and interaction are harder to automate.</a:t>
            </a:r>
          </a:p>
          <a:p>
            <a:r>
              <a:t>Low-latency video is one dependency. Production teleoperation needs redundant control, a safety case, secure operations, and regulatory approval.</a:t>
            </a:r>
          </a:p>
          <a:p>
            <a:endParaRPr/>
          </a:p>
          <a:p>
            <a:r>
              <a:t>Sources:</a:t>
            </a:r>
          </a:p>
          <a:p>
            <a:r>
              <a:t>- Application example specified in PLAN.md.</a:t>
            </a:r>
          </a:p>
          <a:p>
            <a:r>
              <a:t>- Concept illustration generated for this presentation with OpenAI ImageGen; it is not project evidence.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Timing: 60 seconds</a:t>
            </a:r>
          </a:p>
          <a:p>
            <a:endParaRPr/>
          </a:p>
          <a:p>
            <a:r>
              <a:t>Cranes, mining equipment, and workboats share the value proposition of moving people away from hazardous work zones.</a:t>
            </a:r>
          </a:p>
          <a:p>
            <a:r>
              <a:t>The video link must remain usable under motion, vibration, coverage changes, and harsh radio conditions.</a:t>
            </a:r>
          </a:p>
          <a:p>
            <a:r>
              <a:t>The prototype addresses only the video-path question. Each domain needs its own redundant control and safety design.</a:t>
            </a:r>
          </a:p>
          <a:p>
            <a:endParaRPr/>
          </a:p>
          <a:p>
            <a:r>
              <a:t>Sources:</a:t>
            </a:r>
          </a:p>
          <a:p>
            <a:r>
              <a:t>- Application examples specified in PLAN.md.</a:t>
            </a:r>
          </a:p>
          <a:p>
            <a:r>
              <a:t>- Concept illustration generated for this presentation with OpenAI ImageGen; it is not project evidence.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Timing: 40 seconds</a:t>
            </a:r>
          </a:p>
          <a:p>
            <a:endParaRPr/>
          </a:p>
          <a:p>
            <a:r>
              <a:t>Show the physical device path first when available. Keep the browser simulator ready as the technical fallback.</a:t>
            </a:r>
          </a:p>
          <a:p>
            <a:r>
              <a:t>Ask the audience to watch signaling state, the offer and answer, candidate types, connection state, and the video itself.</a:t>
            </a:r>
          </a:p>
          <a:p>
            <a:r>
              <a:t>The device selector uses hard-coded prototype entries and should not be described as live fleet discovery.</a:t>
            </a:r>
          </a:p>
          <a:p>
            <a:endParaRPr/>
          </a:p>
          <a:p>
            <a:r>
              <a:t>Sources:</a:t>
            </a:r>
          </a:p>
          <a:p>
            <a:r>
              <a:t>- TFM.docx, p. 32; Figure 9.</a:t>
            </a:r>
          </a:p>
          <a:p>
            <a:r>
              <a:t>- Repository: Index.tsx, Control.tsx, ControlTest.tsx.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Timing: 45 seconds</a:t>
            </a:r>
          </a:p>
          <a:p>
            <a:endParaRPr/>
          </a:p>
          <a:p>
            <a:r>
              <a:t>Start the central server and selector page. Then connect the device or start the simulator before opening the viewer route.</a:t>
            </a:r>
          </a:p>
          <a:p>
            <a:r>
              <a:t>The viewer join event triggers the device offer. SignalR transports the SDP and Trickle ICE candidates.</a:t>
            </a:r>
          </a:p>
          <a:p>
            <a:r>
              <a:t>Show the candidate types and connected state, then the live video and latency demonstration.</a:t>
            </a:r>
          </a:p>
          <a:p>
            <a:r>
              <a:t>Do not demonstrate vehicle control as completed project scope.</a:t>
            </a:r>
          </a:p>
          <a:p>
            <a:endParaRPr/>
          </a:p>
          <a:p>
            <a:r>
              <a:t>Sources:</a:t>
            </a:r>
          </a:p>
          <a:p>
            <a:r>
              <a:t>- Repository: WebRtcSignalingBackgroundService.cs lines 25–32; WebRtcHub.cs; Control.tsx.</a:t>
            </a:r>
          </a:p>
          <a:p>
            <a:r>
              <a:t>- PLAN.md, Live Demo Sequence.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Timing: 55 seconds</a:t>
            </a:r>
          </a:p>
          <a:p>
            <a:endParaRPr/>
          </a:p>
          <a:p>
            <a:r>
              <a:t>This slide reserves the required 16:9 media frame for a real RC-car recording.</a:t>
            </a:r>
          </a:p>
          <a:p>
            <a:r>
              <a:t>No physical-car video file exists in the repository. The countdown is a 66.94-second simulator asset and can demonstrate the signaling and media path only.</a:t>
            </a:r>
          </a:p>
          <a:p>
            <a:r>
              <a:t>Keep the placeholder label until real footage is inserted.</a:t>
            </a:r>
          </a:p>
          <a:p>
            <a:endParaRPr/>
          </a:p>
          <a:p>
            <a:r>
              <a:t>Sources:</a:t>
            </a:r>
          </a:p>
          <a:p>
            <a:r>
              <a:t>- Repository: src/ScarletRadioControl.Web.Frontend/src/assets/countdown.mp4 and ControlTest.tsx.</a:t>
            </a:r>
          </a:p>
          <a:p>
            <a:r>
              <a:t>- PLAN.md, Fallback Video.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Timing: 40 seconds plus questions</a:t>
            </a:r>
          </a:p>
          <a:p>
            <a:endParaRPr/>
          </a:p>
          <a:p>
            <a:r>
              <a:t>Close with the evidence: the prototype demonstrates feasibility under one tested 4G configuration.</a:t>
            </a:r>
          </a:p>
          <a:p>
            <a:r>
              <a:t>The most consequential engineering work involved NAT traversal and the software media pipeline.</a:t>
            </a:r>
          </a:p>
          <a:p>
            <a:r>
              <a:t>Name the next priorities, then invite questions.</a:t>
            </a:r>
          </a:p>
          <a:p>
            <a:endParaRPr/>
          </a:p>
          <a:p>
            <a:r>
              <a:t>Sources:</a:t>
            </a:r>
          </a:p>
          <a:p>
            <a:r>
              <a:t>- TFM.docx, pp. 36–40; Figure 11.</a:t>
            </a:r>
          </a:p>
          <a:p>
            <a:r>
              <a:t>- PLAN.md, Final Takeaways and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83005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n 6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7905750" y="416420"/>
            <a:ext cx="3486150" cy="786411"/>
          </a:xfrm>
          <a:prstGeom prst="roundRect">
            <a:avLst>
              <a:gd name="adj" fmla="val 9302"/>
            </a:avLst>
          </a:prstGeom>
        </p:spPr>
      </p:pic>
      <p:sp>
        <p:nvSpPr>
          <p:cNvPr id="2" name="Rectángulo 1">
            <a:extLst>
              <a:ext uri="{FF2B5EF4-FFF2-40B4-BE49-F238E27FC236}">
                <a16:creationId xmlns:a16="http://schemas.microsoft.com/office/drawing/2014/main" id="{5DD91C85-8193-4CE4-8F4B-8C4E4393CA07}"/>
              </a:ext>
            </a:extLst>
          </p:cNvPr>
          <p:cNvSpPr>
            <a:spLocks noGrp="1"/>
          </p:cNvSpPr>
          <p:nvPr/>
        </p:nvSpPr>
        <p:spPr>
          <a:xfrm>
            <a:off x="742950" y="1638300"/>
            <a:ext cx="8763000" cy="1714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buNone/>
              <a:defRPr sz="48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8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WebRTC in a</a:t>
            </a:r>
          </a:p>
          <a:p>
            <a:pPr algn="l">
              <a:lnSpc>
                <a:spcPct val="95000"/>
              </a:lnSpc>
              <a:buNone/>
              <a:defRPr sz="48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8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Radio-Controlled Car via 5G</a:t>
            </a:r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B9BDE524-BF06-4B5B-BDA7-AB0644749E8F}"/>
              </a:ext>
            </a:extLst>
          </p:cNvPr>
          <p:cNvSpPr>
            <a:spLocks noGrp="1"/>
          </p:cNvSpPr>
          <p:nvPr/>
        </p:nvSpPr>
        <p:spPr>
          <a:xfrm>
            <a:off x="762000" y="3667125"/>
            <a:ext cx="1619250" cy="47625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5111D563-39E4-4ABB-8C7D-DFE2AAD4093F}"/>
              </a:ext>
            </a:extLst>
          </p:cNvPr>
          <p:cNvSpPr>
            <a:spLocks noGrp="1"/>
          </p:cNvSpPr>
          <p:nvPr/>
        </p:nvSpPr>
        <p:spPr>
          <a:xfrm>
            <a:off x="762000" y="4019550"/>
            <a:ext cx="4953000" cy="381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21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Raul Hidalgo Caballero</a:t>
            </a:r>
          </a:p>
        </p:txBody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848DEB04-A3BD-4FAA-AA37-0B01C7B83495}"/>
              </a:ext>
            </a:extLst>
          </p:cNvPr>
          <p:cNvSpPr>
            <a:spLocks noGrp="1"/>
          </p:cNvSpPr>
          <p:nvPr/>
        </p:nvSpPr>
        <p:spPr>
          <a:xfrm>
            <a:off x="762000" y="4495800"/>
            <a:ext cx="5619750" cy="781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8000"/>
              </a:lnSpc>
              <a:buNone/>
              <a:defRPr sz="172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Master in Computer Engineering</a:t>
            </a:r>
          </a:p>
          <a:p>
            <a:pPr algn="l">
              <a:lnSpc>
                <a:spcPct val="118000"/>
              </a:lnSpc>
              <a:buNone/>
              <a:defRPr sz="172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Director: David Sarrat González</a:t>
            </a:r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24962708-0396-45C6-A701-6995AE03B1FB}"/>
              </a:ext>
            </a:extLst>
          </p:cNvPr>
          <p:cNvSpPr>
            <a:spLocks noGrp="1"/>
          </p:cNvSpPr>
          <p:nvPr/>
        </p:nvSpPr>
        <p:spPr>
          <a:xfrm>
            <a:off x="762000" y="6000750"/>
            <a:ext cx="57150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42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University of Lleida, September 2026</a:t>
            </a:r>
          </a:p>
        </p:txBody>
      </p:sp>
    </p:spTree>
    <p:extLst>
      <p:ext uri="{BB962C8B-B14F-4D97-AF65-F5344CB8AC3E}">
        <p14:creationId xmlns:p14="http://schemas.microsoft.com/office/powerpoint/2010/main" val="53427455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9F8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ángulo 14">
            <a:extLst>
              <a:ext uri="{FF2B5EF4-FFF2-40B4-BE49-F238E27FC236}">
                <a16:creationId xmlns:a16="http://schemas.microsoft.com/office/drawing/2014/main" id="{A967CFAC-3748-4C5E-81EF-F794E5D0902B}"/>
              </a:ext>
            </a:extLst>
          </p:cNvPr>
          <p:cNvSpPr>
            <a:spLocks noGrp="1"/>
          </p:cNvSpPr>
          <p:nvPr/>
        </p:nvSpPr>
        <p:spPr>
          <a:xfrm>
            <a:off x="533400" y="266700"/>
            <a:ext cx="74295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200" b="1">
                <a:solidFill>
                  <a:srgbClr val="830051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830051"/>
                </a:solidFill>
                <a:latin typeface="Arial"/>
                <a:ea typeface="Arial"/>
                <a:cs typeface="Arial"/>
              </a:rPr>
              <a:t>OPENING</a:t>
            </a:r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8E320026-1DD5-4213-873D-83F7B27C9972}"/>
              </a:ext>
            </a:extLst>
          </p:cNvPr>
          <p:cNvSpPr>
            <a:spLocks noGrp="1"/>
          </p:cNvSpPr>
          <p:nvPr/>
        </p:nvSpPr>
        <p:spPr>
          <a:xfrm>
            <a:off x="533400" y="590550"/>
            <a:ext cx="10477500" cy="552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4000"/>
              </a:lnSpc>
              <a:buNone/>
              <a:defRPr sz="337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Research Question</a:t>
            </a:r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60250609-784C-4D33-98B8-962C725BEDDB}"/>
              </a:ext>
            </a:extLst>
          </p:cNvPr>
          <p:cNvSpPr>
            <a:spLocks noGrp="1"/>
          </p:cNvSpPr>
          <p:nvPr/>
        </p:nvSpPr>
        <p:spPr>
          <a:xfrm>
            <a:off x="533400" y="1257300"/>
            <a:ext cx="11125200" cy="28575"/>
          </a:xfrm>
          <a:prstGeom prst="rect">
            <a:avLst/>
          </a:prstGeom>
          <a:solidFill>
            <a:srgbClr val="830051"/>
          </a:solidFill>
          <a:ln w="0"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B6D42AAF-4189-44D0-953B-45EB488C1958}"/>
              </a:ext>
            </a:extLst>
          </p:cNvPr>
          <p:cNvSpPr>
            <a:spLocks noGrp="1"/>
          </p:cNvSpPr>
          <p:nvPr/>
        </p:nvSpPr>
        <p:spPr>
          <a:xfrm>
            <a:off x="10858500" y="6457950"/>
            <a:ext cx="8001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4000"/>
              </a:lnSpc>
              <a:buNone/>
              <a:defRPr sz="1125" b="1">
                <a:solidFill>
                  <a:srgbClr val="6F686D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6F686D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BD7596CA-7DA9-4B4B-99D5-D69F0E402F42}"/>
              </a:ext>
            </a:extLst>
          </p:cNvPr>
          <p:cNvSpPr>
            <a:spLocks noGrp="1"/>
          </p:cNvSpPr>
          <p:nvPr/>
        </p:nvSpPr>
        <p:spPr>
          <a:xfrm>
            <a:off x="704850" y="1638300"/>
            <a:ext cx="10763250" cy="12858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3000"/>
              </a:lnSpc>
              <a:buNone/>
              <a:defRPr sz="2550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2550" b="1" dirty="0">
                <a:solidFill>
                  <a:srgbClr val="171417"/>
                </a:solidFill>
                <a:latin typeface="Arial"/>
                <a:ea typeface="Arial"/>
                <a:cs typeface="Arial"/>
              </a:rPr>
              <a:t>Can an RC car deliver live video to a remote browser with less than 400ms glass-to-glass latency?</a:t>
            </a:r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DB0E93C2-85CE-4599-B8E7-C13DE0B22960}"/>
              </a:ext>
            </a:extLst>
          </p:cNvPr>
          <p:cNvSpPr>
            <a:spLocks noGrp="1"/>
          </p:cNvSpPr>
          <p:nvPr/>
        </p:nvSpPr>
        <p:spPr>
          <a:xfrm>
            <a:off x="742950" y="3352800"/>
            <a:ext cx="3238500" cy="914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5850" b="1">
                <a:solidFill>
                  <a:srgbClr val="830051"/>
                </a:solidFill>
                <a:latin typeface="Arial"/>
                <a:ea typeface="Arial"/>
                <a:cs typeface="Arial"/>
              </a:defRPr>
            </a:pPr>
            <a:r>
              <a:rPr sz="5850" b="1">
                <a:solidFill>
                  <a:srgbClr val="830051"/>
                </a:solidFill>
                <a:latin typeface="Arial"/>
                <a:ea typeface="Arial"/>
                <a:cs typeface="Arial"/>
              </a:rPr>
              <a:t>&lt; 400 ms</a:t>
            </a:r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B506A4EB-5BE2-466F-91FF-860DB0645C4E}"/>
              </a:ext>
            </a:extLst>
          </p:cNvPr>
          <p:cNvSpPr>
            <a:spLocks noGrp="1"/>
          </p:cNvSpPr>
          <p:nvPr/>
        </p:nvSpPr>
        <p:spPr>
          <a:xfrm>
            <a:off x="781050" y="4248150"/>
            <a:ext cx="314325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350" b="1">
                <a:solidFill>
                  <a:srgbClr val="6F686D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6F686D"/>
                </a:solidFill>
                <a:latin typeface="Arial"/>
                <a:ea typeface="Arial"/>
                <a:cs typeface="Arial"/>
              </a:rPr>
              <a:t>LATENCY TARGET</a:t>
            </a:r>
          </a:p>
        </p:txBody>
      </p:sp>
      <p:sp>
        <p:nvSpPr>
          <p:cNvPr id="8" name="Conector recto 7">
            <a:extLst>
              <a:ext uri="{FF2B5EF4-FFF2-40B4-BE49-F238E27FC236}">
                <a16:creationId xmlns:a16="http://schemas.microsoft.com/office/drawing/2014/main" id="{1FABD687-2F26-4BA9-ADC6-D115F3DD550C}"/>
              </a:ext>
            </a:extLst>
          </p:cNvPr>
          <p:cNvSpPr>
            <a:spLocks noGrp="1"/>
          </p:cNvSpPr>
          <p:nvPr/>
        </p:nvSpPr>
        <p:spPr>
          <a:xfrm>
            <a:off x="4400550" y="3276600"/>
            <a:ext cx="0" cy="2095500"/>
          </a:xfrm>
          <a:prstGeom prst="line">
            <a:avLst/>
          </a:prstGeom>
          <a:noFill/>
          <a:ln w="19050">
            <a:solidFill>
              <a:srgbClr val="E7E3E5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" name="Rectángulo 8">
            <a:extLst>
              <a:ext uri="{FF2B5EF4-FFF2-40B4-BE49-F238E27FC236}">
                <a16:creationId xmlns:a16="http://schemas.microsoft.com/office/drawing/2014/main" id="{FDED4708-9C33-4E35-A29F-2EA0D52E81B3}"/>
              </a:ext>
            </a:extLst>
          </p:cNvPr>
          <p:cNvSpPr>
            <a:spLocks noGrp="1"/>
          </p:cNvSpPr>
          <p:nvPr/>
        </p:nvSpPr>
        <p:spPr>
          <a:xfrm>
            <a:off x="4953000" y="3381375"/>
            <a:ext cx="1571625" cy="666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4125" b="1">
                <a:solidFill>
                  <a:srgbClr val="830051"/>
                </a:solidFill>
                <a:latin typeface="Arial"/>
                <a:ea typeface="Arial"/>
                <a:cs typeface="Arial"/>
              </a:defRPr>
            </a:pPr>
            <a:r>
              <a:rPr sz="4125" b="1">
                <a:solidFill>
                  <a:srgbClr val="830051"/>
                </a:solidFill>
                <a:latin typeface="Arial"/>
                <a:ea typeface="Arial"/>
                <a:cs typeface="Arial"/>
              </a:rPr>
              <a:t>5G</a:t>
            </a:r>
          </a:p>
        </p:txBody>
      </p:sp>
      <p:sp>
        <p:nvSpPr>
          <p:cNvPr id="10" name="Rectángulo 9">
            <a:extLst>
              <a:ext uri="{FF2B5EF4-FFF2-40B4-BE49-F238E27FC236}">
                <a16:creationId xmlns:a16="http://schemas.microsoft.com/office/drawing/2014/main" id="{1226FE50-325E-4A73-BD99-4EF91BC251D5}"/>
              </a:ext>
            </a:extLst>
          </p:cNvPr>
          <p:cNvSpPr>
            <a:spLocks noGrp="1"/>
          </p:cNvSpPr>
          <p:nvPr/>
        </p:nvSpPr>
        <p:spPr>
          <a:xfrm>
            <a:off x="4953000" y="4095750"/>
            <a:ext cx="2571750" cy="571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725" b="0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71417"/>
                </a:solidFill>
                <a:latin typeface="Arial"/>
                <a:ea typeface="Arial"/>
                <a:cs typeface="Arial"/>
              </a:rPr>
              <a:t>Intended deployment context</a:t>
            </a:r>
          </a:p>
        </p:txBody>
      </p:sp>
      <p:sp>
        <p:nvSpPr>
          <p:cNvPr id="11" name="Rectángulo 10">
            <a:extLst>
              <a:ext uri="{FF2B5EF4-FFF2-40B4-BE49-F238E27FC236}">
                <a16:creationId xmlns:a16="http://schemas.microsoft.com/office/drawing/2014/main" id="{65D5B5A6-D81D-4E96-9E89-F856A87246A4}"/>
              </a:ext>
            </a:extLst>
          </p:cNvPr>
          <p:cNvSpPr>
            <a:spLocks noGrp="1"/>
          </p:cNvSpPr>
          <p:nvPr/>
        </p:nvSpPr>
        <p:spPr>
          <a:xfrm>
            <a:off x="8134350" y="3381375"/>
            <a:ext cx="1571625" cy="666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4125" b="1">
                <a:solidFill>
                  <a:srgbClr val="6F686D"/>
                </a:solidFill>
                <a:latin typeface="Arial"/>
                <a:ea typeface="Arial"/>
                <a:cs typeface="Arial"/>
              </a:defRPr>
            </a:pPr>
            <a:r>
              <a:rPr sz="4125" b="1">
                <a:solidFill>
                  <a:srgbClr val="6F686D"/>
                </a:solidFill>
                <a:latin typeface="Arial"/>
                <a:ea typeface="Arial"/>
                <a:cs typeface="Arial"/>
              </a:rPr>
              <a:t>4G</a:t>
            </a:r>
          </a:p>
        </p:txBody>
      </p:sp>
      <p:sp>
        <p:nvSpPr>
          <p:cNvPr id="12" name="Rectángulo 11">
            <a:extLst>
              <a:ext uri="{FF2B5EF4-FFF2-40B4-BE49-F238E27FC236}">
                <a16:creationId xmlns:a16="http://schemas.microsoft.com/office/drawing/2014/main" id="{3F0F12FB-2E11-4BF0-83C5-DAF41AB69C06}"/>
              </a:ext>
            </a:extLst>
          </p:cNvPr>
          <p:cNvSpPr>
            <a:spLocks noGrp="1"/>
          </p:cNvSpPr>
          <p:nvPr/>
        </p:nvSpPr>
        <p:spPr>
          <a:xfrm>
            <a:off x="8134350" y="4095750"/>
            <a:ext cx="2952750" cy="666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725" b="0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71417"/>
                </a:solidFill>
                <a:latin typeface="Arial"/>
                <a:ea typeface="Arial"/>
                <a:cs typeface="Arial"/>
              </a:rPr>
              <a:t>Prototype validation actually performed</a:t>
            </a:r>
          </a:p>
        </p:txBody>
      </p:sp>
      <p:sp>
        <p:nvSpPr>
          <p:cNvPr id="13" name="Rectángulo: esquinas redondeadas 12">
            <a:extLst>
              <a:ext uri="{FF2B5EF4-FFF2-40B4-BE49-F238E27FC236}">
                <a16:creationId xmlns:a16="http://schemas.microsoft.com/office/drawing/2014/main" id="{8B71EA44-2047-420D-9365-CAC58B0008C3}"/>
              </a:ext>
            </a:extLst>
          </p:cNvPr>
          <p:cNvSpPr>
            <a:spLocks noGrp="1"/>
          </p:cNvSpPr>
          <p:nvPr/>
        </p:nvSpPr>
        <p:spPr>
          <a:xfrm>
            <a:off x="4953000" y="4952999"/>
            <a:ext cx="6134100" cy="714375"/>
          </a:xfrm>
          <a:prstGeom prst="roundRect">
            <a:avLst>
              <a:gd name="adj" fmla="val 17241"/>
            </a:avLst>
          </a:prstGeom>
          <a:solidFill>
            <a:srgbClr val="F5EDF2"/>
          </a:solidFill>
          <a:ln w="0"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14" name="Rectángulo 13">
            <a:extLst>
              <a:ext uri="{FF2B5EF4-FFF2-40B4-BE49-F238E27FC236}">
                <a16:creationId xmlns:a16="http://schemas.microsoft.com/office/drawing/2014/main" id="{F7DE5AAF-847D-4AB9-BB90-A3A200CDA510}"/>
              </a:ext>
            </a:extLst>
          </p:cNvPr>
          <p:cNvSpPr>
            <a:spLocks noGrp="1"/>
          </p:cNvSpPr>
          <p:nvPr/>
        </p:nvSpPr>
        <p:spPr>
          <a:xfrm>
            <a:off x="5162550" y="5086350"/>
            <a:ext cx="581025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650" b="1">
                <a:solidFill>
                  <a:srgbClr val="510034"/>
                </a:solidFill>
                <a:latin typeface="Arial"/>
                <a:ea typeface="Arial"/>
                <a:cs typeface="Arial"/>
              </a:defRPr>
            </a:pPr>
            <a:r>
              <a:rPr sz="1650" b="1" dirty="0">
                <a:solidFill>
                  <a:srgbClr val="510034"/>
                </a:solidFill>
                <a:latin typeface="Arial"/>
                <a:ea typeface="Arial"/>
                <a:cs typeface="Arial"/>
              </a:rPr>
              <a:t>The presentation keeps the target and the evidence separate.</a:t>
            </a:r>
          </a:p>
        </p:txBody>
      </p:sp>
    </p:spTree>
    <p:extLst>
      <p:ext uri="{BB962C8B-B14F-4D97-AF65-F5344CB8AC3E}">
        <p14:creationId xmlns:p14="http://schemas.microsoft.com/office/powerpoint/2010/main" val="41477571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9F8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ángulo 13">
            <a:extLst>
              <a:ext uri="{FF2B5EF4-FFF2-40B4-BE49-F238E27FC236}">
                <a16:creationId xmlns:a16="http://schemas.microsoft.com/office/drawing/2014/main" id="{FB649AAD-E651-4E73-BDD5-7B7B764B784B}"/>
              </a:ext>
            </a:extLst>
          </p:cNvPr>
          <p:cNvSpPr>
            <a:spLocks noGrp="1"/>
          </p:cNvSpPr>
          <p:nvPr/>
        </p:nvSpPr>
        <p:spPr>
          <a:xfrm>
            <a:off x="533400" y="266700"/>
            <a:ext cx="74295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200" b="1">
                <a:solidFill>
                  <a:srgbClr val="830051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830051"/>
                </a:solidFill>
                <a:latin typeface="Arial"/>
                <a:ea typeface="Arial"/>
                <a:cs typeface="Arial"/>
              </a:rPr>
              <a:t>OPENING</a:t>
            </a:r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97A32840-3461-4C44-8108-726D7414FF13}"/>
              </a:ext>
            </a:extLst>
          </p:cNvPr>
          <p:cNvSpPr>
            <a:spLocks noGrp="1"/>
          </p:cNvSpPr>
          <p:nvPr/>
        </p:nvSpPr>
        <p:spPr>
          <a:xfrm>
            <a:off x="533400" y="590550"/>
            <a:ext cx="10477500" cy="552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4000"/>
              </a:lnSpc>
              <a:buNone/>
              <a:defRPr sz="337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Project Scope</a:t>
            </a:r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E6161FF3-70B0-481F-8F1F-A64F0FD0FBC8}"/>
              </a:ext>
            </a:extLst>
          </p:cNvPr>
          <p:cNvSpPr>
            <a:spLocks noGrp="1"/>
          </p:cNvSpPr>
          <p:nvPr/>
        </p:nvSpPr>
        <p:spPr>
          <a:xfrm>
            <a:off x="533400" y="1257300"/>
            <a:ext cx="11125200" cy="28575"/>
          </a:xfrm>
          <a:prstGeom prst="rect">
            <a:avLst/>
          </a:prstGeom>
          <a:solidFill>
            <a:srgbClr val="830051"/>
          </a:solidFill>
          <a:ln w="0"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A132085F-5903-4C75-998C-43273A609C8C}"/>
              </a:ext>
            </a:extLst>
          </p:cNvPr>
          <p:cNvSpPr>
            <a:spLocks noGrp="1"/>
          </p:cNvSpPr>
          <p:nvPr/>
        </p:nvSpPr>
        <p:spPr>
          <a:xfrm>
            <a:off x="10858500" y="6457950"/>
            <a:ext cx="8001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4000"/>
              </a:lnSpc>
              <a:buNone/>
              <a:defRPr sz="1125" b="1">
                <a:solidFill>
                  <a:srgbClr val="6F686D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6F686D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5" name="Rectángulo: esquinas redondeadas 4">
            <a:extLst>
              <a:ext uri="{FF2B5EF4-FFF2-40B4-BE49-F238E27FC236}">
                <a16:creationId xmlns:a16="http://schemas.microsoft.com/office/drawing/2014/main" id="{FC0A6230-CFB7-488B-9A58-EAB887426101}"/>
              </a:ext>
            </a:extLst>
          </p:cNvPr>
          <p:cNvSpPr>
            <a:spLocks noGrp="1"/>
          </p:cNvSpPr>
          <p:nvPr/>
        </p:nvSpPr>
        <p:spPr>
          <a:xfrm>
            <a:off x="685800" y="1619250"/>
            <a:ext cx="10820400" cy="1905000"/>
          </a:xfrm>
          <a:prstGeom prst="roundRect">
            <a:avLst>
              <a:gd name="adj" fmla="val 8000"/>
            </a:avLst>
          </a:prstGeom>
          <a:solidFill>
            <a:srgbClr val="F5EDF2"/>
          </a:solidFill>
          <a:ln w="9525">
            <a:solidFill>
              <a:srgbClr val="EAD8E3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389C2DD8-2AEA-4B96-8894-5AF97FFBA621}"/>
              </a:ext>
            </a:extLst>
          </p:cNvPr>
          <p:cNvSpPr>
            <a:spLocks noGrp="1"/>
          </p:cNvSpPr>
          <p:nvPr/>
        </p:nvSpPr>
        <p:spPr>
          <a:xfrm>
            <a:off x="933450" y="1676400"/>
            <a:ext cx="514350" cy="666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5250" b="1">
                <a:solidFill>
                  <a:srgbClr val="830051"/>
                </a:solidFill>
                <a:latin typeface="Arial"/>
                <a:ea typeface="Arial"/>
                <a:cs typeface="Arial"/>
              </a:defRPr>
            </a:pPr>
            <a:r>
              <a:rPr sz="5250" b="1">
                <a:solidFill>
                  <a:srgbClr val="830051"/>
                </a:solidFill>
                <a:latin typeface="Arial"/>
                <a:ea typeface="Arial"/>
                <a:cs typeface="Arial"/>
              </a:rPr>
              <a:t>“</a:t>
            </a:r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D8B8D0BE-016D-485A-9AB5-F7219A055CFB}"/>
              </a:ext>
            </a:extLst>
          </p:cNvPr>
          <p:cNvSpPr>
            <a:spLocks noGrp="1"/>
          </p:cNvSpPr>
          <p:nvPr/>
        </p:nvSpPr>
        <p:spPr>
          <a:xfrm>
            <a:off x="1466850" y="1924050"/>
            <a:ext cx="9525000" cy="1257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217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The project scope is to establish a low-latency video connection between an RC car and a remote web browser, targeting a glass-to-glass latency below 400 ms. Data transport and vehicle control are not included.</a:t>
            </a:r>
          </a:p>
        </p:txBody>
      </p:sp>
      <p:sp>
        <p:nvSpPr>
          <p:cNvPr id="8" name="Rectángulo: esquinas redondeadas 7">
            <a:extLst>
              <a:ext uri="{FF2B5EF4-FFF2-40B4-BE49-F238E27FC236}">
                <a16:creationId xmlns:a16="http://schemas.microsoft.com/office/drawing/2014/main" id="{460590FA-78CC-41D7-AABE-518EE2C842A3}"/>
              </a:ext>
            </a:extLst>
          </p:cNvPr>
          <p:cNvSpPr>
            <a:spLocks noGrp="1"/>
          </p:cNvSpPr>
          <p:nvPr/>
        </p:nvSpPr>
        <p:spPr>
          <a:xfrm>
            <a:off x="685800" y="4000500"/>
            <a:ext cx="5257800" cy="1504950"/>
          </a:xfrm>
          <a:prstGeom prst="roundRect">
            <a:avLst>
              <a:gd name="adj" fmla="val 8861"/>
            </a:avLst>
          </a:prstGeom>
          <a:solidFill>
            <a:srgbClr val="830051"/>
          </a:solidFill>
          <a:ln w="0"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9" name="Rectángulo 8">
            <a:extLst>
              <a:ext uri="{FF2B5EF4-FFF2-40B4-BE49-F238E27FC236}">
                <a16:creationId xmlns:a16="http://schemas.microsoft.com/office/drawing/2014/main" id="{FD31A760-5ECD-4B88-ABDE-FF33D6E251F3}"/>
              </a:ext>
            </a:extLst>
          </p:cNvPr>
          <p:cNvSpPr>
            <a:spLocks noGrp="1"/>
          </p:cNvSpPr>
          <p:nvPr/>
        </p:nvSpPr>
        <p:spPr>
          <a:xfrm>
            <a:off x="952500" y="4276725"/>
            <a:ext cx="4762500" cy="342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4000"/>
              </a:lnSpc>
              <a:buNone/>
              <a:defRPr sz="23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VIDEO INCLUDED</a:t>
            </a:r>
          </a:p>
        </p:txBody>
      </p:sp>
      <p:sp>
        <p:nvSpPr>
          <p:cNvPr id="10" name="Rectángulo 9">
            <a:extLst>
              <a:ext uri="{FF2B5EF4-FFF2-40B4-BE49-F238E27FC236}">
                <a16:creationId xmlns:a16="http://schemas.microsoft.com/office/drawing/2014/main" id="{41672A1C-4CFA-4D44-A0C0-C26FE0D68CA5}"/>
              </a:ext>
            </a:extLst>
          </p:cNvPr>
          <p:cNvSpPr>
            <a:spLocks noGrp="1"/>
          </p:cNvSpPr>
          <p:nvPr/>
        </p:nvSpPr>
        <p:spPr>
          <a:xfrm>
            <a:off x="1066800" y="4800600"/>
            <a:ext cx="4533900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4000"/>
              </a:lnSpc>
              <a:buNone/>
              <a:defRPr sz="16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Capture, encode, negotiate, transport, play</a:t>
            </a:r>
          </a:p>
        </p:txBody>
      </p:sp>
      <p:sp>
        <p:nvSpPr>
          <p:cNvPr id="11" name="Rectángulo: esquinas redondeadas 10">
            <a:extLst>
              <a:ext uri="{FF2B5EF4-FFF2-40B4-BE49-F238E27FC236}">
                <a16:creationId xmlns:a16="http://schemas.microsoft.com/office/drawing/2014/main" id="{9EAC06DE-0996-4E81-9B95-518CF2739960}"/>
              </a:ext>
            </a:extLst>
          </p:cNvPr>
          <p:cNvSpPr>
            <a:spLocks noGrp="1"/>
          </p:cNvSpPr>
          <p:nvPr/>
        </p:nvSpPr>
        <p:spPr>
          <a:xfrm>
            <a:off x="6248400" y="4000500"/>
            <a:ext cx="5257800" cy="1504950"/>
          </a:xfrm>
          <a:prstGeom prst="roundRect">
            <a:avLst>
              <a:gd name="adj" fmla="val 8861"/>
            </a:avLst>
          </a:prstGeom>
          <a:solidFill>
            <a:srgbClr val="E7E3E5"/>
          </a:solidFill>
          <a:ln w="0"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12" name="Rectángulo 11">
            <a:extLst>
              <a:ext uri="{FF2B5EF4-FFF2-40B4-BE49-F238E27FC236}">
                <a16:creationId xmlns:a16="http://schemas.microsoft.com/office/drawing/2014/main" id="{033BFCD7-C24E-4DA2-BF32-D56FC91305BE}"/>
              </a:ext>
            </a:extLst>
          </p:cNvPr>
          <p:cNvSpPr>
            <a:spLocks noGrp="1"/>
          </p:cNvSpPr>
          <p:nvPr/>
        </p:nvSpPr>
        <p:spPr>
          <a:xfrm>
            <a:off x="6515100" y="4276725"/>
            <a:ext cx="4762500" cy="342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4000"/>
              </a:lnSpc>
              <a:buNone/>
              <a:defRPr sz="2325" b="1">
                <a:solidFill>
                  <a:srgbClr val="6F686D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6F686D"/>
                </a:solidFill>
                <a:latin typeface="Arial"/>
                <a:ea typeface="Arial"/>
                <a:cs typeface="Arial"/>
              </a:rPr>
              <a:t>DATA / CONTROL EXCLUDED</a:t>
            </a:r>
          </a:p>
        </p:txBody>
      </p:sp>
      <p:sp>
        <p:nvSpPr>
          <p:cNvPr id="13" name="Rectángulo 12">
            <a:extLst>
              <a:ext uri="{FF2B5EF4-FFF2-40B4-BE49-F238E27FC236}">
                <a16:creationId xmlns:a16="http://schemas.microsoft.com/office/drawing/2014/main" id="{8B3D8A7D-13B8-4232-AB9A-AF0443F9A369}"/>
              </a:ext>
            </a:extLst>
          </p:cNvPr>
          <p:cNvSpPr>
            <a:spLocks noGrp="1"/>
          </p:cNvSpPr>
          <p:nvPr/>
        </p:nvSpPr>
        <p:spPr>
          <a:xfrm>
            <a:off x="6629400" y="4800600"/>
            <a:ext cx="4533900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4000"/>
              </a:lnSpc>
              <a:buNone/>
              <a:defRPr sz="1650" b="0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71417"/>
                </a:solidFill>
                <a:latin typeface="Arial"/>
                <a:ea typeface="Arial"/>
                <a:cs typeface="Arial"/>
              </a:rPr>
              <a:t>No command loop, actuation, or safety controller</a:t>
            </a:r>
          </a:p>
        </p:txBody>
      </p:sp>
    </p:spTree>
    <p:extLst>
      <p:ext uri="{BB962C8B-B14F-4D97-AF65-F5344CB8AC3E}">
        <p14:creationId xmlns:p14="http://schemas.microsoft.com/office/powerpoint/2010/main" val="90570736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9F8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ángulo 24">
            <a:extLst>
              <a:ext uri="{FF2B5EF4-FFF2-40B4-BE49-F238E27FC236}">
                <a16:creationId xmlns:a16="http://schemas.microsoft.com/office/drawing/2014/main" id="{27BFAC66-E8CE-44A2-9666-26913D270E86}"/>
              </a:ext>
            </a:extLst>
          </p:cNvPr>
          <p:cNvSpPr>
            <a:spLocks noGrp="1"/>
          </p:cNvSpPr>
          <p:nvPr/>
        </p:nvSpPr>
        <p:spPr>
          <a:xfrm>
            <a:off x="533400" y="266700"/>
            <a:ext cx="74295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200" b="1">
                <a:solidFill>
                  <a:srgbClr val="830051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830051"/>
                </a:solidFill>
                <a:latin typeface="Arial"/>
                <a:ea typeface="Arial"/>
                <a:cs typeface="Arial"/>
              </a:rPr>
              <a:t>OPENING</a:t>
            </a:r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7D4667DB-23FF-481B-834B-CF665EA246E3}"/>
              </a:ext>
            </a:extLst>
          </p:cNvPr>
          <p:cNvSpPr>
            <a:spLocks noGrp="1"/>
          </p:cNvSpPr>
          <p:nvPr/>
        </p:nvSpPr>
        <p:spPr>
          <a:xfrm>
            <a:off x="533400" y="590550"/>
            <a:ext cx="10477500" cy="552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4000"/>
              </a:lnSpc>
              <a:buNone/>
              <a:defRPr sz="337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Presentation Roadmap</a:t>
            </a:r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6A6422EB-687B-4528-BB05-4FFAE7DCD1CA}"/>
              </a:ext>
            </a:extLst>
          </p:cNvPr>
          <p:cNvSpPr>
            <a:spLocks noGrp="1"/>
          </p:cNvSpPr>
          <p:nvPr/>
        </p:nvSpPr>
        <p:spPr>
          <a:xfrm>
            <a:off x="533400" y="1257300"/>
            <a:ext cx="11125200" cy="28575"/>
          </a:xfrm>
          <a:prstGeom prst="rect">
            <a:avLst/>
          </a:prstGeom>
          <a:solidFill>
            <a:srgbClr val="830051"/>
          </a:solidFill>
          <a:ln w="0"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91A0F9CC-C9E6-4BD5-B35A-5E4FF3E18ABE}"/>
              </a:ext>
            </a:extLst>
          </p:cNvPr>
          <p:cNvSpPr>
            <a:spLocks noGrp="1"/>
          </p:cNvSpPr>
          <p:nvPr/>
        </p:nvSpPr>
        <p:spPr>
          <a:xfrm>
            <a:off x="10858500" y="6457950"/>
            <a:ext cx="8001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4000"/>
              </a:lnSpc>
              <a:buNone/>
              <a:defRPr sz="1125" b="1">
                <a:solidFill>
                  <a:srgbClr val="6F686D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6F686D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0E7F3641-89F9-4E16-B076-F410729B50EC}"/>
              </a:ext>
            </a:extLst>
          </p:cNvPr>
          <p:cNvSpPr>
            <a:spLocks noGrp="1"/>
          </p:cNvSpPr>
          <p:nvPr/>
        </p:nvSpPr>
        <p:spPr>
          <a:xfrm>
            <a:off x="819150" y="1619250"/>
            <a:ext cx="857250" cy="5143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4000"/>
              </a:lnSpc>
              <a:buNone/>
              <a:defRPr sz="2850" b="1">
                <a:solidFill>
                  <a:srgbClr val="830051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830051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C8A6AC05-476B-4D77-AE4E-2ABBCCA14AF4}"/>
              </a:ext>
            </a:extLst>
          </p:cNvPr>
          <p:cNvSpPr>
            <a:spLocks noGrp="1"/>
          </p:cNvSpPr>
          <p:nvPr/>
        </p:nvSpPr>
        <p:spPr>
          <a:xfrm>
            <a:off x="1809750" y="1619250"/>
            <a:ext cx="7239000" cy="5143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4000"/>
              </a:lnSpc>
              <a:buNone/>
              <a:defRPr sz="2400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Theory</a:t>
            </a:r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51AA48F4-457A-4082-ABE5-EFB2FE2D63AA}"/>
              </a:ext>
            </a:extLst>
          </p:cNvPr>
          <p:cNvSpPr>
            <a:spLocks noGrp="1"/>
          </p:cNvSpPr>
          <p:nvPr/>
        </p:nvSpPr>
        <p:spPr>
          <a:xfrm>
            <a:off x="9620250" y="1619250"/>
            <a:ext cx="1524000" cy="5143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4000"/>
              </a:lnSpc>
              <a:buNone/>
              <a:defRPr sz="1650" b="1">
                <a:solidFill>
                  <a:srgbClr val="6F686D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6F686D"/>
                </a:solidFill>
                <a:latin typeface="Arial"/>
                <a:ea typeface="Arial"/>
                <a:cs typeface="Arial"/>
              </a:rPr>
              <a:t>9 min</a:t>
            </a:r>
          </a:p>
        </p:txBody>
      </p:sp>
      <p:sp>
        <p:nvSpPr>
          <p:cNvPr id="8" name="Conector recto 7">
            <a:extLst>
              <a:ext uri="{FF2B5EF4-FFF2-40B4-BE49-F238E27FC236}">
                <a16:creationId xmlns:a16="http://schemas.microsoft.com/office/drawing/2014/main" id="{8B320632-4BB3-47C0-9023-059846EECD9B}"/>
              </a:ext>
            </a:extLst>
          </p:cNvPr>
          <p:cNvSpPr>
            <a:spLocks noGrp="1"/>
          </p:cNvSpPr>
          <p:nvPr/>
        </p:nvSpPr>
        <p:spPr>
          <a:xfrm>
            <a:off x="1809750" y="2266950"/>
            <a:ext cx="9334500" cy="0"/>
          </a:xfrm>
          <a:prstGeom prst="line">
            <a:avLst/>
          </a:prstGeom>
          <a:noFill/>
          <a:ln w="9525">
            <a:solidFill>
              <a:srgbClr val="E7E3E5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" name="Rectángulo 8">
            <a:extLst>
              <a:ext uri="{FF2B5EF4-FFF2-40B4-BE49-F238E27FC236}">
                <a16:creationId xmlns:a16="http://schemas.microsoft.com/office/drawing/2014/main" id="{3ED84672-ECEE-4CAE-8589-EA583D66F8E0}"/>
              </a:ext>
            </a:extLst>
          </p:cNvPr>
          <p:cNvSpPr>
            <a:spLocks noGrp="1"/>
          </p:cNvSpPr>
          <p:nvPr/>
        </p:nvSpPr>
        <p:spPr>
          <a:xfrm>
            <a:off x="819150" y="2457450"/>
            <a:ext cx="857250" cy="5143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4000"/>
              </a:lnSpc>
              <a:buNone/>
              <a:defRPr sz="2850" b="1">
                <a:solidFill>
                  <a:srgbClr val="830051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830051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10" name="Rectángulo 9">
            <a:extLst>
              <a:ext uri="{FF2B5EF4-FFF2-40B4-BE49-F238E27FC236}">
                <a16:creationId xmlns:a16="http://schemas.microsoft.com/office/drawing/2014/main" id="{E1491D71-4DFC-4E2F-B88D-692E0536634A}"/>
              </a:ext>
            </a:extLst>
          </p:cNvPr>
          <p:cNvSpPr>
            <a:spLocks noGrp="1"/>
          </p:cNvSpPr>
          <p:nvPr/>
        </p:nvSpPr>
        <p:spPr>
          <a:xfrm>
            <a:off x="1809750" y="2457450"/>
            <a:ext cx="7239000" cy="5143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4000"/>
              </a:lnSpc>
              <a:buNone/>
              <a:defRPr sz="2400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Issues and Iterations</a:t>
            </a:r>
          </a:p>
        </p:txBody>
      </p:sp>
      <p:sp>
        <p:nvSpPr>
          <p:cNvPr id="11" name="Rectángulo 10">
            <a:extLst>
              <a:ext uri="{FF2B5EF4-FFF2-40B4-BE49-F238E27FC236}">
                <a16:creationId xmlns:a16="http://schemas.microsoft.com/office/drawing/2014/main" id="{E98B3011-AB9F-4609-AE08-E3EB43AC8522}"/>
              </a:ext>
            </a:extLst>
          </p:cNvPr>
          <p:cNvSpPr>
            <a:spLocks noGrp="1"/>
          </p:cNvSpPr>
          <p:nvPr/>
        </p:nvSpPr>
        <p:spPr>
          <a:xfrm>
            <a:off x="9620250" y="2457450"/>
            <a:ext cx="1524000" cy="5143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4000"/>
              </a:lnSpc>
              <a:buNone/>
              <a:defRPr sz="1650" b="1">
                <a:solidFill>
                  <a:srgbClr val="6F686D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6F686D"/>
                </a:solidFill>
                <a:latin typeface="Arial"/>
                <a:ea typeface="Arial"/>
                <a:cs typeface="Arial"/>
              </a:rPr>
              <a:t>10 min</a:t>
            </a:r>
          </a:p>
        </p:txBody>
      </p:sp>
      <p:sp>
        <p:nvSpPr>
          <p:cNvPr id="12" name="Conector recto 11">
            <a:extLst>
              <a:ext uri="{FF2B5EF4-FFF2-40B4-BE49-F238E27FC236}">
                <a16:creationId xmlns:a16="http://schemas.microsoft.com/office/drawing/2014/main" id="{5D926995-28B6-432A-B232-3B816906B6CF}"/>
              </a:ext>
            </a:extLst>
          </p:cNvPr>
          <p:cNvSpPr>
            <a:spLocks noGrp="1"/>
          </p:cNvSpPr>
          <p:nvPr/>
        </p:nvSpPr>
        <p:spPr>
          <a:xfrm>
            <a:off x="1809750" y="3105150"/>
            <a:ext cx="9334500" cy="0"/>
          </a:xfrm>
          <a:prstGeom prst="line">
            <a:avLst/>
          </a:prstGeom>
          <a:noFill/>
          <a:ln w="9525">
            <a:solidFill>
              <a:srgbClr val="E7E3E5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" name="Rectángulo 12">
            <a:extLst>
              <a:ext uri="{FF2B5EF4-FFF2-40B4-BE49-F238E27FC236}">
                <a16:creationId xmlns:a16="http://schemas.microsoft.com/office/drawing/2014/main" id="{B38520B6-99B5-4B3D-95AB-FD44A97F6671}"/>
              </a:ext>
            </a:extLst>
          </p:cNvPr>
          <p:cNvSpPr>
            <a:spLocks noGrp="1"/>
          </p:cNvSpPr>
          <p:nvPr/>
        </p:nvSpPr>
        <p:spPr>
          <a:xfrm>
            <a:off x="819150" y="3295650"/>
            <a:ext cx="857250" cy="5143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4000"/>
              </a:lnSpc>
              <a:buNone/>
              <a:defRPr sz="2850" b="1">
                <a:solidFill>
                  <a:srgbClr val="830051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830051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4" name="Rectángulo 13">
            <a:extLst>
              <a:ext uri="{FF2B5EF4-FFF2-40B4-BE49-F238E27FC236}">
                <a16:creationId xmlns:a16="http://schemas.microsoft.com/office/drawing/2014/main" id="{61DCE652-D8B7-4766-A5B4-FF92C6C0AAB0}"/>
              </a:ext>
            </a:extLst>
          </p:cNvPr>
          <p:cNvSpPr>
            <a:spLocks noGrp="1"/>
          </p:cNvSpPr>
          <p:nvPr/>
        </p:nvSpPr>
        <p:spPr>
          <a:xfrm>
            <a:off x="1809750" y="3295650"/>
            <a:ext cx="7239000" cy="5143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4000"/>
              </a:lnSpc>
              <a:buNone/>
              <a:defRPr sz="2400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Future Work</a:t>
            </a:r>
          </a:p>
        </p:txBody>
      </p:sp>
      <p:sp>
        <p:nvSpPr>
          <p:cNvPr id="15" name="Rectángulo 14">
            <a:extLst>
              <a:ext uri="{FF2B5EF4-FFF2-40B4-BE49-F238E27FC236}">
                <a16:creationId xmlns:a16="http://schemas.microsoft.com/office/drawing/2014/main" id="{B3F237E8-5A4E-462D-A12A-38EBABD58893}"/>
              </a:ext>
            </a:extLst>
          </p:cNvPr>
          <p:cNvSpPr>
            <a:spLocks noGrp="1"/>
          </p:cNvSpPr>
          <p:nvPr/>
        </p:nvSpPr>
        <p:spPr>
          <a:xfrm>
            <a:off x="9620250" y="3295650"/>
            <a:ext cx="1524000" cy="5143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4000"/>
              </a:lnSpc>
              <a:buNone/>
              <a:defRPr sz="1650" b="1">
                <a:solidFill>
                  <a:srgbClr val="6F686D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6F686D"/>
                </a:solidFill>
                <a:latin typeface="Arial"/>
                <a:ea typeface="Arial"/>
                <a:cs typeface="Arial"/>
              </a:rPr>
              <a:t>3 min</a:t>
            </a:r>
          </a:p>
        </p:txBody>
      </p:sp>
      <p:sp>
        <p:nvSpPr>
          <p:cNvPr id="16" name="Conector recto 15">
            <a:extLst>
              <a:ext uri="{FF2B5EF4-FFF2-40B4-BE49-F238E27FC236}">
                <a16:creationId xmlns:a16="http://schemas.microsoft.com/office/drawing/2014/main" id="{57AA6B4C-4760-4DE1-AA87-125179468521}"/>
              </a:ext>
            </a:extLst>
          </p:cNvPr>
          <p:cNvSpPr>
            <a:spLocks noGrp="1"/>
          </p:cNvSpPr>
          <p:nvPr/>
        </p:nvSpPr>
        <p:spPr>
          <a:xfrm>
            <a:off x="1809750" y="3943350"/>
            <a:ext cx="9334500" cy="0"/>
          </a:xfrm>
          <a:prstGeom prst="line">
            <a:avLst/>
          </a:prstGeom>
          <a:noFill/>
          <a:ln w="9525">
            <a:solidFill>
              <a:srgbClr val="E7E3E5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7" name="Rectángulo 16">
            <a:extLst>
              <a:ext uri="{FF2B5EF4-FFF2-40B4-BE49-F238E27FC236}">
                <a16:creationId xmlns:a16="http://schemas.microsoft.com/office/drawing/2014/main" id="{AB686026-BBA4-4375-A981-23B762421BD6}"/>
              </a:ext>
            </a:extLst>
          </p:cNvPr>
          <p:cNvSpPr>
            <a:spLocks noGrp="1"/>
          </p:cNvSpPr>
          <p:nvPr/>
        </p:nvSpPr>
        <p:spPr>
          <a:xfrm>
            <a:off x="819150" y="4133850"/>
            <a:ext cx="857250" cy="5143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4000"/>
              </a:lnSpc>
              <a:buNone/>
              <a:defRPr sz="2850" b="1">
                <a:solidFill>
                  <a:srgbClr val="830051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830051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18" name="Rectángulo 17">
            <a:extLst>
              <a:ext uri="{FF2B5EF4-FFF2-40B4-BE49-F238E27FC236}">
                <a16:creationId xmlns:a16="http://schemas.microsoft.com/office/drawing/2014/main" id="{50F88402-640C-4D41-9257-7EE0ABA905AB}"/>
              </a:ext>
            </a:extLst>
          </p:cNvPr>
          <p:cNvSpPr>
            <a:spLocks noGrp="1"/>
          </p:cNvSpPr>
          <p:nvPr/>
        </p:nvSpPr>
        <p:spPr>
          <a:xfrm>
            <a:off x="1809750" y="4133850"/>
            <a:ext cx="7239000" cy="5143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4000"/>
              </a:lnSpc>
              <a:buNone/>
              <a:defRPr sz="2400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Potential Applications</a:t>
            </a:r>
          </a:p>
        </p:txBody>
      </p:sp>
      <p:sp>
        <p:nvSpPr>
          <p:cNvPr id="19" name="Rectángulo 18">
            <a:extLst>
              <a:ext uri="{FF2B5EF4-FFF2-40B4-BE49-F238E27FC236}">
                <a16:creationId xmlns:a16="http://schemas.microsoft.com/office/drawing/2014/main" id="{D7B1D3DA-CE1D-4A84-8CEF-AAB9316A4CFE}"/>
              </a:ext>
            </a:extLst>
          </p:cNvPr>
          <p:cNvSpPr>
            <a:spLocks noGrp="1"/>
          </p:cNvSpPr>
          <p:nvPr/>
        </p:nvSpPr>
        <p:spPr>
          <a:xfrm>
            <a:off x="9620250" y="4133850"/>
            <a:ext cx="1524000" cy="5143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4000"/>
              </a:lnSpc>
              <a:buNone/>
              <a:defRPr sz="1650" b="1">
                <a:solidFill>
                  <a:srgbClr val="6F686D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6F686D"/>
                </a:solidFill>
                <a:latin typeface="Arial"/>
                <a:ea typeface="Arial"/>
                <a:cs typeface="Arial"/>
              </a:rPr>
              <a:t>2 min</a:t>
            </a:r>
          </a:p>
        </p:txBody>
      </p:sp>
      <p:sp>
        <p:nvSpPr>
          <p:cNvPr id="20" name="Conector recto 19">
            <a:extLst>
              <a:ext uri="{FF2B5EF4-FFF2-40B4-BE49-F238E27FC236}">
                <a16:creationId xmlns:a16="http://schemas.microsoft.com/office/drawing/2014/main" id="{7F7C94FC-F09F-4FAA-A4BD-2620417666C5}"/>
              </a:ext>
            </a:extLst>
          </p:cNvPr>
          <p:cNvSpPr>
            <a:spLocks noGrp="1"/>
          </p:cNvSpPr>
          <p:nvPr/>
        </p:nvSpPr>
        <p:spPr>
          <a:xfrm>
            <a:off x="1809750" y="4781550"/>
            <a:ext cx="9334500" cy="0"/>
          </a:xfrm>
          <a:prstGeom prst="line">
            <a:avLst/>
          </a:prstGeom>
          <a:noFill/>
          <a:ln w="9525">
            <a:solidFill>
              <a:srgbClr val="E7E3E5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1" name="Rectángulo 20">
            <a:extLst>
              <a:ext uri="{FF2B5EF4-FFF2-40B4-BE49-F238E27FC236}">
                <a16:creationId xmlns:a16="http://schemas.microsoft.com/office/drawing/2014/main" id="{A5841880-53B8-4BBB-AA7D-0883C63B6EE2}"/>
              </a:ext>
            </a:extLst>
          </p:cNvPr>
          <p:cNvSpPr>
            <a:spLocks noGrp="1"/>
          </p:cNvSpPr>
          <p:nvPr/>
        </p:nvSpPr>
        <p:spPr>
          <a:xfrm>
            <a:off x="819150" y="4972050"/>
            <a:ext cx="857250" cy="5143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4000"/>
              </a:lnSpc>
              <a:buNone/>
              <a:defRPr sz="2850" b="1">
                <a:solidFill>
                  <a:srgbClr val="830051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830051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22" name="Rectángulo 21">
            <a:extLst>
              <a:ext uri="{FF2B5EF4-FFF2-40B4-BE49-F238E27FC236}">
                <a16:creationId xmlns:a16="http://schemas.microsoft.com/office/drawing/2014/main" id="{D30FB81F-433C-404D-9BB2-ADE828B77833}"/>
              </a:ext>
            </a:extLst>
          </p:cNvPr>
          <p:cNvSpPr>
            <a:spLocks noGrp="1"/>
          </p:cNvSpPr>
          <p:nvPr/>
        </p:nvSpPr>
        <p:spPr>
          <a:xfrm>
            <a:off x="1809750" y="4972050"/>
            <a:ext cx="7239000" cy="5143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4000"/>
              </a:lnSpc>
              <a:buNone/>
              <a:defRPr sz="2400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Demo / Video</a:t>
            </a:r>
          </a:p>
        </p:txBody>
      </p:sp>
      <p:sp>
        <p:nvSpPr>
          <p:cNvPr id="23" name="Rectángulo 22">
            <a:extLst>
              <a:ext uri="{FF2B5EF4-FFF2-40B4-BE49-F238E27FC236}">
                <a16:creationId xmlns:a16="http://schemas.microsoft.com/office/drawing/2014/main" id="{502B3D2A-7C42-4C3E-8106-C860F83F02A0}"/>
              </a:ext>
            </a:extLst>
          </p:cNvPr>
          <p:cNvSpPr>
            <a:spLocks noGrp="1"/>
          </p:cNvSpPr>
          <p:nvPr/>
        </p:nvSpPr>
        <p:spPr>
          <a:xfrm>
            <a:off x="9620250" y="4972050"/>
            <a:ext cx="1524000" cy="5143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4000"/>
              </a:lnSpc>
              <a:buNone/>
              <a:defRPr sz="1650" b="1">
                <a:solidFill>
                  <a:srgbClr val="6F686D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6F686D"/>
                </a:solidFill>
                <a:latin typeface="Arial"/>
                <a:ea typeface="Arial"/>
                <a:cs typeface="Arial"/>
              </a:rPr>
              <a:t>3 min</a:t>
            </a:r>
          </a:p>
        </p:txBody>
      </p:sp>
    </p:spTree>
    <p:extLst>
      <p:ext uri="{BB962C8B-B14F-4D97-AF65-F5344CB8AC3E}">
        <p14:creationId xmlns:p14="http://schemas.microsoft.com/office/powerpoint/2010/main" val="80755436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9F8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ángulo 18">
            <a:extLst>
              <a:ext uri="{FF2B5EF4-FFF2-40B4-BE49-F238E27FC236}">
                <a16:creationId xmlns:a16="http://schemas.microsoft.com/office/drawing/2014/main" id="{048CDC69-1409-43D8-9607-D7A772AAA0A2}"/>
              </a:ext>
            </a:extLst>
          </p:cNvPr>
          <p:cNvSpPr>
            <a:spLocks noGrp="1"/>
          </p:cNvSpPr>
          <p:nvPr/>
        </p:nvSpPr>
        <p:spPr>
          <a:xfrm>
            <a:off x="533400" y="266700"/>
            <a:ext cx="74295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200" b="1">
                <a:solidFill>
                  <a:srgbClr val="830051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830051"/>
                </a:solidFill>
                <a:latin typeface="Arial"/>
                <a:ea typeface="Arial"/>
                <a:cs typeface="Arial"/>
              </a:rPr>
              <a:t>THEORY</a:t>
            </a:r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28F580DE-C4F8-4096-AABD-EE39396A031F}"/>
              </a:ext>
            </a:extLst>
          </p:cNvPr>
          <p:cNvSpPr>
            <a:spLocks noGrp="1"/>
          </p:cNvSpPr>
          <p:nvPr/>
        </p:nvSpPr>
        <p:spPr>
          <a:xfrm>
            <a:off x="533400" y="590550"/>
            <a:ext cx="10477500" cy="552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4000"/>
              </a:lnSpc>
              <a:buNone/>
              <a:defRPr sz="337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WebRTC as a Whole</a:t>
            </a:r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E44ABD69-38EF-4E90-8C3A-E4C4A0A4D375}"/>
              </a:ext>
            </a:extLst>
          </p:cNvPr>
          <p:cNvSpPr>
            <a:spLocks noGrp="1"/>
          </p:cNvSpPr>
          <p:nvPr/>
        </p:nvSpPr>
        <p:spPr>
          <a:xfrm>
            <a:off x="533400" y="1257300"/>
            <a:ext cx="11125200" cy="28575"/>
          </a:xfrm>
          <a:prstGeom prst="rect">
            <a:avLst/>
          </a:prstGeom>
          <a:solidFill>
            <a:srgbClr val="830051"/>
          </a:solidFill>
          <a:ln w="0"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7AE13239-B39C-4AE8-8471-1EE347C831E8}"/>
              </a:ext>
            </a:extLst>
          </p:cNvPr>
          <p:cNvSpPr>
            <a:spLocks noGrp="1"/>
          </p:cNvSpPr>
          <p:nvPr/>
        </p:nvSpPr>
        <p:spPr>
          <a:xfrm>
            <a:off x="10858500" y="6457950"/>
            <a:ext cx="8001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4000"/>
              </a:lnSpc>
              <a:buNone/>
              <a:defRPr sz="1125" b="1">
                <a:solidFill>
                  <a:srgbClr val="6F686D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6F686D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5" name="Rectángulo: esquinas redondeadas 4">
            <a:extLst>
              <a:ext uri="{FF2B5EF4-FFF2-40B4-BE49-F238E27FC236}">
                <a16:creationId xmlns:a16="http://schemas.microsoft.com/office/drawing/2014/main" id="{0BEEE678-19EF-40ED-8FAB-869D4C1CB78E}"/>
              </a:ext>
            </a:extLst>
          </p:cNvPr>
          <p:cNvSpPr>
            <a:spLocks noGrp="1"/>
          </p:cNvSpPr>
          <p:nvPr/>
        </p:nvSpPr>
        <p:spPr>
          <a:xfrm>
            <a:off x="4476750" y="2705100"/>
            <a:ext cx="3238500" cy="1047750"/>
          </a:xfrm>
          <a:prstGeom prst="roundRect">
            <a:avLst>
              <a:gd name="adj" fmla="val 12727"/>
            </a:avLst>
          </a:prstGeom>
          <a:solidFill>
            <a:srgbClr val="830051"/>
          </a:solidFill>
          <a:ln w="0">
            <a:noFill/>
          </a:ln>
        </p:spPr>
        <p:txBody>
          <a:bodyPr wrap="square" lIns="114300" tIns="76200" rIns="114300" bIns="76200" anchor="ctr">
            <a:noAutofit/>
          </a:bodyPr>
          <a:lstStyle/>
          <a:p>
            <a:pPr algn="ctr">
              <a:lnSpc>
                <a:spcPct val="104000"/>
              </a:lnSpc>
              <a:buNone/>
              <a:defRPr sz="23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325" b="1" dirty="0" err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RTCPeerConnection</a:t>
            </a:r>
            <a:endParaRPr sz="2325" b="1" dirty="0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6" name="Rectángulo: esquinas redondeadas 5">
            <a:extLst>
              <a:ext uri="{FF2B5EF4-FFF2-40B4-BE49-F238E27FC236}">
                <a16:creationId xmlns:a16="http://schemas.microsoft.com/office/drawing/2014/main" id="{E5CC65C0-7AB3-4E1D-AF31-CEDB19C17C85}"/>
              </a:ext>
            </a:extLst>
          </p:cNvPr>
          <p:cNvSpPr>
            <a:spLocks noGrp="1"/>
          </p:cNvSpPr>
          <p:nvPr/>
        </p:nvSpPr>
        <p:spPr>
          <a:xfrm>
            <a:off x="781050" y="1771650"/>
            <a:ext cx="2857500" cy="742950"/>
          </a:xfrm>
          <a:prstGeom prst="roundRect">
            <a:avLst>
              <a:gd name="adj" fmla="val 17949"/>
            </a:avLst>
          </a:prstGeom>
          <a:solidFill>
            <a:srgbClr val="FFFFFF"/>
          </a:solidFill>
          <a:ln w="19050">
            <a:solidFill>
              <a:srgbClr val="EAD8E3"/>
            </a:solidFill>
            <a:prstDash val="solid"/>
          </a:ln>
        </p:spPr>
        <p:txBody>
          <a:bodyPr wrap="square" lIns="114300" tIns="76200" rIns="114300" bIns="76200" anchor="ctr">
            <a:noAutofit/>
          </a:bodyPr>
          <a:lstStyle/>
          <a:p>
            <a:pPr algn="ctr">
              <a:lnSpc>
                <a:spcPct val="104000"/>
              </a:lnSpc>
              <a:buNone/>
              <a:defRPr sz="1650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Browser and native APIs</a:t>
            </a:r>
          </a:p>
        </p:txBody>
      </p:sp>
      <p:cxnSp>
        <p:nvCxnSpPr>
          <p:cNvPr id="25" name="Conector recto de flecha 24"/>
          <p:cNvCxnSpPr>
            <a:stCxn id="6" idx="3"/>
            <a:endCxn id="5" idx="1"/>
          </p:cNvCxnSpPr>
          <p:nvPr/>
        </p:nvCxnSpPr>
        <p:spPr>
          <a:xfrm>
            <a:off x="3638550" y="2143125"/>
            <a:ext cx="838200" cy="1085850"/>
          </a:xfrm>
          <a:prstGeom prst="straightConnector1">
            <a:avLst/>
          </a:prstGeom>
          <a:ln w="19050">
            <a:solidFill>
              <a:srgbClr val="A69FA3"/>
            </a:solidFill>
            <a:prstDash val="solid"/>
          </a:ln>
        </p:spPr>
      </p:cxnSp>
      <p:sp>
        <p:nvSpPr>
          <p:cNvPr id="8" name="Rectángulo: esquinas redondeadas 7">
            <a:extLst>
              <a:ext uri="{FF2B5EF4-FFF2-40B4-BE49-F238E27FC236}">
                <a16:creationId xmlns:a16="http://schemas.microsoft.com/office/drawing/2014/main" id="{FF0DCEB5-A124-43C2-B5DA-C85E112ECA88}"/>
              </a:ext>
            </a:extLst>
          </p:cNvPr>
          <p:cNvSpPr>
            <a:spLocks noGrp="1"/>
          </p:cNvSpPr>
          <p:nvPr/>
        </p:nvSpPr>
        <p:spPr>
          <a:xfrm>
            <a:off x="781050" y="4171950"/>
            <a:ext cx="2857500" cy="742950"/>
          </a:xfrm>
          <a:prstGeom prst="roundRect">
            <a:avLst>
              <a:gd name="adj" fmla="val 17949"/>
            </a:avLst>
          </a:prstGeom>
          <a:solidFill>
            <a:srgbClr val="FFFFFF"/>
          </a:solidFill>
          <a:ln w="19050">
            <a:solidFill>
              <a:srgbClr val="EAD8E3"/>
            </a:solidFill>
            <a:prstDash val="solid"/>
          </a:ln>
        </p:spPr>
        <p:txBody>
          <a:bodyPr wrap="square" lIns="114300" tIns="76200" rIns="114300" bIns="76200" anchor="ctr">
            <a:noAutofit/>
          </a:bodyPr>
          <a:lstStyle/>
          <a:p>
            <a:pPr algn="ctr">
              <a:lnSpc>
                <a:spcPct val="104000"/>
              </a:lnSpc>
              <a:buNone/>
              <a:defRPr sz="1650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Application-defined signaling</a:t>
            </a:r>
          </a:p>
        </p:txBody>
      </p:sp>
      <p:cxnSp>
        <p:nvCxnSpPr>
          <p:cNvPr id="27" name="Conector recto de flecha 26"/>
          <p:cNvCxnSpPr>
            <a:stCxn id="8" idx="3"/>
            <a:endCxn id="5" idx="1"/>
          </p:cNvCxnSpPr>
          <p:nvPr/>
        </p:nvCxnSpPr>
        <p:spPr>
          <a:xfrm flipV="1">
            <a:off x="3638550" y="3228975"/>
            <a:ext cx="838200" cy="1314450"/>
          </a:xfrm>
          <a:prstGeom prst="straightConnector1">
            <a:avLst/>
          </a:prstGeom>
          <a:ln w="19050">
            <a:solidFill>
              <a:srgbClr val="A69FA3"/>
            </a:solidFill>
            <a:prstDash val="solid"/>
          </a:ln>
        </p:spPr>
      </p:cxnSp>
      <p:sp>
        <p:nvSpPr>
          <p:cNvPr id="10" name="Rectángulo: esquinas redondeadas 9">
            <a:extLst>
              <a:ext uri="{FF2B5EF4-FFF2-40B4-BE49-F238E27FC236}">
                <a16:creationId xmlns:a16="http://schemas.microsoft.com/office/drawing/2014/main" id="{84622E93-17B0-401E-8234-D4A9D09CAAE6}"/>
              </a:ext>
            </a:extLst>
          </p:cNvPr>
          <p:cNvSpPr>
            <a:spLocks noGrp="1"/>
          </p:cNvSpPr>
          <p:nvPr/>
        </p:nvSpPr>
        <p:spPr>
          <a:xfrm>
            <a:off x="8543925" y="1771650"/>
            <a:ext cx="2857500" cy="742950"/>
          </a:xfrm>
          <a:prstGeom prst="roundRect">
            <a:avLst>
              <a:gd name="adj" fmla="val 17949"/>
            </a:avLst>
          </a:prstGeom>
          <a:solidFill>
            <a:srgbClr val="FFFFFF"/>
          </a:solidFill>
          <a:ln w="19050">
            <a:solidFill>
              <a:srgbClr val="EAD8E3"/>
            </a:solidFill>
            <a:prstDash val="solid"/>
          </a:ln>
        </p:spPr>
        <p:txBody>
          <a:bodyPr wrap="square" lIns="114300" tIns="76200" rIns="114300" bIns="76200" anchor="ctr">
            <a:noAutofit/>
          </a:bodyPr>
          <a:lstStyle/>
          <a:p>
            <a:pPr algn="ctr">
              <a:lnSpc>
                <a:spcPct val="104000"/>
              </a:lnSpc>
              <a:buNone/>
              <a:defRPr sz="1650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ICE connectivity</a:t>
            </a:r>
          </a:p>
        </p:txBody>
      </p:sp>
      <p:cxnSp>
        <p:nvCxnSpPr>
          <p:cNvPr id="29" name="Conector recto de flecha 28"/>
          <p:cNvCxnSpPr>
            <a:stCxn id="10" idx="1"/>
            <a:endCxn id="5" idx="3"/>
          </p:cNvCxnSpPr>
          <p:nvPr/>
        </p:nvCxnSpPr>
        <p:spPr>
          <a:xfrm flipH="1">
            <a:off x="7715250" y="2143125"/>
            <a:ext cx="828675" cy="1085850"/>
          </a:xfrm>
          <a:prstGeom prst="straightConnector1">
            <a:avLst/>
          </a:prstGeom>
          <a:ln w="19050">
            <a:solidFill>
              <a:srgbClr val="A69FA3"/>
            </a:solidFill>
            <a:prstDash val="solid"/>
          </a:ln>
        </p:spPr>
      </p:cxnSp>
      <p:sp>
        <p:nvSpPr>
          <p:cNvPr id="12" name="Rectángulo: esquinas redondeadas 11">
            <a:extLst>
              <a:ext uri="{FF2B5EF4-FFF2-40B4-BE49-F238E27FC236}">
                <a16:creationId xmlns:a16="http://schemas.microsoft.com/office/drawing/2014/main" id="{4C85FE71-DF2E-455E-BDBD-33A1A28E969D}"/>
              </a:ext>
            </a:extLst>
          </p:cNvPr>
          <p:cNvSpPr>
            <a:spLocks noGrp="1"/>
          </p:cNvSpPr>
          <p:nvPr/>
        </p:nvSpPr>
        <p:spPr>
          <a:xfrm>
            <a:off x="8543925" y="4171950"/>
            <a:ext cx="2857500" cy="742950"/>
          </a:xfrm>
          <a:prstGeom prst="roundRect">
            <a:avLst>
              <a:gd name="adj" fmla="val 17949"/>
            </a:avLst>
          </a:prstGeom>
          <a:solidFill>
            <a:srgbClr val="FFFFFF"/>
          </a:solidFill>
          <a:ln w="19050">
            <a:solidFill>
              <a:srgbClr val="EAD8E3"/>
            </a:solidFill>
            <a:prstDash val="solid"/>
          </a:ln>
        </p:spPr>
        <p:txBody>
          <a:bodyPr wrap="square" lIns="114300" tIns="76200" rIns="114300" bIns="76200" anchor="ctr">
            <a:noAutofit/>
          </a:bodyPr>
          <a:lstStyle/>
          <a:p>
            <a:pPr algn="ctr">
              <a:lnSpc>
                <a:spcPct val="104000"/>
              </a:lnSpc>
              <a:buNone/>
              <a:defRPr sz="1650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DTLS-SRTP encryption</a:t>
            </a:r>
          </a:p>
        </p:txBody>
      </p:sp>
      <p:cxnSp>
        <p:nvCxnSpPr>
          <p:cNvPr id="31" name="Conector recto de flecha 30"/>
          <p:cNvCxnSpPr>
            <a:stCxn id="12" idx="1"/>
            <a:endCxn id="5" idx="3"/>
          </p:cNvCxnSpPr>
          <p:nvPr/>
        </p:nvCxnSpPr>
        <p:spPr>
          <a:xfrm flipH="1" flipV="1">
            <a:off x="7715250" y="3228975"/>
            <a:ext cx="828675" cy="1314450"/>
          </a:xfrm>
          <a:prstGeom prst="straightConnector1">
            <a:avLst/>
          </a:prstGeom>
          <a:ln w="19050">
            <a:solidFill>
              <a:srgbClr val="A69FA3"/>
            </a:solidFill>
            <a:prstDash val="solid"/>
          </a:ln>
        </p:spPr>
      </p:cxnSp>
      <p:sp>
        <p:nvSpPr>
          <p:cNvPr id="14" name="Rectángulo: esquinas redondeadas 13">
            <a:extLst>
              <a:ext uri="{FF2B5EF4-FFF2-40B4-BE49-F238E27FC236}">
                <a16:creationId xmlns:a16="http://schemas.microsoft.com/office/drawing/2014/main" id="{B3B60421-D5E0-4710-AEB5-BDF7ACD32F43}"/>
              </a:ext>
            </a:extLst>
          </p:cNvPr>
          <p:cNvSpPr>
            <a:spLocks noGrp="1"/>
          </p:cNvSpPr>
          <p:nvPr/>
        </p:nvSpPr>
        <p:spPr>
          <a:xfrm>
            <a:off x="4476750" y="1485900"/>
            <a:ext cx="3238500" cy="742950"/>
          </a:xfrm>
          <a:prstGeom prst="roundRect">
            <a:avLst>
              <a:gd name="adj" fmla="val 17949"/>
            </a:avLst>
          </a:prstGeom>
          <a:solidFill>
            <a:srgbClr val="FFFFFF"/>
          </a:solidFill>
          <a:ln w="19050">
            <a:solidFill>
              <a:srgbClr val="EAD8E3"/>
            </a:solidFill>
            <a:prstDash val="solid"/>
          </a:ln>
        </p:spPr>
        <p:txBody>
          <a:bodyPr wrap="square" lIns="114300" tIns="76200" rIns="114300" bIns="76200" anchor="ctr">
            <a:noAutofit/>
          </a:bodyPr>
          <a:lstStyle/>
          <a:p>
            <a:pPr algn="ctr">
              <a:lnSpc>
                <a:spcPct val="104000"/>
              </a:lnSpc>
              <a:buNone/>
              <a:defRPr sz="1650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Real-time media</a:t>
            </a:r>
          </a:p>
        </p:txBody>
      </p:sp>
      <p:cxnSp>
        <p:nvCxnSpPr>
          <p:cNvPr id="33" name="Conector recto de flecha 32"/>
          <p:cNvCxnSpPr>
            <a:stCxn id="14" idx="2"/>
            <a:endCxn id="5" idx="0"/>
          </p:cNvCxnSpPr>
          <p:nvPr/>
        </p:nvCxnSpPr>
        <p:spPr>
          <a:xfrm>
            <a:off x="6096000" y="2228850"/>
            <a:ext cx="0" cy="476250"/>
          </a:xfrm>
          <a:prstGeom prst="straightConnector1">
            <a:avLst/>
          </a:prstGeom>
          <a:ln w="19050">
            <a:solidFill>
              <a:srgbClr val="A69FA3"/>
            </a:solidFill>
            <a:prstDash val="solid"/>
          </a:ln>
        </p:spPr>
      </p:cxnSp>
      <p:sp>
        <p:nvSpPr>
          <p:cNvPr id="16" name="Rectángulo: esquinas redondeadas 15">
            <a:extLst>
              <a:ext uri="{FF2B5EF4-FFF2-40B4-BE49-F238E27FC236}">
                <a16:creationId xmlns:a16="http://schemas.microsoft.com/office/drawing/2014/main" id="{56E6217E-F468-4A2C-917D-216B8EC58672}"/>
              </a:ext>
            </a:extLst>
          </p:cNvPr>
          <p:cNvSpPr>
            <a:spLocks noGrp="1"/>
          </p:cNvSpPr>
          <p:nvPr/>
        </p:nvSpPr>
        <p:spPr>
          <a:xfrm>
            <a:off x="4476750" y="4400550"/>
            <a:ext cx="3238500" cy="742950"/>
          </a:xfrm>
          <a:prstGeom prst="roundRect">
            <a:avLst>
              <a:gd name="adj" fmla="val 17949"/>
            </a:avLst>
          </a:prstGeom>
          <a:solidFill>
            <a:srgbClr val="FFFFFF"/>
          </a:solidFill>
          <a:ln w="19050">
            <a:solidFill>
              <a:srgbClr val="EAD8E3"/>
            </a:solidFill>
            <a:prstDash val="solid"/>
          </a:ln>
        </p:spPr>
        <p:txBody>
          <a:bodyPr wrap="square" lIns="114300" tIns="76200" rIns="114300" bIns="76200" anchor="ctr">
            <a:noAutofit/>
          </a:bodyPr>
          <a:lstStyle/>
          <a:p>
            <a:pPr algn="ctr">
              <a:lnSpc>
                <a:spcPct val="104000"/>
              </a:lnSpc>
              <a:buNone/>
              <a:defRPr sz="1650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Congestion control</a:t>
            </a:r>
          </a:p>
        </p:txBody>
      </p:sp>
      <p:cxnSp>
        <p:nvCxnSpPr>
          <p:cNvPr id="35" name="Conector recto de flecha 34"/>
          <p:cNvCxnSpPr>
            <a:stCxn id="16" idx="0"/>
            <a:endCxn id="5" idx="2"/>
          </p:cNvCxnSpPr>
          <p:nvPr/>
        </p:nvCxnSpPr>
        <p:spPr>
          <a:xfrm flipV="1">
            <a:off x="6096000" y="3752850"/>
            <a:ext cx="0" cy="647700"/>
          </a:xfrm>
          <a:prstGeom prst="straightConnector1">
            <a:avLst/>
          </a:prstGeom>
          <a:ln w="19050">
            <a:solidFill>
              <a:srgbClr val="A69FA3"/>
            </a:solidFill>
            <a:prstDash val="solid"/>
          </a:ln>
        </p:spPr>
      </p:cxnSp>
      <p:sp>
        <p:nvSpPr>
          <p:cNvPr id="18" name="Rectángulo 17">
            <a:extLst>
              <a:ext uri="{FF2B5EF4-FFF2-40B4-BE49-F238E27FC236}">
                <a16:creationId xmlns:a16="http://schemas.microsoft.com/office/drawing/2014/main" id="{223DC108-6F33-487C-8F7E-BB1BFE97CD91}"/>
              </a:ext>
            </a:extLst>
          </p:cNvPr>
          <p:cNvSpPr>
            <a:spLocks noGrp="1"/>
          </p:cNvSpPr>
          <p:nvPr/>
        </p:nvSpPr>
        <p:spPr>
          <a:xfrm>
            <a:off x="1333500" y="5619750"/>
            <a:ext cx="9525000" cy="552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4000"/>
              </a:lnSpc>
              <a:buNone/>
              <a:defRPr sz="1725" b="1">
                <a:solidFill>
                  <a:srgbClr val="510034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510034"/>
                </a:solidFill>
                <a:latin typeface="Arial"/>
                <a:ea typeface="Arial"/>
                <a:cs typeface="Arial"/>
              </a:rPr>
              <a:t>WebRTC combines APIs and protocols. It does not prescribe how the application carries signaling messages.</a:t>
            </a:r>
          </a:p>
        </p:txBody>
      </p:sp>
    </p:spTree>
    <p:extLst>
      <p:ext uri="{BB962C8B-B14F-4D97-AF65-F5344CB8AC3E}">
        <p14:creationId xmlns:p14="http://schemas.microsoft.com/office/powerpoint/2010/main" val="11225882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9F8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ángulo 16">
            <a:extLst>
              <a:ext uri="{FF2B5EF4-FFF2-40B4-BE49-F238E27FC236}">
                <a16:creationId xmlns:a16="http://schemas.microsoft.com/office/drawing/2014/main" id="{D07F735B-634D-43FB-B2F9-DBD86FA79AE4}"/>
              </a:ext>
            </a:extLst>
          </p:cNvPr>
          <p:cNvSpPr>
            <a:spLocks noGrp="1"/>
          </p:cNvSpPr>
          <p:nvPr/>
        </p:nvSpPr>
        <p:spPr>
          <a:xfrm>
            <a:off x="533400" y="266700"/>
            <a:ext cx="74295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200" b="1">
                <a:solidFill>
                  <a:srgbClr val="830051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830051"/>
                </a:solidFill>
                <a:latin typeface="Arial"/>
                <a:ea typeface="Arial"/>
                <a:cs typeface="Arial"/>
              </a:rPr>
              <a:t>THEORY</a:t>
            </a:r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085F9A2B-8B5A-4D01-A7C9-6998F896249A}"/>
              </a:ext>
            </a:extLst>
          </p:cNvPr>
          <p:cNvSpPr>
            <a:spLocks noGrp="1"/>
          </p:cNvSpPr>
          <p:nvPr/>
        </p:nvSpPr>
        <p:spPr>
          <a:xfrm>
            <a:off x="533400" y="590550"/>
            <a:ext cx="10477500" cy="552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4000"/>
              </a:lnSpc>
              <a:buNone/>
              <a:defRPr sz="337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The WebRTC Protocol Stack</a:t>
            </a:r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49827970-C07D-4CF0-A8B3-9AF33F1DDD7A}"/>
              </a:ext>
            </a:extLst>
          </p:cNvPr>
          <p:cNvSpPr>
            <a:spLocks noGrp="1"/>
          </p:cNvSpPr>
          <p:nvPr/>
        </p:nvSpPr>
        <p:spPr>
          <a:xfrm>
            <a:off x="533400" y="1257300"/>
            <a:ext cx="11125200" cy="28575"/>
          </a:xfrm>
          <a:prstGeom prst="rect">
            <a:avLst/>
          </a:prstGeom>
          <a:solidFill>
            <a:srgbClr val="830051"/>
          </a:solidFill>
          <a:ln w="0"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6EF21B09-9351-4CFB-9184-F53ED495B2F2}"/>
              </a:ext>
            </a:extLst>
          </p:cNvPr>
          <p:cNvSpPr>
            <a:spLocks noGrp="1"/>
          </p:cNvSpPr>
          <p:nvPr/>
        </p:nvSpPr>
        <p:spPr>
          <a:xfrm>
            <a:off x="10858500" y="6457950"/>
            <a:ext cx="8001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4000"/>
              </a:lnSpc>
              <a:buNone/>
              <a:defRPr sz="1125" b="1">
                <a:solidFill>
                  <a:srgbClr val="6F686D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6F686D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  <p:pic>
        <p:nvPicPr>
          <p:cNvPr id="18" name="Imagen 17" descr="WebRTC protocol stack showing browser APIs over HTTP, optional TLS, and TCP; RTCPeerConnection and DataChannel over RTP/RTCP, SCTP, mandatory DTLS, ICE/STUN/TURN, UDP, and IP.">
            <a:extLst>
              <a:ext uri="{FF2B5EF4-FFF2-40B4-BE49-F238E27FC236}">
                <a16:creationId xmlns:a16="http://schemas.microsoft.com/office/drawing/2014/main" id="{2FD464F3-CD95-50DA-2B91-0EBE49D96F1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11958" y="1860803"/>
            <a:ext cx="8811846" cy="42957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58822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9F8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Rectángulo 32">
            <a:extLst>
              <a:ext uri="{FF2B5EF4-FFF2-40B4-BE49-F238E27FC236}">
                <a16:creationId xmlns:a16="http://schemas.microsoft.com/office/drawing/2014/main" id="{3D06610C-6871-4F0F-A248-6A458BDF9A86}"/>
              </a:ext>
            </a:extLst>
          </p:cNvPr>
          <p:cNvSpPr>
            <a:spLocks noGrp="1"/>
          </p:cNvSpPr>
          <p:nvPr/>
        </p:nvSpPr>
        <p:spPr>
          <a:xfrm>
            <a:off x="533400" y="266700"/>
            <a:ext cx="74295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200" b="1">
                <a:solidFill>
                  <a:srgbClr val="830051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830051"/>
                </a:solidFill>
                <a:latin typeface="Arial"/>
                <a:ea typeface="Arial"/>
                <a:cs typeface="Arial"/>
              </a:rPr>
              <a:t>THEORY</a:t>
            </a:r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B83B3475-957D-4337-958E-59DB2A938EEF}"/>
              </a:ext>
            </a:extLst>
          </p:cNvPr>
          <p:cNvSpPr>
            <a:spLocks noGrp="1"/>
          </p:cNvSpPr>
          <p:nvPr/>
        </p:nvSpPr>
        <p:spPr>
          <a:xfrm>
            <a:off x="533400" y="590550"/>
            <a:ext cx="10477500" cy="552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4000"/>
              </a:lnSpc>
              <a:buNone/>
              <a:defRPr sz="337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STUN Discovery and TURN Relay</a:t>
            </a:r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49C664C0-4CD9-483C-A8C8-B7A998E20760}"/>
              </a:ext>
            </a:extLst>
          </p:cNvPr>
          <p:cNvSpPr>
            <a:spLocks noGrp="1"/>
          </p:cNvSpPr>
          <p:nvPr/>
        </p:nvSpPr>
        <p:spPr>
          <a:xfrm>
            <a:off x="533400" y="1257300"/>
            <a:ext cx="11125200" cy="28575"/>
          </a:xfrm>
          <a:prstGeom prst="rect">
            <a:avLst/>
          </a:prstGeom>
          <a:solidFill>
            <a:srgbClr val="830051"/>
          </a:solidFill>
          <a:ln w="0">
            <a:noFill/>
          </a:ln>
        </p:spPr>
        <p:txBody>
          <a:bodyPr/>
          <a:lstStyle/>
          <a:p>
            <a:endParaRPr/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EE055462-4D07-4EFC-A1E5-256E5DCC6647}"/>
              </a:ext>
            </a:extLst>
          </p:cNvPr>
          <p:cNvSpPr>
            <a:spLocks noGrp="1"/>
          </p:cNvSpPr>
          <p:nvPr/>
        </p:nvSpPr>
        <p:spPr>
          <a:xfrm>
            <a:off x="10858500" y="6457950"/>
            <a:ext cx="8001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4000"/>
              </a:lnSpc>
              <a:buNone/>
              <a:defRPr sz="1125" b="1">
                <a:solidFill>
                  <a:srgbClr val="6F686D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6F686D"/>
                </a:solidFill>
                <a:latin typeface="Arial"/>
                <a:ea typeface="Arial"/>
                <a:cs typeface="Arial"/>
              </a:rPr>
              <a:t>07</a:t>
            </a:r>
          </a:p>
        </p:txBody>
      </p:sp>
      <p:sp>
        <p:nvSpPr>
          <p:cNvPr id="70000" name="raspberry-pi-card">
            <a:extLst>
              <a:ext uri="{FF2B5EF4-FFF2-40B4-BE49-F238E27FC236}">
                <a16:creationId xmlns:a16="http://schemas.microsoft.com/office/drawing/2014/main" id="{421CFBDD-0D05-41DC-AC4F-636EB521177E}"/>
              </a:ext>
            </a:extLst>
          </p:cNvPr>
          <p:cNvSpPr>
            <a:spLocks noGrp="1"/>
          </p:cNvSpPr>
          <p:nvPr/>
        </p:nvSpPr>
        <p:spPr>
          <a:xfrm>
            <a:off x="666750" y="3105150"/>
            <a:ext cx="2476500" cy="1009650"/>
          </a:xfrm>
          <a:prstGeom prst="roundRect">
            <a:avLst>
              <a:gd name="adj" fmla="val 16981"/>
            </a:avLst>
          </a:prstGeom>
          <a:solidFill>
            <a:srgbClr val="FFFFFF"/>
          </a:solidFill>
          <a:ln w="19050">
            <a:solidFill>
              <a:srgbClr val="830051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70100" name="raspberry-pi-icon">
            <a:extLst>
              <a:ext uri="{FF2B5EF4-FFF2-40B4-BE49-F238E27FC236}">
                <a16:creationId xmlns:a16="http://schemas.microsoft.com/office/drawing/2014/main" id="{6FDB1B7C-2969-4284-BE05-727FD784901B}"/>
              </a:ext>
            </a:extLst>
          </p:cNvPr>
          <p:cNvSpPr>
            <a:spLocks noGrp="1"/>
          </p:cNvSpPr>
          <p:nvPr/>
        </p:nvSpPr>
        <p:spPr>
          <a:xfrm>
            <a:off x="857250" y="3343275"/>
            <a:ext cx="533400" cy="533400"/>
          </a:xfrm>
          <a:prstGeom prst="ellipse">
            <a:avLst/>
          </a:prstGeom>
          <a:solidFill>
            <a:srgbClr val="F5EDF2"/>
          </a:solidFill>
          <a:ln w="14288">
            <a:solidFill>
              <a:srgbClr val="830051"/>
            </a:solidFill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defRPr sz="1275" b="1">
                <a:solidFill>
                  <a:srgbClr val="830051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830051"/>
                </a:solidFill>
                <a:latin typeface="Arial"/>
                <a:ea typeface="Arial"/>
                <a:cs typeface="Arial"/>
              </a:rPr>
              <a:t>Pi</a:t>
            </a:r>
          </a:p>
        </p:txBody>
      </p:sp>
      <p:sp>
        <p:nvSpPr>
          <p:cNvPr id="70200" name="raspberry-pi-title">
            <a:extLst>
              <a:ext uri="{FF2B5EF4-FFF2-40B4-BE49-F238E27FC236}">
                <a16:creationId xmlns:a16="http://schemas.microsoft.com/office/drawing/2014/main" id="{0B38E4A8-7471-4E98-8984-E396F6BE6266}"/>
              </a:ext>
            </a:extLst>
          </p:cNvPr>
          <p:cNvSpPr>
            <a:spLocks noGrp="1"/>
          </p:cNvSpPr>
          <p:nvPr/>
        </p:nvSpPr>
        <p:spPr>
          <a:xfrm>
            <a:off x="1543050" y="3333750"/>
            <a:ext cx="14097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1650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Raspberry Pi</a:t>
            </a:r>
          </a:p>
        </p:txBody>
      </p:sp>
      <p:sp>
        <p:nvSpPr>
          <p:cNvPr id="70300" name="raspberry-pi-subtitle">
            <a:extLst>
              <a:ext uri="{FF2B5EF4-FFF2-40B4-BE49-F238E27FC236}">
                <a16:creationId xmlns:a16="http://schemas.microsoft.com/office/drawing/2014/main" id="{AC9DA8CC-BAC7-4740-8921-B270FFCC4BFF}"/>
              </a:ext>
            </a:extLst>
          </p:cNvPr>
          <p:cNvSpPr>
            <a:spLocks noGrp="1"/>
          </p:cNvSpPr>
          <p:nvPr/>
        </p:nvSpPr>
        <p:spPr>
          <a:xfrm>
            <a:off x="1543050" y="3629025"/>
            <a:ext cx="14097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1125">
                <a:solidFill>
                  <a:srgbClr val="6F686D"/>
                </a:solidFill>
                <a:latin typeface="Arial"/>
                <a:ea typeface="Arial"/>
                <a:cs typeface="Arial"/>
              </a:defRPr>
            </a:pPr>
            <a:r>
              <a:rPr sz="1125">
                <a:solidFill>
                  <a:srgbClr val="6F686D"/>
                </a:solidFill>
                <a:latin typeface="Arial"/>
                <a:ea typeface="Arial"/>
                <a:cs typeface="Arial"/>
              </a:rPr>
              <a:t>WebRTC peer</a:t>
            </a:r>
          </a:p>
        </p:txBody>
      </p:sp>
      <p:sp>
        <p:nvSpPr>
          <p:cNvPr id="70400" name="remote-browser-card">
            <a:extLst>
              <a:ext uri="{FF2B5EF4-FFF2-40B4-BE49-F238E27FC236}">
                <a16:creationId xmlns:a16="http://schemas.microsoft.com/office/drawing/2014/main" id="{1AAED6EF-F33F-4688-81F4-23CFFFEA39FE}"/>
              </a:ext>
            </a:extLst>
          </p:cNvPr>
          <p:cNvSpPr>
            <a:spLocks noGrp="1"/>
          </p:cNvSpPr>
          <p:nvPr/>
        </p:nvSpPr>
        <p:spPr>
          <a:xfrm>
            <a:off x="9048750" y="3105150"/>
            <a:ext cx="2476500" cy="1009650"/>
          </a:xfrm>
          <a:prstGeom prst="roundRect">
            <a:avLst>
              <a:gd name="adj" fmla="val 16981"/>
            </a:avLst>
          </a:prstGeom>
          <a:solidFill>
            <a:srgbClr val="FFFFFF"/>
          </a:solidFill>
          <a:ln w="19050">
            <a:solidFill>
              <a:srgbClr val="830051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70500" name="remote-browser-icon">
            <a:extLst>
              <a:ext uri="{FF2B5EF4-FFF2-40B4-BE49-F238E27FC236}">
                <a16:creationId xmlns:a16="http://schemas.microsoft.com/office/drawing/2014/main" id="{8EF7393A-24EB-4FC5-A863-7436EAE82EAD}"/>
              </a:ext>
            </a:extLst>
          </p:cNvPr>
          <p:cNvSpPr>
            <a:spLocks noGrp="1"/>
          </p:cNvSpPr>
          <p:nvPr/>
        </p:nvSpPr>
        <p:spPr>
          <a:xfrm>
            <a:off x="9239250" y="3343275"/>
            <a:ext cx="533400" cy="533400"/>
          </a:xfrm>
          <a:prstGeom prst="ellipse">
            <a:avLst/>
          </a:prstGeom>
          <a:solidFill>
            <a:srgbClr val="F5EDF2"/>
          </a:solidFill>
          <a:ln w="14288">
            <a:solidFill>
              <a:srgbClr val="830051"/>
            </a:solidFill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defRPr sz="975" b="1">
                <a:solidFill>
                  <a:srgbClr val="830051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830051"/>
                </a:solidFill>
                <a:latin typeface="Arial"/>
                <a:ea typeface="Arial"/>
                <a:cs typeface="Arial"/>
              </a:rPr>
              <a:t>WEB</a:t>
            </a:r>
          </a:p>
        </p:txBody>
      </p:sp>
      <p:sp>
        <p:nvSpPr>
          <p:cNvPr id="70600" name="remote-browser-title">
            <a:extLst>
              <a:ext uri="{FF2B5EF4-FFF2-40B4-BE49-F238E27FC236}">
                <a16:creationId xmlns:a16="http://schemas.microsoft.com/office/drawing/2014/main" id="{989FE0F0-6AFE-45FC-9C49-9454569C8A3A}"/>
              </a:ext>
            </a:extLst>
          </p:cNvPr>
          <p:cNvSpPr>
            <a:spLocks noGrp="1"/>
          </p:cNvSpPr>
          <p:nvPr/>
        </p:nvSpPr>
        <p:spPr>
          <a:xfrm>
            <a:off x="9925050" y="3333750"/>
            <a:ext cx="14097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 fontScale="85852"/>
          </a:bodyPr>
          <a:lstStyle/>
          <a:p>
            <a:pPr algn="l">
              <a:defRPr sz="1650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Remote browser</a:t>
            </a:r>
          </a:p>
        </p:txBody>
      </p:sp>
      <p:sp>
        <p:nvSpPr>
          <p:cNvPr id="70700" name="remote-browser-subtitle">
            <a:extLst>
              <a:ext uri="{FF2B5EF4-FFF2-40B4-BE49-F238E27FC236}">
                <a16:creationId xmlns:a16="http://schemas.microsoft.com/office/drawing/2014/main" id="{9DB8A013-F365-46B4-8147-8BB58DBD8319}"/>
              </a:ext>
            </a:extLst>
          </p:cNvPr>
          <p:cNvSpPr>
            <a:spLocks noGrp="1"/>
          </p:cNvSpPr>
          <p:nvPr/>
        </p:nvSpPr>
        <p:spPr>
          <a:xfrm>
            <a:off x="9925050" y="3629025"/>
            <a:ext cx="14097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1125">
                <a:solidFill>
                  <a:srgbClr val="6F686D"/>
                </a:solidFill>
                <a:latin typeface="Arial"/>
                <a:ea typeface="Arial"/>
                <a:cs typeface="Arial"/>
              </a:defRPr>
            </a:pPr>
            <a:r>
              <a:rPr sz="1125">
                <a:solidFill>
                  <a:srgbClr val="6F686D"/>
                </a:solidFill>
                <a:latin typeface="Arial"/>
                <a:ea typeface="Arial"/>
                <a:cs typeface="Arial"/>
              </a:rPr>
              <a:t>WebRTC peer</a:t>
            </a:r>
          </a:p>
        </p:txBody>
      </p:sp>
      <p:sp>
        <p:nvSpPr>
          <p:cNvPr id="70800" name="stun-public-ip-lookup-card">
            <a:extLst>
              <a:ext uri="{FF2B5EF4-FFF2-40B4-BE49-F238E27FC236}">
                <a16:creationId xmlns:a16="http://schemas.microsoft.com/office/drawing/2014/main" id="{112A70A3-223F-4636-8FB9-EB145DE555C4}"/>
              </a:ext>
            </a:extLst>
          </p:cNvPr>
          <p:cNvSpPr>
            <a:spLocks noGrp="1"/>
          </p:cNvSpPr>
          <p:nvPr/>
        </p:nvSpPr>
        <p:spPr>
          <a:xfrm>
            <a:off x="4000500" y="1581150"/>
            <a:ext cx="4191000" cy="1200150"/>
          </a:xfrm>
          <a:prstGeom prst="roundRect">
            <a:avLst>
              <a:gd name="adj" fmla="val 14286"/>
            </a:avLst>
          </a:prstGeom>
          <a:solidFill>
            <a:srgbClr val="F5EDF2"/>
          </a:solidFill>
          <a:ln w="19050">
            <a:solidFill>
              <a:srgbClr val="830051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70900" name="stun-lookup-only-badge">
            <a:extLst>
              <a:ext uri="{FF2B5EF4-FFF2-40B4-BE49-F238E27FC236}">
                <a16:creationId xmlns:a16="http://schemas.microsoft.com/office/drawing/2014/main" id="{AD0DF06B-ED7E-41EA-B673-4E5B44D66C8A}"/>
              </a:ext>
            </a:extLst>
          </p:cNvPr>
          <p:cNvSpPr>
            <a:spLocks noGrp="1"/>
          </p:cNvSpPr>
          <p:nvPr/>
        </p:nvSpPr>
        <p:spPr>
          <a:xfrm>
            <a:off x="4257675" y="1752600"/>
            <a:ext cx="1162050" cy="238125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9525">
            <a:solidFill>
              <a:srgbClr val="E7E3E5"/>
            </a:solidFill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defRPr sz="975" b="1">
                <a:solidFill>
                  <a:srgbClr val="830051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830051"/>
                </a:solidFill>
                <a:latin typeface="Arial"/>
                <a:ea typeface="Arial"/>
                <a:cs typeface="Arial"/>
              </a:rPr>
              <a:t>LOOKUP ONLY</a:t>
            </a:r>
          </a:p>
        </p:txBody>
      </p:sp>
      <p:sp>
        <p:nvSpPr>
          <p:cNvPr id="71000" name="stun-title">
            <a:extLst>
              <a:ext uri="{FF2B5EF4-FFF2-40B4-BE49-F238E27FC236}">
                <a16:creationId xmlns:a16="http://schemas.microsoft.com/office/drawing/2014/main" id="{E0CD24DB-6DC5-4B76-A630-C89559EEE6FC}"/>
              </a:ext>
            </a:extLst>
          </p:cNvPr>
          <p:cNvSpPr>
            <a:spLocks noGrp="1"/>
          </p:cNvSpPr>
          <p:nvPr/>
        </p:nvSpPr>
        <p:spPr>
          <a:xfrm>
            <a:off x="4257675" y="2076450"/>
            <a:ext cx="1162050" cy="428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2400" b="1">
                <a:solidFill>
                  <a:srgbClr val="830051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830051"/>
                </a:solidFill>
                <a:latin typeface="Arial"/>
                <a:ea typeface="Arial"/>
                <a:cs typeface="Arial"/>
              </a:rPr>
              <a:t>STUN</a:t>
            </a:r>
          </a:p>
        </p:txBody>
      </p:sp>
      <p:sp>
        <p:nvSpPr>
          <p:cNvPr id="71100" name="stun-purpose">
            <a:extLst>
              <a:ext uri="{FF2B5EF4-FFF2-40B4-BE49-F238E27FC236}">
                <a16:creationId xmlns:a16="http://schemas.microsoft.com/office/drawing/2014/main" id="{797D7DF3-1132-4E7B-93F6-445B5F338173}"/>
              </a:ext>
            </a:extLst>
          </p:cNvPr>
          <p:cNvSpPr>
            <a:spLocks noGrp="1"/>
          </p:cNvSpPr>
          <p:nvPr/>
        </p:nvSpPr>
        <p:spPr>
          <a:xfrm>
            <a:off x="5619750" y="1752600"/>
            <a:ext cx="2314575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 fontScale="85072"/>
          </a:bodyPr>
          <a:lstStyle/>
          <a:p>
            <a:pPr algn="l">
              <a:defRPr sz="1500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Returns the public IP and port</a:t>
            </a:r>
          </a:p>
        </p:txBody>
      </p:sp>
      <p:sp>
        <p:nvSpPr>
          <p:cNvPr id="71200" name="stun-no-media">
            <a:extLst>
              <a:ext uri="{FF2B5EF4-FFF2-40B4-BE49-F238E27FC236}">
                <a16:creationId xmlns:a16="http://schemas.microsoft.com/office/drawing/2014/main" id="{5020213E-65F5-48DD-AF3E-D3BDDC9609CA}"/>
              </a:ext>
            </a:extLst>
          </p:cNvPr>
          <p:cNvSpPr>
            <a:spLocks noGrp="1"/>
          </p:cNvSpPr>
          <p:nvPr/>
        </p:nvSpPr>
        <p:spPr>
          <a:xfrm>
            <a:off x="5619750" y="2171700"/>
            <a:ext cx="2314575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 fontScale="92022"/>
          </a:bodyPr>
          <a:lstStyle/>
          <a:p>
            <a:pPr algn="l">
              <a:defRPr sz="1200" b="1">
                <a:solidFill>
                  <a:srgbClr val="830051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830051"/>
                </a:solidFill>
                <a:latin typeface="Arial"/>
                <a:ea typeface="Arial"/>
                <a:cs typeface="Arial"/>
              </a:rPr>
              <a:t>Media never passes through STUN</a:t>
            </a:r>
          </a:p>
        </p:txBody>
      </p:sp>
      <p:sp>
        <p:nvSpPr>
          <p:cNvPr id="71300" name="turn-media-relay-card">
            <a:extLst>
              <a:ext uri="{FF2B5EF4-FFF2-40B4-BE49-F238E27FC236}">
                <a16:creationId xmlns:a16="http://schemas.microsoft.com/office/drawing/2014/main" id="{E6A97A5D-0A33-4E35-85E9-617BBB5D1585}"/>
              </a:ext>
            </a:extLst>
          </p:cNvPr>
          <p:cNvSpPr>
            <a:spLocks noGrp="1"/>
          </p:cNvSpPr>
          <p:nvPr/>
        </p:nvSpPr>
        <p:spPr>
          <a:xfrm>
            <a:off x="4000500" y="4514850"/>
            <a:ext cx="4191000" cy="1219200"/>
          </a:xfrm>
          <a:prstGeom prst="roundRect">
            <a:avLst>
              <a:gd name="adj" fmla="val 14063"/>
            </a:avLst>
          </a:prstGeom>
          <a:solidFill>
            <a:srgbClr val="510034"/>
          </a:solidFill>
          <a:ln w="9525">
            <a:solidFill>
              <a:srgbClr val="510034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6">
            <a:scrgbClr r="0" g="0" b="0"/>
          </a:effectRef>
          <a:fontRef idx="major"/>
        </p:style>
      </p:sp>
      <p:sp>
        <p:nvSpPr>
          <p:cNvPr id="71400" name="turn-relay-badge">
            <a:extLst>
              <a:ext uri="{FF2B5EF4-FFF2-40B4-BE49-F238E27FC236}">
                <a16:creationId xmlns:a16="http://schemas.microsoft.com/office/drawing/2014/main" id="{96C3EE49-9A67-4A9E-8F67-191722319B6C}"/>
              </a:ext>
            </a:extLst>
          </p:cNvPr>
          <p:cNvSpPr>
            <a:spLocks noGrp="1"/>
          </p:cNvSpPr>
          <p:nvPr/>
        </p:nvSpPr>
        <p:spPr>
          <a:xfrm>
            <a:off x="4257675" y="4695825"/>
            <a:ext cx="914400" cy="238125"/>
          </a:xfrm>
          <a:prstGeom prst="roundRect">
            <a:avLst>
              <a:gd name="adj" fmla="val 48000"/>
            </a:avLst>
          </a:prstGeom>
          <a:solidFill>
            <a:srgbClr val="E97132"/>
          </a:solidFill>
          <a:ln w="9525">
            <a:solidFill>
              <a:srgbClr val="E97132"/>
            </a:solidFill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defRPr sz="9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RELAY</a:t>
            </a:r>
          </a:p>
        </p:txBody>
      </p:sp>
      <p:sp>
        <p:nvSpPr>
          <p:cNvPr id="71500" name="turn-title">
            <a:extLst>
              <a:ext uri="{FF2B5EF4-FFF2-40B4-BE49-F238E27FC236}">
                <a16:creationId xmlns:a16="http://schemas.microsoft.com/office/drawing/2014/main" id="{8D38E62C-585D-4D6E-ABBE-77375046FACE}"/>
              </a:ext>
            </a:extLst>
          </p:cNvPr>
          <p:cNvSpPr>
            <a:spLocks noGrp="1"/>
          </p:cNvSpPr>
          <p:nvPr/>
        </p:nvSpPr>
        <p:spPr>
          <a:xfrm>
            <a:off x="4257675" y="5010150"/>
            <a:ext cx="1162050" cy="428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TURN</a:t>
            </a:r>
          </a:p>
        </p:txBody>
      </p:sp>
      <p:sp>
        <p:nvSpPr>
          <p:cNvPr id="71600" name="turn-purpose">
            <a:extLst>
              <a:ext uri="{FF2B5EF4-FFF2-40B4-BE49-F238E27FC236}">
                <a16:creationId xmlns:a16="http://schemas.microsoft.com/office/drawing/2014/main" id="{4312D52D-C8F0-4FE1-B7B8-E47E3EEA6D9B}"/>
              </a:ext>
            </a:extLst>
          </p:cNvPr>
          <p:cNvSpPr>
            <a:spLocks noGrp="1"/>
          </p:cNvSpPr>
          <p:nvPr/>
        </p:nvSpPr>
        <p:spPr>
          <a:xfrm>
            <a:off x="5619750" y="4695825"/>
            <a:ext cx="2314575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Forwards media when the direct path fails</a:t>
            </a:r>
          </a:p>
        </p:txBody>
      </p:sp>
      <p:sp>
        <p:nvSpPr>
          <p:cNvPr id="71700" name="turn-in-path">
            <a:extLst>
              <a:ext uri="{FF2B5EF4-FFF2-40B4-BE49-F238E27FC236}">
                <a16:creationId xmlns:a16="http://schemas.microsoft.com/office/drawing/2014/main" id="{C999F9B9-88B3-49A7-85D3-1D3472016C5B}"/>
              </a:ext>
            </a:extLst>
          </p:cNvPr>
          <p:cNvSpPr>
            <a:spLocks noGrp="1"/>
          </p:cNvSpPr>
          <p:nvPr/>
        </p:nvSpPr>
        <p:spPr>
          <a:xfrm>
            <a:off x="5619750" y="5248275"/>
            <a:ext cx="2314575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12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>
                <a:solidFill>
                  <a:srgbClr val="FFFFFF"/>
                </a:solidFill>
                <a:latin typeface="Arial"/>
                <a:ea typeface="Arial"/>
                <a:cs typeface="Arial"/>
              </a:rPr>
              <a:t>Traffic enters and leaves the relay</a:t>
            </a:r>
          </a:p>
        </p:txBody>
      </p:sp>
      <p:cxnSp>
        <p:nvCxnSpPr>
          <p:cNvPr id="71701" name="stun-request-response-left"/>
          <p:cNvCxnSpPr>
            <a:stCxn id="70000" idx="0"/>
            <a:endCxn id="70800" idx="1"/>
          </p:cNvCxnSpPr>
          <p:nvPr/>
        </p:nvCxnSpPr>
        <p:spPr>
          <a:xfrm flipV="1">
            <a:off x="1905000" y="2181225"/>
            <a:ext cx="2095500" cy="923925"/>
          </a:xfrm>
          <a:prstGeom prst="straightConnector1">
            <a:avLst/>
          </a:prstGeom>
          <a:ln w="19050">
            <a:solidFill>
              <a:srgbClr val="A69FA3"/>
            </a:solidFill>
            <a:prstDash val="dash"/>
            <a:headEnd type="arrow" w="sm" len="sm"/>
            <a:tailEnd type="arrow" w="sm" len="sm"/>
          </a:ln>
        </p:spPr>
      </p:cxnSp>
      <p:cxnSp>
        <p:nvCxnSpPr>
          <p:cNvPr id="71702" name="stun-request-response-right"/>
          <p:cNvCxnSpPr>
            <a:stCxn id="70400" idx="0"/>
            <a:endCxn id="70800" idx="3"/>
          </p:cNvCxnSpPr>
          <p:nvPr/>
        </p:nvCxnSpPr>
        <p:spPr>
          <a:xfrm flipH="1" flipV="1">
            <a:off x="8191500" y="2181225"/>
            <a:ext cx="2095500" cy="923925"/>
          </a:xfrm>
          <a:prstGeom prst="straightConnector1">
            <a:avLst/>
          </a:prstGeom>
          <a:ln w="19050">
            <a:solidFill>
              <a:srgbClr val="A69FA3"/>
            </a:solidFill>
            <a:prstDash val="dash"/>
            <a:headEnd type="arrow" w="sm" len="sm"/>
            <a:tailEnd type="arrow" w="sm" len="sm"/>
          </a:ln>
        </p:spPr>
      </p:cxnSp>
      <p:cxnSp>
        <p:nvCxnSpPr>
          <p:cNvPr id="71703" name="direct-media-path"/>
          <p:cNvCxnSpPr>
            <a:stCxn id="70000" idx="3"/>
            <a:endCxn id="70400" idx="1"/>
          </p:cNvCxnSpPr>
          <p:nvPr/>
        </p:nvCxnSpPr>
        <p:spPr>
          <a:xfrm>
            <a:off x="3143250" y="3609975"/>
            <a:ext cx="5905500" cy="0"/>
          </a:xfrm>
          <a:prstGeom prst="straightConnector1">
            <a:avLst/>
          </a:prstGeom>
          <a:ln w="38100">
            <a:solidFill>
              <a:srgbClr val="196B24"/>
            </a:solidFill>
            <a:prstDash val="solid"/>
            <a:tailEnd type="triangle" w="med" len="med"/>
          </a:ln>
        </p:spPr>
      </p:cxnSp>
      <p:sp>
        <p:nvSpPr>
          <p:cNvPr id="72100" name="direct-media-label">
            <a:extLst>
              <a:ext uri="{FF2B5EF4-FFF2-40B4-BE49-F238E27FC236}">
                <a16:creationId xmlns:a16="http://schemas.microsoft.com/office/drawing/2014/main" id="{552CCC5E-F45F-42C4-8D22-C9D7EE68A155}"/>
              </a:ext>
            </a:extLst>
          </p:cNvPr>
          <p:cNvSpPr>
            <a:spLocks noGrp="1"/>
          </p:cNvSpPr>
          <p:nvPr/>
        </p:nvSpPr>
        <p:spPr>
          <a:xfrm>
            <a:off x="4810125" y="3324225"/>
            <a:ext cx="2571750" cy="400050"/>
          </a:xfrm>
          <a:prstGeom prst="roundRect">
            <a:avLst>
              <a:gd name="adj" fmla="val 50000"/>
            </a:avLst>
          </a:prstGeom>
          <a:solidFill>
            <a:srgbClr val="EAF4EC"/>
          </a:solidFill>
          <a:ln w="14288">
            <a:solidFill>
              <a:srgbClr val="196B24"/>
            </a:solidFill>
            <a:prstDash val="solid"/>
          </a:ln>
        </p:spPr>
        <p:txBody>
          <a:bodyPr lIns="76200" tIns="0" rIns="76200" bIns="0" anchor="ctr">
            <a:normAutofit/>
          </a:bodyPr>
          <a:lstStyle/>
          <a:p>
            <a:pPr algn="ctr">
              <a:defRPr sz="1125" b="1">
                <a:solidFill>
                  <a:srgbClr val="196B24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196B24"/>
                </a:solidFill>
                <a:latin typeface="Arial"/>
                <a:ea typeface="Arial"/>
                <a:cs typeface="Arial"/>
              </a:rPr>
              <a:t>DIRECT MEDIA WHEN REACHABLE</a:t>
            </a:r>
          </a:p>
        </p:txBody>
      </p:sp>
      <p:cxnSp>
        <p:nvCxnSpPr>
          <p:cNvPr id="72101" name="media-to-turn-relay"/>
          <p:cNvCxnSpPr>
            <a:stCxn id="70000" idx="2"/>
            <a:endCxn id="71300" idx="1"/>
          </p:cNvCxnSpPr>
          <p:nvPr/>
        </p:nvCxnSpPr>
        <p:spPr>
          <a:xfrm>
            <a:off x="1905000" y="4114800"/>
            <a:ext cx="2095500" cy="1009650"/>
          </a:xfrm>
          <a:prstGeom prst="straightConnector1">
            <a:avLst/>
          </a:prstGeom>
          <a:ln w="38100">
            <a:solidFill>
              <a:srgbClr val="E97132"/>
            </a:solidFill>
            <a:prstDash val="solid"/>
            <a:tailEnd type="triangle" w="med" len="med"/>
          </a:ln>
        </p:spPr>
      </p:cxnSp>
      <p:cxnSp>
        <p:nvCxnSpPr>
          <p:cNvPr id="72102" name="media-from-turn-relay"/>
          <p:cNvCxnSpPr>
            <a:stCxn id="71300" idx="3"/>
            <a:endCxn id="70400" idx="2"/>
          </p:cNvCxnSpPr>
          <p:nvPr/>
        </p:nvCxnSpPr>
        <p:spPr>
          <a:xfrm flipV="1">
            <a:off x="8191500" y="4114800"/>
            <a:ext cx="2095500" cy="1009650"/>
          </a:xfrm>
          <a:prstGeom prst="straightConnector1">
            <a:avLst/>
          </a:prstGeom>
          <a:ln w="38100">
            <a:solidFill>
              <a:srgbClr val="E97132"/>
            </a:solidFill>
            <a:prstDash val="solid"/>
            <a:tailEnd type="triangle" w="med" len="med"/>
          </a:ln>
        </p:spPr>
      </p:cxnSp>
      <p:sp>
        <p:nvSpPr>
          <p:cNvPr id="72400" name="turn-fallback-label">
            <a:extLst>
              <a:ext uri="{FF2B5EF4-FFF2-40B4-BE49-F238E27FC236}">
                <a16:creationId xmlns:a16="http://schemas.microsoft.com/office/drawing/2014/main" id="{3A65503E-FA66-4BED-BB0F-C2184A235AA0}"/>
              </a:ext>
            </a:extLst>
          </p:cNvPr>
          <p:cNvSpPr>
            <a:spLocks noGrp="1"/>
          </p:cNvSpPr>
          <p:nvPr/>
        </p:nvSpPr>
        <p:spPr>
          <a:xfrm>
            <a:off x="4714875" y="4114800"/>
            <a:ext cx="2762250" cy="276225"/>
          </a:xfrm>
          <a:prstGeom prst="roundRect">
            <a:avLst>
              <a:gd name="adj" fmla="val 48276"/>
            </a:avLst>
          </a:prstGeom>
          <a:solidFill>
            <a:srgbClr val="FFF0E8"/>
          </a:solidFill>
          <a:ln w="9525">
            <a:solidFill>
              <a:srgbClr val="E97132"/>
            </a:solidFill>
            <a:prstDash val="solid"/>
          </a:ln>
        </p:spPr>
        <p:txBody>
          <a:bodyPr lIns="76200" tIns="0" rIns="76200" bIns="0" anchor="ctr">
            <a:normAutofit/>
          </a:bodyPr>
          <a:lstStyle/>
          <a:p>
            <a:pPr algn="ctr">
              <a:defRPr sz="1050" b="1">
                <a:solidFill>
                  <a:srgbClr val="E97132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E97132"/>
                </a:solidFill>
                <a:latin typeface="Arial"/>
                <a:ea typeface="Arial"/>
                <a:cs typeface="Arial"/>
              </a:rPr>
              <a:t>FALLBACK MEDIA THROUGH TURN</a:t>
            </a:r>
          </a:p>
        </p:txBody>
      </p:sp>
      <p:sp>
        <p:nvSpPr>
          <p:cNvPr id="72500" name="stun-turn-takeaway">
            <a:extLst>
              <a:ext uri="{FF2B5EF4-FFF2-40B4-BE49-F238E27FC236}">
                <a16:creationId xmlns:a16="http://schemas.microsoft.com/office/drawing/2014/main" id="{3D7CB19F-F1FB-4E30-A802-8B1D22B6840F}"/>
              </a:ext>
            </a:extLst>
          </p:cNvPr>
          <p:cNvSpPr>
            <a:spLocks noGrp="1"/>
          </p:cNvSpPr>
          <p:nvPr/>
        </p:nvSpPr>
        <p:spPr>
          <a:xfrm>
            <a:off x="1257300" y="5953125"/>
            <a:ext cx="9677400" cy="409575"/>
          </a:xfrm>
          <a:prstGeom prst="roundRect">
            <a:avLst>
              <a:gd name="adj" fmla="val 41860"/>
            </a:avLst>
          </a:prstGeom>
          <a:solidFill>
            <a:srgbClr val="FFFFFF"/>
          </a:solidFill>
          <a:ln w="9525">
            <a:solidFill>
              <a:srgbClr val="E7E3E5"/>
            </a:solidFill>
            <a:prstDash val="solid"/>
          </a:ln>
        </p:spPr>
        <p:txBody>
          <a:bodyPr lIns="171450" tIns="0" rIns="171450" bIns="0" anchor="ctr">
            <a:normAutofit/>
          </a:bodyPr>
          <a:lstStyle/>
          <a:p>
            <a:pPr algn="ctr">
              <a:defRPr sz="1350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STUN</a:t>
            </a:r>
            <a:r>
              <a:rPr sz="1350">
                <a:solidFill>
                  <a:srgbClr val="171417"/>
                </a:solidFill>
                <a:latin typeface="Arial"/>
                <a:ea typeface="Arial"/>
                <a:cs typeface="Arial"/>
              </a:rPr>
              <a:t> returns the public IP and port only.  </a:t>
            </a:r>
            <a:r>
              <a:rPr sz="1350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TURN</a:t>
            </a:r>
            <a:r>
              <a:rPr sz="1350">
                <a:solidFill>
                  <a:srgbClr val="171417"/>
                </a:solidFill>
                <a:latin typeface="Arial"/>
                <a:ea typeface="Arial"/>
                <a:cs typeface="Arial"/>
              </a:rPr>
              <a:t> relays media when no direct path works.</a:t>
            </a:r>
          </a:p>
        </p:txBody>
      </p:sp>
    </p:spTree>
    <p:extLst>
      <p:ext uri="{BB962C8B-B14F-4D97-AF65-F5344CB8AC3E}">
        <p14:creationId xmlns:p14="http://schemas.microsoft.com/office/powerpoint/2010/main" val="16164587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9F8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ángulo 22">
            <a:extLst>
              <a:ext uri="{FF2B5EF4-FFF2-40B4-BE49-F238E27FC236}">
                <a16:creationId xmlns:a16="http://schemas.microsoft.com/office/drawing/2014/main" id="{67DF73B5-401A-4D42-A102-65DE49555885}"/>
              </a:ext>
            </a:extLst>
          </p:cNvPr>
          <p:cNvSpPr>
            <a:spLocks noGrp="1"/>
          </p:cNvSpPr>
          <p:nvPr/>
        </p:nvSpPr>
        <p:spPr>
          <a:xfrm>
            <a:off x="533400" y="266700"/>
            <a:ext cx="74295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200" b="1">
                <a:solidFill>
                  <a:srgbClr val="830051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830051"/>
                </a:solidFill>
                <a:latin typeface="Arial"/>
                <a:ea typeface="Arial"/>
                <a:cs typeface="Arial"/>
              </a:rPr>
              <a:t>THEORY</a:t>
            </a:r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1A2A5A16-0215-4F66-9818-D88EBEC69C2B}"/>
              </a:ext>
            </a:extLst>
          </p:cNvPr>
          <p:cNvSpPr>
            <a:spLocks noGrp="1"/>
          </p:cNvSpPr>
          <p:nvPr/>
        </p:nvSpPr>
        <p:spPr>
          <a:xfrm>
            <a:off x="533400" y="590550"/>
            <a:ext cx="10477500" cy="552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4000"/>
              </a:lnSpc>
              <a:buNone/>
              <a:defRPr sz="337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SDP Offer and Answer</a:t>
            </a:r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787E6A14-72B7-45A1-ACAE-DB0584AE79D3}"/>
              </a:ext>
            </a:extLst>
          </p:cNvPr>
          <p:cNvSpPr>
            <a:spLocks noGrp="1"/>
          </p:cNvSpPr>
          <p:nvPr/>
        </p:nvSpPr>
        <p:spPr>
          <a:xfrm>
            <a:off x="533400" y="1257300"/>
            <a:ext cx="11125200" cy="28575"/>
          </a:xfrm>
          <a:prstGeom prst="rect">
            <a:avLst/>
          </a:prstGeom>
          <a:solidFill>
            <a:srgbClr val="830051"/>
          </a:solidFill>
          <a:ln w="0"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9D837308-51C9-4DF4-B136-066AFF6E02FA}"/>
              </a:ext>
            </a:extLst>
          </p:cNvPr>
          <p:cNvSpPr>
            <a:spLocks noGrp="1"/>
          </p:cNvSpPr>
          <p:nvPr/>
        </p:nvSpPr>
        <p:spPr>
          <a:xfrm>
            <a:off x="10858500" y="6457950"/>
            <a:ext cx="8001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4000"/>
              </a:lnSpc>
              <a:buNone/>
              <a:defRPr sz="1125" b="1">
                <a:solidFill>
                  <a:srgbClr val="6F686D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6F686D"/>
                </a:solidFill>
                <a:latin typeface="Arial"/>
                <a:ea typeface="Arial"/>
                <a:cs typeface="Arial"/>
              </a:rPr>
              <a:t>08</a:t>
            </a:r>
          </a:p>
        </p:txBody>
      </p:sp>
      <p:sp>
        <p:nvSpPr>
          <p:cNvPr id="5" name="Rectángulo: esquinas redondeadas 4">
            <a:extLst>
              <a:ext uri="{FF2B5EF4-FFF2-40B4-BE49-F238E27FC236}">
                <a16:creationId xmlns:a16="http://schemas.microsoft.com/office/drawing/2014/main" id="{15770BFC-853B-460B-887A-9B2AA3751602}"/>
              </a:ext>
            </a:extLst>
          </p:cNvPr>
          <p:cNvSpPr>
            <a:spLocks noGrp="1"/>
          </p:cNvSpPr>
          <p:nvPr/>
        </p:nvSpPr>
        <p:spPr>
          <a:xfrm>
            <a:off x="838200" y="1657350"/>
            <a:ext cx="2381250" cy="742950"/>
          </a:xfrm>
          <a:prstGeom prst="roundRect">
            <a:avLst>
              <a:gd name="adj" fmla="val 17949"/>
            </a:avLst>
          </a:prstGeom>
          <a:solidFill>
            <a:srgbClr val="830051"/>
          </a:solidFill>
          <a:ln w="19050">
            <a:solidFill>
              <a:srgbClr val="830051"/>
            </a:solidFill>
            <a:prstDash val="solid"/>
          </a:ln>
        </p:spPr>
        <p:txBody>
          <a:bodyPr wrap="square" lIns="114300" tIns="76200" rIns="114300" bIns="76200" anchor="ctr">
            <a:noAutofit/>
          </a:bodyPr>
          <a:lstStyle/>
          <a:p>
            <a:pPr algn="ctr">
              <a:lnSpc>
                <a:spcPct val="104000"/>
              </a:lnSpc>
              <a:buNone/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Raspberry Pi</a:t>
            </a:r>
          </a:p>
          <a:p>
            <a:pPr algn="ctr">
              <a:lnSpc>
                <a:spcPct val="104000"/>
              </a:lnSpc>
              <a:buNone/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OFFERER</a:t>
            </a:r>
          </a:p>
        </p:txBody>
      </p:sp>
      <p:sp>
        <p:nvSpPr>
          <p:cNvPr id="6" name="Rectángulo: esquinas redondeadas 5">
            <a:extLst>
              <a:ext uri="{FF2B5EF4-FFF2-40B4-BE49-F238E27FC236}">
                <a16:creationId xmlns:a16="http://schemas.microsoft.com/office/drawing/2014/main" id="{D24BC62F-084D-4ED3-B09E-0348DC7D326B}"/>
              </a:ext>
            </a:extLst>
          </p:cNvPr>
          <p:cNvSpPr>
            <a:spLocks noGrp="1"/>
          </p:cNvSpPr>
          <p:nvPr/>
        </p:nvSpPr>
        <p:spPr>
          <a:xfrm>
            <a:off x="4905375" y="1657350"/>
            <a:ext cx="2381250" cy="742950"/>
          </a:xfrm>
          <a:prstGeom prst="roundRect">
            <a:avLst>
              <a:gd name="adj" fmla="val 17949"/>
            </a:avLst>
          </a:prstGeom>
          <a:solidFill>
            <a:srgbClr val="E7E3E5"/>
          </a:solidFill>
          <a:ln w="19050">
            <a:solidFill>
              <a:srgbClr val="A69FA3"/>
            </a:solidFill>
            <a:prstDash val="solid"/>
          </a:ln>
        </p:spPr>
        <p:txBody>
          <a:bodyPr wrap="square" lIns="114300" tIns="76200" rIns="114300" bIns="76200" anchor="ctr">
            <a:noAutofit/>
          </a:bodyPr>
          <a:lstStyle/>
          <a:p>
            <a:pPr algn="ctr">
              <a:lnSpc>
                <a:spcPct val="104000"/>
              </a:lnSpc>
              <a:buNone/>
              <a:defRPr sz="1650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SignalR server</a:t>
            </a:r>
          </a:p>
          <a:p>
            <a:pPr algn="ctr">
              <a:lnSpc>
                <a:spcPct val="104000"/>
              </a:lnSpc>
              <a:buNone/>
              <a:defRPr sz="1650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FORWARDS ONLY</a:t>
            </a:r>
          </a:p>
        </p:txBody>
      </p:sp>
      <p:sp>
        <p:nvSpPr>
          <p:cNvPr id="7" name="Rectángulo: esquinas redondeadas 6">
            <a:extLst>
              <a:ext uri="{FF2B5EF4-FFF2-40B4-BE49-F238E27FC236}">
                <a16:creationId xmlns:a16="http://schemas.microsoft.com/office/drawing/2014/main" id="{E5992359-2E1C-4EB6-B599-2A8307C840A7}"/>
              </a:ext>
            </a:extLst>
          </p:cNvPr>
          <p:cNvSpPr>
            <a:spLocks noGrp="1"/>
          </p:cNvSpPr>
          <p:nvPr/>
        </p:nvSpPr>
        <p:spPr>
          <a:xfrm>
            <a:off x="8972550" y="1657350"/>
            <a:ext cx="2381250" cy="742950"/>
          </a:xfrm>
          <a:prstGeom prst="roundRect">
            <a:avLst>
              <a:gd name="adj" fmla="val 17949"/>
            </a:avLst>
          </a:prstGeom>
          <a:solidFill>
            <a:srgbClr val="830051"/>
          </a:solidFill>
          <a:ln w="19050">
            <a:solidFill>
              <a:srgbClr val="830051"/>
            </a:solidFill>
            <a:prstDash val="solid"/>
          </a:ln>
        </p:spPr>
        <p:txBody>
          <a:bodyPr wrap="square" lIns="114300" tIns="76200" rIns="114300" bIns="76200" anchor="ctr">
            <a:noAutofit/>
          </a:bodyPr>
          <a:lstStyle/>
          <a:p>
            <a:pPr algn="ctr">
              <a:lnSpc>
                <a:spcPct val="104000"/>
              </a:lnSpc>
              <a:buNone/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Remote browser</a:t>
            </a:r>
          </a:p>
          <a:p>
            <a:pPr algn="ctr">
              <a:lnSpc>
                <a:spcPct val="104000"/>
              </a:lnSpc>
              <a:buNone/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ANSWERER</a:t>
            </a:r>
          </a:p>
        </p:txBody>
      </p:sp>
      <p:sp>
        <p:nvSpPr>
          <p:cNvPr id="8" name="Conector recto 7">
            <a:extLst>
              <a:ext uri="{FF2B5EF4-FFF2-40B4-BE49-F238E27FC236}">
                <a16:creationId xmlns:a16="http://schemas.microsoft.com/office/drawing/2014/main" id="{99B81101-38B9-4E4D-97A2-481B30E04091}"/>
              </a:ext>
            </a:extLst>
          </p:cNvPr>
          <p:cNvSpPr>
            <a:spLocks noGrp="1"/>
          </p:cNvSpPr>
          <p:nvPr/>
        </p:nvSpPr>
        <p:spPr>
          <a:xfrm>
            <a:off x="2028825" y="2514600"/>
            <a:ext cx="0" cy="1600200"/>
          </a:xfrm>
          <a:prstGeom prst="line">
            <a:avLst/>
          </a:prstGeom>
          <a:noFill/>
          <a:ln w="9525">
            <a:solidFill>
              <a:srgbClr val="A69FA3"/>
            </a:solidFill>
            <a:prstDash val="dash"/>
          </a:ln>
        </p:spPr>
        <p:txBody>
          <a:bodyPr/>
          <a:lstStyle/>
          <a:p>
            <a:endParaRPr lang="en-GB"/>
          </a:p>
        </p:txBody>
      </p:sp>
      <p:sp>
        <p:nvSpPr>
          <p:cNvPr id="9" name="Conector recto 8">
            <a:extLst>
              <a:ext uri="{FF2B5EF4-FFF2-40B4-BE49-F238E27FC236}">
                <a16:creationId xmlns:a16="http://schemas.microsoft.com/office/drawing/2014/main" id="{2FD2DF9B-5CDC-4675-9EA0-6B8E49687783}"/>
              </a:ext>
            </a:extLst>
          </p:cNvPr>
          <p:cNvSpPr>
            <a:spLocks noGrp="1"/>
          </p:cNvSpPr>
          <p:nvPr/>
        </p:nvSpPr>
        <p:spPr>
          <a:xfrm>
            <a:off x="6096000" y="2514600"/>
            <a:ext cx="0" cy="1600200"/>
          </a:xfrm>
          <a:prstGeom prst="line">
            <a:avLst/>
          </a:prstGeom>
          <a:noFill/>
          <a:ln w="9525">
            <a:solidFill>
              <a:srgbClr val="A69FA3"/>
            </a:solidFill>
            <a:prstDash val="dash"/>
          </a:ln>
        </p:spPr>
        <p:txBody>
          <a:bodyPr/>
          <a:lstStyle/>
          <a:p>
            <a:endParaRPr lang="en-GB"/>
          </a:p>
        </p:txBody>
      </p:sp>
      <p:sp>
        <p:nvSpPr>
          <p:cNvPr id="10" name="Conector recto 9">
            <a:extLst>
              <a:ext uri="{FF2B5EF4-FFF2-40B4-BE49-F238E27FC236}">
                <a16:creationId xmlns:a16="http://schemas.microsoft.com/office/drawing/2014/main" id="{00B19558-6FE1-4F26-A42C-521220F84CA5}"/>
              </a:ext>
            </a:extLst>
          </p:cNvPr>
          <p:cNvSpPr>
            <a:spLocks noGrp="1"/>
          </p:cNvSpPr>
          <p:nvPr/>
        </p:nvSpPr>
        <p:spPr>
          <a:xfrm>
            <a:off x="10163175" y="2514600"/>
            <a:ext cx="0" cy="1600200"/>
          </a:xfrm>
          <a:prstGeom prst="line">
            <a:avLst/>
          </a:prstGeom>
          <a:noFill/>
          <a:ln w="9525">
            <a:solidFill>
              <a:srgbClr val="A69FA3"/>
            </a:solidFill>
            <a:prstDash val="dash"/>
          </a:ln>
        </p:spPr>
        <p:txBody>
          <a:bodyPr/>
          <a:lstStyle/>
          <a:p>
            <a:endParaRPr lang="en-GB"/>
          </a:p>
        </p:txBody>
      </p:sp>
      <p:sp>
        <p:nvSpPr>
          <p:cNvPr id="11" name="Flecha: a la derecha 10">
            <a:extLst>
              <a:ext uri="{FF2B5EF4-FFF2-40B4-BE49-F238E27FC236}">
                <a16:creationId xmlns:a16="http://schemas.microsoft.com/office/drawing/2014/main" id="{8777A500-A949-4990-BAEF-102CC8238EC7}"/>
              </a:ext>
            </a:extLst>
          </p:cNvPr>
          <p:cNvSpPr>
            <a:spLocks noGrp="1"/>
          </p:cNvSpPr>
          <p:nvPr/>
        </p:nvSpPr>
        <p:spPr>
          <a:xfrm>
            <a:off x="3238500" y="2724150"/>
            <a:ext cx="5715000" cy="400050"/>
          </a:xfrm>
          <a:prstGeom prst="rightArrow">
            <a:avLst/>
          </a:prstGeom>
          <a:solidFill>
            <a:srgbClr val="830051"/>
          </a:solidFill>
          <a:ln w="0">
            <a:noFill/>
          </a:ln>
        </p:spPr>
        <p:txBody>
          <a:bodyPr wrap="square" lIns="247650" tIns="19050" rIns="247650" bIns="19050" anchor="ctr">
            <a:noAutofit/>
          </a:bodyPr>
          <a:lstStyle/>
          <a:p>
            <a:pPr algn="ctr">
              <a:defRPr sz="12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SDP OFFER VIA SIGNALR</a:t>
            </a:r>
          </a:p>
        </p:txBody>
      </p:sp>
      <p:sp>
        <p:nvSpPr>
          <p:cNvPr id="12" name="Flecha: hacia la izquierda 11">
            <a:extLst>
              <a:ext uri="{FF2B5EF4-FFF2-40B4-BE49-F238E27FC236}">
                <a16:creationId xmlns:a16="http://schemas.microsoft.com/office/drawing/2014/main" id="{F824A59C-3181-4999-9E70-C0F69421CB66}"/>
              </a:ext>
            </a:extLst>
          </p:cNvPr>
          <p:cNvSpPr>
            <a:spLocks noGrp="1"/>
          </p:cNvSpPr>
          <p:nvPr/>
        </p:nvSpPr>
        <p:spPr>
          <a:xfrm>
            <a:off x="3238500" y="3429000"/>
            <a:ext cx="5715000" cy="400050"/>
          </a:xfrm>
          <a:prstGeom prst="leftArrow">
            <a:avLst/>
          </a:prstGeom>
          <a:solidFill>
            <a:srgbClr val="171417"/>
          </a:solidFill>
          <a:ln w="0">
            <a:noFill/>
          </a:ln>
        </p:spPr>
        <p:txBody>
          <a:bodyPr wrap="square" lIns="247650" tIns="19050" rIns="247650" bIns="19050" anchor="ctr">
            <a:noAutofit/>
          </a:bodyPr>
          <a:lstStyle/>
          <a:p>
            <a:pPr algn="ctr">
              <a:defRPr sz="12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SDP ANSWER VIA SIGNALR</a:t>
            </a:r>
          </a:p>
        </p:txBody>
      </p:sp>
      <p:sp>
        <p:nvSpPr>
          <p:cNvPr id="13" name="Rectángulo: esquinas redondeadas 12">
            <a:extLst>
              <a:ext uri="{FF2B5EF4-FFF2-40B4-BE49-F238E27FC236}">
                <a16:creationId xmlns:a16="http://schemas.microsoft.com/office/drawing/2014/main" id="{0A614E90-0E36-4F31-A993-405F31762C1A}"/>
              </a:ext>
            </a:extLst>
          </p:cNvPr>
          <p:cNvSpPr>
            <a:spLocks noGrp="1"/>
          </p:cNvSpPr>
          <p:nvPr/>
        </p:nvSpPr>
        <p:spPr>
          <a:xfrm>
            <a:off x="1619250" y="4114800"/>
            <a:ext cx="8953500" cy="1866900"/>
          </a:xfrm>
          <a:prstGeom prst="roundRect">
            <a:avLst>
              <a:gd name="adj" fmla="val 10345"/>
            </a:avLst>
          </a:prstGeom>
          <a:solidFill>
            <a:srgbClr val="F5EDF2"/>
          </a:solidFill>
          <a:ln w="0"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14" name="Rectángulo 13">
            <a:extLst>
              <a:ext uri="{FF2B5EF4-FFF2-40B4-BE49-F238E27FC236}">
                <a16:creationId xmlns:a16="http://schemas.microsoft.com/office/drawing/2014/main" id="{AAB6AD4F-FC80-4B58-A910-140CECEF067B}"/>
              </a:ext>
            </a:extLst>
          </p:cNvPr>
          <p:cNvSpPr>
            <a:spLocks noGrp="1"/>
          </p:cNvSpPr>
          <p:nvPr/>
        </p:nvSpPr>
        <p:spPr>
          <a:xfrm>
            <a:off x="1809750" y="4419600"/>
            <a:ext cx="3429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>
              <a:lnSpc>
                <a:spcPct val="104000"/>
              </a:lnSpc>
              <a:buNone/>
              <a:defRPr sz="1350" b="1">
                <a:solidFill>
                  <a:srgbClr val="830051"/>
                </a:solidFill>
                <a:latin typeface="Arial"/>
                <a:ea typeface="Arial"/>
                <a:cs typeface="Arial"/>
              </a:defRPr>
            </a:pPr>
            <a:r>
              <a:rPr lang="en-GB" sz="1050" b="1">
                <a:solidFill>
                  <a:srgbClr val="830051"/>
                </a:solidFill>
                <a:latin typeface="Arial" panose="020B0604020202020204" pitchFamily="34" charset="0"/>
                <a:ea typeface="Arial"/>
                <a:cs typeface="Arial"/>
              </a:rPr>
              <a:t>01</a:t>
            </a:r>
            <a:endParaRPr sz="1050" b="1">
              <a:solidFill>
                <a:srgbClr val="830051"/>
              </a:solidFill>
              <a:latin typeface="Arial" panose="020B0604020202020204" pitchFamily="34" charset="0"/>
              <a:ea typeface="Arial"/>
              <a:cs typeface="Arial"/>
            </a:endParaRPr>
          </a:p>
        </p:txBody>
      </p:sp>
      <p:sp>
        <p:nvSpPr>
          <p:cNvPr id="15" name="Rectángulo 14">
            <a:extLst>
              <a:ext uri="{FF2B5EF4-FFF2-40B4-BE49-F238E27FC236}">
                <a16:creationId xmlns:a16="http://schemas.microsoft.com/office/drawing/2014/main" id="{3CA416B2-5235-4530-95E4-583256C9CFEA}"/>
              </a:ext>
            </a:extLst>
          </p:cNvPr>
          <p:cNvSpPr>
            <a:spLocks noGrp="1"/>
          </p:cNvSpPr>
          <p:nvPr/>
        </p:nvSpPr>
        <p:spPr>
          <a:xfrm>
            <a:off x="2209800" y="4419600"/>
            <a:ext cx="18542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>
              <a:lnSpc>
                <a:spcPct val="104000"/>
              </a:lnSpc>
              <a:buNone/>
              <a:defRPr sz="142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lang="en-GB" sz="1225" b="1">
                <a:solidFill>
                  <a:srgbClr val="171417"/>
                </a:solidFill>
                <a:latin typeface="Arial" panose="020B0604020202020204" pitchFamily="34" charset="0"/>
                <a:ea typeface="Arial"/>
                <a:cs typeface="Arial"/>
              </a:rPr>
              <a:t>media + direction</a:t>
            </a:r>
            <a:endParaRPr sz="1225" b="1">
              <a:solidFill>
                <a:srgbClr val="171417"/>
              </a:solidFill>
              <a:latin typeface="Arial" panose="020B0604020202020204" pitchFamily="34" charset="0"/>
              <a:ea typeface="Arial"/>
              <a:cs typeface="Arial"/>
            </a:endParaRPr>
          </a:p>
        </p:txBody>
      </p:sp>
      <p:sp>
        <p:nvSpPr>
          <p:cNvPr id="16" name="Rectángulo 15">
            <a:extLst>
              <a:ext uri="{FF2B5EF4-FFF2-40B4-BE49-F238E27FC236}">
                <a16:creationId xmlns:a16="http://schemas.microsoft.com/office/drawing/2014/main" id="{DDBE6BA0-E9F8-44FD-9764-A37A7C5652BC}"/>
              </a:ext>
            </a:extLst>
          </p:cNvPr>
          <p:cNvSpPr>
            <a:spLocks noGrp="1"/>
          </p:cNvSpPr>
          <p:nvPr/>
        </p:nvSpPr>
        <p:spPr>
          <a:xfrm>
            <a:off x="1809750" y="4737100"/>
            <a:ext cx="3429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>
              <a:lnSpc>
                <a:spcPct val="104000"/>
              </a:lnSpc>
              <a:buNone/>
              <a:defRPr sz="1350" b="1">
                <a:solidFill>
                  <a:srgbClr val="830051"/>
                </a:solidFill>
                <a:latin typeface="Arial"/>
                <a:ea typeface="Arial"/>
                <a:cs typeface="Arial"/>
              </a:defRPr>
            </a:pPr>
            <a:r>
              <a:rPr lang="en-GB" sz="1050" b="1">
                <a:solidFill>
                  <a:srgbClr val="830051"/>
                </a:solidFill>
                <a:latin typeface="Arial" panose="020B0604020202020204" pitchFamily="34" charset="0"/>
                <a:ea typeface="Arial"/>
                <a:cs typeface="Arial"/>
              </a:rPr>
              <a:t>02</a:t>
            </a:r>
            <a:endParaRPr sz="1050" b="1">
              <a:solidFill>
                <a:srgbClr val="830051"/>
              </a:solidFill>
              <a:latin typeface="Arial" panose="020B0604020202020204" pitchFamily="34" charset="0"/>
              <a:ea typeface="Arial"/>
              <a:cs typeface="Arial"/>
            </a:endParaRPr>
          </a:p>
        </p:txBody>
      </p:sp>
      <p:sp>
        <p:nvSpPr>
          <p:cNvPr id="17" name="Rectángulo 16">
            <a:extLst>
              <a:ext uri="{FF2B5EF4-FFF2-40B4-BE49-F238E27FC236}">
                <a16:creationId xmlns:a16="http://schemas.microsoft.com/office/drawing/2014/main" id="{3E710C6D-8B26-420D-9023-CCF7B36BE36C}"/>
              </a:ext>
            </a:extLst>
          </p:cNvPr>
          <p:cNvSpPr>
            <a:spLocks noGrp="1"/>
          </p:cNvSpPr>
          <p:nvPr/>
        </p:nvSpPr>
        <p:spPr>
          <a:xfrm>
            <a:off x="2209800" y="4737100"/>
            <a:ext cx="18542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>
              <a:lnSpc>
                <a:spcPct val="104000"/>
              </a:lnSpc>
              <a:buNone/>
              <a:defRPr sz="142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lang="en-GB" sz="1225" b="1">
                <a:solidFill>
                  <a:srgbClr val="171417"/>
                </a:solidFill>
                <a:latin typeface="Arial" panose="020B0604020202020204" pitchFamily="34" charset="0"/>
                <a:ea typeface="Arial"/>
                <a:cs typeface="Arial"/>
              </a:rPr>
              <a:t>codecs + RTP</a:t>
            </a:r>
            <a:endParaRPr sz="1225" b="1">
              <a:solidFill>
                <a:srgbClr val="171417"/>
              </a:solidFill>
              <a:latin typeface="Arial" panose="020B0604020202020204" pitchFamily="34" charset="0"/>
              <a:ea typeface="Arial"/>
              <a:cs typeface="Arial"/>
            </a:endParaRPr>
          </a:p>
        </p:txBody>
      </p:sp>
      <p:sp>
        <p:nvSpPr>
          <p:cNvPr id="18" name="Rectángulo 17">
            <a:extLst>
              <a:ext uri="{FF2B5EF4-FFF2-40B4-BE49-F238E27FC236}">
                <a16:creationId xmlns:a16="http://schemas.microsoft.com/office/drawing/2014/main" id="{B94BC48E-A676-4C4D-BC0B-49B1AE984A1E}"/>
              </a:ext>
            </a:extLst>
          </p:cNvPr>
          <p:cNvSpPr>
            <a:spLocks noGrp="1"/>
          </p:cNvSpPr>
          <p:nvPr/>
        </p:nvSpPr>
        <p:spPr>
          <a:xfrm>
            <a:off x="1809750" y="5054600"/>
            <a:ext cx="3429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>
              <a:lnSpc>
                <a:spcPct val="104000"/>
              </a:lnSpc>
              <a:buNone/>
              <a:defRPr sz="1350" b="1">
                <a:solidFill>
                  <a:srgbClr val="830051"/>
                </a:solidFill>
                <a:latin typeface="Arial"/>
                <a:ea typeface="Arial"/>
                <a:cs typeface="Arial"/>
              </a:defRPr>
            </a:pPr>
            <a:r>
              <a:rPr lang="en-GB" sz="1050" b="1">
                <a:solidFill>
                  <a:srgbClr val="830051"/>
                </a:solidFill>
                <a:latin typeface="Arial" panose="020B0604020202020204" pitchFamily="34" charset="0"/>
                <a:ea typeface="Arial"/>
                <a:cs typeface="Arial"/>
              </a:rPr>
              <a:t>03</a:t>
            </a:r>
            <a:endParaRPr sz="1050" b="1">
              <a:solidFill>
                <a:srgbClr val="830051"/>
              </a:solidFill>
              <a:latin typeface="Arial" panose="020B0604020202020204" pitchFamily="34" charset="0"/>
              <a:ea typeface="Arial"/>
              <a:cs typeface="Arial"/>
            </a:endParaRPr>
          </a:p>
        </p:txBody>
      </p:sp>
      <p:sp>
        <p:nvSpPr>
          <p:cNvPr id="19" name="Rectángulo 18">
            <a:extLst>
              <a:ext uri="{FF2B5EF4-FFF2-40B4-BE49-F238E27FC236}">
                <a16:creationId xmlns:a16="http://schemas.microsoft.com/office/drawing/2014/main" id="{BA7EFF33-7654-4BEA-9BC2-E464ADC217A2}"/>
              </a:ext>
            </a:extLst>
          </p:cNvPr>
          <p:cNvSpPr>
            <a:spLocks noGrp="1"/>
          </p:cNvSpPr>
          <p:nvPr/>
        </p:nvSpPr>
        <p:spPr>
          <a:xfrm>
            <a:off x="2209800" y="5054600"/>
            <a:ext cx="18542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>
              <a:lnSpc>
                <a:spcPct val="104000"/>
              </a:lnSpc>
              <a:buNone/>
              <a:defRPr sz="142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lang="en-GB" sz="1225" b="1">
                <a:solidFill>
                  <a:srgbClr val="171417"/>
                </a:solidFill>
                <a:latin typeface="Arial" panose="020B0604020202020204" pitchFamily="34" charset="0"/>
                <a:ea typeface="Arial"/>
                <a:cs typeface="Arial"/>
              </a:rPr>
              <a:t>ICE credentials</a:t>
            </a:r>
            <a:endParaRPr sz="1225" b="1">
              <a:solidFill>
                <a:srgbClr val="171417"/>
              </a:solidFill>
              <a:latin typeface="Arial" panose="020B0604020202020204" pitchFamily="34" charset="0"/>
              <a:ea typeface="Arial"/>
              <a:cs typeface="Arial"/>
            </a:endParaRPr>
          </a:p>
        </p:txBody>
      </p:sp>
      <p:sp>
        <p:nvSpPr>
          <p:cNvPr id="20" name="Rectángulo 19">
            <a:extLst>
              <a:ext uri="{FF2B5EF4-FFF2-40B4-BE49-F238E27FC236}">
                <a16:creationId xmlns:a16="http://schemas.microsoft.com/office/drawing/2014/main" id="{43472200-A010-4FB1-B0CF-F0194B2E2E60}"/>
              </a:ext>
            </a:extLst>
          </p:cNvPr>
          <p:cNvSpPr>
            <a:spLocks noGrp="1"/>
          </p:cNvSpPr>
          <p:nvPr/>
        </p:nvSpPr>
        <p:spPr>
          <a:xfrm>
            <a:off x="1809750" y="5372100"/>
            <a:ext cx="3429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>
              <a:lnSpc>
                <a:spcPct val="104000"/>
              </a:lnSpc>
              <a:buNone/>
              <a:defRPr sz="1350" b="1">
                <a:solidFill>
                  <a:srgbClr val="830051"/>
                </a:solidFill>
                <a:latin typeface="Arial"/>
                <a:ea typeface="Arial"/>
                <a:cs typeface="Arial"/>
              </a:defRPr>
            </a:pPr>
            <a:r>
              <a:rPr lang="en-GB" sz="1050" b="1">
                <a:solidFill>
                  <a:srgbClr val="830051"/>
                </a:solidFill>
                <a:latin typeface="Arial" panose="020B0604020202020204" pitchFamily="34" charset="0"/>
                <a:ea typeface="Arial"/>
                <a:cs typeface="Arial"/>
              </a:rPr>
              <a:t>04</a:t>
            </a:r>
            <a:endParaRPr sz="1050" b="1">
              <a:solidFill>
                <a:srgbClr val="830051"/>
              </a:solidFill>
              <a:latin typeface="Arial" panose="020B0604020202020204" pitchFamily="34" charset="0"/>
              <a:ea typeface="Arial"/>
              <a:cs typeface="Arial"/>
            </a:endParaRPr>
          </a:p>
        </p:txBody>
      </p:sp>
      <p:sp>
        <p:nvSpPr>
          <p:cNvPr id="21" name="Rectángulo 20">
            <a:extLst>
              <a:ext uri="{FF2B5EF4-FFF2-40B4-BE49-F238E27FC236}">
                <a16:creationId xmlns:a16="http://schemas.microsoft.com/office/drawing/2014/main" id="{3821509F-D3E1-4135-BD37-E28F0D5B0E3A}"/>
              </a:ext>
            </a:extLst>
          </p:cNvPr>
          <p:cNvSpPr>
            <a:spLocks noGrp="1"/>
          </p:cNvSpPr>
          <p:nvPr/>
        </p:nvSpPr>
        <p:spPr>
          <a:xfrm>
            <a:off x="2209800" y="5372100"/>
            <a:ext cx="18542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>
              <a:lnSpc>
                <a:spcPct val="104000"/>
              </a:lnSpc>
              <a:buNone/>
              <a:defRPr sz="142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lang="en-GB" sz="1225" b="1">
                <a:solidFill>
                  <a:srgbClr val="171417"/>
                </a:solidFill>
                <a:latin typeface="Arial" panose="020B0604020202020204" pitchFamily="34" charset="0"/>
                <a:ea typeface="Arial"/>
                <a:cs typeface="Arial"/>
              </a:rPr>
              <a:t>DTLS fingerprint</a:t>
            </a:r>
            <a:endParaRPr sz="1225" b="1">
              <a:solidFill>
                <a:srgbClr val="171417"/>
              </a:solidFill>
              <a:latin typeface="Arial" panose="020B0604020202020204" pitchFamily="34" charset="0"/>
              <a:ea typeface="Arial"/>
              <a:cs typeface="Arial"/>
            </a:endParaRPr>
          </a:p>
        </p:txBody>
      </p:sp>
      <p:sp>
        <p:nvSpPr>
          <p:cNvPr id="22" name="Rectángulo 21">
            <a:extLst>
              <a:ext uri="{FF2B5EF4-FFF2-40B4-BE49-F238E27FC236}">
                <a16:creationId xmlns:a16="http://schemas.microsoft.com/office/drawing/2014/main" id="{D772869B-5A9E-4D5F-AF7D-40B9D81FEB7B}"/>
              </a:ext>
            </a:extLst>
          </p:cNvPr>
          <p:cNvSpPr>
            <a:spLocks noGrp="1"/>
          </p:cNvSpPr>
          <p:nvPr/>
        </p:nvSpPr>
        <p:spPr>
          <a:xfrm>
            <a:off x="1600200" y="6076950"/>
            <a:ext cx="8991600" cy="273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4000"/>
              </a:lnSpc>
              <a:buNone/>
              <a:defRPr sz="1650" b="1">
                <a:solidFill>
                  <a:srgbClr val="510034"/>
                </a:solidFill>
                <a:latin typeface="Arial"/>
                <a:ea typeface="Arial"/>
                <a:cs typeface="Arial"/>
              </a:defRPr>
            </a:pPr>
            <a:r>
              <a:rPr lang="en-GB" sz="1425" b="1">
                <a:solidFill>
                  <a:srgbClr val="510034"/>
                </a:solidFill>
                <a:latin typeface="Arial" panose="020B0604020202020204" pitchFamily="34" charset="0"/>
                <a:ea typeface="Arial"/>
                <a:cs typeface="Arial"/>
              </a:rPr>
              <a:t>SignalR forwards this SDP text unchanged. WebRTC peers interpret it.</a:t>
            </a:r>
            <a:endParaRPr sz="1425" b="1">
              <a:solidFill>
                <a:srgbClr val="510034"/>
              </a:solidFill>
              <a:latin typeface="Arial" panose="020B0604020202020204" pitchFamily="34" charset="0"/>
              <a:ea typeface="Arial"/>
              <a:cs typeface="Arial"/>
            </a:endParaRPr>
          </a:p>
        </p:txBody>
      </p:sp>
      <p:sp>
        <p:nvSpPr>
          <p:cNvPr id="24" name="SDP content key">
            <a:extLst>
              <a:ext uri="{FF2B5EF4-FFF2-40B4-BE49-F238E27FC236}">
                <a16:creationId xmlns:a16="http://schemas.microsoft.com/office/drawing/2014/main" id="{E8281AD2-C29D-6554-0386-8FC168F5740A}"/>
              </a:ext>
            </a:extLst>
          </p:cNvPr>
          <p:cNvSpPr txBox="1"/>
          <p:nvPr/>
        </p:nvSpPr>
        <p:spPr>
          <a:xfrm>
            <a:off x="1809750" y="4210050"/>
            <a:ext cx="2254250" cy="177800"/>
          </a:xfrm>
          <a:prstGeom prst="rect">
            <a:avLst/>
          </a:prstGeom>
          <a:noFill/>
        </p:spPr>
        <p:txBody>
          <a:bodyPr vert="horz" wrap="none" lIns="0" tIns="0" rIns="0" bIns="0" rtlCol="0">
            <a:noAutofit/>
          </a:bodyPr>
          <a:lstStyle/>
          <a:p>
            <a:r>
              <a:rPr lang="en-GB" sz="975" b="1">
                <a:solidFill>
                  <a:srgbClr val="830051"/>
                </a:solidFill>
                <a:latin typeface="Arial" panose="020B0604020202020204" pitchFamily="34" charset="0"/>
              </a:rPr>
              <a:t>THE LINES DESCRIBE</a:t>
            </a:r>
          </a:p>
        </p:txBody>
      </p:sp>
      <p:sp>
        <p:nvSpPr>
          <p:cNvPr id="25" name="Illustrative SDP offer background">
            <a:extLst>
              <a:ext uri="{FF2B5EF4-FFF2-40B4-BE49-F238E27FC236}">
                <a16:creationId xmlns:a16="http://schemas.microsoft.com/office/drawing/2014/main" id="{8AE51041-7525-F63B-3808-6D739CACA0D1}"/>
              </a:ext>
            </a:extLst>
          </p:cNvPr>
          <p:cNvSpPr/>
          <p:nvPr/>
        </p:nvSpPr>
        <p:spPr>
          <a:xfrm>
            <a:off x="4210050" y="4229100"/>
            <a:ext cx="6191250" cy="1600200"/>
          </a:xfrm>
          <a:prstGeom prst="roundRect">
            <a:avLst/>
          </a:prstGeom>
          <a:solidFill>
            <a:srgbClr val="171417"/>
          </a:solidFill>
          <a:ln w="19050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6" name="Illustrative SDP offer heading">
            <a:extLst>
              <a:ext uri="{FF2B5EF4-FFF2-40B4-BE49-F238E27FC236}">
                <a16:creationId xmlns:a16="http://schemas.microsoft.com/office/drawing/2014/main" id="{A7F383E4-4138-8193-1F9E-ADEF518FEA2C}"/>
              </a:ext>
            </a:extLst>
          </p:cNvPr>
          <p:cNvSpPr txBox="1"/>
          <p:nvPr/>
        </p:nvSpPr>
        <p:spPr>
          <a:xfrm>
            <a:off x="4419600" y="4337050"/>
            <a:ext cx="5765800" cy="177800"/>
          </a:xfrm>
          <a:prstGeom prst="rect">
            <a:avLst/>
          </a:prstGeom>
          <a:noFill/>
        </p:spPr>
        <p:txBody>
          <a:bodyPr vert="horz" wrap="none" lIns="0" tIns="0" rIns="0" bIns="0" rtlCol="0">
            <a:noAutofit/>
          </a:bodyPr>
          <a:lstStyle/>
          <a:p>
            <a:r>
              <a:rPr lang="en-GB" sz="975" b="1">
                <a:solidFill>
                  <a:srgbClr val="E8CDDE"/>
                </a:solidFill>
                <a:latin typeface="Arial" panose="020B0604020202020204" pitchFamily="34" charset="0"/>
              </a:rPr>
              <a:t>ILLUSTRATIVE SDP OFFER (ABBREVIATED)</a:t>
            </a:r>
          </a:p>
        </p:txBody>
      </p:sp>
      <p:sp>
        <p:nvSpPr>
          <p:cNvPr id="27" name="Illustrative SDP offer lines">
            <a:extLst>
              <a:ext uri="{FF2B5EF4-FFF2-40B4-BE49-F238E27FC236}">
                <a16:creationId xmlns:a16="http://schemas.microsoft.com/office/drawing/2014/main" id="{8AC11FA4-750C-F7EE-12A7-81A86CB8EE8E}"/>
              </a:ext>
            </a:extLst>
          </p:cNvPr>
          <p:cNvSpPr txBox="1"/>
          <p:nvPr/>
        </p:nvSpPr>
        <p:spPr>
          <a:xfrm>
            <a:off x="4419600" y="4533900"/>
            <a:ext cx="5765800" cy="1193800"/>
          </a:xfrm>
          <a:prstGeom prst="rect">
            <a:avLst/>
          </a:prstGeom>
          <a:noFill/>
        </p:spPr>
        <p:txBody>
          <a:bodyPr vert="horz" wrap="none" lIns="0" tIns="0" rIns="0" bIns="0" rtlCol="0" anchor="t">
            <a:noAutofit/>
          </a:bodyPr>
          <a:lstStyle/>
          <a:p>
            <a:pPr>
              <a:lnSpc>
                <a:spcPct val="90000"/>
              </a:lnSpc>
            </a:pPr>
            <a:r>
              <a:rPr lang="en-GB" sz="950">
                <a:solidFill>
                  <a:srgbClr val="FFFFFF"/>
                </a:solidFill>
                <a:latin typeface="Consolas" panose="020B0609020204030204" pitchFamily="49" charset="0"/>
              </a:rPr>
              <a:t>v=0</a:t>
            </a:r>
          </a:p>
          <a:p>
            <a:pPr>
              <a:lnSpc>
                <a:spcPct val="90000"/>
              </a:lnSpc>
            </a:pPr>
            <a:r>
              <a:rPr lang="en-GB" sz="950">
                <a:solidFill>
                  <a:srgbClr val="FFFFFF"/>
                </a:solidFill>
                <a:latin typeface="Consolas" panose="020B0609020204030204" pitchFamily="49" charset="0"/>
              </a:rPr>
              <a:t>m=video 9 UDP/TLS/RTP/SAVPF 101</a:t>
            </a:r>
          </a:p>
          <a:p>
            <a:pPr>
              <a:lnSpc>
                <a:spcPct val="90000"/>
              </a:lnSpc>
            </a:pPr>
            <a:r>
              <a:rPr lang="en-GB" sz="950">
                <a:solidFill>
                  <a:srgbClr val="FFFFFF"/>
                </a:solidFill>
                <a:latin typeface="Consolas" panose="020B0609020204030204" pitchFamily="49" charset="0"/>
              </a:rPr>
              <a:t>a=sendonly</a:t>
            </a:r>
          </a:p>
          <a:p>
            <a:pPr>
              <a:lnSpc>
                <a:spcPct val="90000"/>
              </a:lnSpc>
            </a:pPr>
            <a:r>
              <a:rPr lang="en-GB" sz="950">
                <a:solidFill>
                  <a:srgbClr val="FFFFFF"/>
                </a:solidFill>
                <a:latin typeface="Consolas" panose="020B0609020204030204" pitchFamily="49" charset="0"/>
              </a:rPr>
              <a:t>a=rtpmap:101 H264/90000</a:t>
            </a:r>
          </a:p>
          <a:p>
            <a:pPr>
              <a:lnSpc>
                <a:spcPct val="90000"/>
              </a:lnSpc>
            </a:pPr>
            <a:r>
              <a:rPr lang="en-GB" sz="950">
                <a:solidFill>
                  <a:srgbClr val="FFFFFF"/>
                </a:solidFill>
                <a:latin typeface="Consolas" panose="020B0609020204030204" pitchFamily="49" charset="0"/>
              </a:rPr>
              <a:t>a=fmtp:101 packetization-mode=1;profile-level-id=42e01f</a:t>
            </a:r>
          </a:p>
          <a:p>
            <a:pPr>
              <a:lnSpc>
                <a:spcPct val="90000"/>
              </a:lnSpc>
            </a:pPr>
            <a:r>
              <a:rPr lang="en-GB" sz="950">
                <a:solidFill>
                  <a:srgbClr val="FFFFFF"/>
                </a:solidFill>
                <a:latin typeface="Consolas" panose="020B0609020204030204" pitchFamily="49" charset="0"/>
              </a:rPr>
              <a:t>a=ice-ufrag:TpaA</a:t>
            </a:r>
          </a:p>
          <a:p>
            <a:pPr>
              <a:lnSpc>
                <a:spcPct val="90000"/>
              </a:lnSpc>
            </a:pPr>
            <a:r>
              <a:rPr lang="en-GB" sz="950">
                <a:solidFill>
                  <a:srgbClr val="FFFFFF"/>
                </a:solidFill>
                <a:latin typeface="Consolas" panose="020B0609020204030204" pitchFamily="49" charset="0"/>
              </a:rPr>
              <a:t>a=ice-pwd:t2Ouhc67y8JcCaYZxUUTgKw/</a:t>
            </a:r>
          </a:p>
          <a:p>
            <a:pPr>
              <a:lnSpc>
                <a:spcPct val="90000"/>
              </a:lnSpc>
            </a:pPr>
            <a:r>
              <a:rPr lang="en-GB" sz="950">
                <a:solidFill>
                  <a:srgbClr val="FFFFFF"/>
                </a:solidFill>
                <a:latin typeface="Consolas" panose="020B0609020204030204" pitchFamily="49" charset="0"/>
              </a:rPr>
              <a:t>a=fingerprint:sha-256 A2:F3:A5:…:CE:4D</a:t>
            </a:r>
          </a:p>
          <a:p>
            <a:pPr>
              <a:lnSpc>
                <a:spcPct val="90000"/>
              </a:lnSpc>
            </a:pPr>
            <a:r>
              <a:rPr lang="en-GB" sz="950">
                <a:solidFill>
                  <a:srgbClr val="FFFFFF"/>
                </a:solidFill>
                <a:latin typeface="Consolas" panose="020B0609020204030204" pitchFamily="49" charset="0"/>
              </a:rPr>
              <a:t>a=setup:actpass</a:t>
            </a:r>
          </a:p>
        </p:txBody>
      </p:sp>
    </p:spTree>
    <p:extLst>
      <p:ext uri="{BB962C8B-B14F-4D97-AF65-F5344CB8AC3E}">
        <p14:creationId xmlns:p14="http://schemas.microsoft.com/office/powerpoint/2010/main" val="54209727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9F8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Rectángulo 28">
            <a:extLst>
              <a:ext uri="{FF2B5EF4-FFF2-40B4-BE49-F238E27FC236}">
                <a16:creationId xmlns:a16="http://schemas.microsoft.com/office/drawing/2014/main" id="{ADBDDA38-60CC-4674-BDCB-BBAE198471B6}"/>
              </a:ext>
            </a:extLst>
          </p:cNvPr>
          <p:cNvSpPr>
            <a:spLocks noGrp="1"/>
          </p:cNvSpPr>
          <p:nvPr/>
        </p:nvSpPr>
        <p:spPr>
          <a:xfrm>
            <a:off x="533400" y="266700"/>
            <a:ext cx="74295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200" b="1">
                <a:solidFill>
                  <a:srgbClr val="830051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830051"/>
                </a:solidFill>
                <a:latin typeface="Arial"/>
                <a:ea typeface="Arial"/>
                <a:cs typeface="Arial"/>
              </a:rPr>
              <a:t>THEORY</a:t>
            </a:r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8CCC3FAF-CD7E-4C2D-A68B-B26AFF95DC6D}"/>
              </a:ext>
            </a:extLst>
          </p:cNvPr>
          <p:cNvSpPr>
            <a:spLocks noGrp="1"/>
          </p:cNvSpPr>
          <p:nvPr/>
        </p:nvSpPr>
        <p:spPr>
          <a:xfrm>
            <a:off x="533400" y="590550"/>
            <a:ext cx="10477500" cy="552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4000"/>
              </a:lnSpc>
              <a:buNone/>
              <a:defRPr sz="337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ICE Candidates After SDP</a:t>
            </a:r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ADCBC067-9811-4F96-B066-82CC54781C54}"/>
              </a:ext>
            </a:extLst>
          </p:cNvPr>
          <p:cNvSpPr>
            <a:spLocks noGrp="1"/>
          </p:cNvSpPr>
          <p:nvPr/>
        </p:nvSpPr>
        <p:spPr>
          <a:xfrm>
            <a:off x="533400" y="1257300"/>
            <a:ext cx="11125200" cy="28575"/>
          </a:xfrm>
          <a:prstGeom prst="rect">
            <a:avLst/>
          </a:prstGeom>
          <a:solidFill>
            <a:srgbClr val="830051"/>
          </a:solidFill>
          <a:ln w="0"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1C3B9DBC-6A8F-4E78-B764-08EE1728ACB8}"/>
              </a:ext>
            </a:extLst>
          </p:cNvPr>
          <p:cNvSpPr>
            <a:spLocks noGrp="1"/>
          </p:cNvSpPr>
          <p:nvPr/>
        </p:nvSpPr>
        <p:spPr>
          <a:xfrm>
            <a:off x="10858500" y="6457950"/>
            <a:ext cx="8001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4000"/>
              </a:lnSpc>
              <a:buNone/>
              <a:defRPr sz="1125" b="1">
                <a:solidFill>
                  <a:srgbClr val="6F686D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6F686D"/>
                </a:solidFill>
                <a:latin typeface="Arial"/>
                <a:ea typeface="Arial"/>
                <a:cs typeface="Arial"/>
              </a:rPr>
              <a:t>09</a:t>
            </a:r>
          </a:p>
        </p:txBody>
      </p:sp>
      <p:sp>
        <p:nvSpPr>
          <p:cNvPr id="5" name="Rectángulo: esquinas redondeadas 4">
            <a:extLst>
              <a:ext uri="{FF2B5EF4-FFF2-40B4-BE49-F238E27FC236}">
                <a16:creationId xmlns:a16="http://schemas.microsoft.com/office/drawing/2014/main" id="{E2DE8B5C-89E6-4A52-8EE5-DB7A96328A5E}"/>
              </a:ext>
            </a:extLst>
          </p:cNvPr>
          <p:cNvSpPr>
            <a:spLocks noGrp="1"/>
          </p:cNvSpPr>
          <p:nvPr/>
        </p:nvSpPr>
        <p:spPr>
          <a:xfrm>
            <a:off x="1400175" y="1657350"/>
            <a:ext cx="438150" cy="438150"/>
          </a:xfrm>
          <a:prstGeom prst="roundRect">
            <a:avLst>
              <a:gd name="adj" fmla="val 50000"/>
            </a:avLst>
          </a:prstGeom>
          <a:solidFill>
            <a:srgbClr val="830051"/>
          </a:solidFill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4000"/>
              </a:lnSpc>
              <a:buNone/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6" name="Rectángulo: esquinas redondeadas 5">
            <a:extLst>
              <a:ext uri="{FF2B5EF4-FFF2-40B4-BE49-F238E27FC236}">
                <a16:creationId xmlns:a16="http://schemas.microsoft.com/office/drawing/2014/main" id="{F334A0F3-C2F6-4080-BC61-7FB84B47731C}"/>
              </a:ext>
            </a:extLst>
          </p:cNvPr>
          <p:cNvSpPr>
            <a:spLocks noGrp="1"/>
          </p:cNvSpPr>
          <p:nvPr/>
        </p:nvSpPr>
        <p:spPr>
          <a:xfrm>
            <a:off x="666750" y="2209800"/>
            <a:ext cx="1905000" cy="876300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9050">
            <a:solidFill>
              <a:srgbClr val="EAD8E3"/>
            </a:solidFill>
            <a:prstDash val="solid"/>
          </a:ln>
        </p:spPr>
        <p:txBody>
          <a:bodyPr wrap="square" lIns="114300" tIns="76200" rIns="114300" bIns="76200" anchor="ctr">
            <a:noAutofit/>
          </a:bodyPr>
          <a:lstStyle/>
          <a:p>
            <a:pPr algn="ctr">
              <a:lnSpc>
                <a:spcPct val="104000"/>
              </a:lnSpc>
              <a:buNone/>
              <a:defRPr sz="157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Initial SDP</a:t>
            </a:r>
          </a:p>
          <a:p>
            <a:pPr algn="ctr">
              <a:lnSpc>
                <a:spcPct val="104000"/>
              </a:lnSpc>
              <a:buNone/>
              <a:defRPr sz="157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offer / answer</a:t>
            </a:r>
          </a:p>
        </p:txBody>
      </p:sp>
      <p:sp>
        <p:nvSpPr>
          <p:cNvPr id="7" name="Rectángulo: esquinas redondeadas 6">
            <a:extLst>
              <a:ext uri="{FF2B5EF4-FFF2-40B4-BE49-F238E27FC236}">
                <a16:creationId xmlns:a16="http://schemas.microsoft.com/office/drawing/2014/main" id="{A516A700-C677-4429-80F8-BC66352C8768}"/>
              </a:ext>
            </a:extLst>
          </p:cNvPr>
          <p:cNvSpPr>
            <a:spLocks noGrp="1"/>
          </p:cNvSpPr>
          <p:nvPr/>
        </p:nvSpPr>
        <p:spPr>
          <a:xfrm>
            <a:off x="3648075" y="1657350"/>
            <a:ext cx="438150" cy="438150"/>
          </a:xfrm>
          <a:prstGeom prst="roundRect">
            <a:avLst>
              <a:gd name="adj" fmla="val 50000"/>
            </a:avLst>
          </a:prstGeom>
          <a:solidFill>
            <a:srgbClr val="830051"/>
          </a:solidFill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4000"/>
              </a:lnSpc>
              <a:buNone/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8" name="Rectángulo: esquinas redondeadas 7">
            <a:extLst>
              <a:ext uri="{FF2B5EF4-FFF2-40B4-BE49-F238E27FC236}">
                <a16:creationId xmlns:a16="http://schemas.microsoft.com/office/drawing/2014/main" id="{901AE3B4-9934-44EC-91BD-3731B6A3C257}"/>
              </a:ext>
            </a:extLst>
          </p:cNvPr>
          <p:cNvSpPr>
            <a:spLocks noGrp="1"/>
          </p:cNvSpPr>
          <p:nvPr/>
        </p:nvSpPr>
        <p:spPr>
          <a:xfrm>
            <a:off x="2914650" y="2209800"/>
            <a:ext cx="1905000" cy="876300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9050">
            <a:solidFill>
              <a:srgbClr val="EAD8E3"/>
            </a:solidFill>
            <a:prstDash val="solid"/>
          </a:ln>
        </p:spPr>
        <p:txBody>
          <a:bodyPr wrap="square" lIns="114300" tIns="76200" rIns="114300" bIns="76200" anchor="ctr">
            <a:noAutofit/>
          </a:bodyPr>
          <a:lstStyle/>
          <a:p>
            <a:pPr algn="ctr">
              <a:lnSpc>
                <a:spcPct val="104000"/>
              </a:lnSpc>
              <a:buNone/>
              <a:defRPr sz="157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Candidates</a:t>
            </a:r>
          </a:p>
          <a:p>
            <a:pPr algn="ctr">
              <a:lnSpc>
                <a:spcPct val="104000"/>
              </a:lnSpc>
              <a:buNone/>
              <a:defRPr sz="157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trickle</a:t>
            </a:r>
          </a:p>
        </p:txBody>
      </p:sp>
      <p:sp>
        <p:nvSpPr>
          <p:cNvPr id="9" name="Rectángulo: esquinas redondeadas 8">
            <a:extLst>
              <a:ext uri="{FF2B5EF4-FFF2-40B4-BE49-F238E27FC236}">
                <a16:creationId xmlns:a16="http://schemas.microsoft.com/office/drawing/2014/main" id="{302E3994-1D6E-48BD-AE5C-34A6C9EE885C}"/>
              </a:ext>
            </a:extLst>
          </p:cNvPr>
          <p:cNvSpPr>
            <a:spLocks noGrp="1"/>
          </p:cNvSpPr>
          <p:nvPr/>
        </p:nvSpPr>
        <p:spPr>
          <a:xfrm>
            <a:off x="5895975" y="1657350"/>
            <a:ext cx="438150" cy="438150"/>
          </a:xfrm>
          <a:prstGeom prst="roundRect">
            <a:avLst>
              <a:gd name="adj" fmla="val 50000"/>
            </a:avLst>
          </a:prstGeom>
          <a:solidFill>
            <a:srgbClr val="830051"/>
          </a:solidFill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4000"/>
              </a:lnSpc>
              <a:buNone/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0" name="Rectángulo: esquinas redondeadas 9">
            <a:extLst>
              <a:ext uri="{FF2B5EF4-FFF2-40B4-BE49-F238E27FC236}">
                <a16:creationId xmlns:a16="http://schemas.microsoft.com/office/drawing/2014/main" id="{DA8AD2DA-E777-4571-9C64-BC1BFBA96433}"/>
              </a:ext>
            </a:extLst>
          </p:cNvPr>
          <p:cNvSpPr>
            <a:spLocks noGrp="1"/>
          </p:cNvSpPr>
          <p:nvPr/>
        </p:nvSpPr>
        <p:spPr>
          <a:xfrm>
            <a:off x="5162550" y="2209800"/>
            <a:ext cx="1905000" cy="876300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9050">
            <a:solidFill>
              <a:srgbClr val="EAD8E3"/>
            </a:solidFill>
            <a:prstDash val="solid"/>
          </a:ln>
        </p:spPr>
        <p:txBody>
          <a:bodyPr wrap="square" lIns="114300" tIns="76200" rIns="114300" bIns="76200" anchor="ctr">
            <a:noAutofit/>
          </a:bodyPr>
          <a:lstStyle/>
          <a:p>
            <a:pPr algn="ctr">
              <a:lnSpc>
                <a:spcPct val="104000"/>
              </a:lnSpc>
              <a:buNone/>
              <a:defRPr sz="157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Connectivity</a:t>
            </a:r>
          </a:p>
          <a:p>
            <a:pPr algn="ctr">
              <a:lnSpc>
                <a:spcPct val="104000"/>
              </a:lnSpc>
              <a:buNone/>
              <a:defRPr sz="157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checks</a:t>
            </a:r>
          </a:p>
        </p:txBody>
      </p:sp>
      <p:sp>
        <p:nvSpPr>
          <p:cNvPr id="11" name="Rectángulo: esquinas redondeadas 10">
            <a:extLst>
              <a:ext uri="{FF2B5EF4-FFF2-40B4-BE49-F238E27FC236}">
                <a16:creationId xmlns:a16="http://schemas.microsoft.com/office/drawing/2014/main" id="{A85F5E45-B295-4442-83F8-79C8F9FBF843}"/>
              </a:ext>
            </a:extLst>
          </p:cNvPr>
          <p:cNvSpPr>
            <a:spLocks noGrp="1"/>
          </p:cNvSpPr>
          <p:nvPr/>
        </p:nvSpPr>
        <p:spPr>
          <a:xfrm>
            <a:off x="8143875" y="1657350"/>
            <a:ext cx="438150" cy="438150"/>
          </a:xfrm>
          <a:prstGeom prst="roundRect">
            <a:avLst>
              <a:gd name="adj" fmla="val 50000"/>
            </a:avLst>
          </a:prstGeom>
          <a:solidFill>
            <a:srgbClr val="830051"/>
          </a:solidFill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4000"/>
              </a:lnSpc>
              <a:buNone/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12" name="Rectángulo: esquinas redondeadas 11">
            <a:extLst>
              <a:ext uri="{FF2B5EF4-FFF2-40B4-BE49-F238E27FC236}">
                <a16:creationId xmlns:a16="http://schemas.microsoft.com/office/drawing/2014/main" id="{0C6783AA-DD81-4FC0-85A1-ECD9917E79C7}"/>
              </a:ext>
            </a:extLst>
          </p:cNvPr>
          <p:cNvSpPr>
            <a:spLocks noGrp="1"/>
          </p:cNvSpPr>
          <p:nvPr/>
        </p:nvSpPr>
        <p:spPr>
          <a:xfrm>
            <a:off x="7410450" y="2209800"/>
            <a:ext cx="1905000" cy="876300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9050">
            <a:solidFill>
              <a:srgbClr val="EAD8E3"/>
            </a:solidFill>
            <a:prstDash val="solid"/>
          </a:ln>
        </p:spPr>
        <p:txBody>
          <a:bodyPr wrap="square" lIns="114300" tIns="76200" rIns="114300" bIns="76200" anchor="ctr">
            <a:noAutofit/>
          </a:bodyPr>
          <a:lstStyle/>
          <a:p>
            <a:pPr algn="ctr">
              <a:lnSpc>
                <a:spcPct val="104000"/>
              </a:lnSpc>
              <a:buNone/>
              <a:defRPr sz="157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Pairs ranked</a:t>
            </a:r>
          </a:p>
          <a:p>
            <a:pPr algn="ctr">
              <a:lnSpc>
                <a:spcPct val="104000"/>
              </a:lnSpc>
              <a:buNone/>
              <a:defRPr sz="157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by priority</a:t>
            </a:r>
          </a:p>
        </p:txBody>
      </p:sp>
      <p:sp>
        <p:nvSpPr>
          <p:cNvPr id="13" name="Rectángulo: esquinas redondeadas 12">
            <a:extLst>
              <a:ext uri="{FF2B5EF4-FFF2-40B4-BE49-F238E27FC236}">
                <a16:creationId xmlns:a16="http://schemas.microsoft.com/office/drawing/2014/main" id="{5B9863BE-E6B7-4AAD-AB94-C9042DD9B716}"/>
              </a:ext>
            </a:extLst>
          </p:cNvPr>
          <p:cNvSpPr>
            <a:spLocks noGrp="1"/>
          </p:cNvSpPr>
          <p:nvPr/>
        </p:nvSpPr>
        <p:spPr>
          <a:xfrm>
            <a:off x="10391775" y="1657350"/>
            <a:ext cx="438150" cy="438150"/>
          </a:xfrm>
          <a:prstGeom prst="roundRect">
            <a:avLst>
              <a:gd name="adj" fmla="val 50000"/>
            </a:avLst>
          </a:prstGeom>
          <a:solidFill>
            <a:srgbClr val="830051"/>
          </a:solidFill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4000"/>
              </a:lnSpc>
              <a:buNone/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14" name="Rectángulo: esquinas redondeadas 13">
            <a:extLst>
              <a:ext uri="{FF2B5EF4-FFF2-40B4-BE49-F238E27FC236}">
                <a16:creationId xmlns:a16="http://schemas.microsoft.com/office/drawing/2014/main" id="{143CA45F-86F4-4C43-AB65-9A8463D462F5}"/>
              </a:ext>
            </a:extLst>
          </p:cNvPr>
          <p:cNvSpPr>
            <a:spLocks noGrp="1"/>
          </p:cNvSpPr>
          <p:nvPr/>
        </p:nvSpPr>
        <p:spPr>
          <a:xfrm>
            <a:off x="9658350" y="2209800"/>
            <a:ext cx="1905000" cy="876300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9050">
            <a:solidFill>
              <a:srgbClr val="EAD8E3"/>
            </a:solidFill>
            <a:prstDash val="solid"/>
          </a:ln>
        </p:spPr>
        <p:txBody>
          <a:bodyPr wrap="square" lIns="114300" tIns="76200" rIns="114300" bIns="76200" anchor="ctr">
            <a:noAutofit/>
          </a:bodyPr>
          <a:lstStyle/>
          <a:p>
            <a:pPr algn="ctr">
              <a:lnSpc>
                <a:spcPct val="104000"/>
              </a:lnSpc>
              <a:buNone/>
              <a:defRPr sz="157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Winning pair</a:t>
            </a:r>
          </a:p>
          <a:p>
            <a:pPr algn="ctr">
              <a:lnSpc>
                <a:spcPct val="104000"/>
              </a:lnSpc>
              <a:buNone/>
              <a:defRPr sz="157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nominated</a:t>
            </a:r>
          </a:p>
        </p:txBody>
      </p:sp>
      <p:cxnSp>
        <p:nvCxnSpPr>
          <p:cNvPr id="43" name="Conector recto de flecha 42"/>
          <p:cNvCxnSpPr>
            <a:stCxn id="6" idx="3"/>
            <a:endCxn id="8" idx="1"/>
          </p:cNvCxnSpPr>
          <p:nvPr/>
        </p:nvCxnSpPr>
        <p:spPr>
          <a:xfrm>
            <a:off x="2571750" y="2647950"/>
            <a:ext cx="342900" cy="0"/>
          </a:xfrm>
          <a:prstGeom prst="straightConnector1">
            <a:avLst/>
          </a:prstGeom>
          <a:ln w="19050">
            <a:solidFill>
              <a:srgbClr val="A69FA3"/>
            </a:solidFill>
            <a:prstDash val="solid"/>
            <a:tailEnd type="triangle" w="sm" len="sm"/>
          </a:ln>
        </p:spPr>
      </p:cxnSp>
      <p:cxnSp>
        <p:nvCxnSpPr>
          <p:cNvPr id="44" name="Conector recto de flecha 43"/>
          <p:cNvCxnSpPr>
            <a:stCxn id="8" idx="3"/>
            <a:endCxn id="10" idx="1"/>
          </p:cNvCxnSpPr>
          <p:nvPr/>
        </p:nvCxnSpPr>
        <p:spPr>
          <a:xfrm>
            <a:off x="4819650" y="2647950"/>
            <a:ext cx="342900" cy="0"/>
          </a:xfrm>
          <a:prstGeom prst="straightConnector1">
            <a:avLst/>
          </a:prstGeom>
          <a:ln w="19050">
            <a:solidFill>
              <a:srgbClr val="A69FA3"/>
            </a:solidFill>
            <a:prstDash val="solid"/>
            <a:tailEnd type="triangle" w="sm" len="sm"/>
          </a:ln>
        </p:spPr>
      </p:cxnSp>
      <p:cxnSp>
        <p:nvCxnSpPr>
          <p:cNvPr id="45" name="Conector recto de flecha 44"/>
          <p:cNvCxnSpPr>
            <a:stCxn id="10" idx="3"/>
            <a:endCxn id="12" idx="1"/>
          </p:cNvCxnSpPr>
          <p:nvPr/>
        </p:nvCxnSpPr>
        <p:spPr>
          <a:xfrm>
            <a:off x="7067550" y="2647950"/>
            <a:ext cx="342900" cy="0"/>
          </a:xfrm>
          <a:prstGeom prst="straightConnector1">
            <a:avLst/>
          </a:prstGeom>
          <a:ln w="19050">
            <a:solidFill>
              <a:srgbClr val="A69FA3"/>
            </a:solidFill>
            <a:prstDash val="solid"/>
            <a:tailEnd type="triangle" w="sm" len="sm"/>
          </a:ln>
        </p:spPr>
      </p:cxnSp>
      <p:cxnSp>
        <p:nvCxnSpPr>
          <p:cNvPr id="46" name="Conector recto de flecha 45"/>
          <p:cNvCxnSpPr>
            <a:stCxn id="12" idx="3"/>
            <a:endCxn id="14" idx="1"/>
          </p:cNvCxnSpPr>
          <p:nvPr/>
        </p:nvCxnSpPr>
        <p:spPr>
          <a:xfrm>
            <a:off x="9315450" y="2647950"/>
            <a:ext cx="342900" cy="0"/>
          </a:xfrm>
          <a:prstGeom prst="straightConnector1">
            <a:avLst/>
          </a:prstGeom>
          <a:ln w="19050">
            <a:solidFill>
              <a:srgbClr val="A69FA3"/>
            </a:solidFill>
            <a:prstDash val="solid"/>
            <a:tailEnd type="triangle" w="sm" len="sm"/>
          </a:ln>
        </p:spPr>
      </p:cxnSp>
      <p:sp>
        <p:nvSpPr>
          <p:cNvPr id="19" name="Rectángulo: esquinas redondeadas 18">
            <a:extLst>
              <a:ext uri="{FF2B5EF4-FFF2-40B4-BE49-F238E27FC236}">
                <a16:creationId xmlns:a16="http://schemas.microsoft.com/office/drawing/2014/main" id="{9A810608-C409-42AF-9312-D59A400BAF7A}"/>
              </a:ext>
            </a:extLst>
          </p:cNvPr>
          <p:cNvSpPr>
            <a:spLocks noGrp="1"/>
          </p:cNvSpPr>
          <p:nvPr/>
        </p:nvSpPr>
        <p:spPr>
          <a:xfrm>
            <a:off x="666750" y="3600450"/>
            <a:ext cx="10858500" cy="1390650"/>
          </a:xfrm>
          <a:prstGeom prst="roundRect">
            <a:avLst>
              <a:gd name="adj" fmla="val 9589"/>
            </a:avLst>
          </a:prstGeom>
          <a:solidFill>
            <a:srgbClr val="F5EDF2"/>
          </a:solidFill>
          <a:ln w="0"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20" name="Rectángulo 19">
            <a:extLst>
              <a:ext uri="{FF2B5EF4-FFF2-40B4-BE49-F238E27FC236}">
                <a16:creationId xmlns:a16="http://schemas.microsoft.com/office/drawing/2014/main" id="{DC65B9E7-AB55-443C-9BF8-4701A9CDE5B6}"/>
              </a:ext>
            </a:extLst>
          </p:cNvPr>
          <p:cNvSpPr>
            <a:spLocks noGrp="1"/>
          </p:cNvSpPr>
          <p:nvPr/>
        </p:nvSpPr>
        <p:spPr>
          <a:xfrm>
            <a:off x="895350" y="3829050"/>
            <a:ext cx="2286000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4000"/>
              </a:lnSpc>
              <a:buNone/>
              <a:defRPr sz="1875" b="1">
                <a:solidFill>
                  <a:srgbClr val="830051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830051"/>
                </a:solidFill>
                <a:latin typeface="Arial"/>
                <a:ea typeface="Arial"/>
                <a:cs typeface="Arial"/>
              </a:rPr>
              <a:t>HOST</a:t>
            </a:r>
          </a:p>
        </p:txBody>
      </p:sp>
      <p:sp>
        <p:nvSpPr>
          <p:cNvPr id="21" name="Rectángulo 20">
            <a:extLst>
              <a:ext uri="{FF2B5EF4-FFF2-40B4-BE49-F238E27FC236}">
                <a16:creationId xmlns:a16="http://schemas.microsoft.com/office/drawing/2014/main" id="{90904D56-6E93-4D7D-9ED3-85C11CFD3546}"/>
              </a:ext>
            </a:extLst>
          </p:cNvPr>
          <p:cNvSpPr>
            <a:spLocks noGrp="1"/>
          </p:cNvSpPr>
          <p:nvPr/>
        </p:nvSpPr>
        <p:spPr>
          <a:xfrm>
            <a:off x="895350" y="4267200"/>
            <a:ext cx="2286000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4000"/>
              </a:lnSpc>
              <a:buNone/>
              <a:defRPr sz="1425" b="0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171417"/>
                </a:solidFill>
                <a:latin typeface="Arial"/>
                <a:ea typeface="Arial"/>
                <a:cs typeface="Arial"/>
              </a:rPr>
              <a:t>local interface</a:t>
            </a:r>
          </a:p>
        </p:txBody>
      </p:sp>
      <p:sp>
        <p:nvSpPr>
          <p:cNvPr id="22" name="Rectángulo 21">
            <a:extLst>
              <a:ext uri="{FF2B5EF4-FFF2-40B4-BE49-F238E27FC236}">
                <a16:creationId xmlns:a16="http://schemas.microsoft.com/office/drawing/2014/main" id="{3A4F2B47-B32D-491D-940E-BE472FD8F2EC}"/>
              </a:ext>
            </a:extLst>
          </p:cNvPr>
          <p:cNvSpPr>
            <a:spLocks noGrp="1"/>
          </p:cNvSpPr>
          <p:nvPr/>
        </p:nvSpPr>
        <p:spPr>
          <a:xfrm>
            <a:off x="3543300" y="3829050"/>
            <a:ext cx="2286000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4000"/>
              </a:lnSpc>
              <a:buNone/>
              <a:defRPr sz="1875" b="1">
                <a:solidFill>
                  <a:srgbClr val="830051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830051"/>
                </a:solidFill>
                <a:latin typeface="Arial"/>
                <a:ea typeface="Arial"/>
                <a:cs typeface="Arial"/>
              </a:rPr>
              <a:t>SRFLX</a:t>
            </a:r>
          </a:p>
        </p:txBody>
      </p:sp>
      <p:sp>
        <p:nvSpPr>
          <p:cNvPr id="23" name="Rectángulo 22">
            <a:extLst>
              <a:ext uri="{FF2B5EF4-FFF2-40B4-BE49-F238E27FC236}">
                <a16:creationId xmlns:a16="http://schemas.microsoft.com/office/drawing/2014/main" id="{75162B0F-AD9E-42E7-8C93-8FFCF2CDFB5F}"/>
              </a:ext>
            </a:extLst>
          </p:cNvPr>
          <p:cNvSpPr>
            <a:spLocks noGrp="1"/>
          </p:cNvSpPr>
          <p:nvPr/>
        </p:nvSpPr>
        <p:spPr>
          <a:xfrm>
            <a:off x="3543300" y="4267200"/>
            <a:ext cx="2286000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4000"/>
              </a:lnSpc>
              <a:buNone/>
              <a:defRPr sz="1425" b="0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171417"/>
                </a:solidFill>
                <a:latin typeface="Arial"/>
                <a:ea typeface="Arial"/>
                <a:cs typeface="Arial"/>
              </a:rPr>
              <a:t>mapping learned via STUN</a:t>
            </a:r>
          </a:p>
        </p:txBody>
      </p:sp>
      <p:sp>
        <p:nvSpPr>
          <p:cNvPr id="24" name="Rectángulo 23">
            <a:extLst>
              <a:ext uri="{FF2B5EF4-FFF2-40B4-BE49-F238E27FC236}">
                <a16:creationId xmlns:a16="http://schemas.microsoft.com/office/drawing/2014/main" id="{E775C41F-56AD-46CD-88C5-3E05C875A344}"/>
              </a:ext>
            </a:extLst>
          </p:cNvPr>
          <p:cNvSpPr>
            <a:spLocks noGrp="1"/>
          </p:cNvSpPr>
          <p:nvPr/>
        </p:nvSpPr>
        <p:spPr>
          <a:xfrm>
            <a:off x="6191250" y="3829050"/>
            <a:ext cx="2286000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4000"/>
              </a:lnSpc>
              <a:buNone/>
              <a:defRPr sz="1875" b="1">
                <a:solidFill>
                  <a:srgbClr val="830051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830051"/>
                </a:solidFill>
                <a:latin typeface="Arial"/>
                <a:ea typeface="Arial"/>
                <a:cs typeface="Arial"/>
              </a:rPr>
              <a:t>PRFLX</a:t>
            </a:r>
          </a:p>
        </p:txBody>
      </p:sp>
      <p:sp>
        <p:nvSpPr>
          <p:cNvPr id="25" name="Rectángulo 24">
            <a:extLst>
              <a:ext uri="{FF2B5EF4-FFF2-40B4-BE49-F238E27FC236}">
                <a16:creationId xmlns:a16="http://schemas.microsoft.com/office/drawing/2014/main" id="{2CAFBE13-90AB-4015-96DB-04AB89908922}"/>
              </a:ext>
            </a:extLst>
          </p:cNvPr>
          <p:cNvSpPr>
            <a:spLocks noGrp="1"/>
          </p:cNvSpPr>
          <p:nvPr/>
        </p:nvSpPr>
        <p:spPr>
          <a:xfrm>
            <a:off x="6191250" y="4267200"/>
            <a:ext cx="2286000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4000"/>
              </a:lnSpc>
              <a:buNone/>
              <a:defRPr sz="1425" b="0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171417"/>
                </a:solidFill>
                <a:latin typeface="Arial"/>
                <a:ea typeface="Arial"/>
                <a:cs typeface="Arial"/>
              </a:rPr>
              <a:t>mapping learned in checks</a:t>
            </a:r>
          </a:p>
        </p:txBody>
      </p:sp>
      <p:sp>
        <p:nvSpPr>
          <p:cNvPr id="26" name="Rectángulo 25">
            <a:extLst>
              <a:ext uri="{FF2B5EF4-FFF2-40B4-BE49-F238E27FC236}">
                <a16:creationId xmlns:a16="http://schemas.microsoft.com/office/drawing/2014/main" id="{CE1DC4EE-90D8-42C0-9C98-A4EE59BCDDD5}"/>
              </a:ext>
            </a:extLst>
          </p:cNvPr>
          <p:cNvSpPr>
            <a:spLocks noGrp="1"/>
          </p:cNvSpPr>
          <p:nvPr/>
        </p:nvSpPr>
        <p:spPr>
          <a:xfrm>
            <a:off x="8839200" y="3829050"/>
            <a:ext cx="2286000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4000"/>
              </a:lnSpc>
              <a:buNone/>
              <a:defRPr sz="1875" b="1">
                <a:solidFill>
                  <a:srgbClr val="830051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830051"/>
                </a:solidFill>
                <a:latin typeface="Arial"/>
                <a:ea typeface="Arial"/>
                <a:cs typeface="Arial"/>
              </a:rPr>
              <a:t>RELAY</a:t>
            </a:r>
          </a:p>
        </p:txBody>
      </p:sp>
      <p:sp>
        <p:nvSpPr>
          <p:cNvPr id="27" name="Rectángulo 26">
            <a:extLst>
              <a:ext uri="{FF2B5EF4-FFF2-40B4-BE49-F238E27FC236}">
                <a16:creationId xmlns:a16="http://schemas.microsoft.com/office/drawing/2014/main" id="{D5F8412A-622D-4D21-8A84-239F1B131658}"/>
              </a:ext>
            </a:extLst>
          </p:cNvPr>
          <p:cNvSpPr>
            <a:spLocks noGrp="1"/>
          </p:cNvSpPr>
          <p:nvPr/>
        </p:nvSpPr>
        <p:spPr>
          <a:xfrm>
            <a:off x="8839200" y="4267200"/>
            <a:ext cx="2286000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4000"/>
              </a:lnSpc>
              <a:buNone/>
              <a:defRPr sz="1425" b="0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171417"/>
                </a:solidFill>
                <a:latin typeface="Arial"/>
                <a:ea typeface="Arial"/>
                <a:cs typeface="Arial"/>
              </a:rPr>
              <a:t>TURN allocation</a:t>
            </a:r>
          </a:p>
        </p:txBody>
      </p:sp>
      <p:sp>
        <p:nvSpPr>
          <p:cNvPr id="28" name="Rectángulo 27">
            <a:extLst>
              <a:ext uri="{FF2B5EF4-FFF2-40B4-BE49-F238E27FC236}">
                <a16:creationId xmlns:a16="http://schemas.microsoft.com/office/drawing/2014/main" id="{C8278E64-42E0-4851-AE75-19593368754B}"/>
              </a:ext>
            </a:extLst>
          </p:cNvPr>
          <p:cNvSpPr>
            <a:spLocks noGrp="1"/>
          </p:cNvSpPr>
          <p:nvPr/>
        </p:nvSpPr>
        <p:spPr>
          <a:xfrm>
            <a:off x="1181100" y="5391150"/>
            <a:ext cx="9829800" cy="590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4000"/>
              </a:lnSpc>
              <a:buNone/>
              <a:defRPr sz="1725" b="1">
                <a:solidFill>
                  <a:srgbClr val="510034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510034"/>
                </a:solidFill>
                <a:latin typeface="Arial"/>
                <a:ea typeface="Arial"/>
                <a:cs typeface="Arial"/>
              </a:rPr>
              <a:t>Gathering and SDP creation can overlap at runtime. Trickle ICE sends candidates as soon as they appear.</a:t>
            </a:r>
          </a:p>
        </p:txBody>
      </p:sp>
    </p:spTree>
    <p:extLst>
      <p:ext uri="{BB962C8B-B14F-4D97-AF65-F5344CB8AC3E}">
        <p14:creationId xmlns:p14="http://schemas.microsoft.com/office/powerpoint/2010/main" val="29245502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9F8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Rectángulo 26">
            <a:extLst>
              <a:ext uri="{FF2B5EF4-FFF2-40B4-BE49-F238E27FC236}">
                <a16:creationId xmlns:a16="http://schemas.microsoft.com/office/drawing/2014/main" id="{F6EEC6EB-3729-4D8E-81B3-44A8BADDC8EF}"/>
              </a:ext>
            </a:extLst>
          </p:cNvPr>
          <p:cNvSpPr>
            <a:spLocks noGrp="1"/>
          </p:cNvSpPr>
          <p:nvPr/>
        </p:nvSpPr>
        <p:spPr>
          <a:xfrm>
            <a:off x="533400" y="266700"/>
            <a:ext cx="74295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200" b="1">
                <a:solidFill>
                  <a:srgbClr val="830051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830051"/>
                </a:solidFill>
                <a:latin typeface="Arial"/>
                <a:ea typeface="Arial"/>
                <a:cs typeface="Arial"/>
              </a:rPr>
              <a:t>THEORY</a:t>
            </a:r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7B897589-F352-4DAD-AA13-C392E13D9C65}"/>
              </a:ext>
            </a:extLst>
          </p:cNvPr>
          <p:cNvSpPr>
            <a:spLocks noGrp="1"/>
          </p:cNvSpPr>
          <p:nvPr/>
        </p:nvSpPr>
        <p:spPr>
          <a:xfrm>
            <a:off x="533400" y="590550"/>
            <a:ext cx="10477500" cy="552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4000"/>
              </a:lnSpc>
              <a:buNone/>
              <a:defRPr sz="337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WebRTC Video Encodings</a:t>
            </a:r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ACF7F739-39A8-4F21-A569-0BB48CA42622}"/>
              </a:ext>
            </a:extLst>
          </p:cNvPr>
          <p:cNvSpPr>
            <a:spLocks noGrp="1"/>
          </p:cNvSpPr>
          <p:nvPr/>
        </p:nvSpPr>
        <p:spPr>
          <a:xfrm>
            <a:off x="533400" y="1257300"/>
            <a:ext cx="11125200" cy="28575"/>
          </a:xfrm>
          <a:prstGeom prst="rect">
            <a:avLst/>
          </a:prstGeom>
          <a:solidFill>
            <a:srgbClr val="830051"/>
          </a:solidFill>
          <a:ln w="0"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8772A9B1-1612-4D38-AEAF-5CBBA1CE0D8A}"/>
              </a:ext>
            </a:extLst>
          </p:cNvPr>
          <p:cNvSpPr>
            <a:spLocks noGrp="1"/>
          </p:cNvSpPr>
          <p:nvPr/>
        </p:nvSpPr>
        <p:spPr>
          <a:xfrm>
            <a:off x="10858500" y="6457950"/>
            <a:ext cx="8001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4000"/>
              </a:lnSpc>
              <a:buNone/>
              <a:defRPr sz="1125" b="1">
                <a:solidFill>
                  <a:srgbClr val="6F686D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6F686D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5" name="Rectángulo: esquinas redondeadas 4">
            <a:extLst>
              <a:ext uri="{FF2B5EF4-FFF2-40B4-BE49-F238E27FC236}">
                <a16:creationId xmlns:a16="http://schemas.microsoft.com/office/drawing/2014/main" id="{EB39DE57-0EF7-4715-B9B5-5283DC1ACD62}"/>
              </a:ext>
            </a:extLst>
          </p:cNvPr>
          <p:cNvSpPr>
            <a:spLocks noGrp="1"/>
          </p:cNvSpPr>
          <p:nvPr/>
        </p:nvSpPr>
        <p:spPr>
          <a:xfrm>
            <a:off x="685800" y="1619250"/>
            <a:ext cx="5524500" cy="628650"/>
          </a:xfrm>
          <a:prstGeom prst="roundRect">
            <a:avLst>
              <a:gd name="adj" fmla="val 15152"/>
            </a:avLst>
          </a:prstGeom>
          <a:solidFill>
            <a:srgbClr val="830051"/>
          </a:solidFill>
          <a:ln w="0"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7D3D378F-CD10-49A6-A053-5908CC55975A}"/>
              </a:ext>
            </a:extLst>
          </p:cNvPr>
          <p:cNvSpPr>
            <a:spLocks noGrp="1"/>
          </p:cNvSpPr>
          <p:nvPr/>
        </p:nvSpPr>
        <p:spPr>
          <a:xfrm>
            <a:off x="876300" y="1743075"/>
            <a:ext cx="2952750" cy="361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4000"/>
              </a:lnSpc>
              <a:buNone/>
              <a:defRPr sz="18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VP8</a:t>
            </a:r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F80D151B-DDA0-4FAC-84E9-E7D869F2F876}"/>
              </a:ext>
            </a:extLst>
          </p:cNvPr>
          <p:cNvSpPr>
            <a:spLocks noGrp="1"/>
          </p:cNvSpPr>
          <p:nvPr/>
        </p:nvSpPr>
        <p:spPr>
          <a:xfrm>
            <a:off x="3829050" y="1743075"/>
            <a:ext cx="2152650" cy="381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4000"/>
              </a:lnSpc>
              <a:buNone/>
              <a:defRPr sz="13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Mandatory to implement</a:t>
            </a:r>
          </a:p>
        </p:txBody>
      </p:sp>
      <p:sp>
        <p:nvSpPr>
          <p:cNvPr id="8" name="Rectángulo: esquinas redondeadas 7">
            <a:extLst>
              <a:ext uri="{FF2B5EF4-FFF2-40B4-BE49-F238E27FC236}">
                <a16:creationId xmlns:a16="http://schemas.microsoft.com/office/drawing/2014/main" id="{93F8B967-F2F1-4B78-AB65-AAB980CC11C8}"/>
              </a:ext>
            </a:extLst>
          </p:cNvPr>
          <p:cNvSpPr>
            <a:spLocks noGrp="1"/>
          </p:cNvSpPr>
          <p:nvPr/>
        </p:nvSpPr>
        <p:spPr>
          <a:xfrm>
            <a:off x="685800" y="2400300"/>
            <a:ext cx="5524500" cy="628650"/>
          </a:xfrm>
          <a:prstGeom prst="roundRect">
            <a:avLst>
              <a:gd name="adj" fmla="val 15152"/>
            </a:avLst>
          </a:prstGeom>
          <a:solidFill>
            <a:srgbClr val="830051"/>
          </a:solidFill>
          <a:ln w="0"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9" name="Rectángulo 8">
            <a:extLst>
              <a:ext uri="{FF2B5EF4-FFF2-40B4-BE49-F238E27FC236}">
                <a16:creationId xmlns:a16="http://schemas.microsoft.com/office/drawing/2014/main" id="{C7A534A3-6818-4877-9B20-89AFF53FA6E3}"/>
              </a:ext>
            </a:extLst>
          </p:cNvPr>
          <p:cNvSpPr>
            <a:spLocks noGrp="1"/>
          </p:cNvSpPr>
          <p:nvPr/>
        </p:nvSpPr>
        <p:spPr>
          <a:xfrm>
            <a:off x="876300" y="2524125"/>
            <a:ext cx="2952750" cy="361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4000"/>
              </a:lnSpc>
              <a:buNone/>
              <a:defRPr sz="18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H.264 Constrained Baseline</a:t>
            </a:r>
          </a:p>
        </p:txBody>
      </p:sp>
      <p:sp>
        <p:nvSpPr>
          <p:cNvPr id="10" name="Rectángulo 9">
            <a:extLst>
              <a:ext uri="{FF2B5EF4-FFF2-40B4-BE49-F238E27FC236}">
                <a16:creationId xmlns:a16="http://schemas.microsoft.com/office/drawing/2014/main" id="{B244FC6B-895F-4E58-B222-21F38795EFAB}"/>
              </a:ext>
            </a:extLst>
          </p:cNvPr>
          <p:cNvSpPr>
            <a:spLocks noGrp="1"/>
          </p:cNvSpPr>
          <p:nvPr/>
        </p:nvSpPr>
        <p:spPr>
          <a:xfrm>
            <a:off x="3829050" y="2524125"/>
            <a:ext cx="2152650" cy="381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4000"/>
              </a:lnSpc>
              <a:buNone/>
              <a:defRPr sz="13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Mandatory to implement</a:t>
            </a:r>
          </a:p>
        </p:txBody>
      </p:sp>
      <p:sp>
        <p:nvSpPr>
          <p:cNvPr id="11" name="Rectángulo: esquinas redondeadas 10">
            <a:extLst>
              <a:ext uri="{FF2B5EF4-FFF2-40B4-BE49-F238E27FC236}">
                <a16:creationId xmlns:a16="http://schemas.microsoft.com/office/drawing/2014/main" id="{362C7E49-B402-4E44-910A-F9FFDB444818}"/>
              </a:ext>
            </a:extLst>
          </p:cNvPr>
          <p:cNvSpPr>
            <a:spLocks noGrp="1"/>
          </p:cNvSpPr>
          <p:nvPr/>
        </p:nvSpPr>
        <p:spPr>
          <a:xfrm>
            <a:off x="685800" y="3181350"/>
            <a:ext cx="5524500" cy="628650"/>
          </a:xfrm>
          <a:prstGeom prst="roundRect">
            <a:avLst>
              <a:gd name="adj" fmla="val 15152"/>
            </a:avLst>
          </a:prstGeom>
          <a:solidFill>
            <a:srgbClr val="F5EDF2"/>
          </a:solidFill>
          <a:ln w="0"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12" name="Rectángulo 11">
            <a:extLst>
              <a:ext uri="{FF2B5EF4-FFF2-40B4-BE49-F238E27FC236}">
                <a16:creationId xmlns:a16="http://schemas.microsoft.com/office/drawing/2014/main" id="{567B5CAE-FD08-41AF-83C3-36A15E9E9EFC}"/>
              </a:ext>
            </a:extLst>
          </p:cNvPr>
          <p:cNvSpPr>
            <a:spLocks noGrp="1"/>
          </p:cNvSpPr>
          <p:nvPr/>
        </p:nvSpPr>
        <p:spPr>
          <a:xfrm>
            <a:off x="876300" y="3305175"/>
            <a:ext cx="2952750" cy="361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4000"/>
              </a:lnSpc>
              <a:buNone/>
              <a:defRPr sz="1800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VP9 / AV1</a:t>
            </a:r>
          </a:p>
        </p:txBody>
      </p:sp>
      <p:sp>
        <p:nvSpPr>
          <p:cNvPr id="13" name="Rectángulo 12">
            <a:extLst>
              <a:ext uri="{FF2B5EF4-FFF2-40B4-BE49-F238E27FC236}">
                <a16:creationId xmlns:a16="http://schemas.microsoft.com/office/drawing/2014/main" id="{91BEFB2A-C949-459E-9F54-38D89C4B753B}"/>
              </a:ext>
            </a:extLst>
          </p:cNvPr>
          <p:cNvSpPr>
            <a:spLocks noGrp="1"/>
          </p:cNvSpPr>
          <p:nvPr/>
        </p:nvSpPr>
        <p:spPr>
          <a:xfrm>
            <a:off x="3829050" y="3305175"/>
            <a:ext cx="2152650" cy="381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4000"/>
              </a:lnSpc>
              <a:buNone/>
              <a:defRPr sz="1350" b="0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71417"/>
                </a:solidFill>
                <a:latin typeface="Arial"/>
                <a:ea typeface="Arial"/>
                <a:cs typeface="Arial"/>
              </a:rPr>
              <a:t>Optional modern choices</a:t>
            </a:r>
          </a:p>
        </p:txBody>
      </p:sp>
      <p:sp>
        <p:nvSpPr>
          <p:cNvPr id="14" name="Rectángulo: esquinas redondeadas 13">
            <a:extLst>
              <a:ext uri="{FF2B5EF4-FFF2-40B4-BE49-F238E27FC236}">
                <a16:creationId xmlns:a16="http://schemas.microsoft.com/office/drawing/2014/main" id="{E048A408-0FD8-4597-8FAC-6F739E00D79A}"/>
              </a:ext>
            </a:extLst>
          </p:cNvPr>
          <p:cNvSpPr>
            <a:spLocks noGrp="1"/>
          </p:cNvSpPr>
          <p:nvPr/>
        </p:nvSpPr>
        <p:spPr>
          <a:xfrm>
            <a:off x="685800" y="3962400"/>
            <a:ext cx="5524500" cy="628650"/>
          </a:xfrm>
          <a:prstGeom prst="roundRect">
            <a:avLst>
              <a:gd name="adj" fmla="val 15152"/>
            </a:avLst>
          </a:prstGeom>
          <a:solidFill>
            <a:srgbClr val="E7E3E5"/>
          </a:solidFill>
          <a:ln w="0"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15" name="Rectángulo 14">
            <a:extLst>
              <a:ext uri="{FF2B5EF4-FFF2-40B4-BE49-F238E27FC236}">
                <a16:creationId xmlns:a16="http://schemas.microsoft.com/office/drawing/2014/main" id="{667F6832-A610-47AD-A701-6E7A5B11637A}"/>
              </a:ext>
            </a:extLst>
          </p:cNvPr>
          <p:cNvSpPr>
            <a:spLocks noGrp="1"/>
          </p:cNvSpPr>
          <p:nvPr/>
        </p:nvSpPr>
        <p:spPr>
          <a:xfrm>
            <a:off x="876300" y="4086225"/>
            <a:ext cx="2952750" cy="361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4000"/>
              </a:lnSpc>
              <a:buNone/>
              <a:defRPr sz="1800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H.265</a:t>
            </a:r>
          </a:p>
        </p:txBody>
      </p:sp>
      <p:sp>
        <p:nvSpPr>
          <p:cNvPr id="16" name="Rectángulo 15">
            <a:extLst>
              <a:ext uri="{FF2B5EF4-FFF2-40B4-BE49-F238E27FC236}">
                <a16:creationId xmlns:a16="http://schemas.microsoft.com/office/drawing/2014/main" id="{152FC1C7-87C0-431A-A848-F519202B8AC3}"/>
              </a:ext>
            </a:extLst>
          </p:cNvPr>
          <p:cNvSpPr>
            <a:spLocks noGrp="1"/>
          </p:cNvSpPr>
          <p:nvPr/>
        </p:nvSpPr>
        <p:spPr>
          <a:xfrm>
            <a:off x="3829050" y="4086225"/>
            <a:ext cx="2152650" cy="381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4000"/>
              </a:lnSpc>
              <a:buNone/>
              <a:defRPr sz="1350" b="0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71417"/>
                </a:solidFill>
                <a:latin typeface="Arial"/>
                <a:ea typeface="Arial"/>
                <a:cs typeface="Arial"/>
              </a:rPr>
              <a:t>Fragmented support; no universal browser assumption</a:t>
            </a:r>
          </a:p>
        </p:txBody>
      </p:sp>
      <p:sp>
        <p:nvSpPr>
          <p:cNvPr id="17" name="Rectángulo 16">
            <a:extLst>
              <a:ext uri="{FF2B5EF4-FFF2-40B4-BE49-F238E27FC236}">
                <a16:creationId xmlns:a16="http://schemas.microsoft.com/office/drawing/2014/main" id="{258BDCEA-ECCE-4E2A-915A-FC56111E5E16}"/>
              </a:ext>
            </a:extLst>
          </p:cNvPr>
          <p:cNvSpPr>
            <a:spLocks noGrp="1"/>
          </p:cNvSpPr>
          <p:nvPr/>
        </p:nvSpPr>
        <p:spPr>
          <a:xfrm>
            <a:off x="6934200" y="1685925"/>
            <a:ext cx="409575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4000"/>
              </a:lnSpc>
              <a:buNone/>
              <a:defRPr sz="1200" b="1">
                <a:solidFill>
                  <a:srgbClr val="6F686D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F686D"/>
                </a:solidFill>
                <a:latin typeface="Arial"/>
                <a:ea typeface="Arial"/>
                <a:cs typeface="Arial"/>
              </a:rPr>
              <a:t>CURRENT PROJECT PIPELINE</a:t>
            </a:r>
          </a:p>
        </p:txBody>
      </p:sp>
      <p:sp>
        <p:nvSpPr>
          <p:cNvPr id="18" name="Rectángulo: esquinas redondeadas 17">
            <a:extLst>
              <a:ext uri="{FF2B5EF4-FFF2-40B4-BE49-F238E27FC236}">
                <a16:creationId xmlns:a16="http://schemas.microsoft.com/office/drawing/2014/main" id="{BC1E8CDA-12CF-4F7A-9CBA-C8CDE8BCA38E}"/>
              </a:ext>
            </a:extLst>
          </p:cNvPr>
          <p:cNvSpPr>
            <a:spLocks noGrp="1"/>
          </p:cNvSpPr>
          <p:nvPr/>
        </p:nvSpPr>
        <p:spPr>
          <a:xfrm>
            <a:off x="6877050" y="2247900"/>
            <a:ext cx="1381125" cy="876300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9050">
            <a:solidFill>
              <a:srgbClr val="830051"/>
            </a:solidFill>
            <a:prstDash val="solid"/>
          </a:ln>
        </p:spPr>
        <p:txBody>
          <a:bodyPr wrap="square" lIns="114300" tIns="76200" rIns="114300" bIns="76200" anchor="ctr">
            <a:noAutofit/>
          </a:bodyPr>
          <a:lstStyle/>
          <a:p>
            <a:pPr algn="ctr">
              <a:lnSpc>
                <a:spcPct val="104000"/>
              </a:lnSpc>
              <a:buNone/>
              <a:defRPr sz="157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Camera</a:t>
            </a:r>
          </a:p>
          <a:p>
            <a:pPr algn="ctr">
              <a:lnSpc>
                <a:spcPct val="104000"/>
              </a:lnSpc>
              <a:buNone/>
              <a:defRPr sz="157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MJPEG</a:t>
            </a:r>
          </a:p>
        </p:txBody>
      </p:sp>
      <p:sp>
        <p:nvSpPr>
          <p:cNvPr id="19" name="Rectángulo: esquinas redondeadas 18">
            <a:extLst>
              <a:ext uri="{FF2B5EF4-FFF2-40B4-BE49-F238E27FC236}">
                <a16:creationId xmlns:a16="http://schemas.microsoft.com/office/drawing/2014/main" id="{9A557B26-C7D9-4B13-89C4-E236B94E03DB}"/>
              </a:ext>
            </a:extLst>
          </p:cNvPr>
          <p:cNvSpPr>
            <a:spLocks noGrp="1"/>
          </p:cNvSpPr>
          <p:nvPr/>
        </p:nvSpPr>
        <p:spPr>
          <a:xfrm>
            <a:off x="8582025" y="2247900"/>
            <a:ext cx="1657350" cy="876300"/>
          </a:xfrm>
          <a:prstGeom prst="roundRect">
            <a:avLst>
              <a:gd name="adj" fmla="val 15217"/>
            </a:avLst>
          </a:prstGeom>
          <a:solidFill>
            <a:srgbClr val="F5EDF2"/>
          </a:solidFill>
          <a:ln w="19050">
            <a:solidFill>
              <a:srgbClr val="830051"/>
            </a:solidFill>
            <a:prstDash val="solid"/>
          </a:ln>
        </p:spPr>
        <p:txBody>
          <a:bodyPr wrap="square" lIns="114300" tIns="76200" rIns="114300" bIns="76200" anchor="ctr">
            <a:noAutofit/>
          </a:bodyPr>
          <a:lstStyle/>
          <a:p>
            <a:pPr algn="ctr">
              <a:lnSpc>
                <a:spcPct val="104000"/>
              </a:lnSpc>
              <a:buNone/>
              <a:defRPr sz="1500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FFmpeg</a:t>
            </a:r>
          </a:p>
          <a:p>
            <a:pPr algn="ctr">
              <a:lnSpc>
                <a:spcPct val="104000"/>
              </a:lnSpc>
              <a:buNone/>
              <a:defRPr sz="1500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decode + encode</a:t>
            </a:r>
          </a:p>
        </p:txBody>
      </p:sp>
      <p:sp>
        <p:nvSpPr>
          <p:cNvPr id="20" name="Rectángulo: esquinas redondeadas 19">
            <a:extLst>
              <a:ext uri="{FF2B5EF4-FFF2-40B4-BE49-F238E27FC236}">
                <a16:creationId xmlns:a16="http://schemas.microsoft.com/office/drawing/2014/main" id="{E207DBAF-5D6B-422B-AC52-1A5A63890A19}"/>
              </a:ext>
            </a:extLst>
          </p:cNvPr>
          <p:cNvSpPr>
            <a:spLocks noGrp="1"/>
          </p:cNvSpPr>
          <p:nvPr/>
        </p:nvSpPr>
        <p:spPr>
          <a:xfrm>
            <a:off x="10553700" y="2247900"/>
            <a:ext cx="1200150" cy="876300"/>
          </a:xfrm>
          <a:prstGeom prst="roundRect">
            <a:avLst>
              <a:gd name="adj" fmla="val 15217"/>
            </a:avLst>
          </a:prstGeom>
          <a:solidFill>
            <a:srgbClr val="830051"/>
          </a:solidFill>
          <a:ln w="19050">
            <a:solidFill>
              <a:srgbClr val="830051"/>
            </a:solidFill>
            <a:prstDash val="solid"/>
          </a:ln>
        </p:spPr>
        <p:txBody>
          <a:bodyPr wrap="square" lIns="114300" tIns="76200" rIns="114300" bIns="76200" anchor="ctr">
            <a:noAutofit/>
          </a:bodyPr>
          <a:lstStyle/>
          <a:p>
            <a:pPr algn="ctr">
              <a:lnSpc>
                <a:spcPct val="104000"/>
              </a:lnSpc>
              <a:buNone/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H.264</a:t>
            </a:r>
          </a:p>
          <a:p>
            <a:pPr algn="ctr">
              <a:lnSpc>
                <a:spcPct val="104000"/>
              </a:lnSpc>
              <a:buNone/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Baseline</a:t>
            </a:r>
          </a:p>
        </p:txBody>
      </p:sp>
      <p:cxnSp>
        <p:nvCxnSpPr>
          <p:cNvPr id="47" name="Conector recto de flecha 46"/>
          <p:cNvCxnSpPr>
            <a:stCxn id="18" idx="3"/>
            <a:endCxn id="19" idx="1"/>
          </p:cNvCxnSpPr>
          <p:nvPr/>
        </p:nvCxnSpPr>
        <p:spPr>
          <a:xfrm>
            <a:off x="8258175" y="2686050"/>
            <a:ext cx="323850" cy="0"/>
          </a:xfrm>
          <a:prstGeom prst="straightConnector1">
            <a:avLst/>
          </a:prstGeom>
          <a:ln w="19050">
            <a:solidFill>
              <a:srgbClr val="A69FA3"/>
            </a:solidFill>
            <a:prstDash val="solid"/>
            <a:tailEnd type="triangle" w="sm" len="sm"/>
          </a:ln>
        </p:spPr>
      </p:cxnSp>
      <p:cxnSp>
        <p:nvCxnSpPr>
          <p:cNvPr id="48" name="Conector recto de flecha 47"/>
          <p:cNvCxnSpPr>
            <a:stCxn id="19" idx="3"/>
            <a:endCxn id="20" idx="1"/>
          </p:cNvCxnSpPr>
          <p:nvPr/>
        </p:nvCxnSpPr>
        <p:spPr>
          <a:xfrm>
            <a:off x="10239375" y="2686050"/>
            <a:ext cx="314325" cy="0"/>
          </a:xfrm>
          <a:prstGeom prst="straightConnector1">
            <a:avLst/>
          </a:prstGeom>
          <a:ln w="19050">
            <a:solidFill>
              <a:srgbClr val="830051"/>
            </a:solidFill>
            <a:prstDash val="solid"/>
            <a:tailEnd type="triangle" w="sm" len="sm"/>
          </a:ln>
        </p:spPr>
      </p:cxnSp>
      <p:sp>
        <p:nvSpPr>
          <p:cNvPr id="23" name="Rectángulo: esquinas redondeadas 22">
            <a:extLst>
              <a:ext uri="{FF2B5EF4-FFF2-40B4-BE49-F238E27FC236}">
                <a16:creationId xmlns:a16="http://schemas.microsoft.com/office/drawing/2014/main" id="{148454EB-B35F-4739-81B0-077FF7B5EBCD}"/>
              </a:ext>
            </a:extLst>
          </p:cNvPr>
          <p:cNvSpPr>
            <a:spLocks noGrp="1"/>
          </p:cNvSpPr>
          <p:nvPr/>
        </p:nvSpPr>
        <p:spPr>
          <a:xfrm>
            <a:off x="6877050" y="3581400"/>
            <a:ext cx="4876800" cy="1695450"/>
          </a:xfrm>
          <a:prstGeom prst="roundRect">
            <a:avLst>
              <a:gd name="adj" fmla="val 6742"/>
            </a:avLst>
          </a:prstGeom>
          <a:solidFill>
            <a:srgbClr val="FFFFFF"/>
          </a:solidFill>
          <a:ln w="9525">
            <a:solidFill>
              <a:srgbClr val="E7E3E5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4" name="Rectángulo 23">
            <a:extLst>
              <a:ext uri="{FF2B5EF4-FFF2-40B4-BE49-F238E27FC236}">
                <a16:creationId xmlns:a16="http://schemas.microsoft.com/office/drawing/2014/main" id="{BE96EDF8-536D-47DC-85E3-38858FF3F5D4}"/>
              </a:ext>
            </a:extLst>
          </p:cNvPr>
          <p:cNvSpPr>
            <a:spLocks noGrp="1"/>
          </p:cNvSpPr>
          <p:nvPr/>
        </p:nvSpPr>
        <p:spPr>
          <a:xfrm>
            <a:off x="7124700" y="3771900"/>
            <a:ext cx="4381500" cy="304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87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Negotiation, not a fixed assumption</a:t>
            </a:r>
          </a:p>
        </p:txBody>
      </p:sp>
      <p:sp>
        <p:nvSpPr>
          <p:cNvPr id="25" name="Rectángulo 24">
            <a:extLst>
              <a:ext uri="{FF2B5EF4-FFF2-40B4-BE49-F238E27FC236}">
                <a16:creationId xmlns:a16="http://schemas.microsoft.com/office/drawing/2014/main" id="{E1FDCD05-B5F9-4475-9F65-E34805077BD9}"/>
              </a:ext>
            </a:extLst>
          </p:cNvPr>
          <p:cNvSpPr>
            <a:spLocks noGrp="1"/>
          </p:cNvSpPr>
          <p:nvPr/>
        </p:nvSpPr>
        <p:spPr>
          <a:xfrm>
            <a:off x="7124700" y="4210050"/>
            <a:ext cx="4305300" cy="876300"/>
          </a:xfrm>
          <a:prstGeom prst="rect">
            <a:avLst/>
          </a:prstGeom>
          <a:noFill/>
          <a:ln w="0">
            <a:noFill/>
          </a:ln>
        </p:spPr>
        <p:txBody>
          <a:bodyPr wrap="square" lIns="38100" tIns="38100" rIns="38100" bIns="38100">
            <a:noAutofit/>
          </a:bodyPr>
          <a:lstStyle/>
          <a:p>
            <a:pPr marL="254000" indent="-127000">
              <a:lnSpc>
                <a:spcPct val="105000"/>
              </a:lnSpc>
              <a:spcAft>
                <a:spcPts val="700"/>
              </a:spcAft>
              <a:buNone/>
              <a:defRPr sz="1500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500">
                <a:solidFill>
                  <a:srgbClr val="171417"/>
                </a:solidFill>
                <a:latin typeface="Arial"/>
                <a:ea typeface="Arial"/>
                <a:cs typeface="Arial"/>
              </a:rPr>
              <a:t>Mandatory-to-implement means an interoperability baseline.</a:t>
            </a:r>
          </a:p>
          <a:p>
            <a:pPr marL="254000" indent="-127000">
              <a:lnSpc>
                <a:spcPct val="105000"/>
              </a:lnSpc>
              <a:spcAft>
                <a:spcPts val="700"/>
              </a:spcAft>
              <a:buNone/>
              <a:defRPr sz="1500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500">
                <a:solidFill>
                  <a:srgbClr val="171417"/>
                </a:solidFill>
                <a:latin typeface="Arial"/>
                <a:ea typeface="Arial"/>
                <a:cs typeface="Arial"/>
              </a:rPr>
              <a:t>The selected codec still depends on offer/answer negotiation.</a:t>
            </a:r>
          </a:p>
        </p:txBody>
      </p:sp>
      <p:sp>
        <p:nvSpPr>
          <p:cNvPr id="26" name="Rectángulo 25">
            <a:extLst>
              <a:ext uri="{FF2B5EF4-FFF2-40B4-BE49-F238E27FC236}">
                <a16:creationId xmlns:a16="http://schemas.microsoft.com/office/drawing/2014/main" id="{F81A512F-D11A-45A4-8F19-A96C93C67A6E}"/>
              </a:ext>
            </a:extLst>
          </p:cNvPr>
          <p:cNvSpPr>
            <a:spLocks noGrp="1"/>
          </p:cNvSpPr>
          <p:nvPr/>
        </p:nvSpPr>
        <p:spPr>
          <a:xfrm>
            <a:off x="1219200" y="5619750"/>
            <a:ext cx="9753600" cy="4191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4000"/>
              </a:lnSpc>
              <a:buNone/>
              <a:defRPr sz="1575" b="1">
                <a:solidFill>
                  <a:srgbClr val="510034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510034"/>
                </a:solidFill>
                <a:latin typeface="Arial"/>
                <a:ea typeface="Arial"/>
                <a:cs typeface="Arial"/>
              </a:rPr>
              <a:t>The project advertises H.264 packetization-mode=1 with profile-level-id 42e01f.</a:t>
            </a:r>
          </a:p>
        </p:txBody>
      </p:sp>
    </p:spTree>
    <p:extLst>
      <p:ext uri="{BB962C8B-B14F-4D97-AF65-F5344CB8AC3E}">
        <p14:creationId xmlns:p14="http://schemas.microsoft.com/office/powerpoint/2010/main" val="39357268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9F8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ctángulo 19">
            <a:extLst>
              <a:ext uri="{FF2B5EF4-FFF2-40B4-BE49-F238E27FC236}">
                <a16:creationId xmlns:a16="http://schemas.microsoft.com/office/drawing/2014/main" id="{FEEC6E99-40DC-4E3A-8C1B-FDF6B69E6BBB}"/>
              </a:ext>
            </a:extLst>
          </p:cNvPr>
          <p:cNvSpPr>
            <a:spLocks noGrp="1"/>
          </p:cNvSpPr>
          <p:nvPr/>
        </p:nvSpPr>
        <p:spPr>
          <a:xfrm>
            <a:off x="533400" y="266700"/>
            <a:ext cx="74295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200" b="1">
                <a:solidFill>
                  <a:srgbClr val="830051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830051"/>
                </a:solidFill>
                <a:latin typeface="Arial"/>
                <a:ea typeface="Arial"/>
                <a:cs typeface="Arial"/>
              </a:rPr>
              <a:t>THEORY</a:t>
            </a:r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3C73A95B-CEBE-42F6-8E00-FB64E205C0E6}"/>
              </a:ext>
            </a:extLst>
          </p:cNvPr>
          <p:cNvSpPr>
            <a:spLocks noGrp="1"/>
          </p:cNvSpPr>
          <p:nvPr/>
        </p:nvSpPr>
        <p:spPr>
          <a:xfrm>
            <a:off x="533400" y="590550"/>
            <a:ext cx="10477500" cy="552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4000"/>
              </a:lnSpc>
              <a:buNone/>
              <a:defRPr sz="337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WHIP and WHEP</a:t>
            </a:r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D1664D82-8A67-42D7-8E82-9327F95846E8}"/>
              </a:ext>
            </a:extLst>
          </p:cNvPr>
          <p:cNvSpPr>
            <a:spLocks noGrp="1"/>
          </p:cNvSpPr>
          <p:nvPr/>
        </p:nvSpPr>
        <p:spPr>
          <a:xfrm>
            <a:off x="533400" y="1257300"/>
            <a:ext cx="11125200" cy="28575"/>
          </a:xfrm>
          <a:prstGeom prst="rect">
            <a:avLst/>
          </a:prstGeom>
          <a:solidFill>
            <a:srgbClr val="830051"/>
          </a:solidFill>
          <a:ln w="0"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96D2E29F-26F7-4D0D-AB67-33CEA17C466D}"/>
              </a:ext>
            </a:extLst>
          </p:cNvPr>
          <p:cNvSpPr>
            <a:spLocks noGrp="1"/>
          </p:cNvSpPr>
          <p:nvPr/>
        </p:nvSpPr>
        <p:spPr>
          <a:xfrm>
            <a:off x="10858500" y="6457950"/>
            <a:ext cx="8001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4000"/>
              </a:lnSpc>
              <a:buNone/>
              <a:defRPr sz="1125" b="1">
                <a:solidFill>
                  <a:srgbClr val="6F686D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6F686D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  <p:sp>
        <p:nvSpPr>
          <p:cNvPr id="5" name="Rectángulo: esquinas redondeadas 4">
            <a:extLst>
              <a:ext uri="{FF2B5EF4-FFF2-40B4-BE49-F238E27FC236}">
                <a16:creationId xmlns:a16="http://schemas.microsoft.com/office/drawing/2014/main" id="{DA1E9A8C-6EBE-4DF7-8FF2-681BFA5C120D}"/>
              </a:ext>
            </a:extLst>
          </p:cNvPr>
          <p:cNvSpPr>
            <a:spLocks noGrp="1"/>
          </p:cNvSpPr>
          <p:nvPr/>
        </p:nvSpPr>
        <p:spPr>
          <a:xfrm>
            <a:off x="666750" y="2324100"/>
            <a:ext cx="2238375" cy="9525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9050">
            <a:solidFill>
              <a:srgbClr val="830051"/>
            </a:solidFill>
            <a:prstDash val="solid"/>
          </a:ln>
        </p:spPr>
        <p:txBody>
          <a:bodyPr wrap="square" lIns="114300" tIns="76200" rIns="114300" bIns="76200" anchor="ctr">
            <a:noAutofit/>
          </a:bodyPr>
          <a:lstStyle/>
          <a:p>
            <a:pPr algn="ctr">
              <a:lnSpc>
                <a:spcPct val="104000"/>
              </a:lnSpc>
              <a:buNone/>
              <a:defRPr sz="172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Publisher / device</a:t>
            </a:r>
          </a:p>
        </p:txBody>
      </p:sp>
      <p:sp>
        <p:nvSpPr>
          <p:cNvPr id="6" name="Rectángulo: esquinas redondeadas 5">
            <a:extLst>
              <a:ext uri="{FF2B5EF4-FFF2-40B4-BE49-F238E27FC236}">
                <a16:creationId xmlns:a16="http://schemas.microsoft.com/office/drawing/2014/main" id="{76ACB176-7671-4D1D-A4B2-2F6183760695}"/>
              </a:ext>
            </a:extLst>
          </p:cNvPr>
          <p:cNvSpPr>
            <a:spLocks noGrp="1"/>
          </p:cNvSpPr>
          <p:nvPr/>
        </p:nvSpPr>
        <p:spPr>
          <a:xfrm>
            <a:off x="4667250" y="2095500"/>
            <a:ext cx="2857500" cy="1409700"/>
          </a:xfrm>
          <a:prstGeom prst="roundRect">
            <a:avLst>
              <a:gd name="adj" fmla="val 9459"/>
            </a:avLst>
          </a:prstGeom>
          <a:solidFill>
            <a:srgbClr val="830051"/>
          </a:solidFill>
          <a:ln w="19050">
            <a:solidFill>
              <a:srgbClr val="830051"/>
            </a:solidFill>
            <a:prstDash val="solid"/>
          </a:ln>
        </p:spPr>
        <p:txBody>
          <a:bodyPr wrap="square" lIns="114300" tIns="76200" rIns="114300" bIns="76200" anchor="ctr">
            <a:noAutofit/>
          </a:bodyPr>
          <a:lstStyle/>
          <a:p>
            <a:pPr algn="ctr">
              <a:lnSpc>
                <a:spcPct val="104000"/>
              </a:lnSpc>
              <a:buNone/>
              <a:defRPr sz="21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Central media server</a:t>
            </a:r>
          </a:p>
        </p:txBody>
      </p:sp>
      <p:sp>
        <p:nvSpPr>
          <p:cNvPr id="7" name="Rectángulo: esquinas redondeadas 6">
            <a:extLst>
              <a:ext uri="{FF2B5EF4-FFF2-40B4-BE49-F238E27FC236}">
                <a16:creationId xmlns:a16="http://schemas.microsoft.com/office/drawing/2014/main" id="{1FC1F63D-FD1C-4B73-B29B-8D7D55B943A9}"/>
              </a:ext>
            </a:extLst>
          </p:cNvPr>
          <p:cNvSpPr>
            <a:spLocks noGrp="1"/>
          </p:cNvSpPr>
          <p:nvPr/>
        </p:nvSpPr>
        <p:spPr>
          <a:xfrm>
            <a:off x="9286875" y="2324100"/>
            <a:ext cx="2238375" cy="9525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9050">
            <a:solidFill>
              <a:srgbClr val="830051"/>
            </a:solidFill>
            <a:prstDash val="solid"/>
          </a:ln>
        </p:spPr>
        <p:txBody>
          <a:bodyPr wrap="square" lIns="114300" tIns="76200" rIns="114300" bIns="76200" anchor="ctr">
            <a:noAutofit/>
          </a:bodyPr>
          <a:lstStyle/>
          <a:p>
            <a:pPr algn="ctr">
              <a:lnSpc>
                <a:spcPct val="104000"/>
              </a:lnSpc>
              <a:buNone/>
              <a:defRPr sz="172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Viewer / browser</a:t>
            </a:r>
          </a:p>
        </p:txBody>
      </p:sp>
      <p:cxnSp>
        <p:nvCxnSpPr>
          <p:cNvPr id="27" name="Conector recto de flecha 26"/>
          <p:cNvCxnSpPr>
            <a:stCxn id="5" idx="3"/>
            <a:endCxn id="6" idx="1"/>
          </p:cNvCxnSpPr>
          <p:nvPr/>
        </p:nvCxnSpPr>
        <p:spPr>
          <a:xfrm>
            <a:off x="2905125" y="2800350"/>
            <a:ext cx="1762125" cy="0"/>
          </a:xfrm>
          <a:prstGeom prst="straightConnector1">
            <a:avLst/>
          </a:prstGeom>
          <a:ln w="19050">
            <a:solidFill>
              <a:srgbClr val="830051"/>
            </a:solidFill>
            <a:prstDash val="solid"/>
            <a:tailEnd type="triangle" w="sm" len="sm"/>
          </a:ln>
        </p:spPr>
      </p:cxnSp>
      <p:cxnSp>
        <p:nvCxnSpPr>
          <p:cNvPr id="28" name="Conector recto de flecha 27"/>
          <p:cNvCxnSpPr>
            <a:stCxn id="6" idx="3"/>
            <a:endCxn id="7" idx="1"/>
          </p:cNvCxnSpPr>
          <p:nvPr/>
        </p:nvCxnSpPr>
        <p:spPr>
          <a:xfrm>
            <a:off x="7524750" y="2800350"/>
            <a:ext cx="1762125" cy="0"/>
          </a:xfrm>
          <a:prstGeom prst="straightConnector1">
            <a:avLst/>
          </a:prstGeom>
          <a:ln w="19050">
            <a:solidFill>
              <a:srgbClr val="830051"/>
            </a:solidFill>
            <a:prstDash val="solid"/>
            <a:tailEnd type="triangle" w="sm" len="sm"/>
          </a:ln>
        </p:spPr>
      </p:cxnSp>
      <p:sp>
        <p:nvSpPr>
          <p:cNvPr id="10" name="Rectángulo 9">
            <a:extLst>
              <a:ext uri="{FF2B5EF4-FFF2-40B4-BE49-F238E27FC236}">
                <a16:creationId xmlns:a16="http://schemas.microsoft.com/office/drawing/2014/main" id="{D6FD8302-EB57-4BB1-A275-1BD05698EE6F}"/>
              </a:ext>
            </a:extLst>
          </p:cNvPr>
          <p:cNvSpPr>
            <a:spLocks noGrp="1"/>
          </p:cNvSpPr>
          <p:nvPr/>
        </p:nvSpPr>
        <p:spPr>
          <a:xfrm>
            <a:off x="3143250" y="2019300"/>
            <a:ext cx="1276350" cy="381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4000"/>
              </a:lnSpc>
              <a:buNone/>
              <a:defRPr sz="2250" b="1">
                <a:solidFill>
                  <a:srgbClr val="830051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830051"/>
                </a:solidFill>
                <a:latin typeface="Arial"/>
                <a:ea typeface="Arial"/>
                <a:cs typeface="Arial"/>
              </a:rPr>
              <a:t>WHIP</a:t>
            </a:r>
          </a:p>
        </p:txBody>
      </p:sp>
      <p:sp>
        <p:nvSpPr>
          <p:cNvPr id="11" name="Rectángulo 10">
            <a:extLst>
              <a:ext uri="{FF2B5EF4-FFF2-40B4-BE49-F238E27FC236}">
                <a16:creationId xmlns:a16="http://schemas.microsoft.com/office/drawing/2014/main" id="{6A2937FE-9C16-476E-91AC-DDE5430FEE73}"/>
              </a:ext>
            </a:extLst>
          </p:cNvPr>
          <p:cNvSpPr>
            <a:spLocks noGrp="1"/>
          </p:cNvSpPr>
          <p:nvPr/>
        </p:nvSpPr>
        <p:spPr>
          <a:xfrm>
            <a:off x="3143250" y="2457450"/>
            <a:ext cx="127635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4000"/>
              </a:lnSpc>
              <a:buNone/>
              <a:defRPr sz="1425" b="0">
                <a:solidFill>
                  <a:srgbClr val="6F686D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6F686D"/>
                </a:solidFill>
                <a:latin typeface="Arial"/>
                <a:ea typeface="Arial"/>
                <a:cs typeface="Arial"/>
              </a:rPr>
              <a:t>ingest</a:t>
            </a:r>
          </a:p>
        </p:txBody>
      </p:sp>
      <p:sp>
        <p:nvSpPr>
          <p:cNvPr id="12" name="Rectángulo 11">
            <a:extLst>
              <a:ext uri="{FF2B5EF4-FFF2-40B4-BE49-F238E27FC236}">
                <a16:creationId xmlns:a16="http://schemas.microsoft.com/office/drawing/2014/main" id="{9A1D6659-F94A-4D68-B1AC-74280416F9D6}"/>
              </a:ext>
            </a:extLst>
          </p:cNvPr>
          <p:cNvSpPr>
            <a:spLocks noGrp="1"/>
          </p:cNvSpPr>
          <p:nvPr/>
        </p:nvSpPr>
        <p:spPr>
          <a:xfrm>
            <a:off x="7772400" y="2019300"/>
            <a:ext cx="1276350" cy="381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4000"/>
              </a:lnSpc>
              <a:buNone/>
              <a:defRPr sz="2250" b="1">
                <a:solidFill>
                  <a:srgbClr val="830051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830051"/>
                </a:solidFill>
                <a:latin typeface="Arial"/>
                <a:ea typeface="Arial"/>
                <a:cs typeface="Arial"/>
              </a:rPr>
              <a:t>WHEP</a:t>
            </a:r>
          </a:p>
        </p:txBody>
      </p:sp>
      <p:sp>
        <p:nvSpPr>
          <p:cNvPr id="13" name="Rectángulo 12">
            <a:extLst>
              <a:ext uri="{FF2B5EF4-FFF2-40B4-BE49-F238E27FC236}">
                <a16:creationId xmlns:a16="http://schemas.microsoft.com/office/drawing/2014/main" id="{CA28D386-9EC8-40A4-9621-86AB18CA782F}"/>
              </a:ext>
            </a:extLst>
          </p:cNvPr>
          <p:cNvSpPr>
            <a:spLocks noGrp="1"/>
          </p:cNvSpPr>
          <p:nvPr/>
        </p:nvSpPr>
        <p:spPr>
          <a:xfrm>
            <a:off x="7772400" y="2457450"/>
            <a:ext cx="127635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4000"/>
              </a:lnSpc>
              <a:buNone/>
              <a:defRPr sz="1425" b="0">
                <a:solidFill>
                  <a:srgbClr val="6F686D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6F686D"/>
                </a:solidFill>
                <a:latin typeface="Arial"/>
                <a:ea typeface="Arial"/>
                <a:cs typeface="Arial"/>
              </a:rPr>
              <a:t>egress</a:t>
            </a:r>
          </a:p>
        </p:txBody>
      </p:sp>
      <p:sp>
        <p:nvSpPr>
          <p:cNvPr id="14" name="Rectángulo 13">
            <a:extLst>
              <a:ext uri="{FF2B5EF4-FFF2-40B4-BE49-F238E27FC236}">
                <a16:creationId xmlns:a16="http://schemas.microsoft.com/office/drawing/2014/main" id="{B8AF4BF9-A016-465A-AA58-6CF470A3644F}"/>
              </a:ext>
            </a:extLst>
          </p:cNvPr>
          <p:cNvSpPr>
            <a:spLocks noGrp="1"/>
          </p:cNvSpPr>
          <p:nvPr/>
        </p:nvSpPr>
        <p:spPr>
          <a:xfrm>
            <a:off x="2895600" y="3067050"/>
            <a:ext cx="17335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4000"/>
              </a:lnSpc>
              <a:buNone/>
              <a:defRPr sz="127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WebRTC session 1</a:t>
            </a:r>
          </a:p>
        </p:txBody>
      </p:sp>
      <p:sp>
        <p:nvSpPr>
          <p:cNvPr id="15" name="Rectángulo 14">
            <a:extLst>
              <a:ext uri="{FF2B5EF4-FFF2-40B4-BE49-F238E27FC236}">
                <a16:creationId xmlns:a16="http://schemas.microsoft.com/office/drawing/2014/main" id="{1F7980CD-4735-4DC1-883F-58671DACA570}"/>
              </a:ext>
            </a:extLst>
          </p:cNvPr>
          <p:cNvSpPr>
            <a:spLocks noGrp="1"/>
          </p:cNvSpPr>
          <p:nvPr/>
        </p:nvSpPr>
        <p:spPr>
          <a:xfrm>
            <a:off x="7562850" y="3067050"/>
            <a:ext cx="17335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4000"/>
              </a:lnSpc>
              <a:buNone/>
              <a:defRPr sz="127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WebRTC session 2</a:t>
            </a:r>
          </a:p>
        </p:txBody>
      </p:sp>
      <p:sp>
        <p:nvSpPr>
          <p:cNvPr id="16" name="Rectángulo: esquinas redondeadas 15">
            <a:extLst>
              <a:ext uri="{FF2B5EF4-FFF2-40B4-BE49-F238E27FC236}">
                <a16:creationId xmlns:a16="http://schemas.microsoft.com/office/drawing/2014/main" id="{84B2128C-5866-45BF-8659-458BAE9C61CA}"/>
              </a:ext>
            </a:extLst>
          </p:cNvPr>
          <p:cNvSpPr>
            <a:spLocks noGrp="1"/>
          </p:cNvSpPr>
          <p:nvPr/>
        </p:nvSpPr>
        <p:spPr>
          <a:xfrm>
            <a:off x="952500" y="4152900"/>
            <a:ext cx="10287000" cy="1162050"/>
          </a:xfrm>
          <a:prstGeom prst="roundRect">
            <a:avLst>
              <a:gd name="adj" fmla="val 11475"/>
            </a:avLst>
          </a:prstGeom>
          <a:solidFill>
            <a:srgbClr val="F5EDF2"/>
          </a:solidFill>
          <a:ln w="0"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17" name="Rectángulo 16">
            <a:extLst>
              <a:ext uri="{FF2B5EF4-FFF2-40B4-BE49-F238E27FC236}">
                <a16:creationId xmlns:a16="http://schemas.microsoft.com/office/drawing/2014/main" id="{8D7505FE-036C-404C-85F7-84AB0AC5FC85}"/>
              </a:ext>
            </a:extLst>
          </p:cNvPr>
          <p:cNvSpPr>
            <a:spLocks noGrp="1"/>
          </p:cNvSpPr>
          <p:nvPr/>
        </p:nvSpPr>
        <p:spPr>
          <a:xfrm>
            <a:off x="1238250" y="4400550"/>
            <a:ext cx="2381250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875" b="1">
                <a:solidFill>
                  <a:srgbClr val="510034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510034"/>
                </a:solidFill>
                <a:latin typeface="Arial"/>
                <a:ea typeface="Arial"/>
                <a:cs typeface="Arial"/>
              </a:rPr>
              <a:t>HTTP session lifecycle</a:t>
            </a:r>
          </a:p>
        </p:txBody>
      </p:sp>
      <p:sp>
        <p:nvSpPr>
          <p:cNvPr id="18" name="Rectángulo 17">
            <a:extLst>
              <a:ext uri="{FF2B5EF4-FFF2-40B4-BE49-F238E27FC236}">
                <a16:creationId xmlns:a16="http://schemas.microsoft.com/office/drawing/2014/main" id="{CFBC03B7-1172-4C4D-9DEE-9D823012C74E}"/>
              </a:ext>
            </a:extLst>
          </p:cNvPr>
          <p:cNvSpPr>
            <a:spLocks noGrp="1"/>
          </p:cNvSpPr>
          <p:nvPr/>
        </p:nvSpPr>
        <p:spPr>
          <a:xfrm>
            <a:off x="3829050" y="4400550"/>
            <a:ext cx="7086600" cy="590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4000"/>
              </a:lnSpc>
              <a:buNone/>
              <a:defRPr sz="1650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POST offer, 201 answer + Location, PATCH ICE updates, DELETE teardown</a:t>
            </a:r>
          </a:p>
        </p:txBody>
      </p:sp>
      <p:sp>
        <p:nvSpPr>
          <p:cNvPr id="19" name="Rectángulo 18">
            <a:extLst>
              <a:ext uri="{FF2B5EF4-FFF2-40B4-BE49-F238E27FC236}">
                <a16:creationId xmlns:a16="http://schemas.microsoft.com/office/drawing/2014/main" id="{E695D87A-2396-4879-898F-E01A164AC5FB}"/>
              </a:ext>
            </a:extLst>
          </p:cNvPr>
          <p:cNvSpPr>
            <a:spLocks noGrp="1"/>
          </p:cNvSpPr>
          <p:nvPr/>
        </p:nvSpPr>
        <p:spPr>
          <a:xfrm>
            <a:off x="1390650" y="5657850"/>
            <a:ext cx="9410700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4000"/>
              </a:lnSpc>
              <a:buNone/>
              <a:defRPr sz="1575" b="1">
                <a:solidFill>
                  <a:srgbClr val="510034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510034"/>
                </a:solidFill>
                <a:latin typeface="Arial"/>
                <a:ea typeface="Arial"/>
                <a:cs typeface="Arial"/>
              </a:rPr>
              <a:t>WHIP is RFC 9725. WHEP remains draft-ietf-wish-whep-04 as of 5 September 2026.</a:t>
            </a:r>
          </a:p>
        </p:txBody>
      </p:sp>
    </p:spTree>
    <p:extLst>
      <p:ext uri="{BB962C8B-B14F-4D97-AF65-F5344CB8AC3E}">
        <p14:creationId xmlns:p14="http://schemas.microsoft.com/office/powerpoint/2010/main" val="82688702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9F8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Rectángulo 26">
            <a:extLst>
              <a:ext uri="{FF2B5EF4-FFF2-40B4-BE49-F238E27FC236}">
                <a16:creationId xmlns:a16="http://schemas.microsoft.com/office/drawing/2014/main" id="{2328FD90-12B7-470E-86DE-D7ED327C2530}"/>
              </a:ext>
            </a:extLst>
          </p:cNvPr>
          <p:cNvSpPr>
            <a:spLocks noGrp="1"/>
          </p:cNvSpPr>
          <p:nvPr/>
        </p:nvSpPr>
        <p:spPr>
          <a:xfrm>
            <a:off x="533400" y="266700"/>
            <a:ext cx="74295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200" b="1">
                <a:solidFill>
                  <a:srgbClr val="830051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830051"/>
                </a:solidFill>
                <a:latin typeface="Arial"/>
                <a:ea typeface="Arial"/>
                <a:cs typeface="Arial"/>
              </a:rPr>
              <a:t>THEORY</a:t>
            </a:r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F63EAF4F-4E2C-48E5-B39C-8F869BF55EB8}"/>
              </a:ext>
            </a:extLst>
          </p:cNvPr>
          <p:cNvSpPr>
            <a:spLocks noGrp="1"/>
          </p:cNvSpPr>
          <p:nvPr/>
        </p:nvSpPr>
        <p:spPr>
          <a:xfrm>
            <a:off x="533400" y="590550"/>
            <a:ext cx="10477500" cy="552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4000"/>
              </a:lnSpc>
              <a:buNone/>
              <a:defRPr sz="292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292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WHIP/WHEP Concepts Implemented Through SignalR</a:t>
            </a:r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E1A97ED9-0276-4FA4-AF33-386A5B6A7548}"/>
              </a:ext>
            </a:extLst>
          </p:cNvPr>
          <p:cNvSpPr>
            <a:spLocks noGrp="1"/>
          </p:cNvSpPr>
          <p:nvPr/>
        </p:nvSpPr>
        <p:spPr>
          <a:xfrm>
            <a:off x="533400" y="1257300"/>
            <a:ext cx="11125200" cy="28575"/>
          </a:xfrm>
          <a:prstGeom prst="rect">
            <a:avLst/>
          </a:prstGeom>
          <a:solidFill>
            <a:srgbClr val="830051"/>
          </a:solidFill>
          <a:ln w="0"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136DD1C2-0340-41EE-8813-7359C1229755}"/>
              </a:ext>
            </a:extLst>
          </p:cNvPr>
          <p:cNvSpPr>
            <a:spLocks noGrp="1"/>
          </p:cNvSpPr>
          <p:nvPr/>
        </p:nvSpPr>
        <p:spPr>
          <a:xfrm>
            <a:off x="10858500" y="6457950"/>
            <a:ext cx="8001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4000"/>
              </a:lnSpc>
              <a:buNone/>
              <a:defRPr sz="1125" b="1">
                <a:solidFill>
                  <a:srgbClr val="6F686D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6F686D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  <p:sp>
        <p:nvSpPr>
          <p:cNvPr id="5" name="Rectángulo: esquinas redondeadas 4">
            <a:extLst>
              <a:ext uri="{FF2B5EF4-FFF2-40B4-BE49-F238E27FC236}">
                <a16:creationId xmlns:a16="http://schemas.microsoft.com/office/drawing/2014/main" id="{01128D49-6685-40A0-BBCF-E3040035F581}"/>
              </a:ext>
            </a:extLst>
          </p:cNvPr>
          <p:cNvSpPr>
            <a:spLocks noGrp="1"/>
          </p:cNvSpPr>
          <p:nvPr/>
        </p:nvSpPr>
        <p:spPr>
          <a:xfrm>
            <a:off x="609600" y="1524000"/>
            <a:ext cx="6305550" cy="3924300"/>
          </a:xfrm>
          <a:prstGeom prst="roundRect">
            <a:avLst>
              <a:gd name="adj" fmla="val 3883"/>
            </a:avLst>
          </a:prstGeom>
          <a:solidFill>
            <a:srgbClr val="830051"/>
          </a:solidFill>
          <a:ln w="0"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E05A595E-F80C-475E-96F1-28D9835297F3}"/>
              </a:ext>
            </a:extLst>
          </p:cNvPr>
          <p:cNvSpPr>
            <a:spLocks noGrp="1"/>
          </p:cNvSpPr>
          <p:nvPr/>
        </p:nvSpPr>
        <p:spPr>
          <a:xfrm>
            <a:off x="914400" y="1828800"/>
            <a:ext cx="5695950" cy="3257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“I implemented the WHIP and WHEP signaling concepts through SignalR. I did not implement the complete HTTP protocols because WHIP and WHEP are designed for device-to-central-server ingestion and central-server-to-browser egress. This project keeps the central server outside the video path and uses it only for signaling.”</a:t>
            </a:r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11E39149-CEFC-4E05-8D4A-32FBEC2B6DC6}"/>
              </a:ext>
            </a:extLst>
          </p:cNvPr>
          <p:cNvSpPr>
            <a:spLocks noGrp="1"/>
          </p:cNvSpPr>
          <p:nvPr/>
        </p:nvSpPr>
        <p:spPr>
          <a:xfrm>
            <a:off x="7334250" y="1657350"/>
            <a:ext cx="40005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200" b="1">
                <a:solidFill>
                  <a:srgbClr val="6F686D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F686D"/>
                </a:solidFill>
                <a:latin typeface="Arial"/>
                <a:ea typeface="Arial"/>
                <a:cs typeface="Arial"/>
              </a:rPr>
              <a:t>CONCEPT MAPPING</a:t>
            </a:r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38148166-23E4-45AB-8E4A-FD1F0AE85964}"/>
              </a:ext>
            </a:extLst>
          </p:cNvPr>
          <p:cNvSpPr>
            <a:spLocks noGrp="1"/>
          </p:cNvSpPr>
          <p:nvPr/>
        </p:nvSpPr>
        <p:spPr>
          <a:xfrm>
            <a:off x="7334250" y="2038350"/>
            <a:ext cx="1695450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4000"/>
              </a:lnSpc>
              <a:buNone/>
              <a:defRPr sz="1425" b="1">
                <a:solidFill>
                  <a:srgbClr val="510034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510034"/>
                </a:solidFill>
                <a:latin typeface="Arial"/>
                <a:ea typeface="Arial"/>
                <a:cs typeface="Arial"/>
              </a:rPr>
              <a:t>Publisher / viewer</a:t>
            </a:r>
          </a:p>
        </p:txBody>
      </p:sp>
      <p:sp>
        <p:nvSpPr>
          <p:cNvPr id="9" name="Rectángulo 8">
            <a:extLst>
              <a:ext uri="{FF2B5EF4-FFF2-40B4-BE49-F238E27FC236}">
                <a16:creationId xmlns:a16="http://schemas.microsoft.com/office/drawing/2014/main" id="{C49DBCC3-B5BC-49D2-96F2-4B634A660DC0}"/>
              </a:ext>
            </a:extLst>
          </p:cNvPr>
          <p:cNvSpPr>
            <a:spLocks noGrp="1"/>
          </p:cNvSpPr>
          <p:nvPr/>
        </p:nvSpPr>
        <p:spPr>
          <a:xfrm>
            <a:off x="9105900" y="2038350"/>
            <a:ext cx="2381250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4000"/>
              </a:lnSpc>
              <a:buNone/>
              <a:defRPr sz="1425" b="0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171417"/>
                </a:solidFill>
                <a:latin typeface="Arial"/>
                <a:ea typeface="Arial"/>
                <a:cs typeface="Arial"/>
              </a:rPr>
              <a:t>device / browser</a:t>
            </a:r>
          </a:p>
        </p:txBody>
      </p:sp>
      <p:sp>
        <p:nvSpPr>
          <p:cNvPr id="10" name="Conector recto 9">
            <a:extLst>
              <a:ext uri="{FF2B5EF4-FFF2-40B4-BE49-F238E27FC236}">
                <a16:creationId xmlns:a16="http://schemas.microsoft.com/office/drawing/2014/main" id="{C5776152-9A48-46AB-A8F4-818F10E90BCD}"/>
              </a:ext>
            </a:extLst>
          </p:cNvPr>
          <p:cNvSpPr>
            <a:spLocks noGrp="1"/>
          </p:cNvSpPr>
          <p:nvPr/>
        </p:nvSpPr>
        <p:spPr>
          <a:xfrm>
            <a:off x="7334250" y="2514600"/>
            <a:ext cx="4152900" cy="0"/>
          </a:xfrm>
          <a:prstGeom prst="line">
            <a:avLst/>
          </a:prstGeom>
          <a:noFill/>
          <a:ln w="9525">
            <a:solidFill>
              <a:srgbClr val="E7E3E5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" name="Rectángulo 10">
            <a:extLst>
              <a:ext uri="{FF2B5EF4-FFF2-40B4-BE49-F238E27FC236}">
                <a16:creationId xmlns:a16="http://schemas.microsoft.com/office/drawing/2014/main" id="{1ACB4D84-44D7-4F49-9980-2023FD31EFFE}"/>
              </a:ext>
            </a:extLst>
          </p:cNvPr>
          <p:cNvSpPr>
            <a:spLocks noGrp="1"/>
          </p:cNvSpPr>
          <p:nvPr/>
        </p:nvSpPr>
        <p:spPr>
          <a:xfrm>
            <a:off x="7334250" y="2609850"/>
            <a:ext cx="1695450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4000"/>
              </a:lnSpc>
              <a:buNone/>
              <a:defRPr sz="1425" b="1">
                <a:solidFill>
                  <a:srgbClr val="510034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510034"/>
                </a:solidFill>
                <a:latin typeface="Arial"/>
                <a:ea typeface="Arial"/>
                <a:cs typeface="Arial"/>
              </a:rPr>
              <a:t>SDP exchange</a:t>
            </a:r>
          </a:p>
        </p:txBody>
      </p:sp>
      <p:sp>
        <p:nvSpPr>
          <p:cNvPr id="12" name="Rectángulo 11">
            <a:extLst>
              <a:ext uri="{FF2B5EF4-FFF2-40B4-BE49-F238E27FC236}">
                <a16:creationId xmlns:a16="http://schemas.microsoft.com/office/drawing/2014/main" id="{4278A8DC-0CA0-4660-9DE0-2E03E2071425}"/>
              </a:ext>
            </a:extLst>
          </p:cNvPr>
          <p:cNvSpPr>
            <a:spLocks noGrp="1"/>
          </p:cNvSpPr>
          <p:nvPr/>
        </p:nvSpPr>
        <p:spPr>
          <a:xfrm>
            <a:off x="9105900" y="2609850"/>
            <a:ext cx="2381250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4000"/>
              </a:lnSpc>
              <a:buNone/>
              <a:defRPr sz="1425" b="0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171417"/>
                </a:solidFill>
                <a:latin typeface="Arial"/>
                <a:ea typeface="Arial"/>
                <a:cs typeface="Arial"/>
              </a:rPr>
              <a:t>SignalR offer / answer</a:t>
            </a:r>
          </a:p>
        </p:txBody>
      </p:sp>
      <p:sp>
        <p:nvSpPr>
          <p:cNvPr id="13" name="Conector recto 12">
            <a:extLst>
              <a:ext uri="{FF2B5EF4-FFF2-40B4-BE49-F238E27FC236}">
                <a16:creationId xmlns:a16="http://schemas.microsoft.com/office/drawing/2014/main" id="{921C7C01-5066-4243-A9A3-3CEFACBBF41C}"/>
              </a:ext>
            </a:extLst>
          </p:cNvPr>
          <p:cNvSpPr>
            <a:spLocks noGrp="1"/>
          </p:cNvSpPr>
          <p:nvPr/>
        </p:nvSpPr>
        <p:spPr>
          <a:xfrm>
            <a:off x="7334250" y="3086100"/>
            <a:ext cx="4152900" cy="0"/>
          </a:xfrm>
          <a:prstGeom prst="line">
            <a:avLst/>
          </a:prstGeom>
          <a:noFill/>
          <a:ln w="9525">
            <a:solidFill>
              <a:srgbClr val="E7E3E5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4" name="Rectángulo 13">
            <a:extLst>
              <a:ext uri="{FF2B5EF4-FFF2-40B4-BE49-F238E27FC236}">
                <a16:creationId xmlns:a16="http://schemas.microsoft.com/office/drawing/2014/main" id="{1CB5B3DB-B2DF-4A43-AFFE-FECA07CE53C9}"/>
              </a:ext>
            </a:extLst>
          </p:cNvPr>
          <p:cNvSpPr>
            <a:spLocks noGrp="1"/>
          </p:cNvSpPr>
          <p:nvPr/>
        </p:nvSpPr>
        <p:spPr>
          <a:xfrm>
            <a:off x="7334250" y="3181350"/>
            <a:ext cx="1695450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4000"/>
              </a:lnSpc>
              <a:buNone/>
              <a:defRPr sz="1425" b="1">
                <a:solidFill>
                  <a:srgbClr val="510034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510034"/>
                </a:solidFill>
                <a:latin typeface="Arial"/>
                <a:ea typeface="Arial"/>
                <a:cs typeface="Arial"/>
              </a:rPr>
              <a:t>ICE updates</a:t>
            </a:r>
          </a:p>
        </p:txBody>
      </p:sp>
      <p:sp>
        <p:nvSpPr>
          <p:cNvPr id="15" name="Rectángulo 14">
            <a:extLst>
              <a:ext uri="{FF2B5EF4-FFF2-40B4-BE49-F238E27FC236}">
                <a16:creationId xmlns:a16="http://schemas.microsoft.com/office/drawing/2014/main" id="{99982218-165F-4C37-A744-3C51FF255A4A}"/>
              </a:ext>
            </a:extLst>
          </p:cNvPr>
          <p:cNvSpPr>
            <a:spLocks noGrp="1"/>
          </p:cNvSpPr>
          <p:nvPr/>
        </p:nvSpPr>
        <p:spPr>
          <a:xfrm>
            <a:off x="9105900" y="3181350"/>
            <a:ext cx="2381250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4000"/>
              </a:lnSpc>
              <a:buNone/>
              <a:defRPr sz="1425" b="0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171417"/>
                </a:solidFill>
                <a:latin typeface="Arial"/>
                <a:ea typeface="Arial"/>
                <a:cs typeface="Arial"/>
              </a:rPr>
              <a:t>SignalR candidate events</a:t>
            </a:r>
          </a:p>
        </p:txBody>
      </p:sp>
      <p:sp>
        <p:nvSpPr>
          <p:cNvPr id="16" name="Conector recto 15">
            <a:extLst>
              <a:ext uri="{FF2B5EF4-FFF2-40B4-BE49-F238E27FC236}">
                <a16:creationId xmlns:a16="http://schemas.microsoft.com/office/drawing/2014/main" id="{C5F3D6A0-3727-4DD2-9C85-9D5FC016066C}"/>
              </a:ext>
            </a:extLst>
          </p:cNvPr>
          <p:cNvSpPr>
            <a:spLocks noGrp="1"/>
          </p:cNvSpPr>
          <p:nvPr/>
        </p:nvSpPr>
        <p:spPr>
          <a:xfrm>
            <a:off x="7334250" y="3657600"/>
            <a:ext cx="4152900" cy="0"/>
          </a:xfrm>
          <a:prstGeom prst="line">
            <a:avLst/>
          </a:prstGeom>
          <a:noFill/>
          <a:ln w="9525">
            <a:solidFill>
              <a:srgbClr val="E7E3E5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7" name="Rectángulo 16">
            <a:extLst>
              <a:ext uri="{FF2B5EF4-FFF2-40B4-BE49-F238E27FC236}">
                <a16:creationId xmlns:a16="http://schemas.microsoft.com/office/drawing/2014/main" id="{9B8F0ED1-E250-47E8-82FF-AAD4FD644C9C}"/>
              </a:ext>
            </a:extLst>
          </p:cNvPr>
          <p:cNvSpPr>
            <a:spLocks noGrp="1"/>
          </p:cNvSpPr>
          <p:nvPr/>
        </p:nvSpPr>
        <p:spPr>
          <a:xfrm>
            <a:off x="7334250" y="3752850"/>
            <a:ext cx="1695450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4000"/>
              </a:lnSpc>
              <a:buNone/>
              <a:defRPr sz="1425" b="1">
                <a:solidFill>
                  <a:srgbClr val="510034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510034"/>
                </a:solidFill>
                <a:latin typeface="Arial"/>
                <a:ea typeface="Arial"/>
                <a:cs typeface="Arial"/>
              </a:rPr>
              <a:t>Session lifecycle</a:t>
            </a:r>
          </a:p>
        </p:txBody>
      </p:sp>
      <p:sp>
        <p:nvSpPr>
          <p:cNvPr id="18" name="Rectángulo 17">
            <a:extLst>
              <a:ext uri="{FF2B5EF4-FFF2-40B4-BE49-F238E27FC236}">
                <a16:creationId xmlns:a16="http://schemas.microsoft.com/office/drawing/2014/main" id="{48B2A727-C03C-44C8-A72A-13E6BB6CEEF7}"/>
              </a:ext>
            </a:extLst>
          </p:cNvPr>
          <p:cNvSpPr>
            <a:spLocks noGrp="1"/>
          </p:cNvSpPr>
          <p:nvPr/>
        </p:nvSpPr>
        <p:spPr>
          <a:xfrm>
            <a:off x="9105900" y="3752850"/>
            <a:ext cx="2381250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4000"/>
              </a:lnSpc>
              <a:buNone/>
              <a:defRPr sz="1425" b="0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171417"/>
                </a:solidFill>
                <a:latin typeface="Arial"/>
                <a:ea typeface="Arial"/>
                <a:cs typeface="Arial"/>
              </a:rPr>
              <a:t>hub group + peer state</a:t>
            </a:r>
          </a:p>
        </p:txBody>
      </p:sp>
      <p:sp>
        <p:nvSpPr>
          <p:cNvPr id="19" name="Conector recto 18">
            <a:extLst>
              <a:ext uri="{FF2B5EF4-FFF2-40B4-BE49-F238E27FC236}">
                <a16:creationId xmlns:a16="http://schemas.microsoft.com/office/drawing/2014/main" id="{8BA963FA-6299-4E60-848E-894818D2BE1D}"/>
              </a:ext>
            </a:extLst>
          </p:cNvPr>
          <p:cNvSpPr>
            <a:spLocks noGrp="1"/>
          </p:cNvSpPr>
          <p:nvPr/>
        </p:nvSpPr>
        <p:spPr>
          <a:xfrm>
            <a:off x="7334250" y="4229100"/>
            <a:ext cx="4152900" cy="0"/>
          </a:xfrm>
          <a:prstGeom prst="line">
            <a:avLst/>
          </a:prstGeom>
          <a:noFill/>
          <a:ln w="9525">
            <a:solidFill>
              <a:srgbClr val="E7E3E5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0" name="Rectángulo 19">
            <a:extLst>
              <a:ext uri="{FF2B5EF4-FFF2-40B4-BE49-F238E27FC236}">
                <a16:creationId xmlns:a16="http://schemas.microsoft.com/office/drawing/2014/main" id="{61F919E6-0BCE-4444-80B7-B693B6EA0005}"/>
              </a:ext>
            </a:extLst>
          </p:cNvPr>
          <p:cNvSpPr>
            <a:spLocks noGrp="1"/>
          </p:cNvSpPr>
          <p:nvPr/>
        </p:nvSpPr>
        <p:spPr>
          <a:xfrm>
            <a:off x="7334250" y="4324350"/>
            <a:ext cx="1695450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4000"/>
              </a:lnSpc>
              <a:buNone/>
              <a:defRPr sz="1425" b="1">
                <a:solidFill>
                  <a:srgbClr val="510034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510034"/>
                </a:solidFill>
                <a:latin typeface="Arial"/>
                <a:ea typeface="Arial"/>
                <a:cs typeface="Arial"/>
              </a:rPr>
              <a:t>Termination</a:t>
            </a:r>
          </a:p>
        </p:txBody>
      </p:sp>
      <p:sp>
        <p:nvSpPr>
          <p:cNvPr id="21" name="Rectángulo 20">
            <a:extLst>
              <a:ext uri="{FF2B5EF4-FFF2-40B4-BE49-F238E27FC236}">
                <a16:creationId xmlns:a16="http://schemas.microsoft.com/office/drawing/2014/main" id="{34BFCA08-8B85-492F-B67A-7137C2E20775}"/>
              </a:ext>
            </a:extLst>
          </p:cNvPr>
          <p:cNvSpPr>
            <a:spLocks noGrp="1"/>
          </p:cNvSpPr>
          <p:nvPr/>
        </p:nvSpPr>
        <p:spPr>
          <a:xfrm>
            <a:off x="9105900" y="4324350"/>
            <a:ext cx="2381250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4000"/>
              </a:lnSpc>
              <a:buNone/>
              <a:defRPr sz="1425" b="0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171417"/>
                </a:solidFill>
                <a:latin typeface="Arial"/>
                <a:ea typeface="Arial"/>
                <a:cs typeface="Arial"/>
              </a:rPr>
              <a:t>partial disconnect / cleanup</a:t>
            </a:r>
          </a:p>
        </p:txBody>
      </p:sp>
      <p:sp>
        <p:nvSpPr>
          <p:cNvPr id="22" name="Conector recto 21">
            <a:extLst>
              <a:ext uri="{FF2B5EF4-FFF2-40B4-BE49-F238E27FC236}">
                <a16:creationId xmlns:a16="http://schemas.microsoft.com/office/drawing/2014/main" id="{AC857144-560B-47BB-A15C-3E6B3F4F6853}"/>
              </a:ext>
            </a:extLst>
          </p:cNvPr>
          <p:cNvSpPr>
            <a:spLocks noGrp="1"/>
          </p:cNvSpPr>
          <p:nvPr/>
        </p:nvSpPr>
        <p:spPr>
          <a:xfrm>
            <a:off x="7334250" y="4800600"/>
            <a:ext cx="4152900" cy="0"/>
          </a:xfrm>
          <a:prstGeom prst="line">
            <a:avLst/>
          </a:prstGeom>
          <a:noFill/>
          <a:ln w="9525">
            <a:solidFill>
              <a:srgbClr val="E7E3E5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3" name="Rectángulo: esquinas redondeadas 22">
            <a:extLst>
              <a:ext uri="{FF2B5EF4-FFF2-40B4-BE49-F238E27FC236}">
                <a16:creationId xmlns:a16="http://schemas.microsoft.com/office/drawing/2014/main" id="{4EE70063-6E79-4657-9DD5-646AAC84B762}"/>
              </a:ext>
            </a:extLst>
          </p:cNvPr>
          <p:cNvSpPr>
            <a:spLocks noGrp="1"/>
          </p:cNvSpPr>
          <p:nvPr/>
        </p:nvSpPr>
        <p:spPr>
          <a:xfrm>
            <a:off x="7334250" y="5048250"/>
            <a:ext cx="4152900" cy="666750"/>
          </a:xfrm>
          <a:prstGeom prst="roundRect">
            <a:avLst>
              <a:gd name="adj" fmla="val 14286"/>
            </a:avLst>
          </a:prstGeom>
          <a:solidFill>
            <a:srgbClr val="E7E3E5"/>
          </a:solidFill>
          <a:ln w="0"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24" name="Rectángulo 23">
            <a:extLst>
              <a:ext uri="{FF2B5EF4-FFF2-40B4-BE49-F238E27FC236}">
                <a16:creationId xmlns:a16="http://schemas.microsoft.com/office/drawing/2014/main" id="{AA916ECE-AE9D-4D01-BF0F-077A97566B91}"/>
              </a:ext>
            </a:extLst>
          </p:cNvPr>
          <p:cNvSpPr>
            <a:spLocks noGrp="1"/>
          </p:cNvSpPr>
          <p:nvPr/>
        </p:nvSpPr>
        <p:spPr>
          <a:xfrm>
            <a:off x="7524750" y="5181600"/>
            <a:ext cx="1314450" cy="304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4000"/>
              </a:lnSpc>
              <a:buNone/>
              <a:defRPr sz="1350" b="1">
                <a:solidFill>
                  <a:srgbClr val="6F686D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6F686D"/>
                </a:solidFill>
                <a:latin typeface="Arial"/>
                <a:ea typeface="Arial"/>
                <a:cs typeface="Arial"/>
              </a:rPr>
              <a:t>Protocol status</a:t>
            </a:r>
          </a:p>
        </p:txBody>
      </p:sp>
      <p:sp>
        <p:nvSpPr>
          <p:cNvPr id="25" name="Rectángulo 24">
            <a:extLst>
              <a:ext uri="{FF2B5EF4-FFF2-40B4-BE49-F238E27FC236}">
                <a16:creationId xmlns:a16="http://schemas.microsoft.com/office/drawing/2014/main" id="{8A031607-59BB-4316-9C06-5B0C910FD083}"/>
              </a:ext>
            </a:extLst>
          </p:cNvPr>
          <p:cNvSpPr>
            <a:spLocks noGrp="1"/>
          </p:cNvSpPr>
          <p:nvPr/>
        </p:nvSpPr>
        <p:spPr>
          <a:xfrm>
            <a:off x="8915400" y="5181600"/>
            <a:ext cx="2381250" cy="304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4000"/>
              </a:lnSpc>
              <a:buNone/>
              <a:defRPr sz="1500" b="1">
                <a:solidFill>
                  <a:srgbClr val="51003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510034"/>
                </a:solidFill>
                <a:latin typeface="Arial"/>
                <a:ea typeface="Arial"/>
                <a:cs typeface="Arial"/>
              </a:rPr>
              <a:t>HTTP endpoints return 501</a:t>
            </a:r>
          </a:p>
        </p:txBody>
      </p:sp>
      <p:sp>
        <p:nvSpPr>
          <p:cNvPr id="26" name="Rectángulo 25">
            <a:extLst>
              <a:ext uri="{FF2B5EF4-FFF2-40B4-BE49-F238E27FC236}">
                <a16:creationId xmlns:a16="http://schemas.microsoft.com/office/drawing/2014/main" id="{41906A37-BE0B-444C-A5F6-EED0DB1D3BED}"/>
              </a:ext>
            </a:extLst>
          </p:cNvPr>
          <p:cNvSpPr>
            <a:spLocks noGrp="1"/>
          </p:cNvSpPr>
          <p:nvPr/>
        </p:nvSpPr>
        <p:spPr>
          <a:xfrm>
            <a:off x="7334250" y="5876925"/>
            <a:ext cx="41529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4000"/>
              </a:lnSpc>
              <a:buNone/>
              <a:defRPr sz="1350" b="1">
                <a:solidFill>
                  <a:srgbClr val="830051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830051"/>
                </a:solidFill>
                <a:latin typeface="Arial"/>
                <a:ea typeface="Arial"/>
                <a:cs typeface="Arial"/>
              </a:rPr>
              <a:t>Concepts mapped. Protocol compliance remains unimplemented.</a:t>
            </a:r>
          </a:p>
        </p:txBody>
      </p:sp>
    </p:spTree>
    <p:extLst>
      <p:ext uri="{BB962C8B-B14F-4D97-AF65-F5344CB8AC3E}">
        <p14:creationId xmlns:p14="http://schemas.microsoft.com/office/powerpoint/2010/main" val="116101216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9F8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ángulo 18">
            <a:extLst>
              <a:ext uri="{FF2B5EF4-FFF2-40B4-BE49-F238E27FC236}">
                <a16:creationId xmlns:a16="http://schemas.microsoft.com/office/drawing/2014/main" id="{0C6F254D-3F6A-4148-BA6E-96F184E03461}"/>
              </a:ext>
            </a:extLst>
          </p:cNvPr>
          <p:cNvSpPr>
            <a:spLocks noGrp="1"/>
          </p:cNvSpPr>
          <p:nvPr/>
        </p:nvSpPr>
        <p:spPr>
          <a:xfrm>
            <a:off x="533400" y="266700"/>
            <a:ext cx="74295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200" b="1">
                <a:solidFill>
                  <a:srgbClr val="830051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830051"/>
                </a:solidFill>
                <a:latin typeface="Arial"/>
                <a:ea typeface="Arial"/>
                <a:cs typeface="Arial"/>
              </a:rPr>
              <a:t>ISSUES AND ITERATIONS</a:t>
            </a:r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A2928B2C-61A7-4EF9-896F-DC8A9BCEAC24}"/>
              </a:ext>
            </a:extLst>
          </p:cNvPr>
          <p:cNvSpPr>
            <a:spLocks noGrp="1"/>
          </p:cNvSpPr>
          <p:nvPr/>
        </p:nvSpPr>
        <p:spPr>
          <a:xfrm>
            <a:off x="533400" y="590550"/>
            <a:ext cx="10477500" cy="552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4000"/>
              </a:lnSpc>
              <a:buNone/>
              <a:defRPr sz="337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Initial Prototype Architecture</a:t>
            </a:r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53DED930-5044-49B9-96A4-6A663E9490BB}"/>
              </a:ext>
            </a:extLst>
          </p:cNvPr>
          <p:cNvSpPr>
            <a:spLocks noGrp="1"/>
          </p:cNvSpPr>
          <p:nvPr/>
        </p:nvSpPr>
        <p:spPr>
          <a:xfrm>
            <a:off x="533400" y="1257300"/>
            <a:ext cx="11125200" cy="28575"/>
          </a:xfrm>
          <a:prstGeom prst="rect">
            <a:avLst/>
          </a:prstGeom>
          <a:solidFill>
            <a:srgbClr val="830051"/>
          </a:solidFill>
          <a:ln w="0"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70F9C258-FAB2-482E-BD25-BA2371E0A997}"/>
              </a:ext>
            </a:extLst>
          </p:cNvPr>
          <p:cNvSpPr>
            <a:spLocks noGrp="1"/>
          </p:cNvSpPr>
          <p:nvPr/>
        </p:nvSpPr>
        <p:spPr>
          <a:xfrm>
            <a:off x="10858500" y="6457950"/>
            <a:ext cx="8001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4000"/>
              </a:lnSpc>
              <a:buNone/>
              <a:defRPr sz="1125" b="1">
                <a:solidFill>
                  <a:srgbClr val="6F686D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6F686D"/>
                </a:solidFill>
                <a:latin typeface="Arial"/>
                <a:ea typeface="Arial"/>
                <a:cs typeface="Arial"/>
              </a:rPr>
              <a:t>13</a:t>
            </a:r>
          </a:p>
        </p:txBody>
      </p:sp>
      <p:sp>
        <p:nvSpPr>
          <p:cNvPr id="5" name="Rectángulo: esquinas redondeadas 4">
            <a:extLst>
              <a:ext uri="{FF2B5EF4-FFF2-40B4-BE49-F238E27FC236}">
                <a16:creationId xmlns:a16="http://schemas.microsoft.com/office/drawing/2014/main" id="{B506B1E6-D505-45F6-BB44-0422D22FE157}"/>
              </a:ext>
            </a:extLst>
          </p:cNvPr>
          <p:cNvSpPr>
            <a:spLocks noGrp="1"/>
          </p:cNvSpPr>
          <p:nvPr/>
        </p:nvSpPr>
        <p:spPr>
          <a:xfrm>
            <a:off x="628650" y="2400300"/>
            <a:ext cx="2667000" cy="1123950"/>
          </a:xfrm>
          <a:prstGeom prst="roundRect">
            <a:avLst>
              <a:gd name="adj" fmla="val 11864"/>
            </a:avLst>
          </a:prstGeom>
          <a:solidFill>
            <a:srgbClr val="FFFFFF"/>
          </a:solidFill>
          <a:ln w="19050">
            <a:solidFill>
              <a:srgbClr val="830051"/>
            </a:solidFill>
            <a:prstDash val="solid"/>
          </a:ln>
        </p:spPr>
        <p:txBody>
          <a:bodyPr wrap="square" lIns="114300" tIns="76200" rIns="114300" bIns="76200" anchor="ctr">
            <a:noAutofit/>
          </a:bodyPr>
          <a:lstStyle/>
          <a:p>
            <a:pPr algn="ctr">
              <a:lnSpc>
                <a:spcPct val="104000"/>
              </a:lnSpc>
              <a:buNone/>
              <a:defRPr sz="1650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RC car / Raspberry Pi</a:t>
            </a:r>
          </a:p>
          <a:p>
            <a:pPr algn="ctr">
              <a:lnSpc>
                <a:spcPct val="104000"/>
              </a:lnSpc>
              <a:buNone/>
              <a:defRPr sz="1650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Camera + WebRTC sender</a:t>
            </a:r>
          </a:p>
        </p:txBody>
      </p:sp>
      <p:sp>
        <p:nvSpPr>
          <p:cNvPr id="6" name="Rectángulo: esquinas redondeadas 5">
            <a:extLst>
              <a:ext uri="{FF2B5EF4-FFF2-40B4-BE49-F238E27FC236}">
                <a16:creationId xmlns:a16="http://schemas.microsoft.com/office/drawing/2014/main" id="{0FE3CAD8-0C42-414D-8F7E-A0AEE809DD0C}"/>
              </a:ext>
            </a:extLst>
          </p:cNvPr>
          <p:cNvSpPr>
            <a:spLocks noGrp="1"/>
          </p:cNvSpPr>
          <p:nvPr/>
        </p:nvSpPr>
        <p:spPr>
          <a:xfrm>
            <a:off x="4762500" y="1657350"/>
            <a:ext cx="2667000" cy="1047750"/>
          </a:xfrm>
          <a:prstGeom prst="roundRect">
            <a:avLst>
              <a:gd name="adj" fmla="val 12727"/>
            </a:avLst>
          </a:prstGeom>
          <a:solidFill>
            <a:srgbClr val="E7E3E5"/>
          </a:solidFill>
          <a:ln w="19050">
            <a:solidFill>
              <a:srgbClr val="A69FA3"/>
            </a:solidFill>
            <a:prstDash val="solid"/>
          </a:ln>
        </p:spPr>
        <p:txBody>
          <a:bodyPr wrap="square" lIns="114300" tIns="76200" rIns="114300" bIns="76200" anchor="ctr">
            <a:noAutofit/>
          </a:bodyPr>
          <a:lstStyle/>
          <a:p>
            <a:pPr algn="ctr">
              <a:lnSpc>
                <a:spcPct val="104000"/>
              </a:lnSpc>
              <a:buNone/>
              <a:defRPr sz="172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ASP.NET Core</a:t>
            </a:r>
          </a:p>
          <a:p>
            <a:pPr algn="ctr">
              <a:lnSpc>
                <a:spcPct val="104000"/>
              </a:lnSpc>
              <a:buNone/>
              <a:defRPr sz="172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SignalR coordination</a:t>
            </a:r>
          </a:p>
        </p:txBody>
      </p:sp>
      <p:sp>
        <p:nvSpPr>
          <p:cNvPr id="7" name="Rectángulo: esquinas redondeadas 6">
            <a:extLst>
              <a:ext uri="{FF2B5EF4-FFF2-40B4-BE49-F238E27FC236}">
                <a16:creationId xmlns:a16="http://schemas.microsoft.com/office/drawing/2014/main" id="{1A5EC3B5-BD31-409F-9924-012990776421}"/>
              </a:ext>
            </a:extLst>
          </p:cNvPr>
          <p:cNvSpPr>
            <a:spLocks noGrp="1"/>
          </p:cNvSpPr>
          <p:nvPr/>
        </p:nvSpPr>
        <p:spPr>
          <a:xfrm>
            <a:off x="8896350" y="2400300"/>
            <a:ext cx="2667000" cy="1123950"/>
          </a:xfrm>
          <a:prstGeom prst="roundRect">
            <a:avLst>
              <a:gd name="adj" fmla="val 11864"/>
            </a:avLst>
          </a:prstGeom>
          <a:solidFill>
            <a:srgbClr val="FFFFFF"/>
          </a:solidFill>
          <a:ln w="19050">
            <a:solidFill>
              <a:srgbClr val="830051"/>
            </a:solidFill>
            <a:prstDash val="solid"/>
          </a:ln>
        </p:spPr>
        <p:txBody>
          <a:bodyPr wrap="square" lIns="114300" tIns="76200" rIns="114300" bIns="76200" anchor="ctr">
            <a:noAutofit/>
          </a:bodyPr>
          <a:lstStyle/>
          <a:p>
            <a:pPr algn="ctr">
              <a:lnSpc>
                <a:spcPct val="104000"/>
              </a:lnSpc>
              <a:buNone/>
              <a:defRPr sz="1650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Remote browser</a:t>
            </a:r>
          </a:p>
          <a:p>
            <a:pPr algn="ctr">
              <a:lnSpc>
                <a:spcPct val="104000"/>
              </a:lnSpc>
              <a:buNone/>
              <a:defRPr sz="1650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React + WebRTC viewer</a:t>
            </a:r>
          </a:p>
        </p:txBody>
      </p:sp>
      <p:sp>
        <p:nvSpPr>
          <p:cNvPr id="8" name="Rectángulo: esquinas redondeadas 7">
            <a:extLst>
              <a:ext uri="{FF2B5EF4-FFF2-40B4-BE49-F238E27FC236}">
                <a16:creationId xmlns:a16="http://schemas.microsoft.com/office/drawing/2014/main" id="{A158B179-B9B0-4F3B-ABAA-0D32CB91D9CA}"/>
              </a:ext>
            </a:extLst>
          </p:cNvPr>
          <p:cNvSpPr>
            <a:spLocks noGrp="1"/>
          </p:cNvSpPr>
          <p:nvPr/>
        </p:nvSpPr>
        <p:spPr>
          <a:xfrm>
            <a:off x="4762500" y="4476750"/>
            <a:ext cx="2667000" cy="990600"/>
          </a:xfrm>
          <a:prstGeom prst="roundRect">
            <a:avLst>
              <a:gd name="adj" fmla="val 13462"/>
            </a:avLst>
          </a:prstGeom>
          <a:solidFill>
            <a:srgbClr val="F5EDF2"/>
          </a:solidFill>
          <a:ln w="19050">
            <a:solidFill>
              <a:srgbClr val="830051"/>
            </a:solidFill>
            <a:prstDash val="solid"/>
          </a:ln>
        </p:spPr>
        <p:txBody>
          <a:bodyPr wrap="square" lIns="114300" tIns="76200" rIns="114300" bIns="76200" anchor="ctr">
            <a:noAutofit/>
          </a:bodyPr>
          <a:lstStyle/>
          <a:p>
            <a:pPr algn="ctr">
              <a:lnSpc>
                <a:spcPct val="104000"/>
              </a:lnSpc>
              <a:buNone/>
              <a:defRPr sz="1650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STUN</a:t>
            </a:r>
          </a:p>
          <a:p>
            <a:pPr algn="ctr">
              <a:lnSpc>
                <a:spcPct val="104000"/>
              </a:lnSpc>
              <a:buNone/>
              <a:defRPr sz="1650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public mapping + checks</a:t>
            </a:r>
          </a:p>
        </p:txBody>
      </p:sp>
      <p:cxnSp>
        <p:nvCxnSpPr>
          <p:cNvPr id="27" name="Conector recto de flecha 26"/>
          <p:cNvCxnSpPr>
            <a:stCxn id="5" idx="0"/>
            <a:endCxn id="6" idx="1"/>
          </p:cNvCxnSpPr>
          <p:nvPr/>
        </p:nvCxnSpPr>
        <p:spPr>
          <a:xfrm flipV="1">
            <a:off x="1962150" y="2181225"/>
            <a:ext cx="2800350" cy="219075"/>
          </a:xfrm>
          <a:prstGeom prst="straightConnector1">
            <a:avLst/>
          </a:prstGeom>
          <a:ln w="19050">
            <a:solidFill>
              <a:srgbClr val="A69FA3"/>
            </a:solidFill>
            <a:prstDash val="solid"/>
            <a:headEnd type="triangle" w="sm" len="sm"/>
            <a:tailEnd type="triangle" w="sm" len="sm"/>
          </a:ln>
        </p:spPr>
      </p:cxnSp>
      <p:cxnSp>
        <p:nvCxnSpPr>
          <p:cNvPr id="28" name="Conector recto de flecha 27"/>
          <p:cNvCxnSpPr>
            <a:stCxn id="6" idx="3"/>
            <a:endCxn id="7" idx="0"/>
          </p:cNvCxnSpPr>
          <p:nvPr/>
        </p:nvCxnSpPr>
        <p:spPr>
          <a:xfrm>
            <a:off x="7429500" y="2181225"/>
            <a:ext cx="2800350" cy="219075"/>
          </a:xfrm>
          <a:prstGeom prst="straightConnector1">
            <a:avLst/>
          </a:prstGeom>
          <a:ln w="19050">
            <a:solidFill>
              <a:srgbClr val="A69FA3"/>
            </a:solidFill>
            <a:prstDash val="solid"/>
            <a:headEnd type="triangle" w="sm" len="sm"/>
            <a:tailEnd type="triangle" w="sm" len="sm"/>
          </a:ln>
        </p:spPr>
      </p:cxnSp>
      <p:cxnSp>
        <p:nvCxnSpPr>
          <p:cNvPr id="29" name="Conector recto de flecha 28"/>
          <p:cNvCxnSpPr>
            <a:stCxn id="5" idx="3"/>
            <a:endCxn id="7" idx="1"/>
          </p:cNvCxnSpPr>
          <p:nvPr/>
        </p:nvCxnSpPr>
        <p:spPr>
          <a:xfrm>
            <a:off x="3295650" y="2962275"/>
            <a:ext cx="5600700" cy="0"/>
          </a:xfrm>
          <a:prstGeom prst="straightConnector1">
            <a:avLst/>
          </a:prstGeom>
          <a:ln w="38100">
            <a:solidFill>
              <a:srgbClr val="830051"/>
            </a:solidFill>
            <a:prstDash val="solid"/>
            <a:tailEnd type="triangle" w="sm" len="sm"/>
          </a:ln>
        </p:spPr>
      </p:cxnSp>
      <p:cxnSp>
        <p:nvCxnSpPr>
          <p:cNvPr id="30" name="Conector recto de flecha 29"/>
          <p:cNvCxnSpPr>
            <a:stCxn id="5" idx="2"/>
            <a:endCxn id="8" idx="1"/>
          </p:cNvCxnSpPr>
          <p:nvPr/>
        </p:nvCxnSpPr>
        <p:spPr>
          <a:xfrm>
            <a:off x="1962150" y="3524250"/>
            <a:ext cx="2800350" cy="1447800"/>
          </a:xfrm>
          <a:prstGeom prst="straightConnector1">
            <a:avLst/>
          </a:prstGeom>
          <a:ln w="19050">
            <a:solidFill>
              <a:srgbClr val="A69FA3"/>
            </a:solidFill>
            <a:prstDash val="dash"/>
          </a:ln>
        </p:spPr>
      </p:cxnSp>
      <p:cxnSp>
        <p:nvCxnSpPr>
          <p:cNvPr id="31" name="Conector recto de flecha 30"/>
          <p:cNvCxnSpPr>
            <a:stCxn id="7" idx="2"/>
            <a:endCxn id="8" idx="3"/>
          </p:cNvCxnSpPr>
          <p:nvPr/>
        </p:nvCxnSpPr>
        <p:spPr>
          <a:xfrm flipH="1">
            <a:off x="7429500" y="3524250"/>
            <a:ext cx="2800350" cy="1447800"/>
          </a:xfrm>
          <a:prstGeom prst="straightConnector1">
            <a:avLst/>
          </a:prstGeom>
          <a:ln w="19050">
            <a:solidFill>
              <a:srgbClr val="A69FA3"/>
            </a:solidFill>
            <a:prstDash val="dash"/>
          </a:ln>
        </p:spPr>
      </p:cxnSp>
      <p:sp>
        <p:nvSpPr>
          <p:cNvPr id="14" name="Rectángulo 13">
            <a:extLst>
              <a:ext uri="{FF2B5EF4-FFF2-40B4-BE49-F238E27FC236}">
                <a16:creationId xmlns:a16="http://schemas.microsoft.com/office/drawing/2014/main" id="{39AFAD37-1CFD-403A-92F1-1DE0079345BC}"/>
              </a:ext>
            </a:extLst>
          </p:cNvPr>
          <p:cNvSpPr>
            <a:spLocks noGrp="1"/>
          </p:cNvSpPr>
          <p:nvPr/>
        </p:nvSpPr>
        <p:spPr>
          <a:xfrm>
            <a:off x="3162300" y="1857375"/>
            <a:ext cx="16383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4000"/>
              </a:lnSpc>
              <a:buNone/>
              <a:defRPr sz="1200" b="1">
                <a:solidFill>
                  <a:srgbClr val="6F686D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F686D"/>
                </a:solidFill>
                <a:latin typeface="Arial"/>
                <a:ea typeface="Arial"/>
                <a:cs typeface="Arial"/>
              </a:rPr>
              <a:t>SIGNALING</a:t>
            </a:r>
          </a:p>
        </p:txBody>
      </p:sp>
      <p:sp>
        <p:nvSpPr>
          <p:cNvPr id="15" name="Rectángulo 14">
            <a:extLst>
              <a:ext uri="{FF2B5EF4-FFF2-40B4-BE49-F238E27FC236}">
                <a16:creationId xmlns:a16="http://schemas.microsoft.com/office/drawing/2014/main" id="{765C0F84-15DA-43DD-80AE-CAEC6BCC3C34}"/>
              </a:ext>
            </a:extLst>
          </p:cNvPr>
          <p:cNvSpPr>
            <a:spLocks noGrp="1"/>
          </p:cNvSpPr>
          <p:nvPr/>
        </p:nvSpPr>
        <p:spPr>
          <a:xfrm>
            <a:off x="7429500" y="1857375"/>
            <a:ext cx="16383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4000"/>
              </a:lnSpc>
              <a:buNone/>
              <a:defRPr sz="1200" b="1">
                <a:solidFill>
                  <a:srgbClr val="6F686D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F686D"/>
                </a:solidFill>
                <a:latin typeface="Arial"/>
                <a:ea typeface="Arial"/>
                <a:cs typeface="Arial"/>
              </a:rPr>
              <a:t>SIGNALING</a:t>
            </a:r>
          </a:p>
        </p:txBody>
      </p:sp>
      <p:sp>
        <p:nvSpPr>
          <p:cNvPr id="16" name="Rectángulo 15">
            <a:extLst>
              <a:ext uri="{FF2B5EF4-FFF2-40B4-BE49-F238E27FC236}">
                <a16:creationId xmlns:a16="http://schemas.microsoft.com/office/drawing/2014/main" id="{3D32CA54-A2A5-4FBD-8562-C3DDCB05BC50}"/>
              </a:ext>
            </a:extLst>
          </p:cNvPr>
          <p:cNvSpPr>
            <a:spLocks noGrp="1"/>
          </p:cNvSpPr>
          <p:nvPr/>
        </p:nvSpPr>
        <p:spPr>
          <a:xfrm>
            <a:off x="3638550" y="3162300"/>
            <a:ext cx="4914900" cy="304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4000"/>
              </a:lnSpc>
              <a:buNone/>
              <a:defRPr sz="1350" b="1">
                <a:solidFill>
                  <a:srgbClr val="830051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830051"/>
                </a:solidFill>
                <a:latin typeface="Arial"/>
                <a:ea typeface="Arial"/>
                <a:cs typeface="Arial"/>
              </a:rPr>
              <a:t>EXPECTED DIRECT WEBRTC VIDEO</a:t>
            </a:r>
          </a:p>
        </p:txBody>
      </p:sp>
      <p:sp>
        <p:nvSpPr>
          <p:cNvPr id="17" name="Rectángulo: esquinas redondeadas 16">
            <a:extLst>
              <a:ext uri="{FF2B5EF4-FFF2-40B4-BE49-F238E27FC236}">
                <a16:creationId xmlns:a16="http://schemas.microsoft.com/office/drawing/2014/main" id="{DB92D7A8-283C-4AE7-8F6D-B62AE7A83C8B}"/>
              </a:ext>
            </a:extLst>
          </p:cNvPr>
          <p:cNvSpPr>
            <a:spLocks noGrp="1"/>
          </p:cNvSpPr>
          <p:nvPr/>
        </p:nvSpPr>
        <p:spPr>
          <a:xfrm>
            <a:off x="628650" y="5791200"/>
            <a:ext cx="10934700" cy="381000"/>
          </a:xfrm>
          <a:prstGeom prst="roundRect">
            <a:avLst>
              <a:gd name="adj" fmla="val 20000"/>
            </a:avLst>
          </a:prstGeom>
          <a:solidFill>
            <a:srgbClr val="F5EDF2"/>
          </a:solidFill>
          <a:ln w="0"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18" name="Rectángulo 17">
            <a:extLst>
              <a:ext uri="{FF2B5EF4-FFF2-40B4-BE49-F238E27FC236}">
                <a16:creationId xmlns:a16="http://schemas.microsoft.com/office/drawing/2014/main" id="{C331C6BE-B91E-4630-89D2-00B20E708A45}"/>
              </a:ext>
            </a:extLst>
          </p:cNvPr>
          <p:cNvSpPr>
            <a:spLocks noGrp="1"/>
          </p:cNvSpPr>
          <p:nvPr/>
        </p:nvSpPr>
        <p:spPr>
          <a:xfrm>
            <a:off x="876300" y="5876925"/>
            <a:ext cx="104394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4000"/>
              </a:lnSpc>
              <a:buNone/>
              <a:defRPr sz="1500" b="1">
                <a:solidFill>
                  <a:srgbClr val="51003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510034"/>
                </a:solidFill>
                <a:latin typeface="Arial"/>
                <a:ea typeface="Arial"/>
                <a:cs typeface="Arial"/>
              </a:rPr>
              <a:t>Initial assumption: STUN would expose a usable route. TURN was not yet part of the architecture.</a:t>
            </a:r>
          </a:p>
        </p:txBody>
      </p:sp>
    </p:spTree>
    <p:extLst>
      <p:ext uri="{BB962C8B-B14F-4D97-AF65-F5344CB8AC3E}">
        <p14:creationId xmlns:p14="http://schemas.microsoft.com/office/powerpoint/2010/main" val="132645439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9F8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ángulo 21">
            <a:extLst>
              <a:ext uri="{FF2B5EF4-FFF2-40B4-BE49-F238E27FC236}">
                <a16:creationId xmlns:a16="http://schemas.microsoft.com/office/drawing/2014/main" id="{A8B64447-A3A3-461B-8473-4F891E9FC304}"/>
              </a:ext>
            </a:extLst>
          </p:cNvPr>
          <p:cNvSpPr>
            <a:spLocks noGrp="1"/>
          </p:cNvSpPr>
          <p:nvPr/>
        </p:nvSpPr>
        <p:spPr>
          <a:xfrm>
            <a:off x="533400" y="266700"/>
            <a:ext cx="74295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200" b="1">
                <a:solidFill>
                  <a:srgbClr val="830051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830051"/>
                </a:solidFill>
                <a:latin typeface="Arial"/>
                <a:ea typeface="Arial"/>
                <a:cs typeface="Arial"/>
              </a:rPr>
              <a:t>ISSUES AND ITERATIONS</a:t>
            </a:r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C1C6A4F9-5A2B-408C-8BE3-66A40F3EE87C}"/>
              </a:ext>
            </a:extLst>
          </p:cNvPr>
          <p:cNvSpPr>
            <a:spLocks noGrp="1"/>
          </p:cNvSpPr>
          <p:nvPr/>
        </p:nvSpPr>
        <p:spPr>
          <a:xfrm>
            <a:off x="533400" y="590550"/>
            <a:ext cx="10477500" cy="552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4000"/>
              </a:lnSpc>
              <a:buNone/>
              <a:defRPr sz="337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The NAT Problem</a:t>
            </a:r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BA08698D-F42F-4921-9D7F-FE319C2FD973}"/>
              </a:ext>
            </a:extLst>
          </p:cNvPr>
          <p:cNvSpPr>
            <a:spLocks noGrp="1"/>
          </p:cNvSpPr>
          <p:nvPr/>
        </p:nvSpPr>
        <p:spPr>
          <a:xfrm>
            <a:off x="533400" y="1257300"/>
            <a:ext cx="11125200" cy="28575"/>
          </a:xfrm>
          <a:prstGeom prst="rect">
            <a:avLst/>
          </a:prstGeom>
          <a:solidFill>
            <a:srgbClr val="830051"/>
          </a:solidFill>
          <a:ln w="0"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80AD137E-8DC1-4C16-9C90-908CC1E2A385}"/>
              </a:ext>
            </a:extLst>
          </p:cNvPr>
          <p:cNvSpPr>
            <a:spLocks noGrp="1"/>
          </p:cNvSpPr>
          <p:nvPr/>
        </p:nvSpPr>
        <p:spPr>
          <a:xfrm>
            <a:off x="10858500" y="6457950"/>
            <a:ext cx="8001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4000"/>
              </a:lnSpc>
              <a:buNone/>
              <a:defRPr sz="1125" b="1">
                <a:solidFill>
                  <a:srgbClr val="6F686D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6F686D"/>
                </a:solidFill>
                <a:latin typeface="Arial"/>
                <a:ea typeface="Arial"/>
                <a:cs typeface="Arial"/>
              </a:rPr>
              <a:t>14</a:t>
            </a:r>
          </a:p>
        </p:txBody>
      </p:sp>
      <p:sp>
        <p:nvSpPr>
          <p:cNvPr id="5" name="Rectángulo: esquinas redondeadas 4">
            <a:extLst>
              <a:ext uri="{FF2B5EF4-FFF2-40B4-BE49-F238E27FC236}">
                <a16:creationId xmlns:a16="http://schemas.microsoft.com/office/drawing/2014/main" id="{BBA07CBF-D991-4C86-9869-912744B020A3}"/>
              </a:ext>
            </a:extLst>
          </p:cNvPr>
          <p:cNvSpPr>
            <a:spLocks noGrp="1"/>
          </p:cNvSpPr>
          <p:nvPr/>
        </p:nvSpPr>
        <p:spPr>
          <a:xfrm>
            <a:off x="514350" y="2381250"/>
            <a:ext cx="1809750" cy="857250"/>
          </a:xfrm>
          <a:prstGeom prst="roundRect">
            <a:avLst>
              <a:gd name="adj" fmla="val 15556"/>
            </a:avLst>
          </a:prstGeom>
          <a:solidFill>
            <a:srgbClr val="FFFFFF"/>
          </a:solidFill>
          <a:ln w="19050">
            <a:solidFill>
              <a:srgbClr val="EAD8E3"/>
            </a:solidFill>
            <a:prstDash val="solid"/>
          </a:ln>
        </p:spPr>
        <p:txBody>
          <a:bodyPr wrap="square" lIns="114300" tIns="76200" rIns="114300" bIns="76200" anchor="ctr">
            <a:noAutofit/>
          </a:bodyPr>
          <a:lstStyle/>
          <a:p>
            <a:pPr algn="ctr">
              <a:lnSpc>
                <a:spcPct val="104000"/>
              </a:lnSpc>
              <a:buNone/>
              <a:defRPr sz="1500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Raspberry Pi</a:t>
            </a:r>
          </a:p>
          <a:p>
            <a:pPr algn="ctr">
              <a:lnSpc>
                <a:spcPct val="104000"/>
              </a:lnSpc>
              <a:buNone/>
              <a:defRPr sz="1500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192.168.x.x</a:t>
            </a:r>
          </a:p>
        </p:txBody>
      </p:sp>
      <p:sp>
        <p:nvSpPr>
          <p:cNvPr id="6" name="Rectángulo: esquinas redondeadas 5">
            <a:extLst>
              <a:ext uri="{FF2B5EF4-FFF2-40B4-BE49-F238E27FC236}">
                <a16:creationId xmlns:a16="http://schemas.microsoft.com/office/drawing/2014/main" id="{9AA949E6-5B6C-458F-AD48-AD93B67A283B}"/>
              </a:ext>
            </a:extLst>
          </p:cNvPr>
          <p:cNvSpPr>
            <a:spLocks noGrp="1"/>
          </p:cNvSpPr>
          <p:nvPr/>
        </p:nvSpPr>
        <p:spPr>
          <a:xfrm>
            <a:off x="2647950" y="2381250"/>
            <a:ext cx="1809750" cy="857250"/>
          </a:xfrm>
          <a:prstGeom prst="roundRect">
            <a:avLst>
              <a:gd name="adj" fmla="val 15556"/>
            </a:avLst>
          </a:prstGeom>
          <a:solidFill>
            <a:srgbClr val="F5EDF2"/>
          </a:solidFill>
          <a:ln w="19050">
            <a:solidFill>
              <a:srgbClr val="EAD8E3"/>
            </a:solidFill>
            <a:prstDash val="solid"/>
          </a:ln>
        </p:spPr>
        <p:txBody>
          <a:bodyPr wrap="square" lIns="114300" tIns="76200" rIns="114300" bIns="76200" anchor="ctr">
            <a:noAutofit/>
          </a:bodyPr>
          <a:lstStyle/>
          <a:p>
            <a:pPr algn="ctr">
              <a:lnSpc>
                <a:spcPct val="104000"/>
              </a:lnSpc>
              <a:buNone/>
              <a:defRPr sz="1500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Mobile hotspot</a:t>
            </a:r>
          </a:p>
          <a:p>
            <a:pPr algn="ctr">
              <a:lnSpc>
                <a:spcPct val="104000"/>
              </a:lnSpc>
              <a:buNone/>
              <a:defRPr sz="1500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private IPv4</a:t>
            </a:r>
          </a:p>
        </p:txBody>
      </p:sp>
      <p:sp>
        <p:nvSpPr>
          <p:cNvPr id="7" name="Rectángulo: esquinas redondeadas 6">
            <a:extLst>
              <a:ext uri="{FF2B5EF4-FFF2-40B4-BE49-F238E27FC236}">
                <a16:creationId xmlns:a16="http://schemas.microsoft.com/office/drawing/2014/main" id="{35129D90-D7AB-4795-BF96-0D4569D361A7}"/>
              </a:ext>
            </a:extLst>
          </p:cNvPr>
          <p:cNvSpPr>
            <a:spLocks noGrp="1"/>
          </p:cNvSpPr>
          <p:nvPr/>
        </p:nvSpPr>
        <p:spPr>
          <a:xfrm>
            <a:off x="4781550" y="2209800"/>
            <a:ext cx="2095500" cy="1200150"/>
          </a:xfrm>
          <a:prstGeom prst="roundRect">
            <a:avLst>
              <a:gd name="adj" fmla="val 11111"/>
            </a:avLst>
          </a:prstGeom>
          <a:solidFill>
            <a:srgbClr val="830051"/>
          </a:solidFill>
          <a:ln w="19050">
            <a:solidFill>
              <a:srgbClr val="830051"/>
            </a:solidFill>
            <a:prstDash val="solid"/>
          </a:ln>
        </p:spPr>
        <p:txBody>
          <a:bodyPr wrap="square" lIns="114300" tIns="76200" rIns="114300" bIns="76200" anchor="ctr">
            <a:noAutofit/>
          </a:bodyPr>
          <a:lstStyle/>
          <a:p>
            <a:pPr algn="ctr">
              <a:lnSpc>
                <a:spcPct val="104000"/>
              </a:lnSpc>
              <a:buNone/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Carrier-grade NAT</a:t>
            </a:r>
          </a:p>
          <a:p>
            <a:pPr algn="ctr">
              <a:lnSpc>
                <a:spcPct val="104000"/>
              </a:lnSpc>
              <a:buNone/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shared public IPv4</a:t>
            </a:r>
          </a:p>
        </p:txBody>
      </p:sp>
      <p:sp>
        <p:nvSpPr>
          <p:cNvPr id="8" name="Rectángulo: esquinas redondeadas 7">
            <a:extLst>
              <a:ext uri="{FF2B5EF4-FFF2-40B4-BE49-F238E27FC236}">
                <a16:creationId xmlns:a16="http://schemas.microsoft.com/office/drawing/2014/main" id="{804F2EED-FEE5-484A-90E8-524D1186EAE9}"/>
              </a:ext>
            </a:extLst>
          </p:cNvPr>
          <p:cNvSpPr>
            <a:spLocks noGrp="1"/>
          </p:cNvSpPr>
          <p:nvPr/>
        </p:nvSpPr>
        <p:spPr>
          <a:xfrm>
            <a:off x="7200900" y="2381250"/>
            <a:ext cx="2000250" cy="857250"/>
          </a:xfrm>
          <a:prstGeom prst="roundRect">
            <a:avLst>
              <a:gd name="adj" fmla="val 15556"/>
            </a:avLst>
          </a:prstGeom>
          <a:solidFill>
            <a:srgbClr val="F5EDF2"/>
          </a:solidFill>
          <a:ln w="19050">
            <a:solidFill>
              <a:srgbClr val="EAD8E3"/>
            </a:solidFill>
            <a:prstDash val="solid"/>
          </a:ln>
        </p:spPr>
        <p:txBody>
          <a:bodyPr wrap="square" lIns="114300" tIns="76200" rIns="114300" bIns="76200" anchor="ctr">
            <a:noAutofit/>
          </a:bodyPr>
          <a:lstStyle/>
          <a:p>
            <a:pPr algn="ctr">
              <a:lnSpc>
                <a:spcPct val="104000"/>
              </a:lnSpc>
              <a:buNone/>
              <a:defRPr sz="1500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Browser NAT / firewall</a:t>
            </a:r>
          </a:p>
        </p:txBody>
      </p:sp>
      <p:sp>
        <p:nvSpPr>
          <p:cNvPr id="9" name="Rectángulo: esquinas redondeadas 8">
            <a:extLst>
              <a:ext uri="{FF2B5EF4-FFF2-40B4-BE49-F238E27FC236}">
                <a16:creationId xmlns:a16="http://schemas.microsoft.com/office/drawing/2014/main" id="{9027A70B-A441-409F-AE8C-4ECDD0BD5BAB}"/>
              </a:ext>
            </a:extLst>
          </p:cNvPr>
          <p:cNvSpPr>
            <a:spLocks noGrp="1"/>
          </p:cNvSpPr>
          <p:nvPr/>
        </p:nvSpPr>
        <p:spPr>
          <a:xfrm>
            <a:off x="9525000" y="2381250"/>
            <a:ext cx="1809750" cy="857250"/>
          </a:xfrm>
          <a:prstGeom prst="roundRect">
            <a:avLst>
              <a:gd name="adj" fmla="val 15556"/>
            </a:avLst>
          </a:prstGeom>
          <a:solidFill>
            <a:srgbClr val="FFFFFF"/>
          </a:solidFill>
          <a:ln w="19050">
            <a:solidFill>
              <a:srgbClr val="EAD8E3"/>
            </a:solidFill>
            <a:prstDash val="solid"/>
          </a:ln>
        </p:spPr>
        <p:txBody>
          <a:bodyPr wrap="square" lIns="114300" tIns="76200" rIns="114300" bIns="76200" anchor="ctr">
            <a:noAutofit/>
          </a:bodyPr>
          <a:lstStyle/>
          <a:p>
            <a:pPr algn="ctr">
              <a:lnSpc>
                <a:spcPct val="104000"/>
              </a:lnSpc>
              <a:buNone/>
              <a:defRPr sz="1500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Browser</a:t>
            </a:r>
          </a:p>
          <a:p>
            <a:pPr algn="ctr">
              <a:lnSpc>
                <a:spcPct val="104000"/>
              </a:lnSpc>
              <a:buNone/>
              <a:defRPr sz="1500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private IPv4</a:t>
            </a:r>
          </a:p>
        </p:txBody>
      </p:sp>
      <p:cxnSp>
        <p:nvCxnSpPr>
          <p:cNvPr id="31" name="Conector recto de flecha 30"/>
          <p:cNvCxnSpPr>
            <a:stCxn id="5" idx="3"/>
            <a:endCxn id="6" idx="1"/>
          </p:cNvCxnSpPr>
          <p:nvPr/>
        </p:nvCxnSpPr>
        <p:spPr>
          <a:xfrm>
            <a:off x="2324100" y="2809875"/>
            <a:ext cx="323850" cy="0"/>
          </a:xfrm>
          <a:prstGeom prst="straightConnector1">
            <a:avLst/>
          </a:prstGeom>
          <a:ln w="19050">
            <a:solidFill>
              <a:srgbClr val="A69FA3"/>
            </a:solidFill>
            <a:prstDash val="solid"/>
          </a:ln>
        </p:spPr>
      </p:cxnSp>
      <p:cxnSp>
        <p:nvCxnSpPr>
          <p:cNvPr id="32" name="Conector recto de flecha 31"/>
          <p:cNvCxnSpPr>
            <a:stCxn id="6" idx="3"/>
            <a:endCxn id="7" idx="1"/>
          </p:cNvCxnSpPr>
          <p:nvPr/>
        </p:nvCxnSpPr>
        <p:spPr>
          <a:xfrm>
            <a:off x="4457700" y="2809875"/>
            <a:ext cx="323850" cy="0"/>
          </a:xfrm>
          <a:prstGeom prst="straightConnector1">
            <a:avLst/>
          </a:prstGeom>
          <a:ln w="19050">
            <a:solidFill>
              <a:srgbClr val="A69FA3"/>
            </a:solidFill>
            <a:prstDash val="solid"/>
          </a:ln>
        </p:spPr>
      </p:cxnSp>
      <p:cxnSp>
        <p:nvCxnSpPr>
          <p:cNvPr id="33" name="Conector recto de flecha 32"/>
          <p:cNvCxnSpPr>
            <a:stCxn id="7" idx="3"/>
            <a:endCxn id="8" idx="1"/>
          </p:cNvCxnSpPr>
          <p:nvPr/>
        </p:nvCxnSpPr>
        <p:spPr>
          <a:xfrm>
            <a:off x="6877050" y="2809875"/>
            <a:ext cx="323850" cy="0"/>
          </a:xfrm>
          <a:prstGeom prst="straightConnector1">
            <a:avLst/>
          </a:prstGeom>
          <a:ln w="19050">
            <a:solidFill>
              <a:srgbClr val="A69FA3"/>
            </a:solidFill>
            <a:prstDash val="solid"/>
          </a:ln>
        </p:spPr>
      </p:cxnSp>
      <p:cxnSp>
        <p:nvCxnSpPr>
          <p:cNvPr id="34" name="Conector recto de flecha 33"/>
          <p:cNvCxnSpPr>
            <a:stCxn id="8" idx="3"/>
            <a:endCxn id="9" idx="1"/>
          </p:cNvCxnSpPr>
          <p:nvPr/>
        </p:nvCxnSpPr>
        <p:spPr>
          <a:xfrm>
            <a:off x="9201150" y="2809875"/>
            <a:ext cx="323850" cy="0"/>
          </a:xfrm>
          <a:prstGeom prst="straightConnector1">
            <a:avLst/>
          </a:prstGeom>
          <a:ln w="19050">
            <a:solidFill>
              <a:srgbClr val="A69FA3"/>
            </a:solidFill>
            <a:prstDash val="solid"/>
          </a:ln>
        </p:spPr>
      </p:cxnSp>
      <p:sp>
        <p:nvSpPr>
          <p:cNvPr id="14" name="Rectángulo 13">
            <a:extLst>
              <a:ext uri="{FF2B5EF4-FFF2-40B4-BE49-F238E27FC236}">
                <a16:creationId xmlns:a16="http://schemas.microsoft.com/office/drawing/2014/main" id="{121A3D50-0B8F-452E-A7A3-2BE4BF219B13}"/>
              </a:ext>
            </a:extLst>
          </p:cNvPr>
          <p:cNvSpPr>
            <a:spLocks noGrp="1"/>
          </p:cNvSpPr>
          <p:nvPr/>
        </p:nvSpPr>
        <p:spPr>
          <a:xfrm>
            <a:off x="1181100" y="1657350"/>
            <a:ext cx="2762250" cy="361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800" b="1">
                <a:solidFill>
                  <a:srgbClr val="830051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830051"/>
                </a:solidFill>
                <a:latin typeface="Arial"/>
                <a:ea typeface="Arial"/>
                <a:cs typeface="Arial"/>
              </a:rPr>
              <a:t>STUN discovers a mapping</a:t>
            </a:r>
          </a:p>
        </p:txBody>
      </p:sp>
      <p:sp>
        <p:nvSpPr>
          <p:cNvPr id="15" name="Conector recto 14">
            <a:extLst>
              <a:ext uri="{FF2B5EF4-FFF2-40B4-BE49-F238E27FC236}">
                <a16:creationId xmlns:a16="http://schemas.microsoft.com/office/drawing/2014/main" id="{D670C41A-E288-4AC6-A2F0-01ED3155992D}"/>
              </a:ext>
            </a:extLst>
          </p:cNvPr>
          <p:cNvSpPr>
            <a:spLocks noGrp="1"/>
          </p:cNvSpPr>
          <p:nvPr/>
        </p:nvSpPr>
        <p:spPr>
          <a:xfrm>
            <a:off x="3238500" y="2038350"/>
            <a:ext cx="2152650" cy="0"/>
          </a:xfrm>
          <a:prstGeom prst="line">
            <a:avLst/>
          </a:prstGeom>
          <a:noFill/>
          <a:ln w="19050">
            <a:solidFill>
              <a:srgbClr val="830051"/>
            </a:solidFill>
            <a:prstDash val="dash"/>
          </a:ln>
        </p:spPr>
        <p:txBody>
          <a:bodyPr/>
          <a:lstStyle/>
          <a:p>
            <a:endParaRPr lang="en-GB"/>
          </a:p>
        </p:txBody>
      </p:sp>
      <p:sp>
        <p:nvSpPr>
          <p:cNvPr id="16" name="Rectángulo 15">
            <a:extLst>
              <a:ext uri="{FF2B5EF4-FFF2-40B4-BE49-F238E27FC236}">
                <a16:creationId xmlns:a16="http://schemas.microsoft.com/office/drawing/2014/main" id="{AC06F026-AF15-4568-9DF4-6553C4B4D4D6}"/>
              </a:ext>
            </a:extLst>
          </p:cNvPr>
          <p:cNvSpPr>
            <a:spLocks noGrp="1"/>
          </p:cNvSpPr>
          <p:nvPr/>
        </p:nvSpPr>
        <p:spPr>
          <a:xfrm>
            <a:off x="2305050" y="3924300"/>
            <a:ext cx="7581900" cy="476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4000"/>
              </a:lnSpc>
              <a:buNone/>
              <a:defRPr sz="2400" b="1">
                <a:solidFill>
                  <a:srgbClr val="510034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510034"/>
                </a:solidFill>
                <a:latin typeface="Arial"/>
                <a:ea typeface="Arial"/>
                <a:cs typeface="Arial"/>
              </a:rPr>
              <a:t>Mapping discovered  ≠  inbound path guaranteed</a:t>
            </a:r>
          </a:p>
        </p:txBody>
      </p:sp>
      <p:sp>
        <p:nvSpPr>
          <p:cNvPr id="17" name="Rectángulo: esquinas redondeadas 16">
            <a:extLst>
              <a:ext uri="{FF2B5EF4-FFF2-40B4-BE49-F238E27FC236}">
                <a16:creationId xmlns:a16="http://schemas.microsoft.com/office/drawing/2014/main" id="{505F28F7-9623-433E-9B16-C95FB38EA344}"/>
              </a:ext>
            </a:extLst>
          </p:cNvPr>
          <p:cNvSpPr>
            <a:spLocks noGrp="1"/>
          </p:cNvSpPr>
          <p:nvPr/>
        </p:nvSpPr>
        <p:spPr>
          <a:xfrm>
            <a:off x="762000" y="4762500"/>
            <a:ext cx="10668000" cy="1104900"/>
          </a:xfrm>
          <a:prstGeom prst="roundRect">
            <a:avLst>
              <a:gd name="adj" fmla="val 10345"/>
            </a:avLst>
          </a:prstGeom>
          <a:solidFill>
            <a:srgbClr val="FFFFFF"/>
          </a:solidFill>
          <a:ln w="9525">
            <a:solidFill>
              <a:srgbClr val="E7E3E5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8" name="Rectángulo 17">
            <a:extLst>
              <a:ext uri="{FF2B5EF4-FFF2-40B4-BE49-F238E27FC236}">
                <a16:creationId xmlns:a16="http://schemas.microsoft.com/office/drawing/2014/main" id="{5414EC45-9A16-46DB-8A28-402C14059C72}"/>
              </a:ext>
            </a:extLst>
          </p:cNvPr>
          <p:cNvSpPr>
            <a:spLocks noGrp="1"/>
          </p:cNvSpPr>
          <p:nvPr/>
        </p:nvSpPr>
        <p:spPr>
          <a:xfrm>
            <a:off x="990600" y="4953000"/>
            <a:ext cx="272415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275" b="1">
                <a:solidFill>
                  <a:srgbClr val="6F686D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6F686D"/>
                </a:solidFill>
                <a:latin typeface="Arial"/>
                <a:ea typeface="Arial"/>
                <a:cs typeface="Arial"/>
              </a:rPr>
              <a:t>WHY DIRECT CHECKS CAN FAIL</a:t>
            </a:r>
          </a:p>
        </p:txBody>
      </p:sp>
      <p:sp>
        <p:nvSpPr>
          <p:cNvPr id="19" name="Rectángulo 18">
            <a:extLst>
              <a:ext uri="{FF2B5EF4-FFF2-40B4-BE49-F238E27FC236}">
                <a16:creationId xmlns:a16="http://schemas.microsoft.com/office/drawing/2014/main" id="{EA066426-8AC7-40CF-ADC5-23656CB8CAE4}"/>
              </a:ext>
            </a:extLst>
          </p:cNvPr>
          <p:cNvSpPr>
            <a:spLocks noGrp="1"/>
          </p:cNvSpPr>
          <p:nvPr/>
        </p:nvSpPr>
        <p:spPr>
          <a:xfrm>
            <a:off x="3867150" y="4895850"/>
            <a:ext cx="2343150" cy="495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4000"/>
              </a:lnSpc>
              <a:buNone/>
              <a:defRPr sz="1500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Destination-dependent mappings</a:t>
            </a:r>
          </a:p>
        </p:txBody>
      </p:sp>
      <p:sp>
        <p:nvSpPr>
          <p:cNvPr id="20" name="Rectángulo 19">
            <a:extLst>
              <a:ext uri="{FF2B5EF4-FFF2-40B4-BE49-F238E27FC236}">
                <a16:creationId xmlns:a16="http://schemas.microsoft.com/office/drawing/2014/main" id="{72FD759A-CC0E-4FCA-8668-3CE42307BD1F}"/>
              </a:ext>
            </a:extLst>
          </p:cNvPr>
          <p:cNvSpPr>
            <a:spLocks noGrp="1"/>
          </p:cNvSpPr>
          <p:nvPr/>
        </p:nvSpPr>
        <p:spPr>
          <a:xfrm>
            <a:off x="6381750" y="4895850"/>
            <a:ext cx="2000250" cy="495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4000"/>
              </a:lnSpc>
              <a:buNone/>
              <a:defRPr sz="1500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Blocked inbound UDP</a:t>
            </a:r>
          </a:p>
        </p:txBody>
      </p:sp>
      <p:sp>
        <p:nvSpPr>
          <p:cNvPr id="21" name="Rectángulo 20">
            <a:extLst>
              <a:ext uri="{FF2B5EF4-FFF2-40B4-BE49-F238E27FC236}">
                <a16:creationId xmlns:a16="http://schemas.microsoft.com/office/drawing/2014/main" id="{A41BB460-AA80-4665-999B-F61B245E2F39}"/>
              </a:ext>
            </a:extLst>
          </p:cNvPr>
          <p:cNvSpPr>
            <a:spLocks noGrp="1"/>
          </p:cNvSpPr>
          <p:nvPr/>
        </p:nvSpPr>
        <p:spPr>
          <a:xfrm>
            <a:off x="8553450" y="4895850"/>
            <a:ext cx="2533650" cy="495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4000"/>
              </a:lnSpc>
              <a:buNone/>
              <a:defRPr sz="1500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Multiple translation layers</a:t>
            </a:r>
          </a:p>
        </p:txBody>
      </p:sp>
    </p:spTree>
    <p:extLst>
      <p:ext uri="{BB962C8B-B14F-4D97-AF65-F5344CB8AC3E}">
        <p14:creationId xmlns:p14="http://schemas.microsoft.com/office/powerpoint/2010/main" val="182784430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9F8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Rectángulo 20">
            <a:extLst>
              <a:ext uri="{FF2B5EF4-FFF2-40B4-BE49-F238E27FC236}">
                <a16:creationId xmlns:a16="http://schemas.microsoft.com/office/drawing/2014/main" id="{E01EAB4A-07EE-40F9-88AD-C1326D264252}"/>
              </a:ext>
            </a:extLst>
          </p:cNvPr>
          <p:cNvSpPr>
            <a:spLocks noGrp="1"/>
          </p:cNvSpPr>
          <p:nvPr/>
        </p:nvSpPr>
        <p:spPr>
          <a:xfrm>
            <a:off x="533400" y="266700"/>
            <a:ext cx="74295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200" b="1">
                <a:solidFill>
                  <a:srgbClr val="830051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830051"/>
                </a:solidFill>
                <a:latin typeface="Arial"/>
                <a:ea typeface="Arial"/>
                <a:cs typeface="Arial"/>
              </a:rPr>
              <a:t>ISSUES AND ITERATIONS</a:t>
            </a:r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3D52D4C3-E2F8-4788-BAC9-805C36ABD1C6}"/>
              </a:ext>
            </a:extLst>
          </p:cNvPr>
          <p:cNvSpPr>
            <a:spLocks noGrp="1"/>
          </p:cNvSpPr>
          <p:nvPr/>
        </p:nvSpPr>
        <p:spPr>
          <a:xfrm>
            <a:off x="533400" y="590550"/>
            <a:ext cx="10477500" cy="552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4000"/>
              </a:lnSpc>
              <a:buNone/>
              <a:defRPr sz="337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Discovery of TURN</a:t>
            </a:r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5CD16D6D-476C-4FB6-8EDE-5CC68D2C450A}"/>
              </a:ext>
            </a:extLst>
          </p:cNvPr>
          <p:cNvSpPr>
            <a:spLocks noGrp="1"/>
          </p:cNvSpPr>
          <p:nvPr/>
        </p:nvSpPr>
        <p:spPr>
          <a:xfrm>
            <a:off x="533400" y="1257300"/>
            <a:ext cx="11125200" cy="28575"/>
          </a:xfrm>
          <a:prstGeom prst="rect">
            <a:avLst/>
          </a:prstGeom>
          <a:solidFill>
            <a:srgbClr val="830051"/>
          </a:solidFill>
          <a:ln w="0"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8F762F46-2E43-41A9-AE74-FC68A7FAC8B0}"/>
              </a:ext>
            </a:extLst>
          </p:cNvPr>
          <p:cNvSpPr>
            <a:spLocks noGrp="1"/>
          </p:cNvSpPr>
          <p:nvPr/>
        </p:nvSpPr>
        <p:spPr>
          <a:xfrm>
            <a:off x="10858500" y="6457950"/>
            <a:ext cx="8001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4000"/>
              </a:lnSpc>
              <a:buNone/>
              <a:defRPr sz="1125" b="1">
                <a:solidFill>
                  <a:srgbClr val="6F686D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6F686D"/>
                </a:solidFill>
                <a:latin typeface="Arial"/>
                <a:ea typeface="Arial"/>
                <a:cs typeface="Arial"/>
              </a:rPr>
              <a:t>15</a:t>
            </a:r>
          </a:p>
        </p:txBody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D8D4C5D7-9846-4918-B8FE-C3161D44B664}"/>
              </a:ext>
            </a:extLst>
          </p:cNvPr>
          <p:cNvSpPr>
            <a:spLocks noGrp="1"/>
          </p:cNvSpPr>
          <p:nvPr/>
        </p:nvSpPr>
        <p:spPr>
          <a:xfrm>
            <a:off x="704850" y="1657350"/>
            <a:ext cx="1428750" cy="304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500" b="1">
                <a:solidFill>
                  <a:srgbClr val="6F686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6F686D"/>
                </a:solidFill>
                <a:latin typeface="Arial"/>
                <a:ea typeface="Arial"/>
                <a:cs typeface="Arial"/>
              </a:rPr>
              <a:t>14 FEB</a:t>
            </a:r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547B3DB8-0586-4E53-90D1-3DA19B60A794}"/>
              </a:ext>
            </a:extLst>
          </p:cNvPr>
          <p:cNvSpPr>
            <a:spLocks noGrp="1"/>
          </p:cNvSpPr>
          <p:nvPr/>
        </p:nvSpPr>
        <p:spPr>
          <a:xfrm>
            <a:off x="704850" y="2019300"/>
            <a:ext cx="2286000" cy="4191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2400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STUN only</a:t>
            </a:r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101ED8DC-B90C-4626-AF66-BD55CF908135}"/>
              </a:ext>
            </a:extLst>
          </p:cNvPr>
          <p:cNvSpPr>
            <a:spLocks noGrp="1"/>
          </p:cNvSpPr>
          <p:nvPr/>
        </p:nvSpPr>
        <p:spPr>
          <a:xfrm>
            <a:off x="704850" y="2476500"/>
            <a:ext cx="238125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500" b="0">
                <a:solidFill>
                  <a:srgbClr val="6F686D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6F686D"/>
                </a:solidFill>
                <a:latin typeface="Arial"/>
                <a:ea typeface="Arial"/>
                <a:cs typeface="Arial"/>
              </a:rPr>
              <a:t>Direct path expected</a:t>
            </a:r>
          </a:p>
        </p:txBody>
      </p:sp>
      <p:sp>
        <p:nvSpPr>
          <p:cNvPr id="8" name="Conector recto 7">
            <a:extLst>
              <a:ext uri="{FF2B5EF4-FFF2-40B4-BE49-F238E27FC236}">
                <a16:creationId xmlns:a16="http://schemas.microsoft.com/office/drawing/2014/main" id="{6629F8E9-E380-4308-9AD7-AC25EAF7EED6}"/>
              </a:ext>
            </a:extLst>
          </p:cNvPr>
          <p:cNvSpPr>
            <a:spLocks noGrp="1"/>
          </p:cNvSpPr>
          <p:nvPr/>
        </p:nvSpPr>
        <p:spPr>
          <a:xfrm>
            <a:off x="3162300" y="2152650"/>
            <a:ext cx="1943100" cy="0"/>
          </a:xfrm>
          <a:prstGeom prst="line">
            <a:avLst/>
          </a:prstGeom>
          <a:noFill/>
          <a:ln w="38100">
            <a:solidFill>
              <a:srgbClr val="83005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" name="Rectángulo 8">
            <a:extLst>
              <a:ext uri="{FF2B5EF4-FFF2-40B4-BE49-F238E27FC236}">
                <a16:creationId xmlns:a16="http://schemas.microsoft.com/office/drawing/2014/main" id="{63D62EDE-0990-4E82-A9F6-3A48DB8C1B76}"/>
              </a:ext>
            </a:extLst>
          </p:cNvPr>
          <p:cNvSpPr>
            <a:spLocks noGrp="1"/>
          </p:cNvSpPr>
          <p:nvPr/>
        </p:nvSpPr>
        <p:spPr>
          <a:xfrm>
            <a:off x="5257800" y="1657350"/>
            <a:ext cx="1428750" cy="304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500" b="1">
                <a:solidFill>
                  <a:srgbClr val="830051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830051"/>
                </a:solidFill>
                <a:latin typeface="Arial"/>
                <a:ea typeface="Arial"/>
                <a:cs typeface="Arial"/>
              </a:rPr>
              <a:t>01 MAR</a:t>
            </a:r>
          </a:p>
        </p:txBody>
      </p:sp>
      <p:sp>
        <p:nvSpPr>
          <p:cNvPr id="10" name="Rectángulo 9">
            <a:extLst>
              <a:ext uri="{FF2B5EF4-FFF2-40B4-BE49-F238E27FC236}">
                <a16:creationId xmlns:a16="http://schemas.microsoft.com/office/drawing/2014/main" id="{6879CD94-B09B-4144-A91A-F0F7E18CDD40}"/>
              </a:ext>
            </a:extLst>
          </p:cNvPr>
          <p:cNvSpPr>
            <a:spLocks noGrp="1"/>
          </p:cNvSpPr>
          <p:nvPr/>
        </p:nvSpPr>
        <p:spPr>
          <a:xfrm>
            <a:off x="5257800" y="2019300"/>
            <a:ext cx="2476500" cy="4191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2400" b="1">
                <a:solidFill>
                  <a:srgbClr val="510034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510034"/>
                </a:solidFill>
                <a:latin typeface="Arial"/>
                <a:ea typeface="Arial"/>
                <a:cs typeface="Arial"/>
              </a:rPr>
              <a:t>TURN added</a:t>
            </a:r>
          </a:p>
        </p:txBody>
      </p:sp>
      <p:sp>
        <p:nvSpPr>
          <p:cNvPr id="11" name="Rectángulo 10">
            <a:extLst>
              <a:ext uri="{FF2B5EF4-FFF2-40B4-BE49-F238E27FC236}">
                <a16:creationId xmlns:a16="http://schemas.microsoft.com/office/drawing/2014/main" id="{F49B5258-5D0D-4B3F-803F-8B9505F4E8BC}"/>
              </a:ext>
            </a:extLst>
          </p:cNvPr>
          <p:cNvSpPr>
            <a:spLocks noGrp="1"/>
          </p:cNvSpPr>
          <p:nvPr/>
        </p:nvSpPr>
        <p:spPr>
          <a:xfrm>
            <a:off x="5257800" y="2476500"/>
            <a:ext cx="285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500" b="0">
                <a:solidFill>
                  <a:srgbClr val="6F686D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6F686D"/>
                </a:solidFill>
                <a:latin typeface="Arial"/>
                <a:ea typeface="Arial"/>
                <a:cs typeface="Arial"/>
              </a:rPr>
              <a:t>Relay fallback joins ICE</a:t>
            </a:r>
          </a:p>
        </p:txBody>
      </p:sp>
      <p:sp>
        <p:nvSpPr>
          <p:cNvPr id="12" name="Rectángulo: esquinas redondeadas 11">
            <a:extLst>
              <a:ext uri="{FF2B5EF4-FFF2-40B4-BE49-F238E27FC236}">
                <a16:creationId xmlns:a16="http://schemas.microsoft.com/office/drawing/2014/main" id="{96752687-ED8C-408A-AEAA-F03C5AF5B7EF}"/>
              </a:ext>
            </a:extLst>
          </p:cNvPr>
          <p:cNvSpPr>
            <a:spLocks noGrp="1"/>
          </p:cNvSpPr>
          <p:nvPr/>
        </p:nvSpPr>
        <p:spPr>
          <a:xfrm>
            <a:off x="1047750" y="3790950"/>
            <a:ext cx="1619250" cy="8001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9050">
            <a:solidFill>
              <a:srgbClr val="830051"/>
            </a:solidFill>
            <a:prstDash val="solid"/>
          </a:ln>
        </p:spPr>
        <p:txBody>
          <a:bodyPr wrap="square" lIns="114300" tIns="76200" rIns="114300" bIns="76200" anchor="ctr">
            <a:noAutofit/>
          </a:bodyPr>
          <a:lstStyle/>
          <a:p>
            <a:pPr algn="ctr">
              <a:lnSpc>
                <a:spcPct val="104000"/>
              </a:lnSpc>
              <a:buNone/>
              <a:defRPr sz="1650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Device</a:t>
            </a:r>
          </a:p>
        </p:txBody>
      </p:sp>
      <p:sp>
        <p:nvSpPr>
          <p:cNvPr id="13" name="Rectángulo: esquinas redondeadas 12">
            <a:extLst>
              <a:ext uri="{FF2B5EF4-FFF2-40B4-BE49-F238E27FC236}">
                <a16:creationId xmlns:a16="http://schemas.microsoft.com/office/drawing/2014/main" id="{85467C66-A8B3-4795-9E9B-5FD7BC14D2B2}"/>
              </a:ext>
            </a:extLst>
          </p:cNvPr>
          <p:cNvSpPr>
            <a:spLocks noGrp="1"/>
          </p:cNvSpPr>
          <p:nvPr/>
        </p:nvSpPr>
        <p:spPr>
          <a:xfrm>
            <a:off x="9525000" y="3790950"/>
            <a:ext cx="1619250" cy="8001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9050">
            <a:solidFill>
              <a:srgbClr val="830051"/>
            </a:solidFill>
            <a:prstDash val="solid"/>
          </a:ln>
        </p:spPr>
        <p:txBody>
          <a:bodyPr wrap="square" lIns="114300" tIns="76200" rIns="114300" bIns="76200" anchor="ctr">
            <a:noAutofit/>
          </a:bodyPr>
          <a:lstStyle/>
          <a:p>
            <a:pPr algn="ctr">
              <a:lnSpc>
                <a:spcPct val="104000"/>
              </a:lnSpc>
              <a:buNone/>
              <a:defRPr sz="1650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Browser</a:t>
            </a:r>
          </a:p>
        </p:txBody>
      </p:sp>
      <p:sp>
        <p:nvSpPr>
          <p:cNvPr id="14" name="Rectángulo: esquinas redondeadas 13">
            <a:extLst>
              <a:ext uri="{FF2B5EF4-FFF2-40B4-BE49-F238E27FC236}">
                <a16:creationId xmlns:a16="http://schemas.microsoft.com/office/drawing/2014/main" id="{D04E8C78-19C8-4C61-A4E5-D96828612C8E}"/>
              </a:ext>
            </a:extLst>
          </p:cNvPr>
          <p:cNvSpPr>
            <a:spLocks noGrp="1"/>
          </p:cNvSpPr>
          <p:nvPr/>
        </p:nvSpPr>
        <p:spPr>
          <a:xfrm>
            <a:off x="5162550" y="4800600"/>
            <a:ext cx="1866900" cy="857250"/>
          </a:xfrm>
          <a:prstGeom prst="roundRect">
            <a:avLst>
              <a:gd name="adj" fmla="val 15556"/>
            </a:avLst>
          </a:prstGeom>
          <a:solidFill>
            <a:srgbClr val="830051"/>
          </a:solidFill>
          <a:ln w="19050">
            <a:solidFill>
              <a:srgbClr val="830051"/>
            </a:solidFill>
            <a:prstDash val="solid"/>
          </a:ln>
        </p:spPr>
        <p:txBody>
          <a:bodyPr wrap="square" lIns="114300" tIns="76200" rIns="114300" bIns="76200" anchor="ctr">
            <a:noAutofit/>
          </a:bodyPr>
          <a:lstStyle/>
          <a:p>
            <a:pPr algn="ctr">
              <a:lnSpc>
                <a:spcPct val="104000"/>
              </a:lnSpc>
              <a:buNone/>
              <a:defRPr sz="17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TURN relay</a:t>
            </a:r>
          </a:p>
        </p:txBody>
      </p:sp>
      <p:cxnSp>
        <p:nvCxnSpPr>
          <p:cNvPr id="35" name="Conector recto de flecha 34"/>
          <p:cNvCxnSpPr>
            <a:stCxn id="12" idx="3"/>
            <a:endCxn id="13" idx="1"/>
          </p:cNvCxnSpPr>
          <p:nvPr/>
        </p:nvCxnSpPr>
        <p:spPr>
          <a:xfrm>
            <a:off x="2667000" y="4191000"/>
            <a:ext cx="6858000" cy="0"/>
          </a:xfrm>
          <a:prstGeom prst="straightConnector1">
            <a:avLst/>
          </a:prstGeom>
          <a:ln w="38100">
            <a:solidFill>
              <a:srgbClr val="830051"/>
            </a:solidFill>
            <a:prstDash val="solid"/>
            <a:tailEnd type="triangle" w="sm" len="sm"/>
          </a:ln>
        </p:spPr>
      </p:cxnSp>
      <p:sp>
        <p:nvSpPr>
          <p:cNvPr id="16" name="Rectángulo 15">
            <a:extLst>
              <a:ext uri="{FF2B5EF4-FFF2-40B4-BE49-F238E27FC236}">
                <a16:creationId xmlns:a16="http://schemas.microsoft.com/office/drawing/2014/main" id="{FEA17C36-2732-496D-A9ED-EDFB0B411564}"/>
              </a:ext>
            </a:extLst>
          </p:cNvPr>
          <p:cNvSpPr>
            <a:spLocks noGrp="1"/>
          </p:cNvSpPr>
          <p:nvPr/>
        </p:nvSpPr>
        <p:spPr>
          <a:xfrm>
            <a:off x="3962400" y="3543300"/>
            <a:ext cx="42672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4000"/>
              </a:lnSpc>
              <a:buNone/>
              <a:defRPr sz="1275" b="1">
                <a:solidFill>
                  <a:srgbClr val="830051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830051"/>
                </a:solidFill>
                <a:latin typeface="Arial"/>
                <a:ea typeface="Arial"/>
                <a:cs typeface="Arial"/>
              </a:rPr>
              <a:t>DIRECT CANDIDATES PREFERRED</a:t>
            </a:r>
          </a:p>
        </p:txBody>
      </p:sp>
      <p:cxnSp>
        <p:nvCxnSpPr>
          <p:cNvPr id="37" name="Conector recto de flecha 36"/>
          <p:cNvCxnSpPr>
            <a:stCxn id="12" idx="2"/>
            <a:endCxn id="14" idx="1"/>
          </p:cNvCxnSpPr>
          <p:nvPr/>
        </p:nvCxnSpPr>
        <p:spPr>
          <a:xfrm>
            <a:off x="1857375" y="4591050"/>
            <a:ext cx="3305175" cy="638175"/>
          </a:xfrm>
          <a:prstGeom prst="straightConnector1">
            <a:avLst/>
          </a:prstGeom>
          <a:ln w="19050">
            <a:solidFill>
              <a:srgbClr val="6F686D"/>
            </a:solidFill>
            <a:prstDash val="dash"/>
            <a:tailEnd type="triangle" w="sm" len="sm"/>
          </a:ln>
        </p:spPr>
      </p:cxnSp>
      <p:cxnSp>
        <p:nvCxnSpPr>
          <p:cNvPr id="38" name="Conector recto de flecha 37"/>
          <p:cNvCxnSpPr>
            <a:stCxn id="14" idx="3"/>
            <a:endCxn id="13" idx="2"/>
          </p:cNvCxnSpPr>
          <p:nvPr/>
        </p:nvCxnSpPr>
        <p:spPr>
          <a:xfrm flipV="1">
            <a:off x="7029450" y="4591050"/>
            <a:ext cx="3305175" cy="638175"/>
          </a:xfrm>
          <a:prstGeom prst="straightConnector1">
            <a:avLst/>
          </a:prstGeom>
          <a:ln w="19050">
            <a:solidFill>
              <a:srgbClr val="6F686D"/>
            </a:solidFill>
            <a:prstDash val="dash"/>
            <a:tailEnd type="triangle" w="sm" len="sm"/>
          </a:ln>
        </p:spPr>
      </p:cxnSp>
      <p:sp>
        <p:nvSpPr>
          <p:cNvPr id="19" name="Rectángulo 18">
            <a:extLst>
              <a:ext uri="{FF2B5EF4-FFF2-40B4-BE49-F238E27FC236}">
                <a16:creationId xmlns:a16="http://schemas.microsoft.com/office/drawing/2014/main" id="{91EB4C4D-784D-4D24-B79E-21FEFBA717D1}"/>
              </a:ext>
            </a:extLst>
          </p:cNvPr>
          <p:cNvSpPr>
            <a:spLocks noGrp="1"/>
          </p:cNvSpPr>
          <p:nvPr/>
        </p:nvSpPr>
        <p:spPr>
          <a:xfrm>
            <a:off x="3695700" y="5810250"/>
            <a:ext cx="48006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4000"/>
              </a:lnSpc>
              <a:buNone/>
              <a:defRPr sz="1275" b="1">
                <a:solidFill>
                  <a:srgbClr val="6F686D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6F686D"/>
                </a:solidFill>
                <a:latin typeface="Arial"/>
                <a:ea typeface="Arial"/>
                <a:cs typeface="Arial"/>
              </a:rPr>
              <a:t>RELAY FALLBACK WHEN DIRECT CHECKS FAIL</a:t>
            </a:r>
          </a:p>
        </p:txBody>
      </p:sp>
      <p:sp>
        <p:nvSpPr>
          <p:cNvPr id="20" name="Rectángulo 19">
            <a:extLst>
              <a:ext uri="{FF2B5EF4-FFF2-40B4-BE49-F238E27FC236}">
                <a16:creationId xmlns:a16="http://schemas.microsoft.com/office/drawing/2014/main" id="{13D42BC2-3C9E-4267-AFF8-91C518EAE24E}"/>
              </a:ext>
            </a:extLst>
          </p:cNvPr>
          <p:cNvSpPr>
            <a:spLocks noGrp="1"/>
          </p:cNvSpPr>
          <p:nvPr/>
        </p:nvSpPr>
        <p:spPr>
          <a:xfrm>
            <a:off x="8020050" y="1790700"/>
            <a:ext cx="3333750" cy="1066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4000"/>
              </a:lnSpc>
              <a:buNone/>
              <a:defRPr sz="1725" b="1">
                <a:solidFill>
                  <a:srgbClr val="510034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510034"/>
                </a:solidFill>
                <a:latin typeface="Arial"/>
                <a:ea typeface="Arial"/>
                <a:cs typeface="Arial"/>
              </a:rPr>
              <a:t>Reliability improves; the relay adds infrastructure and carries every media byte.</a:t>
            </a:r>
          </a:p>
        </p:txBody>
      </p:sp>
    </p:spTree>
    <p:extLst>
      <p:ext uri="{BB962C8B-B14F-4D97-AF65-F5344CB8AC3E}">
        <p14:creationId xmlns:p14="http://schemas.microsoft.com/office/powerpoint/2010/main" val="166502028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9F8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ángulo 24">
            <a:extLst>
              <a:ext uri="{FF2B5EF4-FFF2-40B4-BE49-F238E27FC236}">
                <a16:creationId xmlns:a16="http://schemas.microsoft.com/office/drawing/2014/main" id="{B0BB7A55-AD36-42BA-961A-F16FA284479F}"/>
              </a:ext>
            </a:extLst>
          </p:cNvPr>
          <p:cNvSpPr>
            <a:spLocks noGrp="1"/>
          </p:cNvSpPr>
          <p:nvPr/>
        </p:nvSpPr>
        <p:spPr>
          <a:xfrm>
            <a:off x="533400" y="266700"/>
            <a:ext cx="74295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200" b="1">
                <a:solidFill>
                  <a:srgbClr val="830051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830051"/>
                </a:solidFill>
                <a:latin typeface="Arial"/>
                <a:ea typeface="Arial"/>
                <a:cs typeface="Arial"/>
              </a:rPr>
              <a:t>ISSUES AND ITERATIONS</a:t>
            </a:r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571B83E5-3711-4998-8BDC-7036FD6578A0}"/>
              </a:ext>
            </a:extLst>
          </p:cNvPr>
          <p:cNvSpPr>
            <a:spLocks noGrp="1"/>
          </p:cNvSpPr>
          <p:nvPr/>
        </p:nvSpPr>
        <p:spPr>
          <a:xfrm>
            <a:off x="533400" y="590550"/>
            <a:ext cx="10477500" cy="552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4000"/>
              </a:lnSpc>
              <a:buNone/>
              <a:defRPr sz="337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Discovery of IPv6</a:t>
            </a:r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63D733E5-84EB-4D39-AA3A-9E72DB2CC3EF}"/>
              </a:ext>
            </a:extLst>
          </p:cNvPr>
          <p:cNvSpPr>
            <a:spLocks noGrp="1"/>
          </p:cNvSpPr>
          <p:nvPr/>
        </p:nvSpPr>
        <p:spPr>
          <a:xfrm>
            <a:off x="533400" y="1257300"/>
            <a:ext cx="11125200" cy="28575"/>
          </a:xfrm>
          <a:prstGeom prst="rect">
            <a:avLst/>
          </a:prstGeom>
          <a:solidFill>
            <a:srgbClr val="830051"/>
          </a:solidFill>
          <a:ln w="0"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3D736175-EFE2-4E63-99BC-2756B63F57CA}"/>
              </a:ext>
            </a:extLst>
          </p:cNvPr>
          <p:cNvSpPr>
            <a:spLocks noGrp="1"/>
          </p:cNvSpPr>
          <p:nvPr/>
        </p:nvSpPr>
        <p:spPr>
          <a:xfrm>
            <a:off x="10858500" y="6457950"/>
            <a:ext cx="8001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4000"/>
              </a:lnSpc>
              <a:buNone/>
              <a:defRPr sz="1125" b="1">
                <a:solidFill>
                  <a:srgbClr val="6F686D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6F686D"/>
                </a:solidFill>
                <a:latin typeface="Arial"/>
                <a:ea typeface="Arial"/>
                <a:cs typeface="Arial"/>
              </a:rPr>
              <a:t>16</a:t>
            </a:r>
          </a:p>
        </p:txBody>
      </p:sp>
      <p:sp>
        <p:nvSpPr>
          <p:cNvPr id="5" name="Rectángulo: esquinas redondeadas 4">
            <a:extLst>
              <a:ext uri="{FF2B5EF4-FFF2-40B4-BE49-F238E27FC236}">
                <a16:creationId xmlns:a16="http://schemas.microsoft.com/office/drawing/2014/main" id="{3859A777-97BE-4710-BA84-544BFBACFE69}"/>
              </a:ext>
            </a:extLst>
          </p:cNvPr>
          <p:cNvSpPr>
            <a:spLocks noGrp="1"/>
          </p:cNvSpPr>
          <p:nvPr/>
        </p:nvSpPr>
        <p:spPr>
          <a:xfrm>
            <a:off x="666750" y="1581150"/>
            <a:ext cx="2895600" cy="990600"/>
          </a:xfrm>
          <a:prstGeom prst="roundRect">
            <a:avLst>
              <a:gd name="adj" fmla="val 11538"/>
            </a:avLst>
          </a:prstGeom>
          <a:solidFill>
            <a:srgbClr val="F5EDF2"/>
          </a:solidFill>
          <a:ln w="0"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45796A23-425F-4221-B05A-92056417D1B0}"/>
              </a:ext>
            </a:extLst>
          </p:cNvPr>
          <p:cNvSpPr>
            <a:spLocks noGrp="1"/>
          </p:cNvSpPr>
          <p:nvPr/>
        </p:nvSpPr>
        <p:spPr>
          <a:xfrm>
            <a:off x="876300" y="1752600"/>
            <a:ext cx="24765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275" b="1">
                <a:solidFill>
                  <a:srgbClr val="830051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830051"/>
                </a:solidFill>
                <a:latin typeface="Arial"/>
                <a:ea typeface="Arial"/>
                <a:cs typeface="Arial"/>
              </a:rPr>
              <a:t>PROMISING</a:t>
            </a:r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FC838489-0D6B-46D3-926F-78ED0E81CEDE}"/>
              </a:ext>
            </a:extLst>
          </p:cNvPr>
          <p:cNvSpPr>
            <a:spLocks noGrp="1"/>
          </p:cNvSpPr>
          <p:nvPr/>
        </p:nvSpPr>
        <p:spPr>
          <a:xfrm>
            <a:off x="876300" y="2076450"/>
            <a:ext cx="2476500" cy="361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42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ICE can test IPv6 beside IPv4 and TURN.</a:t>
            </a:r>
          </a:p>
        </p:txBody>
      </p:sp>
      <p:sp>
        <p:nvSpPr>
          <p:cNvPr id="8" name="Rectángulo: esquinas redondeadas 7">
            <a:extLst>
              <a:ext uri="{FF2B5EF4-FFF2-40B4-BE49-F238E27FC236}">
                <a16:creationId xmlns:a16="http://schemas.microsoft.com/office/drawing/2014/main" id="{D5789AA9-2FA9-4F6D-BB80-1E0979F6F6D3}"/>
              </a:ext>
            </a:extLst>
          </p:cNvPr>
          <p:cNvSpPr>
            <a:spLocks noGrp="1"/>
          </p:cNvSpPr>
          <p:nvPr/>
        </p:nvSpPr>
        <p:spPr>
          <a:xfrm>
            <a:off x="8629650" y="1581150"/>
            <a:ext cx="2895600" cy="990600"/>
          </a:xfrm>
          <a:prstGeom prst="roundRect">
            <a:avLst>
              <a:gd name="adj" fmla="val 11538"/>
            </a:avLst>
          </a:prstGeom>
          <a:solidFill>
            <a:srgbClr val="E7E3E5"/>
          </a:solidFill>
          <a:ln w="0"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9" name="Rectángulo 8">
            <a:extLst>
              <a:ext uri="{FF2B5EF4-FFF2-40B4-BE49-F238E27FC236}">
                <a16:creationId xmlns:a16="http://schemas.microsoft.com/office/drawing/2014/main" id="{6DB72B63-6709-47A2-AA37-5CD0C34AAD96}"/>
              </a:ext>
            </a:extLst>
          </p:cNvPr>
          <p:cNvSpPr>
            <a:spLocks noGrp="1"/>
          </p:cNvSpPr>
          <p:nvPr/>
        </p:nvSpPr>
        <p:spPr>
          <a:xfrm>
            <a:off x="8839200" y="1752600"/>
            <a:ext cx="24765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4000"/>
              </a:lnSpc>
              <a:buNone/>
              <a:defRPr sz="1275" b="1">
                <a:solidFill>
                  <a:srgbClr val="6F686D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6F686D"/>
                </a:solidFill>
                <a:latin typeface="Arial"/>
                <a:ea typeface="Arial"/>
                <a:cs typeface="Arial"/>
              </a:rPr>
              <a:t>NOT YET VALIDATED</a:t>
            </a:r>
          </a:p>
        </p:txBody>
      </p:sp>
      <p:sp>
        <p:nvSpPr>
          <p:cNvPr id="10" name="Rectángulo 9">
            <a:extLst>
              <a:ext uri="{FF2B5EF4-FFF2-40B4-BE49-F238E27FC236}">
                <a16:creationId xmlns:a16="http://schemas.microsoft.com/office/drawing/2014/main" id="{B9A292E7-60A2-4B89-8611-56CB7A49EB61}"/>
              </a:ext>
            </a:extLst>
          </p:cNvPr>
          <p:cNvSpPr>
            <a:spLocks noGrp="1"/>
          </p:cNvSpPr>
          <p:nvPr/>
        </p:nvSpPr>
        <p:spPr>
          <a:xfrm>
            <a:off x="8839200" y="2076450"/>
            <a:ext cx="2476500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4000"/>
              </a:lnSpc>
              <a:buNone/>
              <a:defRPr sz="1350" b="0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71417"/>
                </a:solidFill>
                <a:latin typeface="Arial"/>
                <a:ea typeface="Arial"/>
                <a:cs typeface="Arial"/>
              </a:rPr>
              <a:t>Only local IPv6 loopback exists in code; WAN behavior remains untested.</a:t>
            </a:r>
          </a:p>
        </p:txBody>
      </p:sp>
      <p:sp>
        <p:nvSpPr>
          <p:cNvPr id="11" name="Rectángulo: esquinas redondeadas 10">
            <a:extLst>
              <a:ext uri="{FF2B5EF4-FFF2-40B4-BE49-F238E27FC236}">
                <a16:creationId xmlns:a16="http://schemas.microsoft.com/office/drawing/2014/main" id="{4BF3757C-7668-4741-852D-CBEAEF0E070B}"/>
              </a:ext>
            </a:extLst>
          </p:cNvPr>
          <p:cNvSpPr>
            <a:spLocks noGrp="1"/>
          </p:cNvSpPr>
          <p:nvPr/>
        </p:nvSpPr>
        <p:spPr>
          <a:xfrm>
            <a:off x="762000" y="3314700"/>
            <a:ext cx="1809750" cy="76200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19050">
            <a:solidFill>
              <a:srgbClr val="830051"/>
            </a:solidFill>
            <a:prstDash val="solid"/>
          </a:ln>
        </p:spPr>
        <p:txBody>
          <a:bodyPr wrap="square" lIns="114300" tIns="76200" rIns="114300" bIns="76200" anchor="ctr">
            <a:noAutofit/>
          </a:bodyPr>
          <a:lstStyle/>
          <a:p>
            <a:pPr algn="ctr">
              <a:lnSpc>
                <a:spcPct val="104000"/>
              </a:lnSpc>
              <a:buNone/>
              <a:defRPr sz="157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Mobile device</a:t>
            </a:r>
          </a:p>
        </p:txBody>
      </p:sp>
      <p:sp>
        <p:nvSpPr>
          <p:cNvPr id="12" name="Rectángulo: esquinas redondeadas 11">
            <a:extLst>
              <a:ext uri="{FF2B5EF4-FFF2-40B4-BE49-F238E27FC236}">
                <a16:creationId xmlns:a16="http://schemas.microsoft.com/office/drawing/2014/main" id="{CAF7E180-74E6-49C9-9E3B-304F517F52FE}"/>
              </a:ext>
            </a:extLst>
          </p:cNvPr>
          <p:cNvSpPr>
            <a:spLocks noGrp="1"/>
          </p:cNvSpPr>
          <p:nvPr/>
        </p:nvSpPr>
        <p:spPr>
          <a:xfrm>
            <a:off x="9620250" y="3314700"/>
            <a:ext cx="1809750" cy="76200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19050">
            <a:solidFill>
              <a:srgbClr val="830051"/>
            </a:solidFill>
            <a:prstDash val="solid"/>
          </a:ln>
        </p:spPr>
        <p:txBody>
          <a:bodyPr wrap="square" lIns="114300" tIns="76200" rIns="114300" bIns="76200" anchor="ctr">
            <a:noAutofit/>
          </a:bodyPr>
          <a:lstStyle/>
          <a:p>
            <a:pPr algn="ctr">
              <a:lnSpc>
                <a:spcPct val="104000"/>
              </a:lnSpc>
              <a:buNone/>
              <a:defRPr sz="157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Remote browser</a:t>
            </a:r>
          </a:p>
        </p:txBody>
      </p:sp>
      <p:sp>
        <p:nvSpPr>
          <p:cNvPr id="13" name="Rectángulo: esquinas redondeadas 12">
            <a:extLst>
              <a:ext uri="{FF2B5EF4-FFF2-40B4-BE49-F238E27FC236}">
                <a16:creationId xmlns:a16="http://schemas.microsoft.com/office/drawing/2014/main" id="{6A8E7A26-3214-457D-810C-8E35C79C08EC}"/>
              </a:ext>
            </a:extLst>
          </p:cNvPr>
          <p:cNvSpPr>
            <a:spLocks noGrp="1"/>
          </p:cNvSpPr>
          <p:nvPr/>
        </p:nvSpPr>
        <p:spPr>
          <a:xfrm>
            <a:off x="3676650" y="2724150"/>
            <a:ext cx="2095500" cy="857250"/>
          </a:xfrm>
          <a:prstGeom prst="roundRect">
            <a:avLst>
              <a:gd name="adj" fmla="val 15556"/>
            </a:avLst>
          </a:prstGeom>
          <a:solidFill>
            <a:srgbClr val="830051"/>
          </a:solidFill>
          <a:ln w="19050">
            <a:solidFill>
              <a:srgbClr val="830051"/>
            </a:solidFill>
            <a:prstDash val="solid"/>
          </a:ln>
        </p:spPr>
        <p:txBody>
          <a:bodyPr wrap="square" lIns="114300" tIns="76200" rIns="114300" bIns="76200" anchor="ctr">
            <a:noAutofit/>
          </a:bodyPr>
          <a:lstStyle/>
          <a:p>
            <a:pPr algn="ctr">
              <a:lnSpc>
                <a:spcPct val="104000"/>
              </a:lnSpc>
              <a:buNone/>
              <a:defRPr sz="15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IPv4</a:t>
            </a:r>
          </a:p>
          <a:p>
            <a:pPr algn="ctr">
              <a:lnSpc>
                <a:spcPct val="104000"/>
              </a:lnSpc>
              <a:buNone/>
              <a:defRPr sz="15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carrier-grade NAT</a:t>
            </a:r>
          </a:p>
        </p:txBody>
      </p:sp>
      <p:sp>
        <p:nvSpPr>
          <p:cNvPr id="14" name="Rectángulo: esquinas redondeadas 13">
            <a:extLst>
              <a:ext uri="{FF2B5EF4-FFF2-40B4-BE49-F238E27FC236}">
                <a16:creationId xmlns:a16="http://schemas.microsoft.com/office/drawing/2014/main" id="{2AB14DA1-A894-4514-A896-688382690240}"/>
              </a:ext>
            </a:extLst>
          </p:cNvPr>
          <p:cNvSpPr>
            <a:spLocks noGrp="1"/>
          </p:cNvSpPr>
          <p:nvPr/>
        </p:nvSpPr>
        <p:spPr>
          <a:xfrm>
            <a:off x="6477000" y="2800350"/>
            <a:ext cx="2038350" cy="704850"/>
          </a:xfrm>
          <a:prstGeom prst="roundRect">
            <a:avLst>
              <a:gd name="adj" fmla="val 18919"/>
            </a:avLst>
          </a:prstGeom>
          <a:solidFill>
            <a:srgbClr val="F5EDF2"/>
          </a:solidFill>
          <a:ln w="19050">
            <a:solidFill>
              <a:srgbClr val="830051"/>
            </a:solidFill>
            <a:prstDash val="solid"/>
          </a:ln>
        </p:spPr>
        <p:txBody>
          <a:bodyPr wrap="square" lIns="114300" tIns="76200" rIns="114300" bIns="76200" anchor="ctr">
            <a:noAutofit/>
          </a:bodyPr>
          <a:lstStyle/>
          <a:p>
            <a:pPr algn="ctr">
              <a:lnSpc>
                <a:spcPct val="104000"/>
              </a:lnSpc>
              <a:buNone/>
              <a:defRPr sz="1500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IPv4 NAT / firewall</a:t>
            </a:r>
          </a:p>
        </p:txBody>
      </p:sp>
      <p:cxnSp>
        <p:nvCxnSpPr>
          <p:cNvPr id="39" name="Conector recto de flecha 38"/>
          <p:cNvCxnSpPr>
            <a:stCxn id="11" idx="0"/>
            <a:endCxn id="13" idx="1"/>
          </p:cNvCxnSpPr>
          <p:nvPr/>
        </p:nvCxnSpPr>
        <p:spPr>
          <a:xfrm flipV="1">
            <a:off x="1666875" y="3152775"/>
            <a:ext cx="2009775" cy="161925"/>
          </a:xfrm>
          <a:prstGeom prst="straightConnector1">
            <a:avLst/>
          </a:prstGeom>
          <a:ln w="19050">
            <a:solidFill>
              <a:srgbClr val="A69FA3"/>
            </a:solidFill>
            <a:prstDash val="solid"/>
            <a:tailEnd type="triangle" w="sm" len="sm"/>
          </a:ln>
        </p:spPr>
      </p:cxnSp>
      <p:cxnSp>
        <p:nvCxnSpPr>
          <p:cNvPr id="40" name="Conector recto de flecha 39"/>
          <p:cNvCxnSpPr>
            <a:stCxn id="13" idx="3"/>
            <a:endCxn id="14" idx="1"/>
          </p:cNvCxnSpPr>
          <p:nvPr/>
        </p:nvCxnSpPr>
        <p:spPr>
          <a:xfrm>
            <a:off x="5772150" y="3152775"/>
            <a:ext cx="704850" cy="0"/>
          </a:xfrm>
          <a:prstGeom prst="straightConnector1">
            <a:avLst/>
          </a:prstGeom>
          <a:ln w="19050">
            <a:solidFill>
              <a:srgbClr val="A69FA3"/>
            </a:solidFill>
            <a:prstDash val="solid"/>
            <a:tailEnd type="triangle" w="sm" len="sm"/>
          </a:ln>
        </p:spPr>
      </p:cxnSp>
      <p:cxnSp>
        <p:nvCxnSpPr>
          <p:cNvPr id="41" name="Conector recto de flecha 40"/>
          <p:cNvCxnSpPr>
            <a:stCxn id="14" idx="3"/>
            <a:endCxn id="12" idx="0"/>
          </p:cNvCxnSpPr>
          <p:nvPr/>
        </p:nvCxnSpPr>
        <p:spPr>
          <a:xfrm>
            <a:off x="8515350" y="3152775"/>
            <a:ext cx="2009775" cy="161925"/>
          </a:xfrm>
          <a:prstGeom prst="straightConnector1">
            <a:avLst/>
          </a:prstGeom>
          <a:ln w="19050">
            <a:solidFill>
              <a:srgbClr val="A69FA3"/>
            </a:solidFill>
            <a:prstDash val="solid"/>
            <a:tailEnd type="triangle" w="sm" len="sm"/>
          </a:ln>
        </p:spPr>
      </p:cxnSp>
      <p:sp>
        <p:nvSpPr>
          <p:cNvPr id="18" name="Rectángulo 17">
            <a:extLst>
              <a:ext uri="{FF2B5EF4-FFF2-40B4-BE49-F238E27FC236}">
                <a16:creationId xmlns:a16="http://schemas.microsoft.com/office/drawing/2014/main" id="{1B837E7C-458E-41A9-890E-D6FF0DC47D9E}"/>
              </a:ext>
            </a:extLst>
          </p:cNvPr>
          <p:cNvSpPr>
            <a:spLocks noGrp="1"/>
          </p:cNvSpPr>
          <p:nvPr/>
        </p:nvSpPr>
        <p:spPr>
          <a:xfrm>
            <a:off x="5200650" y="2419350"/>
            <a:ext cx="180975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4000"/>
              </a:lnSpc>
              <a:buNone/>
              <a:defRPr sz="1275" b="1">
                <a:solidFill>
                  <a:srgbClr val="6F686D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6F686D"/>
                </a:solidFill>
                <a:latin typeface="Arial"/>
                <a:ea typeface="Arial"/>
                <a:cs typeface="Arial"/>
              </a:rPr>
              <a:t>IPv4 path</a:t>
            </a:r>
          </a:p>
        </p:txBody>
      </p:sp>
      <p:sp>
        <p:nvSpPr>
          <p:cNvPr id="19" name="Rectángulo: esquinas redondeadas 18">
            <a:extLst>
              <a:ext uri="{FF2B5EF4-FFF2-40B4-BE49-F238E27FC236}">
                <a16:creationId xmlns:a16="http://schemas.microsoft.com/office/drawing/2014/main" id="{079A4A78-CE42-4E3B-A82C-2EAA5EE0E1F1}"/>
              </a:ext>
            </a:extLst>
          </p:cNvPr>
          <p:cNvSpPr>
            <a:spLocks noGrp="1"/>
          </p:cNvSpPr>
          <p:nvPr/>
        </p:nvSpPr>
        <p:spPr>
          <a:xfrm>
            <a:off x="4000500" y="4552950"/>
            <a:ext cx="2095500" cy="742950"/>
          </a:xfrm>
          <a:prstGeom prst="roundRect">
            <a:avLst>
              <a:gd name="adj" fmla="val 17949"/>
            </a:avLst>
          </a:prstGeom>
          <a:solidFill>
            <a:srgbClr val="F5EDF2"/>
          </a:solidFill>
          <a:ln w="19050">
            <a:solidFill>
              <a:srgbClr val="830051"/>
            </a:solidFill>
            <a:prstDash val="solid"/>
          </a:ln>
        </p:spPr>
        <p:txBody>
          <a:bodyPr wrap="square" lIns="114300" tIns="76200" rIns="114300" bIns="76200" anchor="ctr">
            <a:noAutofit/>
          </a:bodyPr>
          <a:lstStyle/>
          <a:p>
            <a:pPr algn="ctr">
              <a:lnSpc>
                <a:spcPct val="104000"/>
              </a:lnSpc>
              <a:buNone/>
              <a:defRPr sz="157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IPv6 Internet</a:t>
            </a:r>
          </a:p>
        </p:txBody>
      </p:sp>
      <p:sp>
        <p:nvSpPr>
          <p:cNvPr id="20" name="Rectángulo: esquinas redondeadas 19">
            <a:extLst>
              <a:ext uri="{FF2B5EF4-FFF2-40B4-BE49-F238E27FC236}">
                <a16:creationId xmlns:a16="http://schemas.microsoft.com/office/drawing/2014/main" id="{6C6C0567-ECAB-4B49-A07C-832699A6A5C5}"/>
              </a:ext>
            </a:extLst>
          </p:cNvPr>
          <p:cNvSpPr>
            <a:spLocks noGrp="1"/>
          </p:cNvSpPr>
          <p:nvPr/>
        </p:nvSpPr>
        <p:spPr>
          <a:xfrm>
            <a:off x="6819900" y="4552950"/>
            <a:ext cx="2000250" cy="742950"/>
          </a:xfrm>
          <a:prstGeom prst="roundRect">
            <a:avLst>
              <a:gd name="adj" fmla="val 17949"/>
            </a:avLst>
          </a:prstGeom>
          <a:solidFill>
            <a:srgbClr val="E7E3E5"/>
          </a:solidFill>
          <a:ln w="19050">
            <a:solidFill>
              <a:srgbClr val="A69FA3"/>
            </a:solidFill>
            <a:prstDash val="solid"/>
          </a:ln>
        </p:spPr>
        <p:txBody>
          <a:bodyPr wrap="square" lIns="114300" tIns="76200" rIns="114300" bIns="76200" anchor="ctr">
            <a:noAutofit/>
          </a:bodyPr>
          <a:lstStyle/>
          <a:p>
            <a:pPr algn="ctr">
              <a:lnSpc>
                <a:spcPct val="104000"/>
              </a:lnSpc>
              <a:buNone/>
              <a:defRPr sz="157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Firewall policy</a:t>
            </a:r>
          </a:p>
        </p:txBody>
      </p:sp>
      <p:cxnSp>
        <p:nvCxnSpPr>
          <p:cNvPr id="45" name="Conector recto de flecha 44"/>
          <p:cNvCxnSpPr>
            <a:stCxn id="11" idx="2"/>
            <a:endCxn id="19" idx="1"/>
          </p:cNvCxnSpPr>
          <p:nvPr/>
        </p:nvCxnSpPr>
        <p:spPr>
          <a:xfrm>
            <a:off x="1666875" y="4076700"/>
            <a:ext cx="2333625" cy="847725"/>
          </a:xfrm>
          <a:prstGeom prst="straightConnector1">
            <a:avLst/>
          </a:prstGeom>
          <a:ln w="19050">
            <a:solidFill>
              <a:srgbClr val="830051"/>
            </a:solidFill>
            <a:prstDash val="solid"/>
            <a:tailEnd type="triangle" w="sm" len="sm"/>
          </a:ln>
        </p:spPr>
      </p:cxnSp>
      <p:cxnSp>
        <p:nvCxnSpPr>
          <p:cNvPr id="46" name="Conector recto de flecha 45"/>
          <p:cNvCxnSpPr>
            <a:stCxn id="19" idx="3"/>
            <a:endCxn id="20" idx="1"/>
          </p:cNvCxnSpPr>
          <p:nvPr/>
        </p:nvCxnSpPr>
        <p:spPr>
          <a:xfrm>
            <a:off x="6096000" y="4924425"/>
            <a:ext cx="723900" cy="0"/>
          </a:xfrm>
          <a:prstGeom prst="straightConnector1">
            <a:avLst/>
          </a:prstGeom>
          <a:ln w="19050">
            <a:solidFill>
              <a:srgbClr val="830051"/>
            </a:solidFill>
            <a:prstDash val="solid"/>
            <a:tailEnd type="triangle" w="sm" len="sm"/>
          </a:ln>
        </p:spPr>
      </p:cxnSp>
      <p:cxnSp>
        <p:nvCxnSpPr>
          <p:cNvPr id="47" name="Conector recto de flecha 46"/>
          <p:cNvCxnSpPr>
            <a:stCxn id="20" idx="3"/>
            <a:endCxn id="12" idx="2"/>
          </p:cNvCxnSpPr>
          <p:nvPr/>
        </p:nvCxnSpPr>
        <p:spPr>
          <a:xfrm flipV="1">
            <a:off x="8820150" y="4076700"/>
            <a:ext cx="1704975" cy="847725"/>
          </a:xfrm>
          <a:prstGeom prst="straightConnector1">
            <a:avLst/>
          </a:prstGeom>
          <a:ln w="19050">
            <a:solidFill>
              <a:srgbClr val="830051"/>
            </a:solidFill>
            <a:prstDash val="solid"/>
            <a:tailEnd type="triangle" w="sm" len="sm"/>
          </a:ln>
        </p:spPr>
      </p:cxnSp>
      <p:sp>
        <p:nvSpPr>
          <p:cNvPr id="24" name="Rectángulo 23">
            <a:extLst>
              <a:ext uri="{FF2B5EF4-FFF2-40B4-BE49-F238E27FC236}">
                <a16:creationId xmlns:a16="http://schemas.microsoft.com/office/drawing/2014/main" id="{FEC71F6F-3F00-4FAF-947F-5E7F19608E27}"/>
              </a:ext>
            </a:extLst>
          </p:cNvPr>
          <p:cNvSpPr>
            <a:spLocks noGrp="1"/>
          </p:cNvSpPr>
          <p:nvPr/>
        </p:nvSpPr>
        <p:spPr>
          <a:xfrm>
            <a:off x="2457450" y="5562600"/>
            <a:ext cx="7277100" cy="381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4000"/>
              </a:lnSpc>
              <a:buNone/>
              <a:defRPr sz="1650" b="1">
                <a:solidFill>
                  <a:srgbClr val="510034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510034"/>
                </a:solidFill>
                <a:latin typeface="Arial"/>
                <a:ea typeface="Arial"/>
                <a:cs typeface="Arial"/>
              </a:rPr>
              <a:t>IPv6 can avoid the IPv4 CGNAT layer, but not firewall policy or latency limits.</a:t>
            </a:r>
          </a:p>
        </p:txBody>
      </p:sp>
    </p:spTree>
    <p:extLst>
      <p:ext uri="{BB962C8B-B14F-4D97-AF65-F5344CB8AC3E}">
        <p14:creationId xmlns:p14="http://schemas.microsoft.com/office/powerpoint/2010/main" val="197765460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9F8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ctángulo 19">
            <a:extLst>
              <a:ext uri="{FF2B5EF4-FFF2-40B4-BE49-F238E27FC236}">
                <a16:creationId xmlns:a16="http://schemas.microsoft.com/office/drawing/2014/main" id="{A65336D7-4DA3-4FD8-95A9-A5DD5863256B}"/>
              </a:ext>
            </a:extLst>
          </p:cNvPr>
          <p:cNvSpPr>
            <a:spLocks noGrp="1"/>
          </p:cNvSpPr>
          <p:nvPr/>
        </p:nvSpPr>
        <p:spPr>
          <a:xfrm>
            <a:off x="533400" y="266700"/>
            <a:ext cx="74295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200" b="1">
                <a:solidFill>
                  <a:srgbClr val="830051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830051"/>
                </a:solidFill>
                <a:latin typeface="Arial"/>
                <a:ea typeface="Arial"/>
                <a:cs typeface="Arial"/>
              </a:rPr>
              <a:t>ISSUES AND ITERATIONS</a:t>
            </a:r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71FBE574-1A20-428E-9E93-3A78B67C917E}"/>
              </a:ext>
            </a:extLst>
          </p:cNvPr>
          <p:cNvSpPr>
            <a:spLocks noGrp="1"/>
          </p:cNvSpPr>
          <p:nvPr/>
        </p:nvSpPr>
        <p:spPr>
          <a:xfrm>
            <a:off x="533400" y="590550"/>
            <a:ext cx="10477500" cy="552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4000"/>
              </a:lnSpc>
              <a:buNone/>
              <a:defRPr sz="337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Discovery of WHIP and WHEP</a:t>
            </a:r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0F0186AD-C91A-4131-AC34-68B788173D23}"/>
              </a:ext>
            </a:extLst>
          </p:cNvPr>
          <p:cNvSpPr>
            <a:spLocks noGrp="1"/>
          </p:cNvSpPr>
          <p:nvPr/>
        </p:nvSpPr>
        <p:spPr>
          <a:xfrm>
            <a:off x="533400" y="1257300"/>
            <a:ext cx="11125200" cy="28575"/>
          </a:xfrm>
          <a:prstGeom prst="rect">
            <a:avLst/>
          </a:prstGeom>
          <a:solidFill>
            <a:srgbClr val="830051"/>
          </a:solidFill>
          <a:ln w="0"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4942BA0A-69DF-432A-96AC-8256132EFAD8}"/>
              </a:ext>
            </a:extLst>
          </p:cNvPr>
          <p:cNvSpPr>
            <a:spLocks noGrp="1"/>
          </p:cNvSpPr>
          <p:nvPr/>
        </p:nvSpPr>
        <p:spPr>
          <a:xfrm>
            <a:off x="10858500" y="6457950"/>
            <a:ext cx="8001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4000"/>
              </a:lnSpc>
              <a:buNone/>
              <a:defRPr sz="1125" b="1">
                <a:solidFill>
                  <a:srgbClr val="6F686D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6F686D"/>
                </a:solidFill>
                <a:latin typeface="Arial"/>
                <a:ea typeface="Arial"/>
                <a:cs typeface="Arial"/>
              </a:rPr>
              <a:t>17</a:t>
            </a:r>
          </a:p>
        </p:txBody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0AF0D841-1B4E-455D-ABF0-3EEE4C885EEE}"/>
              </a:ext>
            </a:extLst>
          </p:cNvPr>
          <p:cNvSpPr>
            <a:spLocks noGrp="1"/>
          </p:cNvSpPr>
          <p:nvPr/>
        </p:nvSpPr>
        <p:spPr>
          <a:xfrm>
            <a:off x="742950" y="1676400"/>
            <a:ext cx="4000500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2325" b="1">
                <a:solidFill>
                  <a:srgbClr val="830051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830051"/>
                </a:solidFill>
                <a:latin typeface="Arial"/>
                <a:ea typeface="Arial"/>
                <a:cs typeface="Arial"/>
              </a:rPr>
              <a:t>Specifications clarified</a:t>
            </a:r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EB25F421-4F5D-447A-85F6-C25AB05648D3}"/>
              </a:ext>
            </a:extLst>
          </p:cNvPr>
          <p:cNvSpPr>
            <a:spLocks noGrp="1"/>
          </p:cNvSpPr>
          <p:nvPr/>
        </p:nvSpPr>
        <p:spPr>
          <a:xfrm>
            <a:off x="819150" y="2228850"/>
            <a:ext cx="3810000" cy="1581150"/>
          </a:xfrm>
          <a:prstGeom prst="rect">
            <a:avLst/>
          </a:prstGeom>
          <a:noFill/>
          <a:ln w="0">
            <a:noFill/>
          </a:ln>
        </p:spPr>
        <p:txBody>
          <a:bodyPr wrap="square" lIns="38100" tIns="38100" rIns="38100" bIns="38100">
            <a:noAutofit/>
          </a:bodyPr>
          <a:lstStyle/>
          <a:p>
            <a:pPr marL="254000" indent="-127000">
              <a:lnSpc>
                <a:spcPct val="105000"/>
              </a:lnSpc>
              <a:spcAft>
                <a:spcPts val="900"/>
              </a:spcAft>
              <a:buNone/>
              <a:defRPr sz="1725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725">
                <a:solidFill>
                  <a:srgbClr val="171417"/>
                </a:solidFill>
                <a:latin typeface="Arial"/>
                <a:ea typeface="Arial"/>
                <a:cs typeface="Arial"/>
              </a:rPr>
              <a:t>publisher and viewer roles</a:t>
            </a:r>
          </a:p>
          <a:p>
            <a:pPr marL="254000" indent="-127000">
              <a:lnSpc>
                <a:spcPct val="105000"/>
              </a:lnSpc>
              <a:spcAft>
                <a:spcPts val="900"/>
              </a:spcAft>
              <a:buNone/>
              <a:defRPr sz="1725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725">
                <a:solidFill>
                  <a:srgbClr val="171417"/>
                </a:solidFill>
                <a:latin typeface="Arial"/>
                <a:ea typeface="Arial"/>
                <a:cs typeface="Arial"/>
              </a:rPr>
              <a:t>SDP and ICE exchange</a:t>
            </a:r>
          </a:p>
          <a:p>
            <a:pPr marL="254000" indent="-127000">
              <a:lnSpc>
                <a:spcPct val="105000"/>
              </a:lnSpc>
              <a:spcAft>
                <a:spcPts val="900"/>
              </a:spcAft>
              <a:buNone/>
              <a:defRPr sz="1725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725">
                <a:solidFill>
                  <a:srgbClr val="171417"/>
                </a:solidFill>
                <a:latin typeface="Arial"/>
                <a:ea typeface="Arial"/>
                <a:cs typeface="Arial"/>
              </a:rPr>
              <a:t>session creation and teardown</a:t>
            </a:r>
          </a:p>
        </p:txBody>
      </p:sp>
      <p:sp>
        <p:nvSpPr>
          <p:cNvPr id="7" name="Conector recto 6">
            <a:extLst>
              <a:ext uri="{FF2B5EF4-FFF2-40B4-BE49-F238E27FC236}">
                <a16:creationId xmlns:a16="http://schemas.microsoft.com/office/drawing/2014/main" id="{D24A4CBC-5EC1-40C3-9C42-6544BD94CF15}"/>
              </a:ext>
            </a:extLst>
          </p:cNvPr>
          <p:cNvSpPr>
            <a:spLocks noGrp="1"/>
          </p:cNvSpPr>
          <p:nvPr/>
        </p:nvSpPr>
        <p:spPr>
          <a:xfrm>
            <a:off x="4953000" y="1638300"/>
            <a:ext cx="0" cy="3962400"/>
          </a:xfrm>
          <a:prstGeom prst="line">
            <a:avLst/>
          </a:prstGeom>
          <a:noFill/>
          <a:ln w="19050">
            <a:solidFill>
              <a:srgbClr val="E7E3E5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05B4A0D7-5350-456D-8DE2-897B15022E19}"/>
              </a:ext>
            </a:extLst>
          </p:cNvPr>
          <p:cNvSpPr>
            <a:spLocks noGrp="1"/>
          </p:cNvSpPr>
          <p:nvPr/>
        </p:nvSpPr>
        <p:spPr>
          <a:xfrm>
            <a:off x="5486400" y="1676400"/>
            <a:ext cx="4000500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2325" b="1">
                <a:solidFill>
                  <a:srgbClr val="830051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830051"/>
                </a:solidFill>
                <a:latin typeface="Arial"/>
                <a:ea typeface="Arial"/>
                <a:cs typeface="Arial"/>
              </a:rPr>
              <a:t>Architecture decision</a:t>
            </a:r>
          </a:p>
        </p:txBody>
      </p:sp>
      <p:sp>
        <p:nvSpPr>
          <p:cNvPr id="9" name="Rectángulo: esquinas redondeadas 8">
            <a:extLst>
              <a:ext uri="{FF2B5EF4-FFF2-40B4-BE49-F238E27FC236}">
                <a16:creationId xmlns:a16="http://schemas.microsoft.com/office/drawing/2014/main" id="{1F7EAE9D-7F47-44C0-B87B-1126A65F10CF}"/>
              </a:ext>
            </a:extLst>
          </p:cNvPr>
          <p:cNvSpPr>
            <a:spLocks noGrp="1"/>
          </p:cNvSpPr>
          <p:nvPr/>
        </p:nvSpPr>
        <p:spPr>
          <a:xfrm>
            <a:off x="5524500" y="2381250"/>
            <a:ext cx="2667000" cy="819150"/>
          </a:xfrm>
          <a:prstGeom prst="roundRect">
            <a:avLst>
              <a:gd name="adj" fmla="val 16279"/>
            </a:avLst>
          </a:prstGeom>
          <a:solidFill>
            <a:srgbClr val="E7E3E5"/>
          </a:solidFill>
          <a:ln w="19050">
            <a:solidFill>
              <a:srgbClr val="A69FA3"/>
            </a:solidFill>
            <a:prstDash val="dash"/>
          </a:ln>
        </p:spPr>
        <p:txBody>
          <a:bodyPr wrap="square" lIns="114300" tIns="76200" rIns="114300" bIns="76200" anchor="ctr">
            <a:noAutofit/>
          </a:bodyPr>
          <a:lstStyle/>
          <a:p>
            <a:pPr algn="ctr">
              <a:lnSpc>
                <a:spcPct val="104000"/>
              </a:lnSpc>
              <a:buNone/>
              <a:defRPr sz="1575" b="1">
                <a:solidFill>
                  <a:srgbClr val="6F686D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6F686D"/>
                </a:solidFill>
                <a:latin typeface="Arial"/>
                <a:ea typeface="Arial"/>
                <a:cs typeface="Arial"/>
              </a:rPr>
              <a:t>Full HTTP WHIP / WHEP</a:t>
            </a:r>
          </a:p>
        </p:txBody>
      </p:sp>
      <p:sp>
        <p:nvSpPr>
          <p:cNvPr id="10" name="Rectángulo: esquinas redondeadas 9">
            <a:extLst>
              <a:ext uri="{FF2B5EF4-FFF2-40B4-BE49-F238E27FC236}">
                <a16:creationId xmlns:a16="http://schemas.microsoft.com/office/drawing/2014/main" id="{F8E7CE6F-D50F-4A84-BF1B-FB68F6FE45D6}"/>
              </a:ext>
            </a:extLst>
          </p:cNvPr>
          <p:cNvSpPr>
            <a:spLocks noGrp="1"/>
          </p:cNvSpPr>
          <p:nvPr/>
        </p:nvSpPr>
        <p:spPr>
          <a:xfrm>
            <a:off x="8724900" y="2286000"/>
            <a:ext cx="2667000" cy="1009650"/>
          </a:xfrm>
          <a:prstGeom prst="roundRect">
            <a:avLst>
              <a:gd name="adj" fmla="val 13208"/>
            </a:avLst>
          </a:prstGeom>
          <a:solidFill>
            <a:srgbClr val="E7E3E5"/>
          </a:solidFill>
          <a:ln w="19050">
            <a:solidFill>
              <a:srgbClr val="A69FA3"/>
            </a:solidFill>
            <a:prstDash val="dash"/>
          </a:ln>
        </p:spPr>
        <p:txBody>
          <a:bodyPr wrap="square" lIns="114300" tIns="76200" rIns="114300" bIns="76200" anchor="ctr">
            <a:noAutofit/>
          </a:bodyPr>
          <a:lstStyle/>
          <a:p>
            <a:pPr algn="ctr">
              <a:lnSpc>
                <a:spcPct val="104000"/>
              </a:lnSpc>
              <a:buNone/>
              <a:defRPr sz="1575" b="1">
                <a:solidFill>
                  <a:srgbClr val="6F686D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6F686D"/>
                </a:solidFill>
                <a:latin typeface="Arial"/>
                <a:ea typeface="Arial"/>
                <a:cs typeface="Arial"/>
              </a:rPr>
              <a:t>Central media server</a:t>
            </a:r>
          </a:p>
          <a:p>
            <a:pPr algn="ctr">
              <a:lnSpc>
                <a:spcPct val="104000"/>
              </a:lnSpc>
              <a:buNone/>
              <a:defRPr sz="1575" b="1">
                <a:solidFill>
                  <a:srgbClr val="6F686D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6F686D"/>
                </a:solidFill>
                <a:latin typeface="Arial"/>
                <a:ea typeface="Arial"/>
                <a:cs typeface="Arial"/>
              </a:rPr>
              <a:t>terminates both sessions</a:t>
            </a:r>
          </a:p>
        </p:txBody>
      </p:sp>
      <p:cxnSp>
        <p:nvCxnSpPr>
          <p:cNvPr id="30" name="Conector recto de flecha 29"/>
          <p:cNvCxnSpPr>
            <a:stCxn id="9" idx="3"/>
            <a:endCxn id="10" idx="1"/>
          </p:cNvCxnSpPr>
          <p:nvPr/>
        </p:nvCxnSpPr>
        <p:spPr>
          <a:xfrm>
            <a:off x="8191500" y="2790825"/>
            <a:ext cx="533400" cy="0"/>
          </a:xfrm>
          <a:prstGeom prst="straightConnector1">
            <a:avLst/>
          </a:prstGeom>
          <a:ln w="19050">
            <a:solidFill>
              <a:srgbClr val="A69FA3"/>
            </a:solidFill>
            <a:prstDash val="solid"/>
            <a:tailEnd type="triangle" w="sm" len="sm"/>
          </a:ln>
        </p:spPr>
      </p:cxnSp>
      <p:sp>
        <p:nvSpPr>
          <p:cNvPr id="12" name="Rectángulo 11">
            <a:extLst>
              <a:ext uri="{FF2B5EF4-FFF2-40B4-BE49-F238E27FC236}">
                <a16:creationId xmlns:a16="http://schemas.microsoft.com/office/drawing/2014/main" id="{93DD227C-B10C-4D44-A118-DA1ED8193E12}"/>
              </a:ext>
            </a:extLst>
          </p:cNvPr>
          <p:cNvSpPr>
            <a:spLocks noGrp="1"/>
          </p:cNvSpPr>
          <p:nvPr/>
        </p:nvSpPr>
        <p:spPr>
          <a:xfrm>
            <a:off x="6896100" y="3429000"/>
            <a:ext cx="333375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4000"/>
              </a:lnSpc>
              <a:buNone/>
              <a:defRPr sz="1350" b="1">
                <a:solidFill>
                  <a:srgbClr val="6F686D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6F686D"/>
                </a:solidFill>
                <a:latin typeface="Arial"/>
                <a:ea typeface="Arial"/>
                <a:cs typeface="Arial"/>
              </a:rPr>
              <a:t>Rejected for this architecture</a:t>
            </a:r>
          </a:p>
        </p:txBody>
      </p:sp>
      <p:sp>
        <p:nvSpPr>
          <p:cNvPr id="13" name="Rectángulo: esquinas redondeadas 12">
            <a:extLst>
              <a:ext uri="{FF2B5EF4-FFF2-40B4-BE49-F238E27FC236}">
                <a16:creationId xmlns:a16="http://schemas.microsoft.com/office/drawing/2014/main" id="{00659DAE-BF44-4E56-99AB-C949EA5D5EDB}"/>
              </a:ext>
            </a:extLst>
          </p:cNvPr>
          <p:cNvSpPr>
            <a:spLocks noGrp="1"/>
          </p:cNvSpPr>
          <p:nvPr/>
        </p:nvSpPr>
        <p:spPr>
          <a:xfrm>
            <a:off x="5524500" y="4362450"/>
            <a:ext cx="2667000" cy="819150"/>
          </a:xfrm>
          <a:prstGeom prst="roundRect">
            <a:avLst>
              <a:gd name="adj" fmla="val 16279"/>
            </a:avLst>
          </a:prstGeom>
          <a:solidFill>
            <a:srgbClr val="830051"/>
          </a:solidFill>
          <a:ln w="19050">
            <a:solidFill>
              <a:srgbClr val="830051"/>
            </a:solidFill>
            <a:prstDash val="solid"/>
          </a:ln>
        </p:spPr>
        <p:txBody>
          <a:bodyPr wrap="square" lIns="114300" tIns="76200" rIns="114300" bIns="76200" anchor="ctr">
            <a:noAutofit/>
          </a:bodyPr>
          <a:lstStyle/>
          <a:p>
            <a:pPr algn="ctr">
              <a:lnSpc>
                <a:spcPct val="104000"/>
              </a:lnSpc>
              <a:buNone/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SignalR concept mapping</a:t>
            </a:r>
          </a:p>
        </p:txBody>
      </p:sp>
      <p:sp>
        <p:nvSpPr>
          <p:cNvPr id="14" name="Rectángulo: esquinas redondeadas 13">
            <a:extLst>
              <a:ext uri="{FF2B5EF4-FFF2-40B4-BE49-F238E27FC236}">
                <a16:creationId xmlns:a16="http://schemas.microsoft.com/office/drawing/2014/main" id="{D52D2D9F-4823-4CBF-B087-44DE9B03E06F}"/>
              </a:ext>
            </a:extLst>
          </p:cNvPr>
          <p:cNvSpPr>
            <a:spLocks noGrp="1"/>
          </p:cNvSpPr>
          <p:nvPr/>
        </p:nvSpPr>
        <p:spPr>
          <a:xfrm>
            <a:off x="8724900" y="4267200"/>
            <a:ext cx="2667000" cy="1009650"/>
          </a:xfrm>
          <a:prstGeom prst="roundRect">
            <a:avLst>
              <a:gd name="adj" fmla="val 13208"/>
            </a:avLst>
          </a:prstGeom>
          <a:solidFill>
            <a:srgbClr val="F5EDF2"/>
          </a:solidFill>
          <a:ln w="19050">
            <a:solidFill>
              <a:srgbClr val="830051"/>
            </a:solidFill>
            <a:prstDash val="solid"/>
          </a:ln>
        </p:spPr>
        <p:txBody>
          <a:bodyPr wrap="square" lIns="114300" tIns="76200" rIns="114300" bIns="76200" anchor="ctr">
            <a:noAutofit/>
          </a:bodyPr>
          <a:lstStyle/>
          <a:p>
            <a:pPr algn="ctr">
              <a:lnSpc>
                <a:spcPct val="104000"/>
              </a:lnSpc>
              <a:buNone/>
              <a:defRPr sz="157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Application server stays</a:t>
            </a:r>
          </a:p>
          <a:p>
            <a:pPr algn="ctr">
              <a:lnSpc>
                <a:spcPct val="104000"/>
              </a:lnSpc>
              <a:buNone/>
              <a:defRPr sz="157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outside the video path</a:t>
            </a:r>
          </a:p>
        </p:txBody>
      </p:sp>
      <p:cxnSp>
        <p:nvCxnSpPr>
          <p:cNvPr id="34" name="Conector recto de flecha 33"/>
          <p:cNvCxnSpPr>
            <a:stCxn id="13" idx="3"/>
            <a:endCxn id="14" idx="1"/>
          </p:cNvCxnSpPr>
          <p:nvPr/>
        </p:nvCxnSpPr>
        <p:spPr>
          <a:xfrm>
            <a:off x="8191500" y="4772025"/>
            <a:ext cx="533400" cy="0"/>
          </a:xfrm>
          <a:prstGeom prst="straightConnector1">
            <a:avLst/>
          </a:prstGeom>
          <a:ln w="19050">
            <a:solidFill>
              <a:srgbClr val="830051"/>
            </a:solidFill>
            <a:prstDash val="solid"/>
            <a:tailEnd type="triangle" w="sm" len="sm"/>
          </a:ln>
        </p:spPr>
      </p:cxnSp>
      <p:sp>
        <p:nvSpPr>
          <p:cNvPr id="16" name="Rectángulo 15">
            <a:extLst>
              <a:ext uri="{FF2B5EF4-FFF2-40B4-BE49-F238E27FC236}">
                <a16:creationId xmlns:a16="http://schemas.microsoft.com/office/drawing/2014/main" id="{FDB79F98-299D-4A8F-BE55-5F195F84958E}"/>
              </a:ext>
            </a:extLst>
          </p:cNvPr>
          <p:cNvSpPr>
            <a:spLocks noGrp="1"/>
          </p:cNvSpPr>
          <p:nvPr/>
        </p:nvSpPr>
        <p:spPr>
          <a:xfrm>
            <a:off x="6858000" y="5410200"/>
            <a:ext cx="19050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4000"/>
              </a:lnSpc>
              <a:buNone/>
              <a:defRPr sz="1350" b="1">
                <a:solidFill>
                  <a:srgbClr val="830051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830051"/>
                </a:solidFill>
                <a:latin typeface="Arial"/>
                <a:ea typeface="Arial"/>
                <a:cs typeface="Arial"/>
              </a:rPr>
              <a:t>Adopted</a:t>
            </a:r>
          </a:p>
        </p:txBody>
      </p:sp>
      <p:sp>
        <p:nvSpPr>
          <p:cNvPr id="17" name="Rectángulo: esquinas redondeadas 16">
            <a:extLst>
              <a:ext uri="{FF2B5EF4-FFF2-40B4-BE49-F238E27FC236}">
                <a16:creationId xmlns:a16="http://schemas.microsoft.com/office/drawing/2014/main" id="{ED2A86B1-0B2E-44D2-A601-7785CBBDA6D4}"/>
              </a:ext>
            </a:extLst>
          </p:cNvPr>
          <p:cNvSpPr>
            <a:spLocks noGrp="1"/>
          </p:cNvSpPr>
          <p:nvPr/>
        </p:nvSpPr>
        <p:spPr>
          <a:xfrm>
            <a:off x="762000" y="4438650"/>
            <a:ext cx="3810000" cy="1123950"/>
          </a:xfrm>
          <a:prstGeom prst="roundRect">
            <a:avLst>
              <a:gd name="adj" fmla="val 10169"/>
            </a:avLst>
          </a:prstGeom>
          <a:solidFill>
            <a:srgbClr val="F5EDF2"/>
          </a:solidFill>
          <a:ln w="0"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18" name="Rectángulo 17">
            <a:extLst>
              <a:ext uri="{FF2B5EF4-FFF2-40B4-BE49-F238E27FC236}">
                <a16:creationId xmlns:a16="http://schemas.microsoft.com/office/drawing/2014/main" id="{3A4444BD-D2CF-44B1-95EF-395CF4DBC8A8}"/>
              </a:ext>
            </a:extLst>
          </p:cNvPr>
          <p:cNvSpPr>
            <a:spLocks noGrp="1"/>
          </p:cNvSpPr>
          <p:nvPr/>
        </p:nvSpPr>
        <p:spPr>
          <a:xfrm>
            <a:off x="990600" y="4591050"/>
            <a:ext cx="33528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4000"/>
              </a:lnSpc>
              <a:buNone/>
              <a:defRPr sz="1650" b="1">
                <a:solidFill>
                  <a:srgbClr val="510034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510034"/>
                </a:solidFill>
                <a:latin typeface="Arial"/>
                <a:ea typeface="Arial"/>
                <a:cs typeface="Arial"/>
              </a:rPr>
              <a:t>HTTP endpoints remain stubs</a:t>
            </a:r>
          </a:p>
        </p:txBody>
      </p:sp>
      <p:sp>
        <p:nvSpPr>
          <p:cNvPr id="19" name="Rectángulo 18">
            <a:extLst>
              <a:ext uri="{FF2B5EF4-FFF2-40B4-BE49-F238E27FC236}">
                <a16:creationId xmlns:a16="http://schemas.microsoft.com/office/drawing/2014/main" id="{86B71BB8-775B-4544-80E6-533F2DF6F095}"/>
              </a:ext>
            </a:extLst>
          </p:cNvPr>
          <p:cNvSpPr>
            <a:spLocks noGrp="1"/>
          </p:cNvSpPr>
          <p:nvPr/>
        </p:nvSpPr>
        <p:spPr>
          <a:xfrm>
            <a:off x="1066800" y="5067300"/>
            <a:ext cx="3200400" cy="361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4000"/>
              </a:lnSpc>
              <a:buNone/>
              <a:defRPr sz="1350" b="0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71417"/>
                </a:solidFill>
                <a:latin typeface="Arial"/>
                <a:ea typeface="Arial"/>
                <a:cs typeface="Arial"/>
              </a:rPr>
              <a:t>POST validates SDP, then returns HTTP 501</a:t>
            </a:r>
          </a:p>
        </p:txBody>
      </p:sp>
    </p:spTree>
    <p:extLst>
      <p:ext uri="{BB962C8B-B14F-4D97-AF65-F5344CB8AC3E}">
        <p14:creationId xmlns:p14="http://schemas.microsoft.com/office/powerpoint/2010/main" val="96993042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9F8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ángulo 6">
            <a:extLst>
              <a:ext uri="{FF2B5EF4-FFF2-40B4-BE49-F238E27FC236}">
                <a16:creationId xmlns:a16="http://schemas.microsoft.com/office/drawing/2014/main" id="{4CE6AB0E-780C-4A05-8A6F-57ACBB036B4B}"/>
              </a:ext>
            </a:extLst>
          </p:cNvPr>
          <p:cNvSpPr>
            <a:spLocks noGrp="1"/>
          </p:cNvSpPr>
          <p:nvPr/>
        </p:nvSpPr>
        <p:spPr>
          <a:xfrm>
            <a:off x="533400" y="266700"/>
            <a:ext cx="74295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200" b="1">
                <a:solidFill>
                  <a:srgbClr val="830051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830051"/>
                </a:solidFill>
                <a:latin typeface="Arial"/>
                <a:ea typeface="Arial"/>
                <a:cs typeface="Arial"/>
              </a:rPr>
              <a:t>ISSUES AND ITERATIONS</a:t>
            </a:r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45196033-CDD2-4239-B209-9672A838A423}"/>
              </a:ext>
            </a:extLst>
          </p:cNvPr>
          <p:cNvSpPr>
            <a:spLocks noGrp="1"/>
          </p:cNvSpPr>
          <p:nvPr/>
        </p:nvSpPr>
        <p:spPr>
          <a:xfrm>
            <a:off x="533400" y="590550"/>
            <a:ext cx="10477500" cy="552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4000"/>
              </a:lnSpc>
              <a:buNone/>
              <a:defRPr sz="337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Camera Integration Iterations</a:t>
            </a:r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641D31BB-6F8D-43C5-9A70-A09646811F4A}"/>
              </a:ext>
            </a:extLst>
          </p:cNvPr>
          <p:cNvSpPr>
            <a:spLocks noGrp="1"/>
          </p:cNvSpPr>
          <p:nvPr/>
        </p:nvSpPr>
        <p:spPr>
          <a:xfrm>
            <a:off x="533400" y="1257300"/>
            <a:ext cx="11125200" cy="28575"/>
          </a:xfrm>
          <a:prstGeom prst="rect">
            <a:avLst/>
          </a:prstGeom>
          <a:solidFill>
            <a:srgbClr val="830051"/>
          </a:solidFill>
          <a:ln w="0"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E4A931E4-C079-4FB9-9B0E-8F75898BEE96}"/>
              </a:ext>
            </a:extLst>
          </p:cNvPr>
          <p:cNvSpPr>
            <a:spLocks noGrp="1"/>
          </p:cNvSpPr>
          <p:nvPr/>
        </p:nvSpPr>
        <p:spPr>
          <a:xfrm>
            <a:off x="10858500" y="6457950"/>
            <a:ext cx="8001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4000"/>
              </a:lnSpc>
              <a:buNone/>
              <a:defRPr sz="1125" b="1">
                <a:solidFill>
                  <a:srgbClr val="6F686D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6F686D"/>
                </a:solidFill>
                <a:latin typeface="Arial"/>
                <a:ea typeface="Arial"/>
                <a:cs typeface="Arial"/>
              </a:rPr>
              <a:t>18</a:t>
            </a:r>
          </a:p>
        </p:txBody>
      </p:sp>
      <p:graphicFrame>
        <p:nvGraphicFramePr>
          <p:cNvPr id="11" name="Tabla 10"/>
          <p:cNvGraphicFramePr/>
          <p:nvPr/>
        </p:nvGraphicFramePr>
        <p:xfrm>
          <a:off x="571500" y="1562100"/>
          <a:ext cx="11049000" cy="4095750"/>
        </p:xfrm>
        <a:graphic>
          <a:graphicData uri="http://schemas.openxmlformats.org/drawingml/2006/table">
            <a:tbl>
              <a:tblPr/>
              <a:tblGrid>
                <a:gridCol w="20002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907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1432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7147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609600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Approach</a:t>
                      </a:r>
                    </a:p>
                  </a:txBody>
                  <a:tcPr anchor="ctr">
                    <a:solidFill>
                      <a:srgbClr val="83005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Repository status</a:t>
                      </a:r>
                    </a:p>
                  </a:txBody>
                  <a:tcPr anchor="ctr">
                    <a:solidFill>
                      <a:srgbClr val="83005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Strength</a:t>
                      </a:r>
                    </a:p>
                  </a:txBody>
                  <a:tcPr anchor="ctr">
                    <a:solidFill>
                      <a:srgbClr val="83005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Limitation / trade-off</a:t>
                      </a:r>
                    </a:p>
                  </a:txBody>
                  <a:tcPr anchor="ctr">
                    <a:solidFill>
                      <a:srgbClr val="83005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66800">
                <a:tc>
                  <a:txBody>
                    <a:bodyPr/>
                    <a:lstStyle/>
                    <a:p>
                      <a:r>
                        <a:rPr sz="1425" b="1">
                          <a:solidFill>
                            <a:srgbClr val="171417"/>
                          </a:solidFill>
                          <a:latin typeface="Arial"/>
                          <a:ea typeface="Arial"/>
                          <a:cs typeface="Arial"/>
                        </a:rPr>
                        <a:t>libcamera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1417"/>
                          </a:solidFill>
                          <a:latin typeface="Arial"/>
                          <a:ea typeface="Arial"/>
                          <a:cs typeface="Arial"/>
                        </a:rPr>
                        <a:t>Considered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1417"/>
                          </a:solidFill>
                          <a:latin typeface="Arial"/>
                          <a:ea typeface="Arial"/>
                          <a:cs typeface="Arial"/>
                        </a:rPr>
                        <a:t>Native Raspberry Pi camera stack for CSI cameras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1417"/>
                          </a:solidFill>
                          <a:latin typeface="Arial"/>
                          <a:ea typeface="Arial"/>
                          <a:cs typeface="Arial"/>
                        </a:rPr>
                        <a:t>No recorded implementation. Final Logitech C920 capture uses V4L2.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00150">
                <a:tc>
                  <a:txBody>
                    <a:bodyPr/>
                    <a:lstStyle/>
                    <a:p>
                      <a:r>
                        <a:rPr sz="1425" b="1">
                          <a:solidFill>
                            <a:srgbClr val="171417"/>
                          </a:solidFill>
                          <a:latin typeface="Arial"/>
                          <a:ea typeface="Arial"/>
                          <a:cs typeface="Arial"/>
                        </a:rPr>
                        <a:t>FFmpeg shared libraries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1417"/>
                          </a:solidFill>
                          <a:latin typeface="Arial"/>
                          <a:ea typeface="Arial"/>
                          <a:cs typeface="Arial"/>
                        </a:rPr>
                        <a:t>Implemented first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1417"/>
                          </a:solidFill>
                          <a:latin typeface="Arial"/>
                          <a:ea typeface="Arial"/>
                          <a:cs typeface="Arial"/>
                        </a:rPr>
                        <a:t>Direct in-process encoded-sample callbacks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1417"/>
                          </a:solidFill>
                          <a:latin typeface="Arial"/>
                          <a:ea typeface="Arial"/>
                          <a:cs typeface="Arial"/>
                        </a:rPr>
                        <a:t>Required exact FFmpeg 8.1 native-library and FFmpeg.AutoGen compatibility.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219200">
                <a:tc>
                  <a:txBody>
                    <a:bodyPr/>
                    <a:lstStyle/>
                    <a:p>
                      <a:r>
                        <a:rPr sz="1425" b="1">
                          <a:solidFill>
                            <a:srgbClr val="171417"/>
                          </a:solidFill>
                          <a:latin typeface="Arial"/>
                          <a:ea typeface="Arial"/>
                          <a:cs typeface="Arial"/>
                        </a:rPr>
                        <a:t>External FFmpeg RTP emission</a:t>
                      </a:r>
                    </a:p>
                  </a:txBody>
                  <a:tcPr anchor="ctr">
                    <a:solidFill>
                      <a:srgbClr val="F5ED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1417"/>
                          </a:solidFill>
                          <a:latin typeface="Arial"/>
                          <a:ea typeface="Arial"/>
                          <a:cs typeface="Arial"/>
                        </a:rPr>
                        <a:t>Final implementation</a:t>
                      </a:r>
                    </a:p>
                  </a:txBody>
                  <a:tcPr anchor="ctr">
                    <a:solidFill>
                      <a:srgbClr val="F5ED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1417"/>
                          </a:solidFill>
                          <a:latin typeface="Arial"/>
                          <a:ea typeface="Arial"/>
                          <a:cs typeface="Arial"/>
                        </a:rPr>
                        <a:t>Executable supervision creates a clearer deployment boundary</a:t>
                      </a:r>
                    </a:p>
                  </a:txBody>
                  <a:tcPr anchor="ctr">
                    <a:solidFill>
                      <a:srgbClr val="F5ED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1417"/>
                          </a:solidFill>
                          <a:latin typeface="Arial"/>
                          <a:ea typeface="Arial"/>
                          <a:cs typeface="Arial"/>
                        </a:rPr>
                        <a:t>Adds loopback RTP depacketization and WebRTC repacketization.</a:t>
                      </a:r>
                    </a:p>
                  </a:txBody>
                  <a:tcPr anchor="ctr">
                    <a:solidFill>
                      <a:srgbClr val="F5ED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6" name="Rectángulo 5">
            <a:extLst>
              <a:ext uri="{FF2B5EF4-FFF2-40B4-BE49-F238E27FC236}">
                <a16:creationId xmlns:a16="http://schemas.microsoft.com/office/drawing/2014/main" id="{69ADFE70-7D8B-4B25-A753-F737CE8AEF5C}"/>
              </a:ext>
            </a:extLst>
          </p:cNvPr>
          <p:cNvSpPr>
            <a:spLocks noGrp="1"/>
          </p:cNvSpPr>
          <p:nvPr/>
        </p:nvSpPr>
        <p:spPr>
          <a:xfrm>
            <a:off x="1181100" y="5905500"/>
            <a:ext cx="9829800" cy="304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4000"/>
              </a:lnSpc>
              <a:buNone/>
              <a:defRPr sz="1575" b="1">
                <a:solidFill>
                  <a:srgbClr val="510034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510034"/>
                </a:solidFill>
                <a:latin typeface="Arial"/>
                <a:ea typeface="Arial"/>
                <a:cs typeface="Arial"/>
              </a:rPr>
              <a:t>External FFmpeg solved native-library fragility, not software encoding load.</a:t>
            </a:r>
          </a:p>
        </p:txBody>
      </p:sp>
    </p:spTree>
    <p:extLst>
      <p:ext uri="{BB962C8B-B14F-4D97-AF65-F5344CB8AC3E}">
        <p14:creationId xmlns:p14="http://schemas.microsoft.com/office/powerpoint/2010/main" val="153897655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9F8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Rectángulo 28">
            <a:extLst>
              <a:ext uri="{FF2B5EF4-FFF2-40B4-BE49-F238E27FC236}">
                <a16:creationId xmlns:a16="http://schemas.microsoft.com/office/drawing/2014/main" id="{0ECD5326-2450-4739-A2EE-1A2A328B90A1}"/>
              </a:ext>
            </a:extLst>
          </p:cNvPr>
          <p:cNvSpPr>
            <a:spLocks noGrp="1"/>
          </p:cNvSpPr>
          <p:nvPr/>
        </p:nvSpPr>
        <p:spPr>
          <a:xfrm>
            <a:off x="533400" y="266700"/>
            <a:ext cx="74295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200" b="1">
                <a:solidFill>
                  <a:srgbClr val="830051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830051"/>
                </a:solidFill>
                <a:latin typeface="Arial"/>
                <a:ea typeface="Arial"/>
                <a:cs typeface="Arial"/>
              </a:rPr>
              <a:t>ISSUES AND ITERATIONS</a:t>
            </a:r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2D968B80-D6BF-49C1-8427-32A4E665ADF1}"/>
              </a:ext>
            </a:extLst>
          </p:cNvPr>
          <p:cNvSpPr>
            <a:spLocks noGrp="1"/>
          </p:cNvSpPr>
          <p:nvPr/>
        </p:nvSpPr>
        <p:spPr>
          <a:xfrm>
            <a:off x="533400" y="590550"/>
            <a:ext cx="10477500" cy="552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4000"/>
              </a:lnSpc>
              <a:buNone/>
              <a:defRPr sz="337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Final Media Pipeline</a:t>
            </a:r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F27B061F-AB14-40E8-A6C0-3C5217807C4B}"/>
              </a:ext>
            </a:extLst>
          </p:cNvPr>
          <p:cNvSpPr>
            <a:spLocks noGrp="1"/>
          </p:cNvSpPr>
          <p:nvPr/>
        </p:nvSpPr>
        <p:spPr>
          <a:xfrm>
            <a:off x="533400" y="1257300"/>
            <a:ext cx="11125200" cy="28575"/>
          </a:xfrm>
          <a:prstGeom prst="rect">
            <a:avLst/>
          </a:prstGeom>
          <a:solidFill>
            <a:srgbClr val="830051"/>
          </a:solidFill>
          <a:ln w="0"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12106B2F-43F0-4B04-86B0-06AE762C1B77}"/>
              </a:ext>
            </a:extLst>
          </p:cNvPr>
          <p:cNvSpPr>
            <a:spLocks noGrp="1"/>
          </p:cNvSpPr>
          <p:nvPr/>
        </p:nvSpPr>
        <p:spPr>
          <a:xfrm>
            <a:off x="10858500" y="6457950"/>
            <a:ext cx="8001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4000"/>
              </a:lnSpc>
              <a:buNone/>
              <a:defRPr sz="1125" b="1">
                <a:solidFill>
                  <a:srgbClr val="6F686D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6F686D"/>
                </a:solidFill>
                <a:latin typeface="Arial"/>
                <a:ea typeface="Arial"/>
                <a:cs typeface="Arial"/>
              </a:rPr>
              <a:t>19</a:t>
            </a:r>
          </a:p>
        </p:txBody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B17A412F-A074-4183-8A13-A1EED2DD6682}"/>
              </a:ext>
            </a:extLst>
          </p:cNvPr>
          <p:cNvSpPr>
            <a:spLocks noGrp="1"/>
          </p:cNvSpPr>
          <p:nvPr/>
        </p:nvSpPr>
        <p:spPr>
          <a:xfrm>
            <a:off x="609600" y="1524000"/>
            <a:ext cx="50673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200" b="1">
                <a:solidFill>
                  <a:srgbClr val="830051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830051"/>
                </a:solidFill>
                <a:latin typeface="Arial"/>
                <a:ea typeface="Arial"/>
                <a:cs typeface="Arial"/>
              </a:rPr>
              <a:t>FFMPEG PROCESS</a:t>
            </a:r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2354CCDB-7F8A-4B74-B1AD-5C4FD027E4BD}"/>
              </a:ext>
            </a:extLst>
          </p:cNvPr>
          <p:cNvSpPr>
            <a:spLocks noGrp="1"/>
          </p:cNvSpPr>
          <p:nvPr/>
        </p:nvSpPr>
        <p:spPr>
          <a:xfrm>
            <a:off x="6629400" y="1524000"/>
            <a:ext cx="49530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200" b="1">
                <a:solidFill>
                  <a:srgbClr val="830051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830051"/>
                </a:solidFill>
                <a:latin typeface="Arial"/>
                <a:ea typeface="Arial"/>
                <a:cs typeface="Arial"/>
              </a:rPr>
              <a:t>.NET + SIPSORCERY</a:t>
            </a:r>
          </a:p>
        </p:txBody>
      </p:sp>
      <p:sp>
        <p:nvSpPr>
          <p:cNvPr id="7" name="Rectángulo: esquinas redondeadas 6">
            <a:extLst>
              <a:ext uri="{FF2B5EF4-FFF2-40B4-BE49-F238E27FC236}">
                <a16:creationId xmlns:a16="http://schemas.microsoft.com/office/drawing/2014/main" id="{3696A4E2-33E9-47F6-80BF-111FA1B25591}"/>
              </a:ext>
            </a:extLst>
          </p:cNvPr>
          <p:cNvSpPr>
            <a:spLocks noGrp="1"/>
          </p:cNvSpPr>
          <p:nvPr/>
        </p:nvSpPr>
        <p:spPr>
          <a:xfrm>
            <a:off x="533400" y="1828800"/>
            <a:ext cx="5334000" cy="3086100"/>
          </a:xfrm>
          <a:prstGeom prst="roundRect">
            <a:avLst>
              <a:gd name="adj" fmla="val 4321"/>
            </a:avLst>
          </a:prstGeom>
          <a:solidFill>
            <a:srgbClr val="F5EDF2"/>
          </a:solidFill>
          <a:ln w="9525">
            <a:solidFill>
              <a:srgbClr val="EAD8E3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" name="Rectángulo: esquinas redondeadas 7">
            <a:extLst>
              <a:ext uri="{FF2B5EF4-FFF2-40B4-BE49-F238E27FC236}">
                <a16:creationId xmlns:a16="http://schemas.microsoft.com/office/drawing/2014/main" id="{D2E17B21-6A39-4CEF-9A54-F56E1D1197B4}"/>
              </a:ext>
            </a:extLst>
          </p:cNvPr>
          <p:cNvSpPr>
            <a:spLocks noGrp="1"/>
          </p:cNvSpPr>
          <p:nvPr/>
        </p:nvSpPr>
        <p:spPr>
          <a:xfrm>
            <a:off x="6324600" y="1828800"/>
            <a:ext cx="5334000" cy="3086100"/>
          </a:xfrm>
          <a:prstGeom prst="roundRect">
            <a:avLst>
              <a:gd name="adj" fmla="val 4321"/>
            </a:avLst>
          </a:prstGeom>
          <a:solidFill>
            <a:srgbClr val="FFFFFF"/>
          </a:solidFill>
          <a:ln w="9525">
            <a:solidFill>
              <a:srgbClr val="E7E3E5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" name="Rectángulo: esquinas redondeadas 8">
            <a:extLst>
              <a:ext uri="{FF2B5EF4-FFF2-40B4-BE49-F238E27FC236}">
                <a16:creationId xmlns:a16="http://schemas.microsoft.com/office/drawing/2014/main" id="{4A2D8395-6680-47BB-BE24-529E5C6C7A93}"/>
              </a:ext>
            </a:extLst>
          </p:cNvPr>
          <p:cNvSpPr>
            <a:spLocks noGrp="1"/>
          </p:cNvSpPr>
          <p:nvPr/>
        </p:nvSpPr>
        <p:spPr>
          <a:xfrm>
            <a:off x="742950" y="2133600"/>
            <a:ext cx="1485900" cy="723900"/>
          </a:xfrm>
          <a:prstGeom prst="roundRect">
            <a:avLst>
              <a:gd name="adj" fmla="val 18421"/>
            </a:avLst>
          </a:prstGeom>
          <a:solidFill>
            <a:srgbClr val="FFFFFF"/>
          </a:solidFill>
          <a:ln w="19050">
            <a:solidFill>
              <a:srgbClr val="830051"/>
            </a:solidFill>
            <a:prstDash val="solid"/>
          </a:ln>
        </p:spPr>
        <p:txBody>
          <a:bodyPr wrap="square" lIns="114300" tIns="76200" rIns="114300" bIns="76200" anchor="ctr">
            <a:noAutofit/>
          </a:bodyPr>
          <a:lstStyle/>
          <a:p>
            <a:pPr algn="ctr">
              <a:lnSpc>
                <a:spcPct val="104000"/>
              </a:lnSpc>
              <a:buNone/>
              <a:defRPr sz="142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Logitech C920</a:t>
            </a:r>
          </a:p>
          <a:p>
            <a:pPr algn="ctr">
              <a:lnSpc>
                <a:spcPct val="104000"/>
              </a:lnSpc>
              <a:buNone/>
              <a:defRPr sz="142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MJPEG</a:t>
            </a:r>
          </a:p>
        </p:txBody>
      </p:sp>
      <p:sp>
        <p:nvSpPr>
          <p:cNvPr id="10" name="Rectángulo: esquinas redondeadas 9">
            <a:extLst>
              <a:ext uri="{FF2B5EF4-FFF2-40B4-BE49-F238E27FC236}">
                <a16:creationId xmlns:a16="http://schemas.microsoft.com/office/drawing/2014/main" id="{D7E21FA1-FAD2-49EE-816B-4B0AC3657793}"/>
              </a:ext>
            </a:extLst>
          </p:cNvPr>
          <p:cNvSpPr>
            <a:spLocks noGrp="1"/>
          </p:cNvSpPr>
          <p:nvPr/>
        </p:nvSpPr>
        <p:spPr>
          <a:xfrm>
            <a:off x="2457450" y="2133600"/>
            <a:ext cx="1238250" cy="723900"/>
          </a:xfrm>
          <a:prstGeom prst="roundRect">
            <a:avLst>
              <a:gd name="adj" fmla="val 18421"/>
            </a:avLst>
          </a:prstGeom>
          <a:solidFill>
            <a:srgbClr val="FFFFFF"/>
          </a:solidFill>
          <a:ln w="19050">
            <a:solidFill>
              <a:srgbClr val="830051"/>
            </a:solidFill>
            <a:prstDash val="solid"/>
          </a:ln>
        </p:spPr>
        <p:txBody>
          <a:bodyPr wrap="square" lIns="114300" tIns="76200" rIns="114300" bIns="76200" anchor="ctr">
            <a:noAutofit/>
          </a:bodyPr>
          <a:lstStyle/>
          <a:p>
            <a:pPr algn="ctr">
              <a:lnSpc>
                <a:spcPct val="104000"/>
              </a:lnSpc>
              <a:buNone/>
              <a:defRPr sz="142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V4L2</a:t>
            </a:r>
          </a:p>
          <a:p>
            <a:pPr algn="ctr">
              <a:lnSpc>
                <a:spcPct val="104000"/>
              </a:lnSpc>
              <a:buNone/>
              <a:defRPr sz="142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capture</a:t>
            </a:r>
          </a:p>
        </p:txBody>
      </p:sp>
      <p:sp>
        <p:nvSpPr>
          <p:cNvPr id="11" name="Rectángulo: esquinas redondeadas 10">
            <a:extLst>
              <a:ext uri="{FF2B5EF4-FFF2-40B4-BE49-F238E27FC236}">
                <a16:creationId xmlns:a16="http://schemas.microsoft.com/office/drawing/2014/main" id="{2AC41AA0-C425-4F05-9CB3-3BE3099D930C}"/>
              </a:ext>
            </a:extLst>
          </p:cNvPr>
          <p:cNvSpPr>
            <a:spLocks noGrp="1"/>
          </p:cNvSpPr>
          <p:nvPr/>
        </p:nvSpPr>
        <p:spPr>
          <a:xfrm>
            <a:off x="3924300" y="2133600"/>
            <a:ext cx="1409700" cy="723900"/>
          </a:xfrm>
          <a:prstGeom prst="roundRect">
            <a:avLst>
              <a:gd name="adj" fmla="val 18421"/>
            </a:avLst>
          </a:prstGeom>
          <a:solidFill>
            <a:srgbClr val="FFFFFF"/>
          </a:solidFill>
          <a:ln w="19050">
            <a:solidFill>
              <a:srgbClr val="830051"/>
            </a:solidFill>
            <a:prstDash val="solid"/>
          </a:ln>
        </p:spPr>
        <p:txBody>
          <a:bodyPr wrap="square" lIns="114300" tIns="76200" rIns="114300" bIns="76200" anchor="ctr">
            <a:noAutofit/>
          </a:bodyPr>
          <a:lstStyle/>
          <a:p>
            <a:pPr algn="ctr">
              <a:lnSpc>
                <a:spcPct val="104000"/>
              </a:lnSpc>
              <a:buNone/>
              <a:defRPr sz="142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MJPEG</a:t>
            </a:r>
          </a:p>
          <a:p>
            <a:pPr algn="ctr">
              <a:lnSpc>
                <a:spcPct val="104000"/>
              </a:lnSpc>
              <a:buNone/>
              <a:defRPr sz="142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decode</a:t>
            </a:r>
          </a:p>
        </p:txBody>
      </p:sp>
      <p:sp>
        <p:nvSpPr>
          <p:cNvPr id="12" name="Rectángulo: esquinas redondeadas 11">
            <a:extLst>
              <a:ext uri="{FF2B5EF4-FFF2-40B4-BE49-F238E27FC236}">
                <a16:creationId xmlns:a16="http://schemas.microsoft.com/office/drawing/2014/main" id="{EF7C1E94-19D1-4F4C-AB96-1E40B906D077}"/>
              </a:ext>
            </a:extLst>
          </p:cNvPr>
          <p:cNvSpPr>
            <a:spLocks noGrp="1"/>
          </p:cNvSpPr>
          <p:nvPr/>
        </p:nvSpPr>
        <p:spPr>
          <a:xfrm>
            <a:off x="1771650" y="3600450"/>
            <a:ext cx="1714500" cy="800100"/>
          </a:xfrm>
          <a:prstGeom prst="roundRect">
            <a:avLst>
              <a:gd name="adj" fmla="val 16667"/>
            </a:avLst>
          </a:prstGeom>
          <a:solidFill>
            <a:srgbClr val="830051"/>
          </a:solidFill>
          <a:ln w="19050">
            <a:solidFill>
              <a:srgbClr val="830051"/>
            </a:solidFill>
            <a:prstDash val="solid"/>
          </a:ln>
        </p:spPr>
        <p:txBody>
          <a:bodyPr wrap="square" lIns="114300" tIns="76200" rIns="114300" bIns="76200" anchor="ctr">
            <a:noAutofit/>
          </a:bodyPr>
          <a:lstStyle/>
          <a:p>
            <a:pPr algn="ctr">
              <a:lnSpc>
                <a:spcPct val="104000"/>
              </a:lnSpc>
              <a:buNone/>
              <a:defRPr sz="14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libx264</a:t>
            </a:r>
          </a:p>
          <a:p>
            <a:pPr algn="ctr">
              <a:lnSpc>
                <a:spcPct val="104000"/>
              </a:lnSpc>
              <a:buNone/>
              <a:defRPr sz="14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H.264 baseline</a:t>
            </a:r>
          </a:p>
        </p:txBody>
      </p:sp>
      <p:sp>
        <p:nvSpPr>
          <p:cNvPr id="13" name="Rectángulo: esquinas redondeadas 12">
            <a:extLst>
              <a:ext uri="{FF2B5EF4-FFF2-40B4-BE49-F238E27FC236}">
                <a16:creationId xmlns:a16="http://schemas.microsoft.com/office/drawing/2014/main" id="{FB975FB7-7ED8-49D8-A219-9B35B9DE37BB}"/>
              </a:ext>
            </a:extLst>
          </p:cNvPr>
          <p:cNvSpPr>
            <a:spLocks noGrp="1"/>
          </p:cNvSpPr>
          <p:nvPr/>
        </p:nvSpPr>
        <p:spPr>
          <a:xfrm>
            <a:off x="3848100" y="3600450"/>
            <a:ext cx="1695450" cy="800100"/>
          </a:xfrm>
          <a:prstGeom prst="roundRect">
            <a:avLst>
              <a:gd name="adj" fmla="val 16667"/>
            </a:avLst>
          </a:prstGeom>
          <a:solidFill>
            <a:srgbClr val="830051"/>
          </a:solidFill>
          <a:ln w="19050">
            <a:solidFill>
              <a:srgbClr val="830051"/>
            </a:solidFill>
            <a:prstDash val="solid"/>
          </a:ln>
        </p:spPr>
        <p:txBody>
          <a:bodyPr wrap="square" lIns="114300" tIns="76200" rIns="114300" bIns="76200" anchor="ctr">
            <a:noAutofit/>
          </a:bodyPr>
          <a:lstStyle/>
          <a:p>
            <a:pPr algn="ctr">
              <a:lnSpc>
                <a:spcPct val="104000"/>
              </a:lnSpc>
              <a:buNone/>
              <a:defRPr sz="14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RTP over</a:t>
            </a:r>
          </a:p>
          <a:p>
            <a:pPr algn="ctr">
              <a:lnSpc>
                <a:spcPct val="104000"/>
              </a:lnSpc>
              <a:buNone/>
              <a:defRPr sz="14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IPv6 loopback</a:t>
            </a:r>
          </a:p>
        </p:txBody>
      </p:sp>
      <p:sp>
        <p:nvSpPr>
          <p:cNvPr id="14" name="Rectángulo: esquinas redondeadas 13">
            <a:extLst>
              <a:ext uri="{FF2B5EF4-FFF2-40B4-BE49-F238E27FC236}">
                <a16:creationId xmlns:a16="http://schemas.microsoft.com/office/drawing/2014/main" id="{9709D48E-A11F-40FC-BAB8-2F0C5F72B6D5}"/>
              </a:ext>
            </a:extLst>
          </p:cNvPr>
          <p:cNvSpPr>
            <a:spLocks noGrp="1"/>
          </p:cNvSpPr>
          <p:nvPr/>
        </p:nvSpPr>
        <p:spPr>
          <a:xfrm>
            <a:off x="6553200" y="2133600"/>
            <a:ext cx="1809750" cy="723900"/>
          </a:xfrm>
          <a:prstGeom prst="roundRect">
            <a:avLst>
              <a:gd name="adj" fmla="val 18421"/>
            </a:avLst>
          </a:prstGeom>
          <a:solidFill>
            <a:srgbClr val="F5EDF2"/>
          </a:solidFill>
          <a:ln w="19050">
            <a:solidFill>
              <a:srgbClr val="830051"/>
            </a:solidFill>
            <a:prstDash val="solid"/>
          </a:ln>
        </p:spPr>
        <p:txBody>
          <a:bodyPr wrap="square" lIns="114300" tIns="76200" rIns="114300" bIns="76200" anchor="ctr">
            <a:noAutofit/>
          </a:bodyPr>
          <a:lstStyle/>
          <a:p>
            <a:pPr algn="ctr">
              <a:lnSpc>
                <a:spcPct val="104000"/>
              </a:lnSpc>
              <a:buNone/>
              <a:defRPr sz="1350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RTP parse +</a:t>
            </a:r>
          </a:p>
          <a:p>
            <a:pPr algn="ctr">
              <a:lnSpc>
                <a:spcPct val="104000"/>
              </a:lnSpc>
              <a:buNone/>
              <a:defRPr sz="1350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H.264 depacketize</a:t>
            </a:r>
          </a:p>
        </p:txBody>
      </p:sp>
      <p:sp>
        <p:nvSpPr>
          <p:cNvPr id="15" name="Rectángulo: esquinas redondeadas 14">
            <a:extLst>
              <a:ext uri="{FF2B5EF4-FFF2-40B4-BE49-F238E27FC236}">
                <a16:creationId xmlns:a16="http://schemas.microsoft.com/office/drawing/2014/main" id="{6237FE39-45FA-4C84-AEDC-0563340BBD36}"/>
              </a:ext>
            </a:extLst>
          </p:cNvPr>
          <p:cNvSpPr>
            <a:spLocks noGrp="1"/>
          </p:cNvSpPr>
          <p:nvPr/>
        </p:nvSpPr>
        <p:spPr>
          <a:xfrm>
            <a:off x="8591550" y="2133600"/>
            <a:ext cx="1333500" cy="723900"/>
          </a:xfrm>
          <a:prstGeom prst="roundRect">
            <a:avLst>
              <a:gd name="adj" fmla="val 18421"/>
            </a:avLst>
          </a:prstGeom>
          <a:solidFill>
            <a:srgbClr val="F5EDF2"/>
          </a:solidFill>
          <a:ln w="19050">
            <a:solidFill>
              <a:srgbClr val="830051"/>
            </a:solidFill>
            <a:prstDash val="solid"/>
          </a:ln>
        </p:spPr>
        <p:txBody>
          <a:bodyPr wrap="square" lIns="114300" tIns="76200" rIns="114300" bIns="76200" anchor="ctr">
            <a:noAutofit/>
          </a:bodyPr>
          <a:lstStyle/>
          <a:p>
            <a:pPr algn="ctr">
              <a:lnSpc>
                <a:spcPct val="104000"/>
              </a:lnSpc>
              <a:buNone/>
              <a:defRPr sz="1350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Annex-B +</a:t>
            </a:r>
          </a:p>
          <a:p>
            <a:pPr algn="ctr">
              <a:lnSpc>
                <a:spcPct val="104000"/>
              </a:lnSpc>
              <a:buNone/>
              <a:defRPr sz="1350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SPS / PPS</a:t>
            </a:r>
          </a:p>
        </p:txBody>
      </p:sp>
      <p:sp>
        <p:nvSpPr>
          <p:cNvPr id="16" name="Rectángulo: esquinas redondeadas 15">
            <a:extLst>
              <a:ext uri="{FF2B5EF4-FFF2-40B4-BE49-F238E27FC236}">
                <a16:creationId xmlns:a16="http://schemas.microsoft.com/office/drawing/2014/main" id="{AE622FEA-D9E1-4E19-8B0E-B0E35B4483C9}"/>
              </a:ext>
            </a:extLst>
          </p:cNvPr>
          <p:cNvSpPr>
            <a:spLocks noGrp="1"/>
          </p:cNvSpPr>
          <p:nvPr/>
        </p:nvSpPr>
        <p:spPr>
          <a:xfrm>
            <a:off x="10153650" y="2133600"/>
            <a:ext cx="1295400" cy="723900"/>
          </a:xfrm>
          <a:prstGeom prst="roundRect">
            <a:avLst>
              <a:gd name="adj" fmla="val 18421"/>
            </a:avLst>
          </a:prstGeom>
          <a:solidFill>
            <a:srgbClr val="830051"/>
          </a:solidFill>
          <a:ln w="19050">
            <a:solidFill>
              <a:srgbClr val="830051"/>
            </a:solidFill>
            <a:prstDash val="solid"/>
          </a:ln>
        </p:spPr>
        <p:txBody>
          <a:bodyPr wrap="square" lIns="114300" tIns="76200" rIns="114300" bIns="76200" anchor="ctr">
            <a:noAutofit/>
          </a:bodyPr>
          <a:lstStyle/>
          <a:p>
            <a:pPr algn="ctr">
              <a:lnSpc>
                <a:spcPct val="104000"/>
              </a:lnSpc>
              <a:buNone/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SIPSorcery</a:t>
            </a:r>
          </a:p>
          <a:p>
            <a:pPr algn="ctr">
              <a:lnSpc>
                <a:spcPct val="104000"/>
              </a:lnSpc>
              <a:buNone/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WebRTC / SRTP</a:t>
            </a:r>
          </a:p>
        </p:txBody>
      </p:sp>
      <p:sp>
        <p:nvSpPr>
          <p:cNvPr id="17" name="Rectángulo: esquinas redondeadas 16">
            <a:extLst>
              <a:ext uri="{FF2B5EF4-FFF2-40B4-BE49-F238E27FC236}">
                <a16:creationId xmlns:a16="http://schemas.microsoft.com/office/drawing/2014/main" id="{14481480-5560-45B6-A169-F3F0473CDC89}"/>
              </a:ext>
            </a:extLst>
          </p:cNvPr>
          <p:cNvSpPr>
            <a:spLocks noGrp="1"/>
          </p:cNvSpPr>
          <p:nvPr/>
        </p:nvSpPr>
        <p:spPr>
          <a:xfrm>
            <a:off x="8248650" y="3771900"/>
            <a:ext cx="1619250" cy="723900"/>
          </a:xfrm>
          <a:prstGeom prst="roundRect">
            <a:avLst>
              <a:gd name="adj" fmla="val 18421"/>
            </a:avLst>
          </a:prstGeom>
          <a:solidFill>
            <a:srgbClr val="171417"/>
          </a:solidFill>
          <a:ln w="0">
            <a:noFill/>
          </a:ln>
        </p:spPr>
        <p:txBody>
          <a:bodyPr wrap="square" lIns="114300" tIns="76200" rIns="114300" bIns="76200" anchor="ctr">
            <a:noAutofit/>
          </a:bodyPr>
          <a:lstStyle/>
          <a:p>
            <a:pPr algn="ctr">
              <a:lnSpc>
                <a:spcPct val="104000"/>
              </a:lnSpc>
              <a:buNone/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Browser</a:t>
            </a:r>
          </a:p>
          <a:p>
            <a:pPr algn="ctr">
              <a:lnSpc>
                <a:spcPct val="104000"/>
              </a:lnSpc>
              <a:buNone/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playback</a:t>
            </a:r>
          </a:p>
        </p:txBody>
      </p:sp>
      <p:cxnSp>
        <p:nvCxnSpPr>
          <p:cNvPr id="46" name="Conector recto de flecha 45"/>
          <p:cNvCxnSpPr>
            <a:stCxn id="9" idx="3"/>
            <a:endCxn id="10" idx="1"/>
          </p:cNvCxnSpPr>
          <p:nvPr/>
        </p:nvCxnSpPr>
        <p:spPr>
          <a:xfrm>
            <a:off x="2228850" y="2495550"/>
            <a:ext cx="228600" cy="0"/>
          </a:xfrm>
          <a:prstGeom prst="straightConnector1">
            <a:avLst/>
          </a:prstGeom>
          <a:ln w="19050">
            <a:solidFill>
              <a:srgbClr val="A69FA3"/>
            </a:solidFill>
            <a:prstDash val="solid"/>
            <a:tailEnd type="triangle" w="sm" len="sm"/>
          </a:ln>
        </p:spPr>
      </p:cxnSp>
      <p:cxnSp>
        <p:nvCxnSpPr>
          <p:cNvPr id="47" name="Conector recto de flecha 46"/>
          <p:cNvCxnSpPr>
            <a:stCxn id="10" idx="3"/>
            <a:endCxn id="11" idx="1"/>
          </p:cNvCxnSpPr>
          <p:nvPr/>
        </p:nvCxnSpPr>
        <p:spPr>
          <a:xfrm>
            <a:off x="3695700" y="2495550"/>
            <a:ext cx="228600" cy="0"/>
          </a:xfrm>
          <a:prstGeom prst="straightConnector1">
            <a:avLst/>
          </a:prstGeom>
          <a:ln w="19050">
            <a:solidFill>
              <a:srgbClr val="A69FA3"/>
            </a:solidFill>
            <a:prstDash val="solid"/>
            <a:tailEnd type="triangle" w="sm" len="sm"/>
          </a:ln>
        </p:spPr>
      </p:cxnSp>
      <p:cxnSp>
        <p:nvCxnSpPr>
          <p:cNvPr id="48" name="Conector: angular 47"/>
          <p:cNvCxnSpPr>
            <a:stCxn id="11" idx="2"/>
            <a:endCxn id="12" idx="0"/>
          </p:cNvCxnSpPr>
          <p:nvPr/>
        </p:nvCxnSpPr>
        <p:spPr>
          <a:xfrm flipH="1">
            <a:off x="2628900" y="2857500"/>
            <a:ext cx="2000250" cy="742950"/>
          </a:xfrm>
          <a:prstGeom prst="bentConnector4">
            <a:avLst>
              <a:gd name="adj1" fmla="val 0"/>
              <a:gd name="adj2" fmla="val 50000"/>
            </a:avLst>
          </a:prstGeom>
          <a:ln w="19050">
            <a:solidFill>
              <a:srgbClr val="830051"/>
            </a:solidFill>
            <a:prstDash val="solid"/>
            <a:tailEnd type="triangle" w="sm" len="sm"/>
          </a:ln>
        </p:spPr>
      </p:cxnSp>
      <p:cxnSp>
        <p:nvCxnSpPr>
          <p:cNvPr id="49" name="Conector recto de flecha 48"/>
          <p:cNvCxnSpPr>
            <a:stCxn id="12" idx="3"/>
            <a:endCxn id="13" idx="1"/>
          </p:cNvCxnSpPr>
          <p:nvPr/>
        </p:nvCxnSpPr>
        <p:spPr>
          <a:xfrm>
            <a:off x="3486150" y="4000500"/>
            <a:ext cx="361950" cy="0"/>
          </a:xfrm>
          <a:prstGeom prst="straightConnector1">
            <a:avLst/>
          </a:prstGeom>
          <a:ln w="19050">
            <a:solidFill>
              <a:srgbClr val="830051"/>
            </a:solidFill>
            <a:prstDash val="solid"/>
            <a:tailEnd type="triangle" w="sm" len="sm"/>
          </a:ln>
        </p:spPr>
      </p:cxnSp>
      <p:cxnSp>
        <p:nvCxnSpPr>
          <p:cNvPr id="50" name="Conector: angular 49"/>
          <p:cNvCxnSpPr>
            <a:stCxn id="13" idx="3"/>
            <a:endCxn id="14" idx="1"/>
          </p:cNvCxnSpPr>
          <p:nvPr/>
        </p:nvCxnSpPr>
        <p:spPr>
          <a:xfrm flipV="1">
            <a:off x="5543550" y="2495550"/>
            <a:ext cx="1009650" cy="1504950"/>
          </a:xfrm>
          <a:prstGeom prst="bentConnector3">
            <a:avLst>
              <a:gd name="adj1" fmla="val 50000"/>
            </a:avLst>
          </a:prstGeom>
          <a:ln w="19050">
            <a:solidFill>
              <a:srgbClr val="830051"/>
            </a:solidFill>
            <a:prstDash val="solid"/>
            <a:tailEnd type="triangle" w="sm" len="sm"/>
          </a:ln>
        </p:spPr>
      </p:cxnSp>
      <p:cxnSp>
        <p:nvCxnSpPr>
          <p:cNvPr id="51" name="Conector recto de flecha 50"/>
          <p:cNvCxnSpPr>
            <a:stCxn id="14" idx="3"/>
            <a:endCxn id="15" idx="1"/>
          </p:cNvCxnSpPr>
          <p:nvPr/>
        </p:nvCxnSpPr>
        <p:spPr>
          <a:xfrm>
            <a:off x="8362950" y="2495550"/>
            <a:ext cx="228600" cy="0"/>
          </a:xfrm>
          <a:prstGeom prst="straightConnector1">
            <a:avLst/>
          </a:prstGeom>
          <a:ln w="19050">
            <a:solidFill>
              <a:srgbClr val="A69FA3"/>
            </a:solidFill>
            <a:prstDash val="solid"/>
            <a:tailEnd type="triangle" w="sm" len="sm"/>
          </a:ln>
        </p:spPr>
      </p:cxnSp>
      <p:cxnSp>
        <p:nvCxnSpPr>
          <p:cNvPr id="52" name="Conector recto de flecha 51"/>
          <p:cNvCxnSpPr>
            <a:stCxn id="15" idx="3"/>
            <a:endCxn id="16" idx="1"/>
          </p:cNvCxnSpPr>
          <p:nvPr/>
        </p:nvCxnSpPr>
        <p:spPr>
          <a:xfrm>
            <a:off x="9925050" y="2495550"/>
            <a:ext cx="228600" cy="0"/>
          </a:xfrm>
          <a:prstGeom prst="straightConnector1">
            <a:avLst/>
          </a:prstGeom>
          <a:ln w="19050">
            <a:solidFill>
              <a:srgbClr val="830051"/>
            </a:solidFill>
            <a:prstDash val="solid"/>
            <a:tailEnd type="triangle" w="sm" len="sm"/>
          </a:ln>
        </p:spPr>
      </p:cxnSp>
      <p:cxnSp>
        <p:nvCxnSpPr>
          <p:cNvPr id="53" name="Conector: angular 52"/>
          <p:cNvCxnSpPr>
            <a:stCxn id="16" idx="2"/>
            <a:endCxn id="17" idx="0"/>
          </p:cNvCxnSpPr>
          <p:nvPr/>
        </p:nvCxnSpPr>
        <p:spPr>
          <a:xfrm flipH="1">
            <a:off x="9058275" y="2857500"/>
            <a:ext cx="1743075" cy="914400"/>
          </a:xfrm>
          <a:prstGeom prst="bentConnector4">
            <a:avLst>
              <a:gd name="adj1" fmla="val 0"/>
              <a:gd name="adj2" fmla="val 50000"/>
            </a:avLst>
          </a:prstGeom>
          <a:ln w="19050">
            <a:solidFill>
              <a:srgbClr val="830051"/>
            </a:solidFill>
            <a:prstDash val="solid"/>
            <a:tailEnd type="triangle" w="sm" len="sm"/>
          </a:ln>
        </p:spPr>
      </p:cxnSp>
      <p:sp>
        <p:nvSpPr>
          <p:cNvPr id="26" name="Rectángulo 25">
            <a:extLst>
              <a:ext uri="{FF2B5EF4-FFF2-40B4-BE49-F238E27FC236}">
                <a16:creationId xmlns:a16="http://schemas.microsoft.com/office/drawing/2014/main" id="{AA4EF036-9819-4BFF-A4A9-7AB32023C977}"/>
              </a:ext>
            </a:extLst>
          </p:cNvPr>
          <p:cNvSpPr>
            <a:spLocks noGrp="1"/>
          </p:cNvSpPr>
          <p:nvPr/>
        </p:nvSpPr>
        <p:spPr>
          <a:xfrm>
            <a:off x="895350" y="5257800"/>
            <a:ext cx="10401300" cy="342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4000"/>
              </a:lnSpc>
              <a:buNone/>
              <a:defRPr sz="157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1280×720 at 30 fps, 1.5 Mb/s, superfast, zerolatency, no B-frames</a:t>
            </a:r>
          </a:p>
        </p:txBody>
      </p:sp>
      <p:sp>
        <p:nvSpPr>
          <p:cNvPr id="27" name="Rectángulo: esquinas redondeadas 26">
            <a:extLst>
              <a:ext uri="{FF2B5EF4-FFF2-40B4-BE49-F238E27FC236}">
                <a16:creationId xmlns:a16="http://schemas.microsoft.com/office/drawing/2014/main" id="{E4358D2B-A134-460B-8959-1ED6F464BA20}"/>
              </a:ext>
            </a:extLst>
          </p:cNvPr>
          <p:cNvSpPr>
            <a:spLocks noGrp="1"/>
          </p:cNvSpPr>
          <p:nvPr/>
        </p:nvSpPr>
        <p:spPr>
          <a:xfrm>
            <a:off x="1047750" y="5715000"/>
            <a:ext cx="10096500" cy="495300"/>
          </a:xfrm>
          <a:prstGeom prst="roundRect">
            <a:avLst>
              <a:gd name="adj" fmla="val 15385"/>
            </a:avLst>
          </a:prstGeom>
          <a:solidFill>
            <a:srgbClr val="F5EDF2"/>
          </a:solidFill>
          <a:ln w="0"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28" name="Rectángulo 27">
            <a:extLst>
              <a:ext uri="{FF2B5EF4-FFF2-40B4-BE49-F238E27FC236}">
                <a16:creationId xmlns:a16="http://schemas.microsoft.com/office/drawing/2014/main" id="{7F92B5DC-E02E-4C16-AA7F-42DB24B57681}"/>
              </a:ext>
            </a:extLst>
          </p:cNvPr>
          <p:cNvSpPr>
            <a:spLocks noGrp="1"/>
          </p:cNvSpPr>
          <p:nvPr/>
        </p:nvSpPr>
        <p:spPr>
          <a:xfrm>
            <a:off x="1257300" y="5838825"/>
            <a:ext cx="96774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4000"/>
              </a:lnSpc>
              <a:buNone/>
              <a:defRPr sz="1500" b="1">
                <a:solidFill>
                  <a:srgbClr val="51003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510034"/>
                </a:solidFill>
                <a:latin typeface="Arial"/>
                <a:ea typeface="Arial"/>
                <a:cs typeface="Arial"/>
              </a:rPr>
              <a:t>FFmpeg captures and encodes; SIPSorcery owns the secure WebRTC peer connection.</a:t>
            </a:r>
          </a:p>
        </p:txBody>
      </p:sp>
    </p:spTree>
    <p:extLst>
      <p:ext uri="{BB962C8B-B14F-4D97-AF65-F5344CB8AC3E}">
        <p14:creationId xmlns:p14="http://schemas.microsoft.com/office/powerpoint/2010/main" val="32569033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9F8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Rectángulo 20">
            <a:extLst>
              <a:ext uri="{FF2B5EF4-FFF2-40B4-BE49-F238E27FC236}">
                <a16:creationId xmlns:a16="http://schemas.microsoft.com/office/drawing/2014/main" id="{38CF84AB-E7BF-42AB-9B17-484BFD79FB83}"/>
              </a:ext>
            </a:extLst>
          </p:cNvPr>
          <p:cNvSpPr>
            <a:spLocks noGrp="1"/>
          </p:cNvSpPr>
          <p:nvPr/>
        </p:nvSpPr>
        <p:spPr>
          <a:xfrm>
            <a:off x="533400" y="266700"/>
            <a:ext cx="74295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200" b="1">
                <a:solidFill>
                  <a:srgbClr val="830051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830051"/>
                </a:solidFill>
                <a:latin typeface="Arial"/>
                <a:ea typeface="Arial"/>
                <a:cs typeface="Arial"/>
              </a:rPr>
              <a:t>ISSUES AND ITERATIONS</a:t>
            </a:r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D6AB8FAF-4F5C-46A2-9C20-522410343538}"/>
              </a:ext>
            </a:extLst>
          </p:cNvPr>
          <p:cNvSpPr>
            <a:spLocks noGrp="1"/>
          </p:cNvSpPr>
          <p:nvPr/>
        </p:nvSpPr>
        <p:spPr>
          <a:xfrm>
            <a:off x="533400" y="590550"/>
            <a:ext cx="10477500" cy="552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4000"/>
              </a:lnSpc>
              <a:buNone/>
              <a:defRPr sz="337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Discovery of CPU Encoding Cost</a:t>
            </a:r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C1E9DB93-08FB-4491-9144-AAC159944FDC}"/>
              </a:ext>
            </a:extLst>
          </p:cNvPr>
          <p:cNvSpPr>
            <a:spLocks noGrp="1"/>
          </p:cNvSpPr>
          <p:nvPr/>
        </p:nvSpPr>
        <p:spPr>
          <a:xfrm>
            <a:off x="533400" y="1257300"/>
            <a:ext cx="11125200" cy="28575"/>
          </a:xfrm>
          <a:prstGeom prst="rect">
            <a:avLst/>
          </a:prstGeom>
          <a:solidFill>
            <a:srgbClr val="830051"/>
          </a:solidFill>
          <a:ln w="0"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D7086B4B-20CF-4621-98BD-BD03F46B1D37}"/>
              </a:ext>
            </a:extLst>
          </p:cNvPr>
          <p:cNvSpPr>
            <a:spLocks noGrp="1"/>
          </p:cNvSpPr>
          <p:nvPr/>
        </p:nvSpPr>
        <p:spPr>
          <a:xfrm>
            <a:off x="10858500" y="6457950"/>
            <a:ext cx="8001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4000"/>
              </a:lnSpc>
              <a:buNone/>
              <a:defRPr sz="1125" b="1">
                <a:solidFill>
                  <a:srgbClr val="6F686D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6F686D"/>
                </a:solidFill>
                <a:latin typeface="Arial"/>
                <a:ea typeface="Arial"/>
                <a:cs typeface="Arial"/>
              </a:rPr>
              <a:t>20</a:t>
            </a:r>
          </a:p>
        </p:txBody>
      </p:sp>
      <p:sp>
        <p:nvSpPr>
          <p:cNvPr id="5" name="Rectángulo: esquinas redondeadas 4">
            <a:extLst>
              <a:ext uri="{FF2B5EF4-FFF2-40B4-BE49-F238E27FC236}">
                <a16:creationId xmlns:a16="http://schemas.microsoft.com/office/drawing/2014/main" id="{0BA58F7F-F4BB-4073-A4E8-FDE909046CA3}"/>
              </a:ext>
            </a:extLst>
          </p:cNvPr>
          <p:cNvSpPr>
            <a:spLocks noGrp="1"/>
          </p:cNvSpPr>
          <p:nvPr/>
        </p:nvSpPr>
        <p:spPr>
          <a:xfrm>
            <a:off x="7696200" y="1600200"/>
            <a:ext cx="3752850" cy="3200400"/>
          </a:xfrm>
          <a:prstGeom prst="roundRect">
            <a:avLst>
              <a:gd name="adj" fmla="val 2976"/>
            </a:avLst>
          </a:prstGeom>
          <a:solidFill>
            <a:srgbClr val="FFFFFF"/>
          </a:solidFill>
          <a:ln w="9525">
            <a:solidFill>
              <a:srgbClr val="E7E3E5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pic>
        <p:nvPicPr>
          <p:cNvPr id="26" name="Imagen 25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7715250" y="1790652"/>
            <a:ext cx="3714750" cy="2819495"/>
          </a:xfrm>
          <a:prstGeom prst="roundRect">
            <a:avLst>
              <a:gd name="adj" fmla="val 2410"/>
            </a:avLst>
          </a:prstGeom>
        </p:spPr>
      </p:pic>
      <p:sp>
        <p:nvSpPr>
          <p:cNvPr id="7" name="Rectángulo 6">
            <a:extLst>
              <a:ext uri="{FF2B5EF4-FFF2-40B4-BE49-F238E27FC236}">
                <a16:creationId xmlns:a16="http://schemas.microsoft.com/office/drawing/2014/main" id="{3D014795-FAEC-425B-B2CA-8EBE4BCDC572}"/>
              </a:ext>
            </a:extLst>
          </p:cNvPr>
          <p:cNvSpPr>
            <a:spLocks noGrp="1"/>
          </p:cNvSpPr>
          <p:nvPr/>
        </p:nvSpPr>
        <p:spPr>
          <a:xfrm>
            <a:off x="685800" y="1619250"/>
            <a:ext cx="55245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200" b="1">
                <a:solidFill>
                  <a:srgbClr val="6F686D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F686D"/>
                </a:solidFill>
                <a:latin typeface="Arial"/>
                <a:ea typeface="Arial"/>
                <a:cs typeface="Arial"/>
              </a:rPr>
              <a:t>WORK ON THE RASPBERRY PI</a:t>
            </a:r>
          </a:p>
        </p:txBody>
      </p:sp>
      <p:sp>
        <p:nvSpPr>
          <p:cNvPr id="8" name="Rectángulo: esquinas redondeadas 7">
            <a:extLst>
              <a:ext uri="{FF2B5EF4-FFF2-40B4-BE49-F238E27FC236}">
                <a16:creationId xmlns:a16="http://schemas.microsoft.com/office/drawing/2014/main" id="{619604F6-8EB9-4669-A91F-90A588504219}"/>
              </a:ext>
            </a:extLst>
          </p:cNvPr>
          <p:cNvSpPr>
            <a:spLocks noGrp="1"/>
          </p:cNvSpPr>
          <p:nvPr/>
        </p:nvSpPr>
        <p:spPr>
          <a:xfrm>
            <a:off x="723900" y="2038350"/>
            <a:ext cx="476250" cy="476250"/>
          </a:xfrm>
          <a:prstGeom prst="roundRect">
            <a:avLst>
              <a:gd name="adj" fmla="val 50000"/>
            </a:avLst>
          </a:prstGeom>
          <a:solidFill>
            <a:srgbClr val="830051"/>
          </a:solidFill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4000"/>
              </a:lnSpc>
              <a:buNone/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9" name="Rectángulo 8">
            <a:extLst>
              <a:ext uri="{FF2B5EF4-FFF2-40B4-BE49-F238E27FC236}">
                <a16:creationId xmlns:a16="http://schemas.microsoft.com/office/drawing/2014/main" id="{F1F8E700-494E-4D7D-BA5C-10E64E8B8D21}"/>
              </a:ext>
            </a:extLst>
          </p:cNvPr>
          <p:cNvSpPr>
            <a:spLocks noGrp="1"/>
          </p:cNvSpPr>
          <p:nvPr/>
        </p:nvSpPr>
        <p:spPr>
          <a:xfrm>
            <a:off x="1390650" y="2038350"/>
            <a:ext cx="3238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800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Decode camera MJPEG</a:t>
            </a:r>
          </a:p>
        </p:txBody>
      </p:sp>
      <p:sp>
        <p:nvSpPr>
          <p:cNvPr id="10" name="Rectángulo 9">
            <a:extLst>
              <a:ext uri="{FF2B5EF4-FFF2-40B4-BE49-F238E27FC236}">
                <a16:creationId xmlns:a16="http://schemas.microsoft.com/office/drawing/2014/main" id="{A4539854-07C8-444B-A4F5-D7F4741C148A}"/>
              </a:ext>
            </a:extLst>
          </p:cNvPr>
          <p:cNvSpPr>
            <a:spLocks noGrp="1"/>
          </p:cNvSpPr>
          <p:nvPr/>
        </p:nvSpPr>
        <p:spPr>
          <a:xfrm>
            <a:off x="1390650" y="2409825"/>
            <a:ext cx="32385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500" b="0">
                <a:solidFill>
                  <a:srgbClr val="6F686D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6F686D"/>
                </a:solidFill>
                <a:latin typeface="Arial"/>
                <a:ea typeface="Arial"/>
                <a:cs typeface="Arial"/>
              </a:rPr>
              <a:t>CPU + memory bandwidth</a:t>
            </a:r>
          </a:p>
        </p:txBody>
      </p:sp>
      <p:sp>
        <p:nvSpPr>
          <p:cNvPr id="11" name="Rectángulo: esquinas redondeadas 10">
            <a:extLst>
              <a:ext uri="{FF2B5EF4-FFF2-40B4-BE49-F238E27FC236}">
                <a16:creationId xmlns:a16="http://schemas.microsoft.com/office/drawing/2014/main" id="{FC65867E-032C-4ECF-8039-E5CE57A6852B}"/>
              </a:ext>
            </a:extLst>
          </p:cNvPr>
          <p:cNvSpPr>
            <a:spLocks noGrp="1"/>
          </p:cNvSpPr>
          <p:nvPr/>
        </p:nvSpPr>
        <p:spPr>
          <a:xfrm>
            <a:off x="723900" y="3009900"/>
            <a:ext cx="476250" cy="476250"/>
          </a:xfrm>
          <a:prstGeom prst="roundRect">
            <a:avLst>
              <a:gd name="adj" fmla="val 50000"/>
            </a:avLst>
          </a:prstGeom>
          <a:solidFill>
            <a:srgbClr val="830051"/>
          </a:solidFill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4000"/>
              </a:lnSpc>
              <a:buNone/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2" name="Rectángulo 11">
            <a:extLst>
              <a:ext uri="{FF2B5EF4-FFF2-40B4-BE49-F238E27FC236}">
                <a16:creationId xmlns:a16="http://schemas.microsoft.com/office/drawing/2014/main" id="{E9F9CFA3-70DA-473C-9A85-B8C76F76B25C}"/>
              </a:ext>
            </a:extLst>
          </p:cNvPr>
          <p:cNvSpPr>
            <a:spLocks noGrp="1"/>
          </p:cNvSpPr>
          <p:nvPr/>
        </p:nvSpPr>
        <p:spPr>
          <a:xfrm>
            <a:off x="1390650" y="3009900"/>
            <a:ext cx="3238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800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Software-encode H.264</a:t>
            </a:r>
          </a:p>
        </p:txBody>
      </p:sp>
      <p:sp>
        <p:nvSpPr>
          <p:cNvPr id="13" name="Rectángulo 12">
            <a:extLst>
              <a:ext uri="{FF2B5EF4-FFF2-40B4-BE49-F238E27FC236}">
                <a16:creationId xmlns:a16="http://schemas.microsoft.com/office/drawing/2014/main" id="{7D49353A-2CB9-4374-AF43-BD429585750F}"/>
              </a:ext>
            </a:extLst>
          </p:cNvPr>
          <p:cNvSpPr>
            <a:spLocks noGrp="1"/>
          </p:cNvSpPr>
          <p:nvPr/>
        </p:nvSpPr>
        <p:spPr>
          <a:xfrm>
            <a:off x="1390650" y="3381375"/>
            <a:ext cx="32385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500" b="0">
                <a:solidFill>
                  <a:srgbClr val="6F686D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6F686D"/>
                </a:solidFill>
                <a:latin typeface="Arial"/>
                <a:ea typeface="Arial"/>
                <a:cs typeface="Arial"/>
              </a:rPr>
              <a:t>CPU + heat + latency</a:t>
            </a:r>
          </a:p>
        </p:txBody>
      </p:sp>
      <p:sp>
        <p:nvSpPr>
          <p:cNvPr id="14" name="Rectángulo: esquinas redondeadas 13">
            <a:extLst>
              <a:ext uri="{FF2B5EF4-FFF2-40B4-BE49-F238E27FC236}">
                <a16:creationId xmlns:a16="http://schemas.microsoft.com/office/drawing/2014/main" id="{986DA9AA-EA3B-4772-ABD9-FD0486DFBAAD}"/>
              </a:ext>
            </a:extLst>
          </p:cNvPr>
          <p:cNvSpPr>
            <a:spLocks noGrp="1"/>
          </p:cNvSpPr>
          <p:nvPr/>
        </p:nvSpPr>
        <p:spPr>
          <a:xfrm>
            <a:off x="723900" y="3981450"/>
            <a:ext cx="476250" cy="476250"/>
          </a:xfrm>
          <a:prstGeom prst="roundRect">
            <a:avLst>
              <a:gd name="adj" fmla="val 50000"/>
            </a:avLst>
          </a:prstGeom>
          <a:solidFill>
            <a:srgbClr val="830051"/>
          </a:solidFill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4000"/>
              </a:lnSpc>
              <a:buNone/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5" name="Rectángulo 14">
            <a:extLst>
              <a:ext uri="{FF2B5EF4-FFF2-40B4-BE49-F238E27FC236}">
                <a16:creationId xmlns:a16="http://schemas.microsoft.com/office/drawing/2014/main" id="{93B59D26-2D69-400A-B1C1-C3084AFD8D63}"/>
              </a:ext>
            </a:extLst>
          </p:cNvPr>
          <p:cNvSpPr>
            <a:spLocks noGrp="1"/>
          </p:cNvSpPr>
          <p:nvPr/>
        </p:nvSpPr>
        <p:spPr>
          <a:xfrm>
            <a:off x="1390650" y="3981450"/>
            <a:ext cx="3238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800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Packetize and encrypt</a:t>
            </a:r>
          </a:p>
        </p:txBody>
      </p:sp>
      <p:sp>
        <p:nvSpPr>
          <p:cNvPr id="16" name="Rectángulo 15">
            <a:extLst>
              <a:ext uri="{FF2B5EF4-FFF2-40B4-BE49-F238E27FC236}">
                <a16:creationId xmlns:a16="http://schemas.microsoft.com/office/drawing/2014/main" id="{4DE0070F-B615-4EC9-91AB-A261A74CD519}"/>
              </a:ext>
            </a:extLst>
          </p:cNvPr>
          <p:cNvSpPr>
            <a:spLocks noGrp="1"/>
          </p:cNvSpPr>
          <p:nvPr/>
        </p:nvSpPr>
        <p:spPr>
          <a:xfrm>
            <a:off x="1390650" y="4352925"/>
            <a:ext cx="32385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500" b="0">
                <a:solidFill>
                  <a:srgbClr val="6F686D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6F686D"/>
                </a:solidFill>
                <a:latin typeface="Arial"/>
                <a:ea typeface="Arial"/>
                <a:cs typeface="Arial"/>
              </a:rPr>
              <a:t>Additional real-time work</a:t>
            </a:r>
          </a:p>
        </p:txBody>
      </p:sp>
      <p:sp>
        <p:nvSpPr>
          <p:cNvPr id="17" name="Rectángulo: esquinas redondeadas 16">
            <a:extLst>
              <a:ext uri="{FF2B5EF4-FFF2-40B4-BE49-F238E27FC236}">
                <a16:creationId xmlns:a16="http://schemas.microsoft.com/office/drawing/2014/main" id="{15F56F71-0190-450A-B06D-B1F915365E3C}"/>
              </a:ext>
            </a:extLst>
          </p:cNvPr>
          <p:cNvSpPr>
            <a:spLocks noGrp="1"/>
          </p:cNvSpPr>
          <p:nvPr/>
        </p:nvSpPr>
        <p:spPr>
          <a:xfrm>
            <a:off x="685800" y="5048250"/>
            <a:ext cx="10744200" cy="990600"/>
          </a:xfrm>
          <a:prstGeom prst="roundRect">
            <a:avLst>
              <a:gd name="adj" fmla="val 13462"/>
            </a:avLst>
          </a:prstGeom>
          <a:solidFill>
            <a:srgbClr val="F5EDF2"/>
          </a:solidFill>
          <a:ln w="0"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18" name="Rectángulo 17">
            <a:extLst>
              <a:ext uri="{FF2B5EF4-FFF2-40B4-BE49-F238E27FC236}">
                <a16:creationId xmlns:a16="http://schemas.microsoft.com/office/drawing/2014/main" id="{12878158-841C-4652-9FDE-20E28EE0FEDC}"/>
              </a:ext>
            </a:extLst>
          </p:cNvPr>
          <p:cNvSpPr>
            <a:spLocks noGrp="1"/>
          </p:cNvSpPr>
          <p:nvPr/>
        </p:nvSpPr>
        <p:spPr>
          <a:xfrm>
            <a:off x="933450" y="5257800"/>
            <a:ext cx="24384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200" b="1">
                <a:solidFill>
                  <a:srgbClr val="830051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830051"/>
                </a:solidFill>
                <a:latin typeface="Arial"/>
                <a:ea typeface="Arial"/>
                <a:cs typeface="Arial"/>
              </a:rPr>
              <a:t>LOW-LATENCY SETTINGS</a:t>
            </a:r>
          </a:p>
        </p:txBody>
      </p:sp>
      <p:sp>
        <p:nvSpPr>
          <p:cNvPr id="19" name="Rectángulo 18">
            <a:extLst>
              <a:ext uri="{FF2B5EF4-FFF2-40B4-BE49-F238E27FC236}">
                <a16:creationId xmlns:a16="http://schemas.microsoft.com/office/drawing/2014/main" id="{765BCFBD-AA24-4F08-9B9A-B06822027F0E}"/>
              </a:ext>
            </a:extLst>
          </p:cNvPr>
          <p:cNvSpPr>
            <a:spLocks noGrp="1"/>
          </p:cNvSpPr>
          <p:nvPr/>
        </p:nvSpPr>
        <p:spPr>
          <a:xfrm>
            <a:off x="3429000" y="5200650"/>
            <a:ext cx="7524750" cy="342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4000"/>
              </a:lnSpc>
              <a:buNone/>
              <a:defRPr sz="187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superfast   zerolatency   no B-frames   small VBV buffer</a:t>
            </a:r>
          </a:p>
        </p:txBody>
      </p:sp>
      <p:sp>
        <p:nvSpPr>
          <p:cNvPr id="20" name="Rectángulo 19">
            <a:extLst>
              <a:ext uri="{FF2B5EF4-FFF2-40B4-BE49-F238E27FC236}">
                <a16:creationId xmlns:a16="http://schemas.microsoft.com/office/drawing/2014/main" id="{96888A22-376B-4F4B-A893-DDDB3AB80AE3}"/>
              </a:ext>
            </a:extLst>
          </p:cNvPr>
          <p:cNvSpPr>
            <a:spLocks noGrp="1"/>
          </p:cNvSpPr>
          <p:nvPr/>
        </p:nvSpPr>
        <p:spPr>
          <a:xfrm>
            <a:off x="3276600" y="5657850"/>
            <a:ext cx="77914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4000"/>
              </a:lnSpc>
              <a:buNone/>
              <a:defRPr sz="1425" b="0">
                <a:solidFill>
                  <a:srgbClr val="510034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10034"/>
                </a:solidFill>
                <a:latin typeface="Arial"/>
                <a:ea typeface="Arial"/>
                <a:cs typeface="Arial"/>
              </a:rPr>
              <a:t>External FFmpeg improved deployment isolation; CPU encoding stayed on the Pi.</a:t>
            </a:r>
          </a:p>
        </p:txBody>
      </p:sp>
    </p:spTree>
    <p:extLst>
      <p:ext uri="{BB962C8B-B14F-4D97-AF65-F5344CB8AC3E}">
        <p14:creationId xmlns:p14="http://schemas.microsoft.com/office/powerpoint/2010/main" val="171794262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9F8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ctángulo 19">
            <a:extLst>
              <a:ext uri="{FF2B5EF4-FFF2-40B4-BE49-F238E27FC236}">
                <a16:creationId xmlns:a16="http://schemas.microsoft.com/office/drawing/2014/main" id="{8DFDA8C8-F355-49B1-9AC6-3CA960EDE9D0}"/>
              </a:ext>
            </a:extLst>
          </p:cNvPr>
          <p:cNvSpPr>
            <a:spLocks noGrp="1"/>
          </p:cNvSpPr>
          <p:nvPr/>
        </p:nvSpPr>
        <p:spPr>
          <a:xfrm>
            <a:off x="533400" y="266700"/>
            <a:ext cx="74295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200" b="1">
                <a:solidFill>
                  <a:srgbClr val="830051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830051"/>
                </a:solidFill>
                <a:latin typeface="Arial"/>
                <a:ea typeface="Arial"/>
                <a:cs typeface="Arial"/>
              </a:rPr>
              <a:t>ISSUES AND ITERATIONS</a:t>
            </a:r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788E2A48-4511-40E4-BD5C-38FF131858A1}"/>
              </a:ext>
            </a:extLst>
          </p:cNvPr>
          <p:cNvSpPr>
            <a:spLocks noGrp="1"/>
          </p:cNvSpPr>
          <p:nvPr/>
        </p:nvSpPr>
        <p:spPr>
          <a:xfrm>
            <a:off x="533400" y="590550"/>
            <a:ext cx="10477500" cy="552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4000"/>
              </a:lnSpc>
              <a:buNone/>
              <a:defRPr sz="337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Electrical Input to the Raspberry Pi</a:t>
            </a:r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D9569A0E-4967-4B24-A732-C70FA494F69D}"/>
              </a:ext>
            </a:extLst>
          </p:cNvPr>
          <p:cNvSpPr>
            <a:spLocks noGrp="1"/>
          </p:cNvSpPr>
          <p:nvPr/>
        </p:nvSpPr>
        <p:spPr>
          <a:xfrm>
            <a:off x="533400" y="1257300"/>
            <a:ext cx="11125200" cy="28575"/>
          </a:xfrm>
          <a:prstGeom prst="rect">
            <a:avLst/>
          </a:prstGeom>
          <a:solidFill>
            <a:srgbClr val="830051"/>
          </a:solidFill>
          <a:ln w="0"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980A0514-0159-455A-A39C-90E3356C6E50}"/>
              </a:ext>
            </a:extLst>
          </p:cNvPr>
          <p:cNvSpPr>
            <a:spLocks noGrp="1"/>
          </p:cNvSpPr>
          <p:nvPr/>
        </p:nvSpPr>
        <p:spPr>
          <a:xfrm>
            <a:off x="10858500" y="6457950"/>
            <a:ext cx="8001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4000"/>
              </a:lnSpc>
              <a:buNone/>
              <a:defRPr sz="1125" b="1">
                <a:solidFill>
                  <a:srgbClr val="6F686D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6F686D"/>
                </a:solidFill>
                <a:latin typeface="Arial"/>
                <a:ea typeface="Arial"/>
                <a:cs typeface="Arial"/>
              </a:rPr>
              <a:t>21</a:t>
            </a:r>
          </a:p>
        </p:txBody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E444671C-A169-498D-A9BB-BC187D5339B3}"/>
              </a:ext>
            </a:extLst>
          </p:cNvPr>
          <p:cNvSpPr>
            <a:spLocks noGrp="1"/>
          </p:cNvSpPr>
          <p:nvPr/>
        </p:nvSpPr>
        <p:spPr>
          <a:xfrm>
            <a:off x="685800" y="1619250"/>
            <a:ext cx="432435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200" b="1">
                <a:solidFill>
                  <a:srgbClr val="830051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830051"/>
                </a:solidFill>
                <a:latin typeface="Arial"/>
                <a:ea typeface="Arial"/>
                <a:cs typeface="Arial"/>
              </a:rPr>
              <a:t>AUTHOR-REPORTED OBSERVATION</a:t>
            </a:r>
          </a:p>
        </p:txBody>
      </p:sp>
      <p:sp>
        <p:nvSpPr>
          <p:cNvPr id="6" name="Rectángulo: esquinas redondeadas 5">
            <a:extLst>
              <a:ext uri="{FF2B5EF4-FFF2-40B4-BE49-F238E27FC236}">
                <a16:creationId xmlns:a16="http://schemas.microsoft.com/office/drawing/2014/main" id="{B46558CF-A41C-4FC3-B83F-37623E7E03A3}"/>
              </a:ext>
            </a:extLst>
          </p:cNvPr>
          <p:cNvSpPr>
            <a:spLocks noGrp="1"/>
          </p:cNvSpPr>
          <p:nvPr/>
        </p:nvSpPr>
        <p:spPr>
          <a:xfrm>
            <a:off x="723900" y="2171700"/>
            <a:ext cx="2095500" cy="9525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9050">
            <a:solidFill>
              <a:srgbClr val="830051"/>
            </a:solidFill>
            <a:prstDash val="solid"/>
          </a:ln>
        </p:spPr>
        <p:txBody>
          <a:bodyPr wrap="square" lIns="114300" tIns="76200" rIns="114300" bIns="76200" anchor="ctr">
            <a:noAutofit/>
          </a:bodyPr>
          <a:lstStyle/>
          <a:p>
            <a:pPr algn="ctr">
              <a:lnSpc>
                <a:spcPct val="104000"/>
              </a:lnSpc>
              <a:buNone/>
              <a:defRPr sz="1650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Motor demands</a:t>
            </a:r>
          </a:p>
          <a:p>
            <a:pPr algn="ctr">
              <a:lnSpc>
                <a:spcPct val="104000"/>
              </a:lnSpc>
              <a:buNone/>
              <a:defRPr sz="1650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high current</a:t>
            </a:r>
          </a:p>
        </p:txBody>
      </p:sp>
      <p:sp>
        <p:nvSpPr>
          <p:cNvPr id="7" name="Rectángulo: esquinas redondeadas 6">
            <a:extLst>
              <a:ext uri="{FF2B5EF4-FFF2-40B4-BE49-F238E27FC236}">
                <a16:creationId xmlns:a16="http://schemas.microsoft.com/office/drawing/2014/main" id="{B03EA668-B313-4191-8786-5388D2B4D9C2}"/>
              </a:ext>
            </a:extLst>
          </p:cNvPr>
          <p:cNvSpPr>
            <a:spLocks noGrp="1"/>
          </p:cNvSpPr>
          <p:nvPr/>
        </p:nvSpPr>
        <p:spPr>
          <a:xfrm>
            <a:off x="3390900" y="2171700"/>
            <a:ext cx="2095500" cy="952500"/>
          </a:xfrm>
          <a:prstGeom prst="roundRect">
            <a:avLst>
              <a:gd name="adj" fmla="val 14000"/>
            </a:avLst>
          </a:prstGeom>
          <a:solidFill>
            <a:srgbClr val="F5EDF2"/>
          </a:solidFill>
          <a:ln w="19050">
            <a:solidFill>
              <a:srgbClr val="830051"/>
            </a:solidFill>
            <a:prstDash val="solid"/>
          </a:ln>
        </p:spPr>
        <p:txBody>
          <a:bodyPr wrap="square" lIns="114300" tIns="76200" rIns="114300" bIns="76200" anchor="ctr">
            <a:noAutofit/>
          </a:bodyPr>
          <a:lstStyle/>
          <a:p>
            <a:pPr algn="ctr">
              <a:lnSpc>
                <a:spcPct val="104000"/>
              </a:lnSpc>
              <a:buNone/>
              <a:defRPr sz="1650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Supply voltage</a:t>
            </a:r>
          </a:p>
          <a:p>
            <a:pPr algn="ctr">
              <a:lnSpc>
                <a:spcPct val="104000"/>
              </a:lnSpc>
              <a:buNone/>
              <a:defRPr sz="1650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dips</a:t>
            </a:r>
          </a:p>
        </p:txBody>
      </p:sp>
      <p:sp>
        <p:nvSpPr>
          <p:cNvPr id="8" name="Rectángulo: esquinas redondeadas 7">
            <a:extLst>
              <a:ext uri="{FF2B5EF4-FFF2-40B4-BE49-F238E27FC236}">
                <a16:creationId xmlns:a16="http://schemas.microsoft.com/office/drawing/2014/main" id="{388E0C5D-A3B6-4E89-9F14-9685AEFF96AF}"/>
              </a:ext>
            </a:extLst>
          </p:cNvPr>
          <p:cNvSpPr>
            <a:spLocks noGrp="1"/>
          </p:cNvSpPr>
          <p:nvPr/>
        </p:nvSpPr>
        <p:spPr>
          <a:xfrm>
            <a:off x="6057900" y="2171700"/>
            <a:ext cx="2286000" cy="952500"/>
          </a:xfrm>
          <a:prstGeom prst="roundRect">
            <a:avLst>
              <a:gd name="adj" fmla="val 14000"/>
            </a:avLst>
          </a:prstGeom>
          <a:solidFill>
            <a:srgbClr val="830051"/>
          </a:solidFill>
          <a:ln w="19050">
            <a:solidFill>
              <a:srgbClr val="830051"/>
            </a:solidFill>
            <a:prstDash val="solid"/>
          </a:ln>
        </p:spPr>
        <p:txBody>
          <a:bodyPr wrap="square" lIns="114300" tIns="76200" rIns="114300" bIns="76200" anchor="ctr">
            <a:noAutofit/>
          </a:bodyPr>
          <a:lstStyle/>
          <a:p>
            <a:pPr algn="ctr">
              <a:lnSpc>
                <a:spcPct val="104000"/>
              </a:lnSpc>
              <a:buNone/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Raspberry Pi</a:t>
            </a:r>
          </a:p>
          <a:p>
            <a:pPr algn="ctr">
              <a:lnSpc>
                <a:spcPct val="104000"/>
              </a:lnSpc>
              <a:buNone/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disconnects briefly</a:t>
            </a:r>
          </a:p>
        </p:txBody>
      </p:sp>
      <p:cxnSp>
        <p:nvCxnSpPr>
          <p:cNvPr id="28" name="Conector recto de flecha 27"/>
          <p:cNvCxnSpPr>
            <a:stCxn id="6" idx="3"/>
            <a:endCxn id="7" idx="1"/>
          </p:cNvCxnSpPr>
          <p:nvPr/>
        </p:nvCxnSpPr>
        <p:spPr>
          <a:xfrm>
            <a:off x="2819400" y="2647950"/>
            <a:ext cx="571500" cy="0"/>
          </a:xfrm>
          <a:prstGeom prst="straightConnector1">
            <a:avLst/>
          </a:prstGeom>
          <a:ln w="19050">
            <a:solidFill>
              <a:srgbClr val="A69FA3"/>
            </a:solidFill>
            <a:prstDash val="solid"/>
            <a:tailEnd type="triangle" w="sm" len="sm"/>
          </a:ln>
        </p:spPr>
      </p:cxnSp>
      <p:cxnSp>
        <p:nvCxnSpPr>
          <p:cNvPr id="29" name="Conector recto de flecha 28"/>
          <p:cNvCxnSpPr>
            <a:stCxn id="7" idx="3"/>
            <a:endCxn id="8" idx="1"/>
          </p:cNvCxnSpPr>
          <p:nvPr/>
        </p:nvCxnSpPr>
        <p:spPr>
          <a:xfrm>
            <a:off x="5486400" y="2647950"/>
            <a:ext cx="571500" cy="0"/>
          </a:xfrm>
          <a:prstGeom prst="straightConnector1">
            <a:avLst/>
          </a:prstGeom>
          <a:ln w="19050">
            <a:solidFill>
              <a:srgbClr val="830051"/>
            </a:solidFill>
            <a:prstDash val="solid"/>
            <a:tailEnd type="triangle" w="sm" len="sm"/>
          </a:ln>
        </p:spPr>
      </p:cxnSp>
      <p:sp>
        <p:nvSpPr>
          <p:cNvPr id="11" name="Rectángulo: esquinas redondeadas 10">
            <a:extLst>
              <a:ext uri="{FF2B5EF4-FFF2-40B4-BE49-F238E27FC236}">
                <a16:creationId xmlns:a16="http://schemas.microsoft.com/office/drawing/2014/main" id="{80615159-F99D-4C5D-BC31-A0C79C2DA635}"/>
              </a:ext>
            </a:extLst>
          </p:cNvPr>
          <p:cNvSpPr>
            <a:spLocks noGrp="1"/>
          </p:cNvSpPr>
          <p:nvPr/>
        </p:nvSpPr>
        <p:spPr>
          <a:xfrm>
            <a:off x="8839200" y="1676400"/>
            <a:ext cx="2419350" cy="2419350"/>
          </a:xfrm>
          <a:prstGeom prst="roundRect">
            <a:avLst>
              <a:gd name="adj" fmla="val 3937"/>
            </a:avLst>
          </a:prstGeom>
          <a:solidFill>
            <a:srgbClr val="FFFFFF"/>
          </a:solidFill>
          <a:ln w="9525">
            <a:solidFill>
              <a:srgbClr val="E7E3E5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pic>
        <p:nvPicPr>
          <p:cNvPr id="31" name="Imagen 30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8858250" y="1732657"/>
            <a:ext cx="2381250" cy="2306836"/>
          </a:xfrm>
          <a:prstGeom prst="roundRect">
            <a:avLst>
              <a:gd name="adj" fmla="val 3200"/>
            </a:avLst>
          </a:prstGeom>
        </p:spPr>
      </p:pic>
      <p:sp>
        <p:nvSpPr>
          <p:cNvPr id="13" name="Rectángulo 12">
            <a:extLst>
              <a:ext uri="{FF2B5EF4-FFF2-40B4-BE49-F238E27FC236}">
                <a16:creationId xmlns:a16="http://schemas.microsoft.com/office/drawing/2014/main" id="{4B2B28BD-763C-4D8D-B9F1-426C94348056}"/>
              </a:ext>
            </a:extLst>
          </p:cNvPr>
          <p:cNvSpPr>
            <a:spLocks noGrp="1"/>
          </p:cNvSpPr>
          <p:nvPr/>
        </p:nvSpPr>
        <p:spPr>
          <a:xfrm>
            <a:off x="9010650" y="4171950"/>
            <a:ext cx="207645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4000"/>
              </a:lnSpc>
              <a:buNone/>
              <a:defRPr sz="1350" b="1">
                <a:solidFill>
                  <a:srgbClr val="6F686D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6F686D"/>
                </a:solidFill>
                <a:latin typeface="Arial"/>
                <a:ea typeface="Arial"/>
                <a:cs typeface="Arial"/>
              </a:rPr>
              <a:t>NiMH supply</a:t>
            </a:r>
          </a:p>
        </p:txBody>
      </p:sp>
      <p:sp>
        <p:nvSpPr>
          <p:cNvPr id="14" name="Rectángulo: esquinas redondeadas 13">
            <a:extLst>
              <a:ext uri="{FF2B5EF4-FFF2-40B4-BE49-F238E27FC236}">
                <a16:creationId xmlns:a16="http://schemas.microsoft.com/office/drawing/2014/main" id="{9C86A77B-6CBD-42B6-B034-7241FD91FCB1}"/>
              </a:ext>
            </a:extLst>
          </p:cNvPr>
          <p:cNvSpPr>
            <a:spLocks noGrp="1"/>
          </p:cNvSpPr>
          <p:nvPr/>
        </p:nvSpPr>
        <p:spPr>
          <a:xfrm>
            <a:off x="685800" y="4686300"/>
            <a:ext cx="10553700" cy="125730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9525">
            <a:solidFill>
              <a:srgbClr val="E7E3E5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5" name="Rectángulo 14">
            <a:extLst>
              <a:ext uri="{FF2B5EF4-FFF2-40B4-BE49-F238E27FC236}">
                <a16:creationId xmlns:a16="http://schemas.microsoft.com/office/drawing/2014/main" id="{5C589F36-6A91-4E78-9359-363836C58CF6}"/>
              </a:ext>
            </a:extLst>
          </p:cNvPr>
          <p:cNvSpPr>
            <a:spLocks noGrp="1"/>
          </p:cNvSpPr>
          <p:nvPr/>
        </p:nvSpPr>
        <p:spPr>
          <a:xfrm>
            <a:off x="933450" y="4914900"/>
            <a:ext cx="272415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200" b="1">
                <a:solidFill>
                  <a:srgbClr val="830051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830051"/>
                </a:solidFill>
                <a:latin typeface="Arial"/>
                <a:ea typeface="Arial"/>
                <a:cs typeface="Arial"/>
              </a:rPr>
              <a:t>PROTECTED POWER DESIGN</a:t>
            </a:r>
          </a:p>
        </p:txBody>
      </p:sp>
      <p:sp>
        <p:nvSpPr>
          <p:cNvPr id="16" name="Rectángulo 15">
            <a:extLst>
              <a:ext uri="{FF2B5EF4-FFF2-40B4-BE49-F238E27FC236}">
                <a16:creationId xmlns:a16="http://schemas.microsoft.com/office/drawing/2014/main" id="{24E2CF15-F669-45E1-9F2E-27B878F5CA14}"/>
              </a:ext>
            </a:extLst>
          </p:cNvPr>
          <p:cNvSpPr>
            <a:spLocks noGrp="1"/>
          </p:cNvSpPr>
          <p:nvPr/>
        </p:nvSpPr>
        <p:spPr>
          <a:xfrm>
            <a:off x="3790950" y="4857750"/>
            <a:ext cx="2000250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4000"/>
              </a:lnSpc>
              <a:buNone/>
              <a:defRPr sz="157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Separate fused branch</a:t>
            </a:r>
          </a:p>
        </p:txBody>
      </p:sp>
      <p:sp>
        <p:nvSpPr>
          <p:cNvPr id="17" name="Rectángulo 16">
            <a:extLst>
              <a:ext uri="{FF2B5EF4-FFF2-40B4-BE49-F238E27FC236}">
                <a16:creationId xmlns:a16="http://schemas.microsoft.com/office/drawing/2014/main" id="{51F073C2-6AB0-4618-A236-6B8B38B3DE7B}"/>
              </a:ext>
            </a:extLst>
          </p:cNvPr>
          <p:cNvSpPr>
            <a:spLocks noGrp="1"/>
          </p:cNvSpPr>
          <p:nvPr/>
        </p:nvSpPr>
        <p:spPr>
          <a:xfrm>
            <a:off x="5943600" y="4857750"/>
            <a:ext cx="2457450" cy="571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4000"/>
              </a:lnSpc>
              <a:buNone/>
              <a:defRPr sz="157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DC-DC regulation + decoupling</a:t>
            </a:r>
          </a:p>
        </p:txBody>
      </p:sp>
      <p:sp>
        <p:nvSpPr>
          <p:cNvPr id="18" name="Rectángulo 17">
            <a:extLst>
              <a:ext uri="{FF2B5EF4-FFF2-40B4-BE49-F238E27FC236}">
                <a16:creationId xmlns:a16="http://schemas.microsoft.com/office/drawing/2014/main" id="{2AE9619B-1060-4933-8B7C-8002B1D95397}"/>
              </a:ext>
            </a:extLst>
          </p:cNvPr>
          <p:cNvSpPr>
            <a:spLocks noGrp="1"/>
          </p:cNvSpPr>
          <p:nvPr/>
        </p:nvSpPr>
        <p:spPr>
          <a:xfrm>
            <a:off x="8572500" y="4857750"/>
            <a:ext cx="2381250" cy="571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4000"/>
              </a:lnSpc>
              <a:buNone/>
              <a:defRPr sz="157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Transient suppression + grounding</a:t>
            </a:r>
          </a:p>
        </p:txBody>
      </p:sp>
      <p:sp>
        <p:nvSpPr>
          <p:cNvPr id="19" name="Rectángulo 18">
            <a:extLst>
              <a:ext uri="{FF2B5EF4-FFF2-40B4-BE49-F238E27FC236}">
                <a16:creationId xmlns:a16="http://schemas.microsoft.com/office/drawing/2014/main" id="{B1ED62EE-685E-45B9-B710-D3157B114E08}"/>
              </a:ext>
            </a:extLst>
          </p:cNvPr>
          <p:cNvSpPr>
            <a:spLocks noGrp="1"/>
          </p:cNvSpPr>
          <p:nvPr/>
        </p:nvSpPr>
        <p:spPr>
          <a:xfrm>
            <a:off x="3162300" y="5543550"/>
            <a:ext cx="762000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4000"/>
              </a:lnSpc>
              <a:buNone/>
              <a:defRPr sz="1425" b="0">
                <a:solidFill>
                  <a:srgbClr val="510034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10034"/>
                </a:solidFill>
                <a:latin typeface="Arial"/>
                <a:ea typeface="Arial"/>
                <a:cs typeface="Arial"/>
              </a:rPr>
              <a:t>Add brownout monitoring and verify worst-case motor-stall current before field tests.</a:t>
            </a:r>
          </a:p>
        </p:txBody>
      </p:sp>
    </p:spTree>
    <p:extLst>
      <p:ext uri="{BB962C8B-B14F-4D97-AF65-F5344CB8AC3E}">
        <p14:creationId xmlns:p14="http://schemas.microsoft.com/office/powerpoint/2010/main" val="95151042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9F8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ángulo 14">
            <a:extLst>
              <a:ext uri="{FF2B5EF4-FFF2-40B4-BE49-F238E27FC236}">
                <a16:creationId xmlns:a16="http://schemas.microsoft.com/office/drawing/2014/main" id="{BDF14BC3-DD77-4479-BEB8-1555D52A9903}"/>
              </a:ext>
            </a:extLst>
          </p:cNvPr>
          <p:cNvSpPr>
            <a:spLocks noGrp="1"/>
          </p:cNvSpPr>
          <p:nvPr/>
        </p:nvSpPr>
        <p:spPr>
          <a:xfrm>
            <a:off x="533400" y="266700"/>
            <a:ext cx="74295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200" b="1">
                <a:solidFill>
                  <a:srgbClr val="830051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830051"/>
                </a:solidFill>
                <a:latin typeface="Arial"/>
                <a:ea typeface="Arial"/>
                <a:cs typeface="Arial"/>
              </a:rPr>
              <a:t>ISSUES AND ITERATIONS</a:t>
            </a:r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FA3B72B3-2732-4C99-BBAE-6DD749B62F0C}"/>
              </a:ext>
            </a:extLst>
          </p:cNvPr>
          <p:cNvSpPr>
            <a:spLocks noGrp="1"/>
          </p:cNvSpPr>
          <p:nvPr/>
        </p:nvSpPr>
        <p:spPr>
          <a:xfrm>
            <a:off x="533400" y="590550"/>
            <a:ext cx="10477500" cy="552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4000"/>
              </a:lnSpc>
              <a:buNone/>
              <a:defRPr sz="337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Prototype Result and Limitations</a:t>
            </a:r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5AFEAC81-86EB-4746-941D-A908E6B5A741}"/>
              </a:ext>
            </a:extLst>
          </p:cNvPr>
          <p:cNvSpPr>
            <a:spLocks noGrp="1"/>
          </p:cNvSpPr>
          <p:nvPr/>
        </p:nvSpPr>
        <p:spPr>
          <a:xfrm>
            <a:off x="533400" y="1257300"/>
            <a:ext cx="11125200" cy="28575"/>
          </a:xfrm>
          <a:prstGeom prst="rect">
            <a:avLst/>
          </a:prstGeom>
          <a:solidFill>
            <a:srgbClr val="830051"/>
          </a:solidFill>
          <a:ln w="0"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01499673-964C-4F40-8080-D33A93895115}"/>
              </a:ext>
            </a:extLst>
          </p:cNvPr>
          <p:cNvSpPr>
            <a:spLocks noGrp="1"/>
          </p:cNvSpPr>
          <p:nvPr/>
        </p:nvSpPr>
        <p:spPr>
          <a:xfrm>
            <a:off x="10858500" y="6457950"/>
            <a:ext cx="8001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4000"/>
              </a:lnSpc>
              <a:buNone/>
              <a:defRPr sz="1125" b="1">
                <a:solidFill>
                  <a:srgbClr val="6F686D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6F686D"/>
                </a:solidFill>
                <a:latin typeface="Arial"/>
                <a:ea typeface="Arial"/>
                <a:cs typeface="Arial"/>
              </a:rPr>
              <a:t>22</a:t>
            </a:r>
          </a:p>
        </p:txBody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7F803295-5083-4F2D-8418-B368819B6683}"/>
              </a:ext>
            </a:extLst>
          </p:cNvPr>
          <p:cNvSpPr>
            <a:spLocks noGrp="1"/>
          </p:cNvSpPr>
          <p:nvPr/>
        </p:nvSpPr>
        <p:spPr>
          <a:xfrm>
            <a:off x="666750" y="1771650"/>
            <a:ext cx="3238500" cy="952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6450" b="1">
                <a:solidFill>
                  <a:srgbClr val="830051"/>
                </a:solidFill>
                <a:latin typeface="Arial"/>
                <a:ea typeface="Arial"/>
                <a:cs typeface="Arial"/>
              </a:defRPr>
            </a:pPr>
            <a:r>
              <a:rPr sz="6450" b="1">
                <a:solidFill>
                  <a:srgbClr val="830051"/>
                </a:solidFill>
                <a:latin typeface="Arial"/>
                <a:ea typeface="Arial"/>
                <a:cs typeface="Arial"/>
              </a:rPr>
              <a:t>340 ms</a:t>
            </a:r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038A73A8-B5CF-455C-ABBF-48B5F1EA2825}"/>
              </a:ext>
            </a:extLst>
          </p:cNvPr>
          <p:cNvSpPr>
            <a:spLocks noGrp="1"/>
          </p:cNvSpPr>
          <p:nvPr/>
        </p:nvSpPr>
        <p:spPr>
          <a:xfrm>
            <a:off x="723900" y="2800350"/>
            <a:ext cx="30480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350" b="1">
                <a:solidFill>
                  <a:srgbClr val="6F686D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6F686D"/>
                </a:solidFill>
                <a:latin typeface="Arial"/>
                <a:ea typeface="Arial"/>
                <a:cs typeface="Arial"/>
              </a:rPr>
              <a:t>ONE OBSERVATION</a:t>
            </a:r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D7E5E204-0883-42B0-942D-7ECDB9CC6E4F}"/>
              </a:ext>
            </a:extLst>
          </p:cNvPr>
          <p:cNvSpPr>
            <a:spLocks noGrp="1"/>
          </p:cNvSpPr>
          <p:nvPr/>
        </p:nvSpPr>
        <p:spPr>
          <a:xfrm>
            <a:off x="723900" y="3257550"/>
            <a:ext cx="3238500" cy="857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950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Glass-to-glass under the tested 4G configuration</a:t>
            </a:r>
          </a:p>
        </p:txBody>
      </p:sp>
      <p:sp>
        <p:nvSpPr>
          <p:cNvPr id="8" name="Rectángulo: esquinas redondeadas 7">
            <a:extLst>
              <a:ext uri="{FF2B5EF4-FFF2-40B4-BE49-F238E27FC236}">
                <a16:creationId xmlns:a16="http://schemas.microsoft.com/office/drawing/2014/main" id="{EC0FAFD9-DA1B-406A-AA08-3750FCA608ED}"/>
              </a:ext>
            </a:extLst>
          </p:cNvPr>
          <p:cNvSpPr>
            <a:spLocks noGrp="1"/>
          </p:cNvSpPr>
          <p:nvPr/>
        </p:nvSpPr>
        <p:spPr>
          <a:xfrm>
            <a:off x="723900" y="4438650"/>
            <a:ext cx="3143250" cy="1066800"/>
          </a:xfrm>
          <a:prstGeom prst="roundRect">
            <a:avLst>
              <a:gd name="adj" fmla="val 10714"/>
            </a:avLst>
          </a:prstGeom>
          <a:solidFill>
            <a:srgbClr val="F5EDF2"/>
          </a:solidFill>
          <a:ln w="0"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9" name="Rectángulo 8">
            <a:extLst>
              <a:ext uri="{FF2B5EF4-FFF2-40B4-BE49-F238E27FC236}">
                <a16:creationId xmlns:a16="http://schemas.microsoft.com/office/drawing/2014/main" id="{7CB33469-7907-471C-A565-FB32BCC3C79E}"/>
              </a:ext>
            </a:extLst>
          </p:cNvPr>
          <p:cNvSpPr>
            <a:spLocks noGrp="1"/>
          </p:cNvSpPr>
          <p:nvPr/>
        </p:nvSpPr>
        <p:spPr>
          <a:xfrm>
            <a:off x="914400" y="4629150"/>
            <a:ext cx="85725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200" b="1">
                <a:solidFill>
                  <a:srgbClr val="6F686D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F686D"/>
                </a:solidFill>
                <a:latin typeface="Arial"/>
                <a:ea typeface="Arial"/>
                <a:cs typeface="Arial"/>
              </a:rPr>
              <a:t>TARGET</a:t>
            </a:r>
          </a:p>
        </p:txBody>
      </p:sp>
      <p:sp>
        <p:nvSpPr>
          <p:cNvPr id="10" name="Rectángulo 9">
            <a:extLst>
              <a:ext uri="{FF2B5EF4-FFF2-40B4-BE49-F238E27FC236}">
                <a16:creationId xmlns:a16="http://schemas.microsoft.com/office/drawing/2014/main" id="{FD7E4280-321B-477B-9255-A2D557BBB31E}"/>
              </a:ext>
            </a:extLst>
          </p:cNvPr>
          <p:cNvSpPr>
            <a:spLocks noGrp="1"/>
          </p:cNvSpPr>
          <p:nvPr/>
        </p:nvSpPr>
        <p:spPr>
          <a:xfrm>
            <a:off x="914400" y="4933950"/>
            <a:ext cx="2571750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2550" b="1">
                <a:solidFill>
                  <a:srgbClr val="510034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510034"/>
                </a:solidFill>
                <a:latin typeface="Arial"/>
                <a:ea typeface="Arial"/>
                <a:cs typeface="Arial"/>
              </a:rPr>
              <a:t>&lt; 400 ms</a:t>
            </a:r>
          </a:p>
        </p:txBody>
      </p:sp>
      <p:sp>
        <p:nvSpPr>
          <p:cNvPr id="11" name="Rectángulo: esquinas redondeadas 10">
            <a:extLst>
              <a:ext uri="{FF2B5EF4-FFF2-40B4-BE49-F238E27FC236}">
                <a16:creationId xmlns:a16="http://schemas.microsoft.com/office/drawing/2014/main" id="{9DD67A95-20C0-4D9F-B091-9A725668D3CA}"/>
              </a:ext>
            </a:extLst>
          </p:cNvPr>
          <p:cNvSpPr>
            <a:spLocks noGrp="1"/>
          </p:cNvSpPr>
          <p:nvPr/>
        </p:nvSpPr>
        <p:spPr>
          <a:xfrm>
            <a:off x="4324350" y="1543050"/>
            <a:ext cx="7124700" cy="4476750"/>
          </a:xfrm>
          <a:prstGeom prst="roundRect">
            <a:avLst>
              <a:gd name="adj" fmla="val 2128"/>
            </a:avLst>
          </a:prstGeom>
          <a:solidFill>
            <a:srgbClr val="FFFFFF"/>
          </a:solidFill>
          <a:ln w="9525">
            <a:solidFill>
              <a:srgbClr val="E7E3E5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pic>
        <p:nvPicPr>
          <p:cNvPr id="26" name="Imagen 25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4345224" y="1562100"/>
            <a:ext cx="7082952" cy="4438650"/>
          </a:xfrm>
          <a:prstGeom prst="roundRect">
            <a:avLst>
              <a:gd name="adj" fmla="val 1717"/>
            </a:avLst>
          </a:prstGeom>
        </p:spPr>
      </p:pic>
      <p:sp>
        <p:nvSpPr>
          <p:cNvPr id="13" name="Rectángulo: esquinas redondeadas 12">
            <a:extLst>
              <a:ext uri="{FF2B5EF4-FFF2-40B4-BE49-F238E27FC236}">
                <a16:creationId xmlns:a16="http://schemas.microsoft.com/office/drawing/2014/main" id="{18F8B6EE-08B4-4D03-849A-571D74844027}"/>
              </a:ext>
            </a:extLst>
          </p:cNvPr>
          <p:cNvSpPr>
            <a:spLocks noGrp="1"/>
          </p:cNvSpPr>
          <p:nvPr/>
        </p:nvSpPr>
        <p:spPr>
          <a:xfrm>
            <a:off x="5314950" y="5762625"/>
            <a:ext cx="5181600" cy="209550"/>
          </a:xfrm>
          <a:prstGeom prst="roundRect">
            <a:avLst>
              <a:gd name="adj" fmla="val 27273"/>
            </a:avLst>
          </a:prstGeom>
          <a:solidFill>
            <a:srgbClr val="830051"/>
          </a:solidFill>
          <a:ln w="0">
            <a:noFill/>
          </a:ln>
        </p:spPr>
        <p:txBody>
          <a:bodyPr wrap="square" lIns="47625" tIns="28575" rIns="47625" bIns="28575" anchor="ctr">
            <a:noAutofit/>
          </a:bodyPr>
          <a:lstStyle/>
          <a:p>
            <a:pPr algn="ctr">
              <a:lnSpc>
                <a:spcPct val="104000"/>
              </a:lnSpc>
              <a:buNone/>
              <a:defRPr sz="12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1788024617068 − 1788024616728 = 340 ms</a:t>
            </a:r>
          </a:p>
        </p:txBody>
      </p:sp>
      <p:sp>
        <p:nvSpPr>
          <p:cNvPr id="14" name="Rectángulo 13">
            <a:extLst>
              <a:ext uri="{FF2B5EF4-FFF2-40B4-BE49-F238E27FC236}">
                <a16:creationId xmlns:a16="http://schemas.microsoft.com/office/drawing/2014/main" id="{0D311266-5698-4FF5-8A33-B42F04387995}"/>
              </a:ext>
            </a:extLst>
          </p:cNvPr>
          <p:cNvSpPr>
            <a:spLocks noGrp="1"/>
          </p:cNvSpPr>
          <p:nvPr/>
        </p:nvSpPr>
        <p:spPr>
          <a:xfrm>
            <a:off x="1276350" y="6153150"/>
            <a:ext cx="96393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4000"/>
              </a:lnSpc>
              <a:buNone/>
              <a:defRPr sz="1500" b="1">
                <a:solidFill>
                  <a:srgbClr val="51003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510034"/>
                </a:solidFill>
                <a:latin typeface="Arial"/>
                <a:ea typeface="Arial"/>
                <a:cs typeface="Arial"/>
              </a:rPr>
              <a:t>Evidence of feasibility, not a statistical guarantee or completed 5G validation</a:t>
            </a:r>
          </a:p>
        </p:txBody>
      </p:sp>
    </p:spTree>
    <p:extLst>
      <p:ext uri="{BB962C8B-B14F-4D97-AF65-F5344CB8AC3E}">
        <p14:creationId xmlns:p14="http://schemas.microsoft.com/office/powerpoint/2010/main" val="116542443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9F8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ángulo 18">
            <a:extLst>
              <a:ext uri="{FF2B5EF4-FFF2-40B4-BE49-F238E27FC236}">
                <a16:creationId xmlns:a16="http://schemas.microsoft.com/office/drawing/2014/main" id="{2A5BA53C-F909-4AD8-A391-6503A27E6BC7}"/>
              </a:ext>
            </a:extLst>
          </p:cNvPr>
          <p:cNvSpPr>
            <a:spLocks noGrp="1"/>
          </p:cNvSpPr>
          <p:nvPr/>
        </p:nvSpPr>
        <p:spPr>
          <a:xfrm>
            <a:off x="533400" y="266700"/>
            <a:ext cx="74295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200" b="1">
                <a:solidFill>
                  <a:srgbClr val="830051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830051"/>
                </a:solidFill>
                <a:latin typeface="Arial"/>
                <a:ea typeface="Arial"/>
                <a:cs typeface="Arial"/>
              </a:rPr>
              <a:t>FUTURE WORK</a:t>
            </a:r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5A8AC8F6-E6F0-47CE-B6A6-475C02F1DC97}"/>
              </a:ext>
            </a:extLst>
          </p:cNvPr>
          <p:cNvSpPr>
            <a:spLocks noGrp="1"/>
          </p:cNvSpPr>
          <p:nvPr/>
        </p:nvSpPr>
        <p:spPr>
          <a:xfrm>
            <a:off x="533400" y="590550"/>
            <a:ext cx="10477500" cy="552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4000"/>
              </a:lnSpc>
              <a:buNone/>
              <a:defRPr sz="337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Complete Remote Control</a:t>
            </a:r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269A8988-0230-4FE0-97B5-22EFA4EFF5FE}"/>
              </a:ext>
            </a:extLst>
          </p:cNvPr>
          <p:cNvSpPr>
            <a:spLocks noGrp="1"/>
          </p:cNvSpPr>
          <p:nvPr/>
        </p:nvSpPr>
        <p:spPr>
          <a:xfrm>
            <a:off x="533400" y="1257300"/>
            <a:ext cx="11125200" cy="28575"/>
          </a:xfrm>
          <a:prstGeom prst="rect">
            <a:avLst/>
          </a:prstGeom>
          <a:solidFill>
            <a:srgbClr val="830051"/>
          </a:solidFill>
          <a:ln w="0"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18B9759A-3422-4424-9246-114E9DE0FE03}"/>
              </a:ext>
            </a:extLst>
          </p:cNvPr>
          <p:cNvSpPr>
            <a:spLocks noGrp="1"/>
          </p:cNvSpPr>
          <p:nvPr/>
        </p:nvSpPr>
        <p:spPr>
          <a:xfrm>
            <a:off x="10858500" y="6457950"/>
            <a:ext cx="8001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4000"/>
              </a:lnSpc>
              <a:buNone/>
              <a:defRPr sz="1125" b="1">
                <a:solidFill>
                  <a:srgbClr val="6F686D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6F686D"/>
                </a:solidFill>
                <a:latin typeface="Arial"/>
                <a:ea typeface="Arial"/>
                <a:cs typeface="Arial"/>
              </a:rPr>
              <a:t>23</a:t>
            </a:r>
          </a:p>
        </p:txBody>
      </p:sp>
      <p:sp>
        <p:nvSpPr>
          <p:cNvPr id="5" name="Rectángulo: esquinas redondeadas 4">
            <a:extLst>
              <a:ext uri="{FF2B5EF4-FFF2-40B4-BE49-F238E27FC236}">
                <a16:creationId xmlns:a16="http://schemas.microsoft.com/office/drawing/2014/main" id="{18AA099A-B0E1-47C0-812E-8884E48A2DF6}"/>
              </a:ext>
            </a:extLst>
          </p:cNvPr>
          <p:cNvSpPr>
            <a:spLocks noGrp="1"/>
          </p:cNvSpPr>
          <p:nvPr/>
        </p:nvSpPr>
        <p:spPr>
          <a:xfrm>
            <a:off x="6648450" y="1600200"/>
            <a:ext cx="4800600" cy="2705100"/>
          </a:xfrm>
          <a:prstGeom prst="roundRect">
            <a:avLst>
              <a:gd name="adj" fmla="val 3521"/>
            </a:avLst>
          </a:prstGeom>
          <a:solidFill>
            <a:srgbClr val="FFFFFF"/>
          </a:solidFill>
          <a:ln w="9525">
            <a:solidFill>
              <a:srgbClr val="E7E3E5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pic>
        <p:nvPicPr>
          <p:cNvPr id="24" name="Imagen 23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6667500" y="1750125"/>
            <a:ext cx="4762500" cy="2405249"/>
          </a:xfrm>
          <a:prstGeom prst="roundRect">
            <a:avLst>
              <a:gd name="adj" fmla="val 2857"/>
            </a:avLst>
          </a:prstGeom>
        </p:spPr>
      </p:pic>
      <p:sp>
        <p:nvSpPr>
          <p:cNvPr id="7" name="Rectángulo 6">
            <a:extLst>
              <a:ext uri="{FF2B5EF4-FFF2-40B4-BE49-F238E27FC236}">
                <a16:creationId xmlns:a16="http://schemas.microsoft.com/office/drawing/2014/main" id="{63F405B1-2FC1-423D-AC63-A86EE1025B41}"/>
              </a:ext>
            </a:extLst>
          </p:cNvPr>
          <p:cNvSpPr>
            <a:spLocks noGrp="1"/>
          </p:cNvSpPr>
          <p:nvPr/>
        </p:nvSpPr>
        <p:spPr>
          <a:xfrm>
            <a:off x="723900" y="1676400"/>
            <a:ext cx="26670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200" b="1">
                <a:solidFill>
                  <a:srgbClr val="830051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830051"/>
                </a:solidFill>
                <a:latin typeface="Arial"/>
                <a:ea typeface="Arial"/>
                <a:cs typeface="Arial"/>
              </a:rPr>
              <a:t>NEXT PHASE</a:t>
            </a:r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16B7B524-D6DF-45D0-AEC0-E3E250E1AE60}"/>
              </a:ext>
            </a:extLst>
          </p:cNvPr>
          <p:cNvSpPr>
            <a:spLocks noGrp="1"/>
          </p:cNvSpPr>
          <p:nvPr/>
        </p:nvSpPr>
        <p:spPr>
          <a:xfrm>
            <a:off x="723900" y="2076450"/>
            <a:ext cx="5334000" cy="8001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232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Add a verified command loop without changing the completed video-scope claim.</a:t>
            </a:r>
          </a:p>
        </p:txBody>
      </p:sp>
      <p:sp>
        <p:nvSpPr>
          <p:cNvPr id="9" name="Rectángulo 8">
            <a:extLst>
              <a:ext uri="{FF2B5EF4-FFF2-40B4-BE49-F238E27FC236}">
                <a16:creationId xmlns:a16="http://schemas.microsoft.com/office/drawing/2014/main" id="{8F10589F-5CB2-4C54-8D7D-5CBE462C97E5}"/>
              </a:ext>
            </a:extLst>
          </p:cNvPr>
          <p:cNvSpPr>
            <a:spLocks noGrp="1"/>
          </p:cNvSpPr>
          <p:nvPr/>
        </p:nvSpPr>
        <p:spPr>
          <a:xfrm>
            <a:off x="723900" y="4629150"/>
            <a:ext cx="2381250" cy="209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125" b="1">
                <a:solidFill>
                  <a:srgbClr val="830051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830051"/>
                </a:solidFill>
                <a:latin typeface="Arial"/>
                <a:ea typeface="Arial"/>
                <a:cs typeface="Arial"/>
              </a:rPr>
              <a:t>INPUT</a:t>
            </a:r>
          </a:p>
        </p:txBody>
      </p:sp>
      <p:sp>
        <p:nvSpPr>
          <p:cNvPr id="10" name="Rectángulo 9">
            <a:extLst>
              <a:ext uri="{FF2B5EF4-FFF2-40B4-BE49-F238E27FC236}">
                <a16:creationId xmlns:a16="http://schemas.microsoft.com/office/drawing/2014/main" id="{2A12775D-0E16-448C-85C0-1E4DE519FA1E}"/>
              </a:ext>
            </a:extLst>
          </p:cNvPr>
          <p:cNvSpPr>
            <a:spLocks noGrp="1"/>
          </p:cNvSpPr>
          <p:nvPr/>
        </p:nvSpPr>
        <p:spPr>
          <a:xfrm>
            <a:off x="723900" y="4914900"/>
            <a:ext cx="2381250" cy="552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57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periodic gamepad sampling</a:t>
            </a:r>
          </a:p>
        </p:txBody>
      </p:sp>
      <p:sp>
        <p:nvSpPr>
          <p:cNvPr id="11" name="Rectángulo 10">
            <a:extLst>
              <a:ext uri="{FF2B5EF4-FFF2-40B4-BE49-F238E27FC236}">
                <a16:creationId xmlns:a16="http://schemas.microsoft.com/office/drawing/2014/main" id="{DAC05FB1-E8E8-4D43-AFE0-02639CD0A479}"/>
              </a:ext>
            </a:extLst>
          </p:cNvPr>
          <p:cNvSpPr>
            <a:spLocks noGrp="1"/>
          </p:cNvSpPr>
          <p:nvPr/>
        </p:nvSpPr>
        <p:spPr>
          <a:xfrm>
            <a:off x="3409950" y="4629150"/>
            <a:ext cx="2381250" cy="209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125" b="1">
                <a:solidFill>
                  <a:srgbClr val="830051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830051"/>
                </a:solidFill>
                <a:latin typeface="Arial"/>
                <a:ea typeface="Arial"/>
                <a:cs typeface="Arial"/>
              </a:rPr>
              <a:t>MESSAGE</a:t>
            </a:r>
          </a:p>
        </p:txBody>
      </p:sp>
      <p:sp>
        <p:nvSpPr>
          <p:cNvPr id="12" name="Rectángulo 11">
            <a:extLst>
              <a:ext uri="{FF2B5EF4-FFF2-40B4-BE49-F238E27FC236}">
                <a16:creationId xmlns:a16="http://schemas.microsoft.com/office/drawing/2014/main" id="{769989DC-A5F5-439B-8CAC-F2D9329D74BE}"/>
              </a:ext>
            </a:extLst>
          </p:cNvPr>
          <p:cNvSpPr>
            <a:spLocks noGrp="1"/>
          </p:cNvSpPr>
          <p:nvPr/>
        </p:nvSpPr>
        <p:spPr>
          <a:xfrm>
            <a:off x="3409950" y="4914900"/>
            <a:ext cx="2381250" cy="552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57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version + sequence + timestamp</a:t>
            </a:r>
          </a:p>
        </p:txBody>
      </p:sp>
      <p:sp>
        <p:nvSpPr>
          <p:cNvPr id="13" name="Rectángulo 12">
            <a:extLst>
              <a:ext uri="{FF2B5EF4-FFF2-40B4-BE49-F238E27FC236}">
                <a16:creationId xmlns:a16="http://schemas.microsoft.com/office/drawing/2014/main" id="{AD4A48D3-8EA5-4358-BAB9-31A9CE5D85F7}"/>
              </a:ext>
            </a:extLst>
          </p:cNvPr>
          <p:cNvSpPr>
            <a:spLocks noGrp="1"/>
          </p:cNvSpPr>
          <p:nvPr/>
        </p:nvSpPr>
        <p:spPr>
          <a:xfrm>
            <a:off x="6096000" y="4629150"/>
            <a:ext cx="2381250" cy="209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125" b="1">
                <a:solidFill>
                  <a:srgbClr val="830051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830051"/>
                </a:solidFill>
                <a:latin typeface="Arial"/>
                <a:ea typeface="Arial"/>
                <a:cs typeface="Arial"/>
              </a:rPr>
              <a:t>DEVICE</a:t>
            </a:r>
          </a:p>
        </p:txBody>
      </p:sp>
      <p:sp>
        <p:nvSpPr>
          <p:cNvPr id="14" name="Rectángulo 13">
            <a:extLst>
              <a:ext uri="{FF2B5EF4-FFF2-40B4-BE49-F238E27FC236}">
                <a16:creationId xmlns:a16="http://schemas.microsoft.com/office/drawing/2014/main" id="{790A21E0-2CC8-4592-88B6-1B87324267D7}"/>
              </a:ext>
            </a:extLst>
          </p:cNvPr>
          <p:cNvSpPr>
            <a:spLocks noGrp="1"/>
          </p:cNvSpPr>
          <p:nvPr/>
        </p:nvSpPr>
        <p:spPr>
          <a:xfrm>
            <a:off x="6096000" y="4914900"/>
            <a:ext cx="2381250" cy="552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57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range and staleness checks</a:t>
            </a:r>
          </a:p>
        </p:txBody>
      </p:sp>
      <p:sp>
        <p:nvSpPr>
          <p:cNvPr id="15" name="Rectángulo 14">
            <a:extLst>
              <a:ext uri="{FF2B5EF4-FFF2-40B4-BE49-F238E27FC236}">
                <a16:creationId xmlns:a16="http://schemas.microsoft.com/office/drawing/2014/main" id="{E67459AF-0949-40BD-8CD9-99DFCF8793EB}"/>
              </a:ext>
            </a:extLst>
          </p:cNvPr>
          <p:cNvSpPr>
            <a:spLocks noGrp="1"/>
          </p:cNvSpPr>
          <p:nvPr/>
        </p:nvSpPr>
        <p:spPr>
          <a:xfrm>
            <a:off x="8782050" y="4629150"/>
            <a:ext cx="2381250" cy="209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125" b="1">
                <a:solidFill>
                  <a:srgbClr val="830051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830051"/>
                </a:solidFill>
                <a:latin typeface="Arial"/>
                <a:ea typeface="Arial"/>
                <a:cs typeface="Arial"/>
              </a:rPr>
              <a:t>ACTUATION</a:t>
            </a:r>
          </a:p>
        </p:txBody>
      </p:sp>
      <p:sp>
        <p:nvSpPr>
          <p:cNvPr id="16" name="Rectángulo 15">
            <a:extLst>
              <a:ext uri="{FF2B5EF4-FFF2-40B4-BE49-F238E27FC236}">
                <a16:creationId xmlns:a16="http://schemas.microsoft.com/office/drawing/2014/main" id="{00CDD076-8215-4CA0-AFA4-60E3D13728CE}"/>
              </a:ext>
            </a:extLst>
          </p:cNvPr>
          <p:cNvSpPr>
            <a:spLocks noGrp="1"/>
          </p:cNvSpPr>
          <p:nvPr/>
        </p:nvSpPr>
        <p:spPr>
          <a:xfrm>
            <a:off x="8782050" y="4914900"/>
            <a:ext cx="2381250" cy="552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57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steering and throttle PWM</a:t>
            </a:r>
          </a:p>
        </p:txBody>
      </p:sp>
      <p:sp>
        <p:nvSpPr>
          <p:cNvPr id="17" name="Rectángulo: esquinas redondeadas 16">
            <a:extLst>
              <a:ext uri="{FF2B5EF4-FFF2-40B4-BE49-F238E27FC236}">
                <a16:creationId xmlns:a16="http://schemas.microsoft.com/office/drawing/2014/main" id="{A082C0C5-BE6A-454B-8F45-606C0B0B0A62}"/>
              </a:ext>
            </a:extLst>
          </p:cNvPr>
          <p:cNvSpPr>
            <a:spLocks noGrp="1"/>
          </p:cNvSpPr>
          <p:nvPr/>
        </p:nvSpPr>
        <p:spPr>
          <a:xfrm>
            <a:off x="723900" y="5657850"/>
            <a:ext cx="10668000" cy="514350"/>
          </a:xfrm>
          <a:prstGeom prst="roundRect">
            <a:avLst>
              <a:gd name="adj" fmla="val 16667"/>
            </a:avLst>
          </a:prstGeom>
          <a:solidFill>
            <a:srgbClr val="830051"/>
          </a:solidFill>
          <a:ln w="0"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18" name="Rectángulo 17">
            <a:extLst>
              <a:ext uri="{FF2B5EF4-FFF2-40B4-BE49-F238E27FC236}">
                <a16:creationId xmlns:a16="http://schemas.microsoft.com/office/drawing/2014/main" id="{0C2A495B-FD06-4A52-B171-215955188DD5}"/>
              </a:ext>
            </a:extLst>
          </p:cNvPr>
          <p:cNvSpPr>
            <a:spLocks noGrp="1"/>
          </p:cNvSpPr>
          <p:nvPr/>
        </p:nvSpPr>
        <p:spPr>
          <a:xfrm>
            <a:off x="971550" y="5781675"/>
            <a:ext cx="101727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4000"/>
              </a:lnSpc>
              <a:buNone/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Fail safe to neutral on timeout, invalid data, channel loss, or emergency stop.</a:t>
            </a:r>
          </a:p>
        </p:txBody>
      </p:sp>
    </p:spTree>
    <p:extLst>
      <p:ext uri="{BB962C8B-B14F-4D97-AF65-F5344CB8AC3E}">
        <p14:creationId xmlns:p14="http://schemas.microsoft.com/office/powerpoint/2010/main" val="40446484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9F8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ctángulo 19">
            <a:extLst>
              <a:ext uri="{FF2B5EF4-FFF2-40B4-BE49-F238E27FC236}">
                <a16:creationId xmlns:a16="http://schemas.microsoft.com/office/drawing/2014/main" id="{68739AD7-C74B-4A4A-B57E-984CECA09218}"/>
              </a:ext>
            </a:extLst>
          </p:cNvPr>
          <p:cNvSpPr>
            <a:spLocks noGrp="1"/>
          </p:cNvSpPr>
          <p:nvPr/>
        </p:nvSpPr>
        <p:spPr>
          <a:xfrm>
            <a:off x="533400" y="266700"/>
            <a:ext cx="74295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200" b="1">
                <a:solidFill>
                  <a:srgbClr val="830051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830051"/>
                </a:solidFill>
                <a:latin typeface="Arial"/>
                <a:ea typeface="Arial"/>
                <a:cs typeface="Arial"/>
              </a:rPr>
              <a:t>FUTURE WORK</a:t>
            </a:r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10AC394B-8B02-49A1-92D9-E5274943C813}"/>
              </a:ext>
            </a:extLst>
          </p:cNvPr>
          <p:cNvSpPr>
            <a:spLocks noGrp="1"/>
          </p:cNvSpPr>
          <p:nvPr/>
        </p:nvSpPr>
        <p:spPr>
          <a:xfrm>
            <a:off x="533400" y="590550"/>
            <a:ext cx="10477500" cy="552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4000"/>
              </a:lnSpc>
              <a:buNone/>
              <a:defRPr sz="337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Hardware and Direct H.264</a:t>
            </a:r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F5D7A1B3-95AA-4CCC-88E2-6FAF2E22B2FC}"/>
              </a:ext>
            </a:extLst>
          </p:cNvPr>
          <p:cNvSpPr>
            <a:spLocks noGrp="1"/>
          </p:cNvSpPr>
          <p:nvPr/>
        </p:nvSpPr>
        <p:spPr>
          <a:xfrm>
            <a:off x="533400" y="1257300"/>
            <a:ext cx="11125200" cy="28575"/>
          </a:xfrm>
          <a:prstGeom prst="rect">
            <a:avLst/>
          </a:prstGeom>
          <a:solidFill>
            <a:srgbClr val="830051"/>
          </a:solidFill>
          <a:ln w="0"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4DF064EC-4430-4823-982E-DE76D2E5521C}"/>
              </a:ext>
            </a:extLst>
          </p:cNvPr>
          <p:cNvSpPr>
            <a:spLocks noGrp="1"/>
          </p:cNvSpPr>
          <p:nvPr/>
        </p:nvSpPr>
        <p:spPr>
          <a:xfrm>
            <a:off x="10858500" y="6457950"/>
            <a:ext cx="8001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4000"/>
              </a:lnSpc>
              <a:buNone/>
              <a:defRPr sz="1125" b="1">
                <a:solidFill>
                  <a:srgbClr val="6F686D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6F686D"/>
                </a:solidFill>
                <a:latin typeface="Arial"/>
                <a:ea typeface="Arial"/>
                <a:cs typeface="Arial"/>
              </a:rPr>
              <a:t>24</a:t>
            </a:r>
          </a:p>
        </p:txBody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1EC66FED-BA24-4602-8548-13AF5A3FC553}"/>
              </a:ext>
            </a:extLst>
          </p:cNvPr>
          <p:cNvSpPr>
            <a:spLocks noGrp="1"/>
          </p:cNvSpPr>
          <p:nvPr/>
        </p:nvSpPr>
        <p:spPr>
          <a:xfrm>
            <a:off x="704850" y="1676400"/>
            <a:ext cx="15240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200" b="1">
                <a:solidFill>
                  <a:srgbClr val="6F686D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F686D"/>
                </a:solidFill>
                <a:latin typeface="Arial"/>
                <a:ea typeface="Arial"/>
                <a:cs typeface="Arial"/>
              </a:rPr>
              <a:t>CURRENT</a:t>
            </a:r>
          </a:p>
        </p:txBody>
      </p:sp>
      <p:sp>
        <p:nvSpPr>
          <p:cNvPr id="6" name="Rectángulo: esquinas redondeadas 5">
            <a:extLst>
              <a:ext uri="{FF2B5EF4-FFF2-40B4-BE49-F238E27FC236}">
                <a16:creationId xmlns:a16="http://schemas.microsoft.com/office/drawing/2014/main" id="{850A97BB-0899-436F-8845-617DC727CB2E}"/>
              </a:ext>
            </a:extLst>
          </p:cNvPr>
          <p:cNvSpPr>
            <a:spLocks noGrp="1"/>
          </p:cNvSpPr>
          <p:nvPr/>
        </p:nvSpPr>
        <p:spPr>
          <a:xfrm>
            <a:off x="704850" y="2171700"/>
            <a:ext cx="1581150" cy="8001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9050">
            <a:solidFill>
              <a:srgbClr val="830051"/>
            </a:solidFill>
            <a:prstDash val="solid"/>
          </a:ln>
        </p:spPr>
        <p:txBody>
          <a:bodyPr wrap="square" lIns="114300" tIns="76200" rIns="114300" bIns="76200" anchor="ctr">
            <a:noAutofit/>
          </a:bodyPr>
          <a:lstStyle/>
          <a:p>
            <a:pPr algn="ctr">
              <a:lnSpc>
                <a:spcPct val="104000"/>
              </a:lnSpc>
              <a:buNone/>
              <a:defRPr sz="1500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C920</a:t>
            </a:r>
          </a:p>
          <a:p>
            <a:pPr algn="ctr">
              <a:lnSpc>
                <a:spcPct val="104000"/>
              </a:lnSpc>
              <a:buNone/>
              <a:defRPr sz="1500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MJPEG</a:t>
            </a:r>
          </a:p>
        </p:txBody>
      </p:sp>
      <p:sp>
        <p:nvSpPr>
          <p:cNvPr id="7" name="Rectángulo: esquinas redondeadas 6">
            <a:extLst>
              <a:ext uri="{FF2B5EF4-FFF2-40B4-BE49-F238E27FC236}">
                <a16:creationId xmlns:a16="http://schemas.microsoft.com/office/drawing/2014/main" id="{94A69880-7383-4B12-8F22-0FAE4912E009}"/>
              </a:ext>
            </a:extLst>
          </p:cNvPr>
          <p:cNvSpPr>
            <a:spLocks noGrp="1"/>
          </p:cNvSpPr>
          <p:nvPr/>
        </p:nvSpPr>
        <p:spPr>
          <a:xfrm>
            <a:off x="2647950" y="2171700"/>
            <a:ext cx="1581150" cy="800100"/>
          </a:xfrm>
          <a:prstGeom prst="roundRect">
            <a:avLst>
              <a:gd name="adj" fmla="val 16667"/>
            </a:avLst>
          </a:prstGeom>
          <a:solidFill>
            <a:srgbClr val="F5EDF2"/>
          </a:solidFill>
          <a:ln w="19050">
            <a:solidFill>
              <a:srgbClr val="830051"/>
            </a:solidFill>
            <a:prstDash val="solid"/>
          </a:ln>
        </p:spPr>
        <p:txBody>
          <a:bodyPr wrap="square" lIns="114300" tIns="76200" rIns="114300" bIns="76200" anchor="ctr">
            <a:noAutofit/>
          </a:bodyPr>
          <a:lstStyle/>
          <a:p>
            <a:pPr algn="ctr">
              <a:lnSpc>
                <a:spcPct val="104000"/>
              </a:lnSpc>
              <a:buNone/>
              <a:defRPr sz="1500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MJPEG</a:t>
            </a:r>
          </a:p>
          <a:p>
            <a:pPr algn="ctr">
              <a:lnSpc>
                <a:spcPct val="104000"/>
              </a:lnSpc>
              <a:buNone/>
              <a:defRPr sz="1500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decode</a:t>
            </a:r>
          </a:p>
        </p:txBody>
      </p:sp>
      <p:sp>
        <p:nvSpPr>
          <p:cNvPr id="8" name="Rectángulo: esquinas redondeadas 7">
            <a:extLst>
              <a:ext uri="{FF2B5EF4-FFF2-40B4-BE49-F238E27FC236}">
                <a16:creationId xmlns:a16="http://schemas.microsoft.com/office/drawing/2014/main" id="{5AA7DCAF-E351-4F8F-ADEA-4F5C868FC5D4}"/>
              </a:ext>
            </a:extLst>
          </p:cNvPr>
          <p:cNvSpPr>
            <a:spLocks noGrp="1"/>
          </p:cNvSpPr>
          <p:nvPr/>
        </p:nvSpPr>
        <p:spPr>
          <a:xfrm>
            <a:off x="4591050" y="2171700"/>
            <a:ext cx="1581150" cy="800100"/>
          </a:xfrm>
          <a:prstGeom prst="roundRect">
            <a:avLst>
              <a:gd name="adj" fmla="val 16667"/>
            </a:avLst>
          </a:prstGeom>
          <a:solidFill>
            <a:srgbClr val="830051"/>
          </a:solidFill>
          <a:ln w="19050">
            <a:solidFill>
              <a:srgbClr val="830051"/>
            </a:solidFill>
            <a:prstDash val="solid"/>
          </a:ln>
        </p:spPr>
        <p:txBody>
          <a:bodyPr wrap="square" lIns="114300" tIns="76200" rIns="114300" bIns="76200" anchor="ctr">
            <a:noAutofit/>
          </a:bodyPr>
          <a:lstStyle/>
          <a:p>
            <a:pPr algn="ctr">
              <a:lnSpc>
                <a:spcPct val="104000"/>
              </a:lnSpc>
              <a:buNone/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Software</a:t>
            </a:r>
          </a:p>
          <a:p>
            <a:pPr algn="ctr">
              <a:lnSpc>
                <a:spcPct val="104000"/>
              </a:lnSpc>
              <a:buNone/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libx264</a:t>
            </a:r>
          </a:p>
        </p:txBody>
      </p:sp>
      <p:cxnSp>
        <p:nvCxnSpPr>
          <p:cNvPr id="28" name="Conector recto de flecha 27"/>
          <p:cNvCxnSpPr>
            <a:stCxn id="6" idx="3"/>
            <a:endCxn id="7" idx="1"/>
          </p:cNvCxnSpPr>
          <p:nvPr/>
        </p:nvCxnSpPr>
        <p:spPr>
          <a:xfrm>
            <a:off x="2286000" y="2571750"/>
            <a:ext cx="361950" cy="0"/>
          </a:xfrm>
          <a:prstGeom prst="straightConnector1">
            <a:avLst/>
          </a:prstGeom>
          <a:ln w="19050">
            <a:solidFill>
              <a:srgbClr val="A69FA3"/>
            </a:solidFill>
            <a:prstDash val="solid"/>
            <a:tailEnd type="triangle" w="sm" len="sm"/>
          </a:ln>
        </p:spPr>
      </p:cxnSp>
      <p:cxnSp>
        <p:nvCxnSpPr>
          <p:cNvPr id="29" name="Conector recto de flecha 28"/>
          <p:cNvCxnSpPr>
            <a:stCxn id="7" idx="3"/>
            <a:endCxn id="8" idx="1"/>
          </p:cNvCxnSpPr>
          <p:nvPr/>
        </p:nvCxnSpPr>
        <p:spPr>
          <a:xfrm>
            <a:off x="4229100" y="2571750"/>
            <a:ext cx="361950" cy="0"/>
          </a:xfrm>
          <a:prstGeom prst="straightConnector1">
            <a:avLst/>
          </a:prstGeom>
          <a:ln w="19050">
            <a:solidFill>
              <a:srgbClr val="830051"/>
            </a:solidFill>
            <a:prstDash val="solid"/>
            <a:tailEnd type="triangle" w="sm" len="sm"/>
          </a:ln>
        </p:spPr>
      </p:cxnSp>
      <p:sp>
        <p:nvSpPr>
          <p:cNvPr id="11" name="Rectángulo 10">
            <a:extLst>
              <a:ext uri="{FF2B5EF4-FFF2-40B4-BE49-F238E27FC236}">
                <a16:creationId xmlns:a16="http://schemas.microsoft.com/office/drawing/2014/main" id="{58773672-9662-405A-ACED-0366CCEDBA05}"/>
              </a:ext>
            </a:extLst>
          </p:cNvPr>
          <p:cNvSpPr>
            <a:spLocks noGrp="1"/>
          </p:cNvSpPr>
          <p:nvPr/>
        </p:nvSpPr>
        <p:spPr>
          <a:xfrm>
            <a:off x="704850" y="3695700"/>
            <a:ext cx="15240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200" b="1">
                <a:solidFill>
                  <a:srgbClr val="830051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830051"/>
                </a:solidFill>
                <a:latin typeface="Arial"/>
                <a:ea typeface="Arial"/>
                <a:cs typeface="Arial"/>
              </a:rPr>
              <a:t>TARGET</a:t>
            </a:r>
          </a:p>
        </p:txBody>
      </p:sp>
      <p:sp>
        <p:nvSpPr>
          <p:cNvPr id="12" name="Rectángulo: esquinas redondeadas 11">
            <a:extLst>
              <a:ext uri="{FF2B5EF4-FFF2-40B4-BE49-F238E27FC236}">
                <a16:creationId xmlns:a16="http://schemas.microsoft.com/office/drawing/2014/main" id="{76DB713F-4746-4BF0-9674-03C4C71F93D0}"/>
              </a:ext>
            </a:extLst>
          </p:cNvPr>
          <p:cNvSpPr>
            <a:spLocks noGrp="1"/>
          </p:cNvSpPr>
          <p:nvPr/>
        </p:nvSpPr>
        <p:spPr>
          <a:xfrm>
            <a:off x="704850" y="4191000"/>
            <a:ext cx="2286000" cy="876300"/>
          </a:xfrm>
          <a:prstGeom prst="roundRect">
            <a:avLst>
              <a:gd name="adj" fmla="val 15217"/>
            </a:avLst>
          </a:prstGeom>
          <a:solidFill>
            <a:srgbClr val="830051"/>
          </a:solidFill>
          <a:ln w="19050">
            <a:solidFill>
              <a:srgbClr val="830051"/>
            </a:solidFill>
            <a:prstDash val="solid"/>
          </a:ln>
        </p:spPr>
        <p:txBody>
          <a:bodyPr wrap="square" lIns="114300" tIns="76200" rIns="114300" bIns="76200" anchor="ctr">
            <a:noAutofit/>
          </a:bodyPr>
          <a:lstStyle/>
          <a:p>
            <a:pPr algn="ctr">
              <a:lnSpc>
                <a:spcPct val="104000"/>
              </a:lnSpc>
              <a:buNone/>
              <a:defRPr sz="15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Camera or SoC</a:t>
            </a:r>
          </a:p>
          <a:p>
            <a:pPr algn="ctr">
              <a:lnSpc>
                <a:spcPct val="104000"/>
              </a:lnSpc>
              <a:buNone/>
              <a:defRPr sz="15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H.264 output</a:t>
            </a:r>
          </a:p>
        </p:txBody>
      </p:sp>
      <p:sp>
        <p:nvSpPr>
          <p:cNvPr id="13" name="Rectángulo: esquinas redondeadas 12">
            <a:extLst>
              <a:ext uri="{FF2B5EF4-FFF2-40B4-BE49-F238E27FC236}">
                <a16:creationId xmlns:a16="http://schemas.microsoft.com/office/drawing/2014/main" id="{D06C77E3-AE69-4695-9BEC-4D9EBB038131}"/>
              </a:ext>
            </a:extLst>
          </p:cNvPr>
          <p:cNvSpPr>
            <a:spLocks noGrp="1"/>
          </p:cNvSpPr>
          <p:nvPr/>
        </p:nvSpPr>
        <p:spPr>
          <a:xfrm>
            <a:off x="3638550" y="4191000"/>
            <a:ext cx="2286000" cy="876300"/>
          </a:xfrm>
          <a:prstGeom prst="roundRect">
            <a:avLst>
              <a:gd name="adj" fmla="val 15217"/>
            </a:avLst>
          </a:prstGeom>
          <a:solidFill>
            <a:srgbClr val="F5EDF2"/>
          </a:solidFill>
          <a:ln w="19050">
            <a:solidFill>
              <a:srgbClr val="830051"/>
            </a:solidFill>
            <a:prstDash val="solid"/>
          </a:ln>
        </p:spPr>
        <p:txBody>
          <a:bodyPr wrap="square" lIns="114300" tIns="76200" rIns="114300" bIns="76200" anchor="ctr">
            <a:noAutofit/>
          </a:bodyPr>
          <a:lstStyle/>
          <a:p>
            <a:pPr algn="ctr">
              <a:lnSpc>
                <a:spcPct val="104000"/>
              </a:lnSpc>
              <a:buNone/>
              <a:defRPr sz="157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Packet adaptation</a:t>
            </a:r>
          </a:p>
          <a:p>
            <a:pPr algn="ctr">
              <a:lnSpc>
                <a:spcPct val="104000"/>
              </a:lnSpc>
              <a:buNone/>
              <a:defRPr sz="157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only</a:t>
            </a:r>
          </a:p>
        </p:txBody>
      </p:sp>
      <p:cxnSp>
        <p:nvCxnSpPr>
          <p:cNvPr id="33" name="Conector recto de flecha 32"/>
          <p:cNvCxnSpPr>
            <a:stCxn id="12" idx="3"/>
            <a:endCxn id="13" idx="1"/>
          </p:cNvCxnSpPr>
          <p:nvPr/>
        </p:nvCxnSpPr>
        <p:spPr>
          <a:xfrm>
            <a:off x="2990850" y="4629150"/>
            <a:ext cx="647700" cy="0"/>
          </a:xfrm>
          <a:prstGeom prst="straightConnector1">
            <a:avLst/>
          </a:prstGeom>
          <a:ln w="19050">
            <a:solidFill>
              <a:srgbClr val="830051"/>
            </a:solidFill>
            <a:prstDash val="solid"/>
            <a:tailEnd type="triangle" w="sm" len="sm"/>
          </a:ln>
        </p:spPr>
      </p:cxnSp>
      <p:sp>
        <p:nvSpPr>
          <p:cNvPr id="15" name="Rectángulo: esquinas redondeadas 14">
            <a:extLst>
              <a:ext uri="{FF2B5EF4-FFF2-40B4-BE49-F238E27FC236}">
                <a16:creationId xmlns:a16="http://schemas.microsoft.com/office/drawing/2014/main" id="{B0E641D8-5CE4-456C-B665-8FF5696ABB47}"/>
              </a:ext>
            </a:extLst>
          </p:cNvPr>
          <p:cNvSpPr>
            <a:spLocks noGrp="1"/>
          </p:cNvSpPr>
          <p:nvPr/>
        </p:nvSpPr>
        <p:spPr>
          <a:xfrm>
            <a:off x="7505700" y="1733550"/>
            <a:ext cx="2133600" cy="2362200"/>
          </a:xfrm>
          <a:prstGeom prst="roundRect">
            <a:avLst>
              <a:gd name="adj" fmla="val 4464"/>
            </a:avLst>
          </a:prstGeom>
          <a:solidFill>
            <a:srgbClr val="FFFFFF"/>
          </a:solidFill>
          <a:ln w="9525">
            <a:solidFill>
              <a:srgbClr val="E7E3E5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pic>
        <p:nvPicPr>
          <p:cNvPr id="35" name="Imagen 34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7527721" y="1752600"/>
            <a:ext cx="2089558" cy="2324100"/>
          </a:xfrm>
          <a:prstGeom prst="roundRect">
            <a:avLst>
              <a:gd name="adj" fmla="val 3636"/>
            </a:avLst>
          </a:prstGeom>
        </p:spPr>
      </p:pic>
      <p:sp>
        <p:nvSpPr>
          <p:cNvPr id="17" name="Rectángulo 16">
            <a:extLst>
              <a:ext uri="{FF2B5EF4-FFF2-40B4-BE49-F238E27FC236}">
                <a16:creationId xmlns:a16="http://schemas.microsoft.com/office/drawing/2014/main" id="{0DAB0CE5-8CBF-45C1-9569-613D15D98C03}"/>
              </a:ext>
            </a:extLst>
          </p:cNvPr>
          <p:cNvSpPr>
            <a:spLocks noGrp="1"/>
          </p:cNvSpPr>
          <p:nvPr/>
        </p:nvSpPr>
        <p:spPr>
          <a:xfrm>
            <a:off x="6858000" y="4343400"/>
            <a:ext cx="4191000" cy="533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4000"/>
              </a:lnSpc>
              <a:buNone/>
              <a:defRPr sz="2100" b="1">
                <a:solidFill>
                  <a:srgbClr val="510034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510034"/>
                </a:solidFill>
                <a:latin typeface="Arial"/>
                <a:ea typeface="Arial"/>
                <a:cs typeface="Arial"/>
              </a:rPr>
              <a:t>Remove two expensive stages where hardware permits</a:t>
            </a:r>
          </a:p>
        </p:txBody>
      </p:sp>
      <p:sp>
        <p:nvSpPr>
          <p:cNvPr id="18" name="Rectángulo: esquinas redondeadas 17">
            <a:extLst>
              <a:ext uri="{FF2B5EF4-FFF2-40B4-BE49-F238E27FC236}">
                <a16:creationId xmlns:a16="http://schemas.microsoft.com/office/drawing/2014/main" id="{076D4B58-3021-4B05-BD94-9386B73D2009}"/>
              </a:ext>
            </a:extLst>
          </p:cNvPr>
          <p:cNvSpPr>
            <a:spLocks noGrp="1"/>
          </p:cNvSpPr>
          <p:nvPr/>
        </p:nvSpPr>
        <p:spPr>
          <a:xfrm>
            <a:off x="6762750" y="5124450"/>
            <a:ext cx="4476750" cy="895350"/>
          </a:xfrm>
          <a:prstGeom prst="roundRect">
            <a:avLst>
              <a:gd name="adj" fmla="val 12766"/>
            </a:avLst>
          </a:prstGeom>
          <a:solidFill>
            <a:srgbClr val="FFFFFF"/>
          </a:solidFill>
          <a:ln w="9525">
            <a:solidFill>
              <a:srgbClr val="E7E3E5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9" name="Rectángulo 18">
            <a:extLst>
              <a:ext uri="{FF2B5EF4-FFF2-40B4-BE49-F238E27FC236}">
                <a16:creationId xmlns:a16="http://schemas.microsoft.com/office/drawing/2014/main" id="{5852D933-AEA6-440B-96FB-ADDDBA6C63DB}"/>
              </a:ext>
            </a:extLst>
          </p:cNvPr>
          <p:cNvSpPr>
            <a:spLocks noGrp="1"/>
          </p:cNvSpPr>
          <p:nvPr/>
        </p:nvSpPr>
        <p:spPr>
          <a:xfrm>
            <a:off x="7010400" y="5295900"/>
            <a:ext cx="3981450" cy="590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4000"/>
              </a:lnSpc>
              <a:buNone/>
              <a:defRPr sz="1500" b="0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1417"/>
                </a:solidFill>
                <a:latin typeface="Arial"/>
                <a:ea typeface="Arial"/>
                <a:cs typeface="Arial"/>
              </a:rPr>
              <a:t>Validate profile, SPS/PPS, GOP, bitrate, buffering, CPU load, and measured latency.</a:t>
            </a:r>
          </a:p>
        </p:txBody>
      </p:sp>
    </p:spTree>
    <p:extLst>
      <p:ext uri="{BB962C8B-B14F-4D97-AF65-F5344CB8AC3E}">
        <p14:creationId xmlns:p14="http://schemas.microsoft.com/office/powerpoint/2010/main" val="106512147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9F8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ángulo 12">
            <a:extLst>
              <a:ext uri="{FF2B5EF4-FFF2-40B4-BE49-F238E27FC236}">
                <a16:creationId xmlns:a16="http://schemas.microsoft.com/office/drawing/2014/main" id="{7EEDC26C-2FC7-479B-87E4-15B64003E783}"/>
              </a:ext>
            </a:extLst>
          </p:cNvPr>
          <p:cNvSpPr>
            <a:spLocks noGrp="1"/>
          </p:cNvSpPr>
          <p:nvPr/>
        </p:nvSpPr>
        <p:spPr>
          <a:xfrm>
            <a:off x="533400" y="266700"/>
            <a:ext cx="74295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200" b="1">
                <a:solidFill>
                  <a:srgbClr val="830051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830051"/>
                </a:solidFill>
                <a:latin typeface="Arial"/>
                <a:ea typeface="Arial"/>
                <a:cs typeface="Arial"/>
              </a:rPr>
              <a:t>FUTURE WORK</a:t>
            </a:r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A14C9EAB-B1CC-4DB4-8D94-3F1054F229C2}"/>
              </a:ext>
            </a:extLst>
          </p:cNvPr>
          <p:cNvSpPr>
            <a:spLocks noGrp="1"/>
          </p:cNvSpPr>
          <p:nvPr/>
        </p:nvSpPr>
        <p:spPr>
          <a:xfrm>
            <a:off x="533400" y="590550"/>
            <a:ext cx="10477500" cy="552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4000"/>
              </a:lnSpc>
              <a:buNone/>
              <a:defRPr sz="337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Network Resilience</a:t>
            </a:r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3D2438D9-E613-4BD5-A346-7B7C47E5C198}"/>
              </a:ext>
            </a:extLst>
          </p:cNvPr>
          <p:cNvSpPr>
            <a:spLocks noGrp="1"/>
          </p:cNvSpPr>
          <p:nvPr/>
        </p:nvSpPr>
        <p:spPr>
          <a:xfrm>
            <a:off x="533400" y="1257300"/>
            <a:ext cx="11125200" cy="28575"/>
          </a:xfrm>
          <a:prstGeom prst="rect">
            <a:avLst/>
          </a:prstGeom>
          <a:solidFill>
            <a:srgbClr val="830051"/>
          </a:solidFill>
          <a:ln w="0"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F7E906A2-7A66-449B-B35F-8C68D9E58001}"/>
              </a:ext>
            </a:extLst>
          </p:cNvPr>
          <p:cNvSpPr>
            <a:spLocks noGrp="1"/>
          </p:cNvSpPr>
          <p:nvPr/>
        </p:nvSpPr>
        <p:spPr>
          <a:xfrm>
            <a:off x="10858500" y="6457950"/>
            <a:ext cx="8001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4000"/>
              </a:lnSpc>
              <a:buNone/>
              <a:defRPr sz="1125" b="1">
                <a:solidFill>
                  <a:srgbClr val="6F686D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6F686D"/>
                </a:solidFill>
                <a:latin typeface="Arial"/>
                <a:ea typeface="Arial"/>
                <a:cs typeface="Arial"/>
              </a:rPr>
              <a:t>25</a:t>
            </a:r>
          </a:p>
        </p:txBody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6D0C6A9F-5D5B-4FF7-9435-0D81EA1B41D2}"/>
              </a:ext>
            </a:extLst>
          </p:cNvPr>
          <p:cNvSpPr>
            <a:spLocks noGrp="1"/>
          </p:cNvSpPr>
          <p:nvPr/>
        </p:nvSpPr>
        <p:spPr>
          <a:xfrm>
            <a:off x="609600" y="1543050"/>
            <a:ext cx="30480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200" b="1">
                <a:solidFill>
                  <a:srgbClr val="830051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830051"/>
                </a:solidFill>
                <a:latin typeface="Arial"/>
                <a:ea typeface="Arial"/>
                <a:cs typeface="Arial"/>
              </a:rPr>
              <a:t>PLANNED TEST MATRIX</a:t>
            </a:r>
          </a:p>
        </p:txBody>
      </p:sp>
      <p:graphicFrame>
        <p:nvGraphicFramePr>
          <p:cNvPr id="18" name="Tabla 17"/>
          <p:cNvGraphicFramePr/>
          <p:nvPr/>
        </p:nvGraphicFramePr>
        <p:xfrm>
          <a:off x="609600" y="1885950"/>
          <a:ext cx="10972800" cy="2857500"/>
        </p:xfrm>
        <a:graphic>
          <a:graphicData uri="http://schemas.openxmlformats.org/drawingml/2006/table">
            <a:tbl>
              <a:tblPr/>
              <a:tblGrid>
                <a:gridCol w="28575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051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051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7051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714375">
                <a:tc>
                  <a:txBody>
                    <a:bodyPr/>
                    <a:lstStyle/>
                    <a:p>
                      <a:pPr algn="ctr"/>
                      <a:r>
                        <a:rPr sz="16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Candidate path</a:t>
                      </a:r>
                    </a:p>
                  </a:txBody>
                  <a:tcPr anchor="ctr">
                    <a:solidFill>
                      <a:srgbClr val="83005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4G</a:t>
                      </a:r>
                    </a:p>
                  </a:txBody>
                  <a:tcPr anchor="ctr">
                    <a:solidFill>
                      <a:srgbClr val="83005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5G NSA</a:t>
                      </a:r>
                    </a:p>
                  </a:txBody>
                  <a:tcPr anchor="ctr">
                    <a:solidFill>
                      <a:srgbClr val="83005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5G SA</a:t>
                      </a:r>
                    </a:p>
                  </a:txBody>
                  <a:tcPr anchor="ctr">
                    <a:solidFill>
                      <a:srgbClr val="83005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14375">
                <a:tc>
                  <a:txBody>
                    <a:bodyPr/>
                    <a:lstStyle/>
                    <a:p>
                      <a:pPr algn="ctr"/>
                      <a:r>
                        <a:rPr sz="1650" b="1">
                          <a:solidFill>
                            <a:srgbClr val="510034"/>
                          </a:solidFill>
                          <a:latin typeface="Arial"/>
                          <a:ea typeface="Arial"/>
                          <a:cs typeface="Arial"/>
                        </a:rPr>
                        <a:t>IPv4 direct</a:t>
                      </a:r>
                    </a:p>
                  </a:txBody>
                  <a:tcPr anchor="ctr">
                    <a:solidFill>
                      <a:srgbClr val="F5ED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50" b="0">
                          <a:solidFill>
                            <a:srgbClr val="6F686D"/>
                          </a:solidFill>
                          <a:latin typeface="Arial"/>
                          <a:ea typeface="Arial"/>
                          <a:cs typeface="Arial"/>
                        </a:rPr>
                        <a:t>Planned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50" b="0">
                          <a:solidFill>
                            <a:srgbClr val="6F686D"/>
                          </a:solidFill>
                          <a:latin typeface="Arial"/>
                          <a:ea typeface="Arial"/>
                          <a:cs typeface="Arial"/>
                        </a:rPr>
                        <a:t>Planned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50" b="0">
                          <a:solidFill>
                            <a:srgbClr val="6F686D"/>
                          </a:solidFill>
                          <a:latin typeface="Arial"/>
                          <a:ea typeface="Arial"/>
                          <a:cs typeface="Arial"/>
                        </a:rPr>
                        <a:t>Planned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14375">
                <a:tc>
                  <a:txBody>
                    <a:bodyPr/>
                    <a:lstStyle/>
                    <a:p>
                      <a:pPr algn="ctr"/>
                      <a:r>
                        <a:rPr sz="1650" b="1">
                          <a:solidFill>
                            <a:srgbClr val="510034"/>
                          </a:solidFill>
                          <a:latin typeface="Arial"/>
                          <a:ea typeface="Arial"/>
                          <a:cs typeface="Arial"/>
                        </a:rPr>
                        <a:t>IPv6 direct</a:t>
                      </a:r>
                    </a:p>
                  </a:txBody>
                  <a:tcPr anchor="ctr">
                    <a:solidFill>
                      <a:srgbClr val="F5ED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50" b="0">
                          <a:solidFill>
                            <a:srgbClr val="6F686D"/>
                          </a:solidFill>
                          <a:latin typeface="Arial"/>
                          <a:ea typeface="Arial"/>
                          <a:cs typeface="Arial"/>
                        </a:rPr>
                        <a:t>Planned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50" b="0">
                          <a:solidFill>
                            <a:srgbClr val="6F686D"/>
                          </a:solidFill>
                          <a:latin typeface="Arial"/>
                          <a:ea typeface="Arial"/>
                          <a:cs typeface="Arial"/>
                        </a:rPr>
                        <a:t>Planned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50" b="0">
                          <a:solidFill>
                            <a:srgbClr val="6F686D"/>
                          </a:solidFill>
                          <a:latin typeface="Arial"/>
                          <a:ea typeface="Arial"/>
                          <a:cs typeface="Arial"/>
                        </a:rPr>
                        <a:t>Planned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14375">
                <a:tc>
                  <a:txBody>
                    <a:bodyPr/>
                    <a:lstStyle/>
                    <a:p>
                      <a:pPr algn="ctr"/>
                      <a:r>
                        <a:rPr sz="1650" b="1">
                          <a:solidFill>
                            <a:srgbClr val="510034"/>
                          </a:solidFill>
                          <a:latin typeface="Arial"/>
                          <a:ea typeface="Arial"/>
                          <a:cs typeface="Arial"/>
                        </a:rPr>
                        <a:t>TURN relay</a:t>
                      </a:r>
                    </a:p>
                  </a:txBody>
                  <a:tcPr anchor="ctr">
                    <a:solidFill>
                      <a:srgbClr val="F5ED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50" b="0">
                          <a:solidFill>
                            <a:srgbClr val="6F686D"/>
                          </a:solidFill>
                          <a:latin typeface="Arial"/>
                          <a:ea typeface="Arial"/>
                          <a:cs typeface="Arial"/>
                        </a:rPr>
                        <a:t>Planned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50" b="0">
                          <a:solidFill>
                            <a:srgbClr val="6F686D"/>
                          </a:solidFill>
                          <a:latin typeface="Arial"/>
                          <a:ea typeface="Arial"/>
                          <a:cs typeface="Arial"/>
                        </a:rPr>
                        <a:t>Planned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50" b="0">
                          <a:solidFill>
                            <a:srgbClr val="6F686D"/>
                          </a:solidFill>
                          <a:latin typeface="Arial"/>
                          <a:ea typeface="Arial"/>
                          <a:cs typeface="Arial"/>
                        </a:rPr>
                        <a:t>Planned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7" name="Rectángulo 6">
            <a:extLst>
              <a:ext uri="{FF2B5EF4-FFF2-40B4-BE49-F238E27FC236}">
                <a16:creationId xmlns:a16="http://schemas.microsoft.com/office/drawing/2014/main" id="{AC37F475-E982-4DFE-951A-F8534B598A84}"/>
              </a:ext>
            </a:extLst>
          </p:cNvPr>
          <p:cNvSpPr>
            <a:spLocks noGrp="1"/>
          </p:cNvSpPr>
          <p:nvPr/>
        </p:nvSpPr>
        <p:spPr>
          <a:xfrm>
            <a:off x="628650" y="5105400"/>
            <a:ext cx="28575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200" b="1">
                <a:solidFill>
                  <a:srgbClr val="6F686D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F686D"/>
                </a:solidFill>
                <a:latin typeface="Arial"/>
                <a:ea typeface="Arial"/>
                <a:cs typeface="Arial"/>
              </a:rPr>
              <a:t>RECORD FOR EVERY RUN</a:t>
            </a:r>
          </a:p>
        </p:txBody>
      </p:sp>
      <p:sp>
        <p:nvSpPr>
          <p:cNvPr id="8" name="Rectángulo: esquinas redondeadas 7">
            <a:extLst>
              <a:ext uri="{FF2B5EF4-FFF2-40B4-BE49-F238E27FC236}">
                <a16:creationId xmlns:a16="http://schemas.microsoft.com/office/drawing/2014/main" id="{C038D738-99E3-48CC-A06A-F9AA6CD456CA}"/>
              </a:ext>
            </a:extLst>
          </p:cNvPr>
          <p:cNvSpPr>
            <a:spLocks noGrp="1"/>
          </p:cNvSpPr>
          <p:nvPr/>
        </p:nvSpPr>
        <p:spPr>
          <a:xfrm>
            <a:off x="628650" y="5467350"/>
            <a:ext cx="1943100" cy="438150"/>
          </a:xfrm>
          <a:prstGeom prst="roundRect">
            <a:avLst>
              <a:gd name="adj" fmla="val 19565"/>
            </a:avLst>
          </a:prstGeom>
          <a:solidFill>
            <a:srgbClr val="FFFFFF"/>
          </a:solidFill>
          <a:ln w="9525">
            <a:solidFill>
              <a:srgbClr val="E7E3E5"/>
            </a:solidFill>
            <a:prstDash val="solid"/>
          </a:ln>
        </p:spPr>
        <p:txBody>
          <a:bodyPr wrap="square" lIns="76200" tIns="47625" rIns="76200" bIns="47625" anchor="ctr">
            <a:noAutofit/>
          </a:bodyPr>
          <a:lstStyle/>
          <a:p>
            <a:pPr algn="ctr">
              <a:lnSpc>
                <a:spcPct val="104000"/>
              </a:lnSpc>
              <a:buNone/>
              <a:defRPr sz="142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connection success</a:t>
            </a:r>
          </a:p>
        </p:txBody>
      </p:sp>
      <p:sp>
        <p:nvSpPr>
          <p:cNvPr id="9" name="Rectángulo: esquinas redondeadas 8">
            <a:extLst>
              <a:ext uri="{FF2B5EF4-FFF2-40B4-BE49-F238E27FC236}">
                <a16:creationId xmlns:a16="http://schemas.microsoft.com/office/drawing/2014/main" id="{4D0329AA-A55D-4E21-9787-D48B786CE8D1}"/>
              </a:ext>
            </a:extLst>
          </p:cNvPr>
          <p:cNvSpPr>
            <a:spLocks noGrp="1"/>
          </p:cNvSpPr>
          <p:nvPr/>
        </p:nvSpPr>
        <p:spPr>
          <a:xfrm>
            <a:off x="2762250" y="5467350"/>
            <a:ext cx="1943100" cy="438150"/>
          </a:xfrm>
          <a:prstGeom prst="roundRect">
            <a:avLst>
              <a:gd name="adj" fmla="val 19565"/>
            </a:avLst>
          </a:prstGeom>
          <a:solidFill>
            <a:srgbClr val="F5EDF2"/>
          </a:solidFill>
          <a:ln w="9525">
            <a:solidFill>
              <a:srgbClr val="E7E3E5"/>
            </a:solidFill>
            <a:prstDash val="solid"/>
          </a:ln>
        </p:spPr>
        <p:txBody>
          <a:bodyPr wrap="square" lIns="76200" tIns="47625" rIns="76200" bIns="47625" anchor="ctr">
            <a:noAutofit/>
          </a:bodyPr>
          <a:lstStyle/>
          <a:p>
            <a:pPr algn="ctr">
              <a:lnSpc>
                <a:spcPct val="104000"/>
              </a:lnSpc>
              <a:buNone/>
              <a:defRPr sz="1425" b="1">
                <a:solidFill>
                  <a:srgbClr val="510034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510034"/>
                </a:solidFill>
                <a:latin typeface="Arial"/>
                <a:ea typeface="Arial"/>
                <a:cs typeface="Arial"/>
              </a:rPr>
              <a:t>latency distribution</a:t>
            </a:r>
          </a:p>
        </p:txBody>
      </p:sp>
      <p:sp>
        <p:nvSpPr>
          <p:cNvPr id="10" name="Rectángulo: esquinas redondeadas 9">
            <a:extLst>
              <a:ext uri="{FF2B5EF4-FFF2-40B4-BE49-F238E27FC236}">
                <a16:creationId xmlns:a16="http://schemas.microsoft.com/office/drawing/2014/main" id="{8441B412-B240-4C14-8FDC-66C3BBAB19DD}"/>
              </a:ext>
            </a:extLst>
          </p:cNvPr>
          <p:cNvSpPr>
            <a:spLocks noGrp="1"/>
          </p:cNvSpPr>
          <p:nvPr/>
        </p:nvSpPr>
        <p:spPr>
          <a:xfrm>
            <a:off x="4895850" y="5467350"/>
            <a:ext cx="1943100" cy="438150"/>
          </a:xfrm>
          <a:prstGeom prst="roundRect">
            <a:avLst>
              <a:gd name="adj" fmla="val 19565"/>
            </a:avLst>
          </a:prstGeom>
          <a:solidFill>
            <a:srgbClr val="FFFFFF"/>
          </a:solidFill>
          <a:ln w="9525">
            <a:solidFill>
              <a:srgbClr val="E7E3E5"/>
            </a:solidFill>
            <a:prstDash val="solid"/>
          </a:ln>
        </p:spPr>
        <p:txBody>
          <a:bodyPr wrap="square" lIns="76200" tIns="47625" rIns="76200" bIns="47625" anchor="ctr">
            <a:noAutofit/>
          </a:bodyPr>
          <a:lstStyle/>
          <a:p>
            <a:pPr algn="ctr">
              <a:lnSpc>
                <a:spcPct val="104000"/>
              </a:lnSpc>
              <a:buNone/>
              <a:defRPr sz="142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jitter + loss</a:t>
            </a:r>
          </a:p>
        </p:txBody>
      </p:sp>
      <p:sp>
        <p:nvSpPr>
          <p:cNvPr id="11" name="Rectángulo: esquinas redondeadas 10">
            <a:extLst>
              <a:ext uri="{FF2B5EF4-FFF2-40B4-BE49-F238E27FC236}">
                <a16:creationId xmlns:a16="http://schemas.microsoft.com/office/drawing/2014/main" id="{07D75C5E-0108-4D1D-9859-40C184D6C6FF}"/>
              </a:ext>
            </a:extLst>
          </p:cNvPr>
          <p:cNvSpPr>
            <a:spLocks noGrp="1"/>
          </p:cNvSpPr>
          <p:nvPr/>
        </p:nvSpPr>
        <p:spPr>
          <a:xfrm>
            <a:off x="7029450" y="5467350"/>
            <a:ext cx="1943100" cy="438150"/>
          </a:xfrm>
          <a:prstGeom prst="roundRect">
            <a:avLst>
              <a:gd name="adj" fmla="val 19565"/>
            </a:avLst>
          </a:prstGeom>
          <a:solidFill>
            <a:srgbClr val="FFFFFF"/>
          </a:solidFill>
          <a:ln w="9525">
            <a:solidFill>
              <a:srgbClr val="E7E3E5"/>
            </a:solidFill>
            <a:prstDash val="solid"/>
          </a:ln>
        </p:spPr>
        <p:txBody>
          <a:bodyPr wrap="square" lIns="76200" tIns="47625" rIns="76200" bIns="47625" anchor="ctr">
            <a:noAutofit/>
          </a:bodyPr>
          <a:lstStyle/>
          <a:p>
            <a:pPr algn="ctr">
              <a:lnSpc>
                <a:spcPct val="104000"/>
              </a:lnSpc>
              <a:buNone/>
              <a:defRPr sz="142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mobility stability</a:t>
            </a:r>
          </a:p>
        </p:txBody>
      </p:sp>
      <p:sp>
        <p:nvSpPr>
          <p:cNvPr id="12" name="Rectángulo: esquinas redondeadas 11">
            <a:extLst>
              <a:ext uri="{FF2B5EF4-FFF2-40B4-BE49-F238E27FC236}">
                <a16:creationId xmlns:a16="http://schemas.microsoft.com/office/drawing/2014/main" id="{88D97A82-1B99-4CF5-9305-DED6353F4D38}"/>
              </a:ext>
            </a:extLst>
          </p:cNvPr>
          <p:cNvSpPr>
            <a:spLocks noGrp="1"/>
          </p:cNvSpPr>
          <p:nvPr/>
        </p:nvSpPr>
        <p:spPr>
          <a:xfrm>
            <a:off x="9163050" y="5467350"/>
            <a:ext cx="1943100" cy="438150"/>
          </a:xfrm>
          <a:prstGeom prst="roundRect">
            <a:avLst>
              <a:gd name="adj" fmla="val 19565"/>
            </a:avLst>
          </a:prstGeom>
          <a:solidFill>
            <a:srgbClr val="FFFFFF"/>
          </a:solidFill>
          <a:ln w="9525">
            <a:solidFill>
              <a:srgbClr val="E7E3E5"/>
            </a:solidFill>
            <a:prstDash val="solid"/>
          </a:ln>
        </p:spPr>
        <p:txBody>
          <a:bodyPr wrap="square" lIns="76200" tIns="47625" rIns="76200" bIns="47625" anchor="ctr">
            <a:noAutofit/>
          </a:bodyPr>
          <a:lstStyle/>
          <a:p>
            <a:pPr algn="ctr">
              <a:lnSpc>
                <a:spcPct val="104000"/>
              </a:lnSpc>
              <a:buNone/>
              <a:defRPr sz="142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uplink consistency</a:t>
            </a:r>
          </a:p>
        </p:txBody>
      </p:sp>
    </p:spTree>
    <p:extLst>
      <p:ext uri="{BB962C8B-B14F-4D97-AF65-F5344CB8AC3E}">
        <p14:creationId xmlns:p14="http://schemas.microsoft.com/office/powerpoint/2010/main" val="176127196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9F8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Rectángulo 20">
            <a:extLst>
              <a:ext uri="{FF2B5EF4-FFF2-40B4-BE49-F238E27FC236}">
                <a16:creationId xmlns:a16="http://schemas.microsoft.com/office/drawing/2014/main" id="{629C035B-F9D2-4BBB-906E-D74FC9328402}"/>
              </a:ext>
            </a:extLst>
          </p:cNvPr>
          <p:cNvSpPr>
            <a:spLocks noGrp="1"/>
          </p:cNvSpPr>
          <p:nvPr/>
        </p:nvSpPr>
        <p:spPr>
          <a:xfrm>
            <a:off x="533400" y="266700"/>
            <a:ext cx="74295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200" b="1">
                <a:solidFill>
                  <a:srgbClr val="830051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830051"/>
                </a:solidFill>
                <a:latin typeface="Arial"/>
                <a:ea typeface="Arial"/>
                <a:cs typeface="Arial"/>
              </a:rPr>
              <a:t>FUTURE WORK</a:t>
            </a:r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151BCBEC-AA32-407B-9B14-2AD5E47B3227}"/>
              </a:ext>
            </a:extLst>
          </p:cNvPr>
          <p:cNvSpPr>
            <a:spLocks noGrp="1"/>
          </p:cNvSpPr>
          <p:nvPr/>
        </p:nvSpPr>
        <p:spPr>
          <a:xfrm>
            <a:off x="533400" y="590550"/>
            <a:ext cx="10477500" cy="552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4000"/>
              </a:lnSpc>
              <a:buNone/>
              <a:defRPr sz="337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Protected Electrical Design</a:t>
            </a:r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98AD5373-2F49-41D7-B98F-82F04F34851B}"/>
              </a:ext>
            </a:extLst>
          </p:cNvPr>
          <p:cNvSpPr>
            <a:spLocks noGrp="1"/>
          </p:cNvSpPr>
          <p:nvPr/>
        </p:nvSpPr>
        <p:spPr>
          <a:xfrm>
            <a:off x="533400" y="1257300"/>
            <a:ext cx="11125200" cy="28575"/>
          </a:xfrm>
          <a:prstGeom prst="rect">
            <a:avLst/>
          </a:prstGeom>
          <a:solidFill>
            <a:srgbClr val="830051"/>
          </a:solidFill>
          <a:ln w="0"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E12CD36D-EC19-4D7B-818A-C4FB17EC4CD6}"/>
              </a:ext>
            </a:extLst>
          </p:cNvPr>
          <p:cNvSpPr>
            <a:spLocks noGrp="1"/>
          </p:cNvSpPr>
          <p:nvPr/>
        </p:nvSpPr>
        <p:spPr>
          <a:xfrm>
            <a:off x="10858500" y="6457950"/>
            <a:ext cx="8001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4000"/>
              </a:lnSpc>
              <a:buNone/>
              <a:defRPr sz="1125" b="1">
                <a:solidFill>
                  <a:srgbClr val="6F686D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6F686D"/>
                </a:solidFill>
                <a:latin typeface="Arial"/>
                <a:ea typeface="Arial"/>
                <a:cs typeface="Arial"/>
              </a:rPr>
              <a:t>26</a:t>
            </a:r>
          </a:p>
        </p:txBody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AE680CAD-05C5-410D-8639-AF430B7DE157}"/>
              </a:ext>
            </a:extLst>
          </p:cNvPr>
          <p:cNvSpPr>
            <a:spLocks noGrp="1"/>
          </p:cNvSpPr>
          <p:nvPr/>
        </p:nvSpPr>
        <p:spPr>
          <a:xfrm>
            <a:off x="723900" y="1657350"/>
            <a:ext cx="238125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200" b="1">
                <a:solidFill>
                  <a:srgbClr val="830051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830051"/>
                </a:solidFill>
                <a:latin typeface="Arial"/>
                <a:ea typeface="Arial"/>
                <a:cs typeface="Arial"/>
              </a:rPr>
              <a:t>HARDWARE TRACK</a:t>
            </a:r>
          </a:p>
        </p:txBody>
      </p:sp>
      <p:sp>
        <p:nvSpPr>
          <p:cNvPr id="6" name="Rectángulo: esquinas redondeadas 5">
            <a:extLst>
              <a:ext uri="{FF2B5EF4-FFF2-40B4-BE49-F238E27FC236}">
                <a16:creationId xmlns:a16="http://schemas.microsoft.com/office/drawing/2014/main" id="{A2E87159-490C-42D5-9175-3A158CC834BA}"/>
              </a:ext>
            </a:extLst>
          </p:cNvPr>
          <p:cNvSpPr>
            <a:spLocks noGrp="1"/>
          </p:cNvSpPr>
          <p:nvPr/>
        </p:nvSpPr>
        <p:spPr>
          <a:xfrm>
            <a:off x="762000" y="2305050"/>
            <a:ext cx="1524000" cy="781050"/>
          </a:xfrm>
          <a:prstGeom prst="roundRect">
            <a:avLst>
              <a:gd name="adj" fmla="val 17073"/>
            </a:avLst>
          </a:prstGeom>
          <a:solidFill>
            <a:srgbClr val="FFFFFF"/>
          </a:solidFill>
          <a:ln w="19050">
            <a:solidFill>
              <a:srgbClr val="830051"/>
            </a:solidFill>
            <a:prstDash val="solid"/>
          </a:ln>
        </p:spPr>
        <p:txBody>
          <a:bodyPr wrap="square" lIns="114300" tIns="76200" rIns="114300" bIns="76200" anchor="ctr">
            <a:noAutofit/>
          </a:bodyPr>
          <a:lstStyle/>
          <a:p>
            <a:pPr algn="ctr">
              <a:lnSpc>
                <a:spcPct val="104000"/>
              </a:lnSpc>
              <a:buNone/>
              <a:defRPr sz="1650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Battery</a:t>
            </a:r>
          </a:p>
        </p:txBody>
      </p:sp>
      <p:sp>
        <p:nvSpPr>
          <p:cNvPr id="7" name="Rectángulo: esquinas redondeadas 6">
            <a:extLst>
              <a:ext uri="{FF2B5EF4-FFF2-40B4-BE49-F238E27FC236}">
                <a16:creationId xmlns:a16="http://schemas.microsoft.com/office/drawing/2014/main" id="{47406072-30FE-4678-A900-240BF18765B9}"/>
              </a:ext>
            </a:extLst>
          </p:cNvPr>
          <p:cNvSpPr>
            <a:spLocks noGrp="1"/>
          </p:cNvSpPr>
          <p:nvPr/>
        </p:nvSpPr>
        <p:spPr>
          <a:xfrm>
            <a:off x="2781300" y="2209800"/>
            <a:ext cx="2095500" cy="971550"/>
          </a:xfrm>
          <a:prstGeom prst="roundRect">
            <a:avLst>
              <a:gd name="adj" fmla="val 13725"/>
            </a:avLst>
          </a:prstGeom>
          <a:solidFill>
            <a:srgbClr val="F5EDF2"/>
          </a:solidFill>
          <a:ln w="19050">
            <a:solidFill>
              <a:srgbClr val="830051"/>
            </a:solidFill>
            <a:prstDash val="solid"/>
          </a:ln>
        </p:spPr>
        <p:txBody>
          <a:bodyPr wrap="square" lIns="114300" tIns="76200" rIns="114300" bIns="76200" anchor="ctr">
            <a:noAutofit/>
          </a:bodyPr>
          <a:lstStyle/>
          <a:p>
            <a:pPr algn="ctr">
              <a:lnSpc>
                <a:spcPct val="104000"/>
              </a:lnSpc>
              <a:buNone/>
              <a:defRPr sz="157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Fuse + transient</a:t>
            </a:r>
          </a:p>
          <a:p>
            <a:pPr algn="ctr">
              <a:lnSpc>
                <a:spcPct val="104000"/>
              </a:lnSpc>
              <a:buNone/>
              <a:defRPr sz="157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protection</a:t>
            </a:r>
          </a:p>
        </p:txBody>
      </p:sp>
      <p:sp>
        <p:nvSpPr>
          <p:cNvPr id="8" name="Rectángulo: esquinas redondeadas 7">
            <a:extLst>
              <a:ext uri="{FF2B5EF4-FFF2-40B4-BE49-F238E27FC236}">
                <a16:creationId xmlns:a16="http://schemas.microsoft.com/office/drawing/2014/main" id="{F4E35B38-6F8B-44AA-A0A5-16448776B4AC}"/>
              </a:ext>
            </a:extLst>
          </p:cNvPr>
          <p:cNvSpPr>
            <a:spLocks noGrp="1"/>
          </p:cNvSpPr>
          <p:nvPr/>
        </p:nvSpPr>
        <p:spPr>
          <a:xfrm>
            <a:off x="5372100" y="2209800"/>
            <a:ext cx="2095500" cy="971550"/>
          </a:xfrm>
          <a:prstGeom prst="roundRect">
            <a:avLst>
              <a:gd name="adj" fmla="val 13725"/>
            </a:avLst>
          </a:prstGeom>
          <a:solidFill>
            <a:srgbClr val="830051"/>
          </a:solidFill>
          <a:ln w="19050">
            <a:solidFill>
              <a:srgbClr val="830051"/>
            </a:solidFill>
            <a:prstDash val="solid"/>
          </a:ln>
        </p:spPr>
        <p:txBody>
          <a:bodyPr wrap="square" lIns="114300" tIns="76200" rIns="114300" bIns="76200" anchor="ctr">
            <a:noAutofit/>
          </a:bodyPr>
          <a:lstStyle/>
          <a:p>
            <a:pPr algn="ctr">
              <a:lnSpc>
                <a:spcPct val="104000"/>
              </a:lnSpc>
              <a:buNone/>
              <a:defRPr sz="15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Dedicated DC-DC</a:t>
            </a:r>
          </a:p>
          <a:p>
            <a:pPr algn="ctr">
              <a:lnSpc>
                <a:spcPct val="104000"/>
              </a:lnSpc>
              <a:buNone/>
              <a:defRPr sz="15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regulator</a:t>
            </a:r>
          </a:p>
        </p:txBody>
      </p:sp>
      <p:sp>
        <p:nvSpPr>
          <p:cNvPr id="9" name="Rectángulo: esquinas redondeadas 8">
            <a:extLst>
              <a:ext uri="{FF2B5EF4-FFF2-40B4-BE49-F238E27FC236}">
                <a16:creationId xmlns:a16="http://schemas.microsoft.com/office/drawing/2014/main" id="{29A2CBE1-4B2D-4933-B7A2-3F9C73C0690B}"/>
              </a:ext>
            </a:extLst>
          </p:cNvPr>
          <p:cNvSpPr>
            <a:spLocks noGrp="1"/>
          </p:cNvSpPr>
          <p:nvPr/>
        </p:nvSpPr>
        <p:spPr>
          <a:xfrm>
            <a:off x="7962900" y="2305050"/>
            <a:ext cx="1676400" cy="781050"/>
          </a:xfrm>
          <a:prstGeom prst="roundRect">
            <a:avLst>
              <a:gd name="adj" fmla="val 17073"/>
            </a:avLst>
          </a:prstGeom>
          <a:solidFill>
            <a:srgbClr val="FFFFFF"/>
          </a:solidFill>
          <a:ln w="19050">
            <a:solidFill>
              <a:srgbClr val="830051"/>
            </a:solidFill>
            <a:prstDash val="solid"/>
          </a:ln>
        </p:spPr>
        <p:txBody>
          <a:bodyPr wrap="square" lIns="114300" tIns="76200" rIns="114300" bIns="76200" anchor="ctr">
            <a:noAutofit/>
          </a:bodyPr>
          <a:lstStyle/>
          <a:p>
            <a:pPr algn="ctr">
              <a:lnSpc>
                <a:spcPct val="104000"/>
              </a:lnSpc>
              <a:buNone/>
              <a:defRPr sz="1650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Raspberry Pi</a:t>
            </a:r>
          </a:p>
        </p:txBody>
      </p:sp>
      <p:sp>
        <p:nvSpPr>
          <p:cNvPr id="10" name="Rectángulo: esquinas redondeadas 9">
            <a:extLst>
              <a:ext uri="{FF2B5EF4-FFF2-40B4-BE49-F238E27FC236}">
                <a16:creationId xmlns:a16="http://schemas.microsoft.com/office/drawing/2014/main" id="{679DBC03-1998-4CDC-BCC7-E27E8245F34D}"/>
              </a:ext>
            </a:extLst>
          </p:cNvPr>
          <p:cNvSpPr>
            <a:spLocks noGrp="1"/>
          </p:cNvSpPr>
          <p:nvPr/>
        </p:nvSpPr>
        <p:spPr>
          <a:xfrm>
            <a:off x="762000" y="3333750"/>
            <a:ext cx="1524000" cy="609600"/>
          </a:xfrm>
          <a:prstGeom prst="roundRect">
            <a:avLst>
              <a:gd name="adj" fmla="val 21875"/>
            </a:avLst>
          </a:prstGeom>
          <a:solidFill>
            <a:srgbClr val="E7E3E5"/>
          </a:solidFill>
          <a:ln w="19050">
            <a:solidFill>
              <a:srgbClr val="A69FA3"/>
            </a:solidFill>
            <a:prstDash val="solid"/>
          </a:ln>
        </p:spPr>
        <p:txBody>
          <a:bodyPr wrap="square" lIns="114300" tIns="76200" rIns="114300" bIns="76200" anchor="ctr">
            <a:noAutofit/>
          </a:bodyPr>
          <a:lstStyle/>
          <a:p>
            <a:pPr algn="ctr">
              <a:lnSpc>
                <a:spcPct val="104000"/>
              </a:lnSpc>
              <a:buNone/>
              <a:defRPr sz="1500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Motor branch</a:t>
            </a:r>
          </a:p>
        </p:txBody>
      </p:sp>
      <p:cxnSp>
        <p:nvCxnSpPr>
          <p:cNvPr id="31" name="Conector recto de flecha 30"/>
          <p:cNvCxnSpPr>
            <a:stCxn id="6" idx="3"/>
            <a:endCxn id="7" idx="1"/>
          </p:cNvCxnSpPr>
          <p:nvPr/>
        </p:nvCxnSpPr>
        <p:spPr>
          <a:xfrm>
            <a:off x="2286000" y="2695575"/>
            <a:ext cx="495300" cy="0"/>
          </a:xfrm>
          <a:prstGeom prst="straightConnector1">
            <a:avLst/>
          </a:prstGeom>
          <a:ln w="19050">
            <a:solidFill>
              <a:srgbClr val="A69FA3"/>
            </a:solidFill>
            <a:prstDash val="solid"/>
            <a:tailEnd type="triangle" w="sm" len="sm"/>
          </a:ln>
        </p:spPr>
      </p:cxnSp>
      <p:cxnSp>
        <p:nvCxnSpPr>
          <p:cNvPr id="32" name="Conector recto de flecha 31"/>
          <p:cNvCxnSpPr>
            <a:stCxn id="7" idx="3"/>
            <a:endCxn id="8" idx="1"/>
          </p:cNvCxnSpPr>
          <p:nvPr/>
        </p:nvCxnSpPr>
        <p:spPr>
          <a:xfrm>
            <a:off x="4876800" y="2695575"/>
            <a:ext cx="495300" cy="0"/>
          </a:xfrm>
          <a:prstGeom prst="straightConnector1">
            <a:avLst/>
          </a:prstGeom>
          <a:ln w="19050">
            <a:solidFill>
              <a:srgbClr val="830051"/>
            </a:solidFill>
            <a:prstDash val="solid"/>
            <a:tailEnd type="triangle" w="sm" len="sm"/>
          </a:ln>
        </p:spPr>
      </p:cxnSp>
      <p:cxnSp>
        <p:nvCxnSpPr>
          <p:cNvPr id="33" name="Conector recto de flecha 32"/>
          <p:cNvCxnSpPr>
            <a:stCxn id="8" idx="3"/>
            <a:endCxn id="9" idx="1"/>
          </p:cNvCxnSpPr>
          <p:nvPr/>
        </p:nvCxnSpPr>
        <p:spPr>
          <a:xfrm>
            <a:off x="7467600" y="2695575"/>
            <a:ext cx="495300" cy="0"/>
          </a:xfrm>
          <a:prstGeom prst="straightConnector1">
            <a:avLst/>
          </a:prstGeom>
          <a:ln w="19050">
            <a:solidFill>
              <a:srgbClr val="830051"/>
            </a:solidFill>
            <a:prstDash val="solid"/>
            <a:tailEnd type="triangle" w="sm" len="sm"/>
          </a:ln>
        </p:spPr>
      </p:cxnSp>
      <p:cxnSp>
        <p:nvCxnSpPr>
          <p:cNvPr id="34" name="Conector recto de flecha 33"/>
          <p:cNvCxnSpPr>
            <a:stCxn id="6" idx="2"/>
            <a:endCxn id="10" idx="0"/>
          </p:cNvCxnSpPr>
          <p:nvPr/>
        </p:nvCxnSpPr>
        <p:spPr>
          <a:xfrm>
            <a:off x="1524000" y="3086100"/>
            <a:ext cx="0" cy="247650"/>
          </a:xfrm>
          <a:prstGeom prst="straightConnector1">
            <a:avLst/>
          </a:prstGeom>
          <a:ln w="19050">
            <a:solidFill>
              <a:srgbClr val="A69FA3"/>
            </a:solidFill>
            <a:prstDash val="solid"/>
          </a:ln>
        </p:spPr>
      </p:cxnSp>
      <p:sp>
        <p:nvSpPr>
          <p:cNvPr id="15" name="Rectángulo 14">
            <a:extLst>
              <a:ext uri="{FF2B5EF4-FFF2-40B4-BE49-F238E27FC236}">
                <a16:creationId xmlns:a16="http://schemas.microsoft.com/office/drawing/2014/main" id="{05BD98F7-6CE7-41CE-86B8-EA82AEF89404}"/>
              </a:ext>
            </a:extLst>
          </p:cNvPr>
          <p:cNvSpPr>
            <a:spLocks noGrp="1"/>
          </p:cNvSpPr>
          <p:nvPr/>
        </p:nvSpPr>
        <p:spPr>
          <a:xfrm>
            <a:off x="2724150" y="3448050"/>
            <a:ext cx="8401050" cy="4381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4000"/>
              </a:lnSpc>
              <a:buNone/>
              <a:defRPr sz="1500" b="1">
                <a:solidFill>
                  <a:srgbClr val="51003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510034"/>
                </a:solidFill>
                <a:latin typeface="Arial"/>
                <a:ea typeface="Arial"/>
                <a:cs typeface="Arial"/>
              </a:rPr>
              <a:t>Separate noisy motor current from the compute rail; add decoupling, strain relief, and brownout logging.</a:t>
            </a:r>
          </a:p>
        </p:txBody>
      </p:sp>
      <p:sp>
        <p:nvSpPr>
          <p:cNvPr id="16" name="Rectángulo: esquinas redondeadas 15">
            <a:extLst>
              <a:ext uri="{FF2B5EF4-FFF2-40B4-BE49-F238E27FC236}">
                <a16:creationId xmlns:a16="http://schemas.microsoft.com/office/drawing/2014/main" id="{66813F73-681A-4BE6-A7F4-97CC7A9AF147}"/>
              </a:ext>
            </a:extLst>
          </p:cNvPr>
          <p:cNvSpPr>
            <a:spLocks noGrp="1"/>
          </p:cNvSpPr>
          <p:nvPr/>
        </p:nvSpPr>
        <p:spPr>
          <a:xfrm>
            <a:off x="609600" y="4248150"/>
            <a:ext cx="10972800" cy="1581150"/>
          </a:xfrm>
          <a:prstGeom prst="roundRect">
            <a:avLst>
              <a:gd name="adj" fmla="val 8434"/>
            </a:avLst>
          </a:prstGeom>
          <a:solidFill>
            <a:srgbClr val="F5EDF2"/>
          </a:solidFill>
          <a:ln w="0"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17" name="Rectángulo 16">
            <a:extLst>
              <a:ext uri="{FF2B5EF4-FFF2-40B4-BE49-F238E27FC236}">
                <a16:creationId xmlns:a16="http://schemas.microsoft.com/office/drawing/2014/main" id="{5286ADD4-6421-43A0-A4C5-6C8294112BA8}"/>
              </a:ext>
            </a:extLst>
          </p:cNvPr>
          <p:cNvSpPr>
            <a:spLocks noGrp="1"/>
          </p:cNvSpPr>
          <p:nvPr/>
        </p:nvSpPr>
        <p:spPr>
          <a:xfrm>
            <a:off x="838200" y="4476750"/>
            <a:ext cx="28194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200" b="1">
                <a:solidFill>
                  <a:srgbClr val="830051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830051"/>
                </a:solidFill>
                <a:latin typeface="Arial"/>
                <a:ea typeface="Arial"/>
                <a:cs typeface="Arial"/>
              </a:rPr>
              <a:t>SEPARATE PROTOCOL TRACK</a:t>
            </a:r>
          </a:p>
        </p:txBody>
      </p:sp>
      <p:sp>
        <p:nvSpPr>
          <p:cNvPr id="18" name="Rectángulo 17">
            <a:extLst>
              <a:ext uri="{FF2B5EF4-FFF2-40B4-BE49-F238E27FC236}">
                <a16:creationId xmlns:a16="http://schemas.microsoft.com/office/drawing/2014/main" id="{B5F2FD32-62BC-4FC4-806D-11605B27A197}"/>
              </a:ext>
            </a:extLst>
          </p:cNvPr>
          <p:cNvSpPr>
            <a:spLocks noGrp="1"/>
          </p:cNvSpPr>
          <p:nvPr/>
        </p:nvSpPr>
        <p:spPr>
          <a:xfrm>
            <a:off x="838200" y="4857750"/>
            <a:ext cx="3333750" cy="381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2250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Complete WHIP / WHEP</a:t>
            </a:r>
          </a:p>
        </p:txBody>
      </p:sp>
      <p:sp>
        <p:nvSpPr>
          <p:cNvPr id="19" name="Rectángulo 18">
            <a:extLst>
              <a:ext uri="{FF2B5EF4-FFF2-40B4-BE49-F238E27FC236}">
                <a16:creationId xmlns:a16="http://schemas.microsoft.com/office/drawing/2014/main" id="{2BD192A5-F267-4F72-B1DC-8CE96BD0AF7F}"/>
              </a:ext>
            </a:extLst>
          </p:cNvPr>
          <p:cNvSpPr>
            <a:spLocks noGrp="1"/>
          </p:cNvSpPr>
          <p:nvPr/>
        </p:nvSpPr>
        <p:spPr>
          <a:xfrm>
            <a:off x="4343400" y="4629150"/>
            <a:ext cx="6915150" cy="8191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4000"/>
              </a:lnSpc>
              <a:buNone/>
              <a:defRPr sz="1650" b="0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71417"/>
                </a:solidFill>
                <a:latin typeface="Arial"/>
                <a:ea typeface="Arial"/>
                <a:cs typeface="Arial"/>
              </a:rPr>
              <a:t>Implement session resources, Location, PATCH, DELETE, HTTPS, and authorization if a central media-server architecture becomes a requirement.</a:t>
            </a:r>
          </a:p>
        </p:txBody>
      </p:sp>
      <p:sp>
        <p:nvSpPr>
          <p:cNvPr id="20" name="Rectángulo 19">
            <a:extLst>
              <a:ext uri="{FF2B5EF4-FFF2-40B4-BE49-F238E27FC236}">
                <a16:creationId xmlns:a16="http://schemas.microsoft.com/office/drawing/2014/main" id="{298A7593-7E8C-482F-8350-0A733CC99768}"/>
              </a:ext>
            </a:extLst>
          </p:cNvPr>
          <p:cNvSpPr>
            <a:spLocks noGrp="1"/>
          </p:cNvSpPr>
          <p:nvPr/>
        </p:nvSpPr>
        <p:spPr>
          <a:xfrm>
            <a:off x="4343400" y="5467350"/>
            <a:ext cx="691515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4000"/>
              </a:lnSpc>
              <a:buNone/>
              <a:defRPr sz="1350" b="1">
                <a:solidFill>
                  <a:srgbClr val="510034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510034"/>
                </a:solidFill>
                <a:latin typeface="Arial"/>
                <a:ea typeface="Arial"/>
                <a:cs typeface="Arial"/>
              </a:rPr>
              <a:t>This protocol track changes the media architecture and must be evaluated explicitly.</a:t>
            </a:r>
          </a:p>
        </p:txBody>
      </p:sp>
    </p:spTree>
    <p:extLst>
      <p:ext uri="{BB962C8B-B14F-4D97-AF65-F5344CB8AC3E}">
        <p14:creationId xmlns:p14="http://schemas.microsoft.com/office/powerpoint/2010/main" val="3721924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9F8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ángulo 18">
            <a:extLst>
              <a:ext uri="{FF2B5EF4-FFF2-40B4-BE49-F238E27FC236}">
                <a16:creationId xmlns:a16="http://schemas.microsoft.com/office/drawing/2014/main" id="{C2514451-8A36-4804-8F64-D4D75929D9C0}"/>
              </a:ext>
            </a:extLst>
          </p:cNvPr>
          <p:cNvSpPr>
            <a:spLocks noGrp="1"/>
          </p:cNvSpPr>
          <p:nvPr/>
        </p:nvSpPr>
        <p:spPr>
          <a:xfrm>
            <a:off x="533400" y="266700"/>
            <a:ext cx="74295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200" b="1">
                <a:solidFill>
                  <a:srgbClr val="830051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830051"/>
                </a:solidFill>
                <a:latin typeface="Arial"/>
                <a:ea typeface="Arial"/>
                <a:cs typeface="Arial"/>
              </a:rPr>
              <a:t>FUTURE WORK</a:t>
            </a:r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86D52B5E-5609-4B1D-A16C-4B08F5E3B207}"/>
              </a:ext>
            </a:extLst>
          </p:cNvPr>
          <p:cNvSpPr>
            <a:spLocks noGrp="1"/>
          </p:cNvSpPr>
          <p:nvPr/>
        </p:nvSpPr>
        <p:spPr>
          <a:xfrm>
            <a:off x="533400" y="590550"/>
            <a:ext cx="10477500" cy="552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4000"/>
              </a:lnSpc>
              <a:buNone/>
              <a:defRPr sz="337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ESP32-P4 Integrated Rust Platform</a:t>
            </a:r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FE8595FF-BF9A-444A-B3CC-76916D84815F}"/>
              </a:ext>
            </a:extLst>
          </p:cNvPr>
          <p:cNvSpPr>
            <a:spLocks noGrp="1"/>
          </p:cNvSpPr>
          <p:nvPr/>
        </p:nvSpPr>
        <p:spPr>
          <a:xfrm>
            <a:off x="533400" y="1257300"/>
            <a:ext cx="11125200" cy="28575"/>
          </a:xfrm>
          <a:prstGeom prst="rect">
            <a:avLst/>
          </a:prstGeom>
          <a:solidFill>
            <a:srgbClr val="830051"/>
          </a:solidFill>
          <a:ln w="0"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5B63652C-8B44-4254-AE94-00EF00C7307A}"/>
              </a:ext>
            </a:extLst>
          </p:cNvPr>
          <p:cNvSpPr>
            <a:spLocks noGrp="1"/>
          </p:cNvSpPr>
          <p:nvPr/>
        </p:nvSpPr>
        <p:spPr>
          <a:xfrm>
            <a:off x="10858500" y="6457950"/>
            <a:ext cx="8001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4000"/>
              </a:lnSpc>
              <a:buNone/>
              <a:defRPr sz="1125" b="1">
                <a:solidFill>
                  <a:srgbClr val="6F686D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6F686D"/>
                </a:solidFill>
                <a:latin typeface="Arial"/>
                <a:ea typeface="Arial"/>
                <a:cs typeface="Arial"/>
              </a:rPr>
              <a:t>27</a:t>
            </a:r>
          </a:p>
        </p:txBody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4E20405B-9A19-4E89-8A06-55176DC06A78}"/>
              </a:ext>
            </a:extLst>
          </p:cNvPr>
          <p:cNvSpPr>
            <a:spLocks noGrp="1"/>
          </p:cNvSpPr>
          <p:nvPr/>
        </p:nvSpPr>
        <p:spPr>
          <a:xfrm>
            <a:off x="666750" y="1581150"/>
            <a:ext cx="49530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200" b="1">
                <a:solidFill>
                  <a:srgbClr val="830051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830051"/>
                </a:solidFill>
                <a:latin typeface="Arial"/>
                <a:ea typeface="Arial"/>
                <a:cs typeface="Arial"/>
              </a:rPr>
              <a:t>CANDIDATE PLATFORM, NOT IMPLEMENTED</a:t>
            </a:r>
          </a:p>
        </p:txBody>
      </p:sp>
      <p:sp>
        <p:nvSpPr>
          <p:cNvPr id="6" name="Rectángulo: esquinas redondeadas 5">
            <a:extLst>
              <a:ext uri="{FF2B5EF4-FFF2-40B4-BE49-F238E27FC236}">
                <a16:creationId xmlns:a16="http://schemas.microsoft.com/office/drawing/2014/main" id="{16ACCE06-2353-4C10-842E-6E107126FD53}"/>
              </a:ext>
            </a:extLst>
          </p:cNvPr>
          <p:cNvSpPr>
            <a:spLocks noGrp="1"/>
          </p:cNvSpPr>
          <p:nvPr/>
        </p:nvSpPr>
        <p:spPr>
          <a:xfrm>
            <a:off x="762000" y="2400300"/>
            <a:ext cx="1676400" cy="857250"/>
          </a:xfrm>
          <a:prstGeom prst="roundRect">
            <a:avLst>
              <a:gd name="adj" fmla="val 15556"/>
            </a:avLst>
          </a:prstGeom>
          <a:solidFill>
            <a:srgbClr val="FFFFFF"/>
          </a:solidFill>
          <a:ln w="19050">
            <a:solidFill>
              <a:srgbClr val="830051"/>
            </a:solidFill>
            <a:prstDash val="solid"/>
          </a:ln>
        </p:spPr>
        <p:txBody>
          <a:bodyPr wrap="square" lIns="114300" tIns="76200" rIns="114300" bIns="76200" anchor="ctr">
            <a:noAutofit/>
          </a:bodyPr>
          <a:lstStyle/>
          <a:p>
            <a:pPr algn="ctr">
              <a:lnSpc>
                <a:spcPct val="104000"/>
              </a:lnSpc>
              <a:buNone/>
              <a:defRPr sz="157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MIPI-CSI</a:t>
            </a:r>
          </a:p>
          <a:p>
            <a:pPr algn="ctr">
              <a:lnSpc>
                <a:spcPct val="104000"/>
              </a:lnSpc>
              <a:buNone/>
              <a:defRPr sz="157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camera</a:t>
            </a:r>
          </a:p>
        </p:txBody>
      </p:sp>
      <p:sp>
        <p:nvSpPr>
          <p:cNvPr id="7" name="Rectángulo: esquinas redondeadas 6">
            <a:extLst>
              <a:ext uri="{FF2B5EF4-FFF2-40B4-BE49-F238E27FC236}">
                <a16:creationId xmlns:a16="http://schemas.microsoft.com/office/drawing/2014/main" id="{25AEFA47-2B18-4431-B939-E5105D88C3F4}"/>
              </a:ext>
            </a:extLst>
          </p:cNvPr>
          <p:cNvSpPr>
            <a:spLocks noGrp="1"/>
          </p:cNvSpPr>
          <p:nvPr/>
        </p:nvSpPr>
        <p:spPr>
          <a:xfrm>
            <a:off x="2914650" y="2305050"/>
            <a:ext cx="2000250" cy="1047750"/>
          </a:xfrm>
          <a:prstGeom prst="roundRect">
            <a:avLst>
              <a:gd name="adj" fmla="val 12727"/>
            </a:avLst>
          </a:prstGeom>
          <a:solidFill>
            <a:srgbClr val="830051"/>
          </a:solidFill>
          <a:ln w="19050">
            <a:solidFill>
              <a:srgbClr val="830051"/>
            </a:solidFill>
            <a:prstDash val="solid"/>
          </a:ln>
        </p:spPr>
        <p:txBody>
          <a:bodyPr wrap="square" lIns="114300" tIns="76200" rIns="114300" bIns="76200" anchor="ctr">
            <a:noAutofit/>
          </a:bodyPr>
          <a:lstStyle/>
          <a:p>
            <a:pPr algn="ctr">
              <a:lnSpc>
                <a:spcPct val="104000"/>
              </a:lnSpc>
              <a:buNone/>
              <a:defRPr sz="15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ISP +</a:t>
            </a:r>
          </a:p>
          <a:p>
            <a:pPr algn="ctr">
              <a:lnSpc>
                <a:spcPct val="104000"/>
              </a:lnSpc>
              <a:buNone/>
              <a:defRPr sz="15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H.264 encoder</a:t>
            </a:r>
          </a:p>
        </p:txBody>
      </p:sp>
      <p:sp>
        <p:nvSpPr>
          <p:cNvPr id="8" name="Rectángulo: esquinas redondeadas 7">
            <a:extLst>
              <a:ext uri="{FF2B5EF4-FFF2-40B4-BE49-F238E27FC236}">
                <a16:creationId xmlns:a16="http://schemas.microsoft.com/office/drawing/2014/main" id="{B9FA3AB5-455F-4AF1-9214-ED30410D5C56}"/>
              </a:ext>
            </a:extLst>
          </p:cNvPr>
          <p:cNvSpPr>
            <a:spLocks noGrp="1"/>
          </p:cNvSpPr>
          <p:nvPr/>
        </p:nvSpPr>
        <p:spPr>
          <a:xfrm>
            <a:off x="5391150" y="2209800"/>
            <a:ext cx="2286000" cy="1238250"/>
          </a:xfrm>
          <a:prstGeom prst="roundRect">
            <a:avLst>
              <a:gd name="adj" fmla="val 10769"/>
            </a:avLst>
          </a:prstGeom>
          <a:solidFill>
            <a:srgbClr val="F5EDF2"/>
          </a:solidFill>
          <a:ln w="19050">
            <a:solidFill>
              <a:srgbClr val="830051"/>
            </a:solidFill>
            <a:prstDash val="solid"/>
          </a:ln>
        </p:spPr>
        <p:txBody>
          <a:bodyPr wrap="square" lIns="114300" tIns="76200" rIns="114300" bIns="76200" anchor="ctr">
            <a:noAutofit/>
          </a:bodyPr>
          <a:lstStyle/>
          <a:p>
            <a:pPr algn="ctr">
              <a:lnSpc>
                <a:spcPct val="104000"/>
              </a:lnSpc>
              <a:buNone/>
              <a:defRPr sz="157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Rust application</a:t>
            </a:r>
          </a:p>
          <a:p>
            <a:pPr algn="ctr">
              <a:lnSpc>
                <a:spcPct val="104000"/>
              </a:lnSpc>
              <a:buNone/>
              <a:defRPr sz="157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media + safety state</a:t>
            </a:r>
          </a:p>
        </p:txBody>
      </p:sp>
      <p:sp>
        <p:nvSpPr>
          <p:cNvPr id="9" name="Rectángulo: esquinas redondeadas 8">
            <a:extLst>
              <a:ext uri="{FF2B5EF4-FFF2-40B4-BE49-F238E27FC236}">
                <a16:creationId xmlns:a16="http://schemas.microsoft.com/office/drawing/2014/main" id="{7CC33D2B-90E2-48F2-B78A-ACBBD77C3392}"/>
              </a:ext>
            </a:extLst>
          </p:cNvPr>
          <p:cNvSpPr>
            <a:spLocks noGrp="1"/>
          </p:cNvSpPr>
          <p:nvPr/>
        </p:nvSpPr>
        <p:spPr>
          <a:xfrm>
            <a:off x="8153400" y="2305050"/>
            <a:ext cx="2476500" cy="1047750"/>
          </a:xfrm>
          <a:prstGeom prst="roundRect">
            <a:avLst>
              <a:gd name="adj" fmla="val 12727"/>
            </a:avLst>
          </a:prstGeom>
          <a:solidFill>
            <a:srgbClr val="FFFFFF"/>
          </a:solidFill>
          <a:ln w="19050">
            <a:solidFill>
              <a:srgbClr val="830051"/>
            </a:solidFill>
            <a:prstDash val="solid"/>
          </a:ln>
        </p:spPr>
        <p:txBody>
          <a:bodyPr wrap="square" lIns="114300" tIns="76200" rIns="114300" bIns="76200" anchor="ctr">
            <a:noAutofit/>
          </a:bodyPr>
          <a:lstStyle/>
          <a:p>
            <a:pPr algn="ctr">
              <a:lnSpc>
                <a:spcPct val="104000"/>
              </a:lnSpc>
              <a:buNone/>
              <a:defRPr sz="157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Ethernet or</a:t>
            </a:r>
          </a:p>
          <a:p>
            <a:pPr algn="ctr">
              <a:lnSpc>
                <a:spcPct val="104000"/>
              </a:lnSpc>
              <a:buNone/>
              <a:defRPr sz="157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external radio / modem</a:t>
            </a:r>
          </a:p>
        </p:txBody>
      </p:sp>
      <p:cxnSp>
        <p:nvCxnSpPr>
          <p:cNvPr id="28" name="Conector recto de flecha 27"/>
          <p:cNvCxnSpPr>
            <a:stCxn id="6" idx="3"/>
            <a:endCxn id="7" idx="1"/>
          </p:cNvCxnSpPr>
          <p:nvPr/>
        </p:nvCxnSpPr>
        <p:spPr>
          <a:xfrm>
            <a:off x="2438400" y="2828925"/>
            <a:ext cx="476250" cy="0"/>
          </a:xfrm>
          <a:prstGeom prst="straightConnector1">
            <a:avLst/>
          </a:prstGeom>
          <a:ln w="19050">
            <a:solidFill>
              <a:srgbClr val="A69FA3"/>
            </a:solidFill>
            <a:prstDash val="solid"/>
            <a:tailEnd type="triangle" w="sm" len="sm"/>
          </a:ln>
        </p:spPr>
      </p:cxnSp>
      <p:cxnSp>
        <p:nvCxnSpPr>
          <p:cNvPr id="29" name="Conector recto de flecha 28"/>
          <p:cNvCxnSpPr>
            <a:stCxn id="7" idx="3"/>
            <a:endCxn id="8" idx="1"/>
          </p:cNvCxnSpPr>
          <p:nvPr/>
        </p:nvCxnSpPr>
        <p:spPr>
          <a:xfrm>
            <a:off x="4914900" y="2828925"/>
            <a:ext cx="476250" cy="0"/>
          </a:xfrm>
          <a:prstGeom prst="straightConnector1">
            <a:avLst/>
          </a:prstGeom>
          <a:ln w="19050">
            <a:solidFill>
              <a:srgbClr val="830051"/>
            </a:solidFill>
            <a:prstDash val="solid"/>
            <a:tailEnd type="triangle" w="sm" len="sm"/>
          </a:ln>
        </p:spPr>
      </p:cxnSp>
      <p:cxnSp>
        <p:nvCxnSpPr>
          <p:cNvPr id="30" name="Conector recto de flecha 29"/>
          <p:cNvCxnSpPr>
            <a:stCxn id="8" idx="3"/>
            <a:endCxn id="9" idx="1"/>
          </p:cNvCxnSpPr>
          <p:nvPr/>
        </p:nvCxnSpPr>
        <p:spPr>
          <a:xfrm>
            <a:off x="7677150" y="2828925"/>
            <a:ext cx="476250" cy="0"/>
          </a:xfrm>
          <a:prstGeom prst="straightConnector1">
            <a:avLst/>
          </a:prstGeom>
          <a:ln w="19050">
            <a:solidFill>
              <a:srgbClr val="830051"/>
            </a:solidFill>
            <a:prstDash val="solid"/>
            <a:tailEnd type="triangle" w="sm" len="sm"/>
          </a:ln>
        </p:spPr>
      </p:cxnSp>
      <p:sp>
        <p:nvSpPr>
          <p:cNvPr id="13" name="Rectángulo: esquinas redondeadas 12">
            <a:extLst>
              <a:ext uri="{FF2B5EF4-FFF2-40B4-BE49-F238E27FC236}">
                <a16:creationId xmlns:a16="http://schemas.microsoft.com/office/drawing/2014/main" id="{4F29FD8A-4288-4618-8A22-157196FE25FA}"/>
              </a:ext>
            </a:extLst>
          </p:cNvPr>
          <p:cNvSpPr>
            <a:spLocks noGrp="1"/>
          </p:cNvSpPr>
          <p:nvPr/>
        </p:nvSpPr>
        <p:spPr>
          <a:xfrm>
            <a:off x="666750" y="3905250"/>
            <a:ext cx="10858500" cy="1790700"/>
          </a:xfrm>
          <a:prstGeom prst="roundRect">
            <a:avLst>
              <a:gd name="adj" fmla="val 6383"/>
            </a:avLst>
          </a:prstGeom>
          <a:solidFill>
            <a:srgbClr val="FFFFFF"/>
          </a:solidFill>
          <a:ln w="9525">
            <a:solidFill>
              <a:srgbClr val="E7E3E5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4" name="Rectángulo 13">
            <a:extLst>
              <a:ext uri="{FF2B5EF4-FFF2-40B4-BE49-F238E27FC236}">
                <a16:creationId xmlns:a16="http://schemas.microsoft.com/office/drawing/2014/main" id="{8CDFE75D-2DD3-4A40-A487-4082F4413711}"/>
              </a:ext>
            </a:extLst>
          </p:cNvPr>
          <p:cNvSpPr>
            <a:spLocks noGrp="1"/>
          </p:cNvSpPr>
          <p:nvPr/>
        </p:nvSpPr>
        <p:spPr>
          <a:xfrm>
            <a:off x="895350" y="4133850"/>
            <a:ext cx="23622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200" b="1">
                <a:solidFill>
                  <a:srgbClr val="830051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830051"/>
                </a:solidFill>
                <a:latin typeface="Arial"/>
                <a:ea typeface="Arial"/>
                <a:cs typeface="Arial"/>
              </a:rPr>
              <a:t>WHY INVESTIGATE</a:t>
            </a:r>
          </a:p>
        </p:txBody>
      </p:sp>
      <p:sp>
        <p:nvSpPr>
          <p:cNvPr id="15" name="Rectángulo 14">
            <a:extLst>
              <a:ext uri="{FF2B5EF4-FFF2-40B4-BE49-F238E27FC236}">
                <a16:creationId xmlns:a16="http://schemas.microsoft.com/office/drawing/2014/main" id="{493378E4-28FA-4741-BA9D-23F8421740F4}"/>
              </a:ext>
            </a:extLst>
          </p:cNvPr>
          <p:cNvSpPr>
            <a:spLocks noGrp="1"/>
          </p:cNvSpPr>
          <p:nvPr/>
        </p:nvSpPr>
        <p:spPr>
          <a:xfrm>
            <a:off x="895350" y="4514850"/>
            <a:ext cx="2857500" cy="1047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00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Dual-core RISC-V</a:t>
            </a:r>
          </a:p>
          <a:p>
            <a:pPr algn="l">
              <a:lnSpc>
                <a:spcPct val="108000"/>
              </a:lnSpc>
              <a:buNone/>
              <a:defRPr sz="1500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Camera + ISP</a:t>
            </a:r>
          </a:p>
          <a:p>
            <a:pPr algn="l">
              <a:lnSpc>
                <a:spcPct val="108000"/>
              </a:lnSpc>
              <a:buNone/>
              <a:defRPr sz="1500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Hardware H.264</a:t>
            </a:r>
          </a:p>
          <a:p>
            <a:pPr algn="l">
              <a:lnSpc>
                <a:spcPct val="108000"/>
              </a:lnSpc>
              <a:buNone/>
              <a:defRPr sz="1500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Ethernet MAC</a:t>
            </a:r>
          </a:p>
        </p:txBody>
      </p:sp>
      <p:sp>
        <p:nvSpPr>
          <p:cNvPr id="16" name="Rectángulo 15">
            <a:extLst>
              <a:ext uri="{FF2B5EF4-FFF2-40B4-BE49-F238E27FC236}">
                <a16:creationId xmlns:a16="http://schemas.microsoft.com/office/drawing/2014/main" id="{C282155D-8D21-4F6B-A286-8948F21B6C3A}"/>
              </a:ext>
            </a:extLst>
          </p:cNvPr>
          <p:cNvSpPr>
            <a:spLocks noGrp="1"/>
          </p:cNvSpPr>
          <p:nvPr/>
        </p:nvSpPr>
        <p:spPr>
          <a:xfrm>
            <a:off x="4476750" y="4133850"/>
            <a:ext cx="23622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200" b="1">
                <a:solidFill>
                  <a:srgbClr val="6F686D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F686D"/>
                </a:solidFill>
                <a:latin typeface="Arial"/>
                <a:ea typeface="Arial"/>
                <a:cs typeface="Arial"/>
              </a:rPr>
              <a:t>OPEN QUESTIONS</a:t>
            </a:r>
          </a:p>
        </p:txBody>
      </p:sp>
      <p:sp>
        <p:nvSpPr>
          <p:cNvPr id="17" name="Rectángulo 16">
            <a:extLst>
              <a:ext uri="{FF2B5EF4-FFF2-40B4-BE49-F238E27FC236}">
                <a16:creationId xmlns:a16="http://schemas.microsoft.com/office/drawing/2014/main" id="{DF13E665-010D-48AA-B8A5-3FC41545C1C1}"/>
              </a:ext>
            </a:extLst>
          </p:cNvPr>
          <p:cNvSpPr>
            <a:spLocks noGrp="1"/>
          </p:cNvSpPr>
          <p:nvPr/>
        </p:nvSpPr>
        <p:spPr>
          <a:xfrm>
            <a:off x="4476750" y="4514850"/>
            <a:ext cx="6191250" cy="1047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00" b="0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1417"/>
                </a:solidFill>
                <a:latin typeface="Arial"/>
                <a:ea typeface="Arial"/>
                <a:cs typeface="Arial"/>
              </a:rPr>
              <a:t>WebRTC stack and memory budget</a:t>
            </a:r>
          </a:p>
          <a:p>
            <a:pPr algn="l">
              <a:lnSpc>
                <a:spcPct val="108000"/>
              </a:lnSpc>
              <a:buNone/>
              <a:defRPr sz="1500" b="0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1417"/>
                </a:solidFill>
                <a:latin typeface="Arial"/>
                <a:ea typeface="Arial"/>
                <a:cs typeface="Arial"/>
              </a:rPr>
              <a:t>Rust driver maturity</a:t>
            </a:r>
          </a:p>
          <a:p>
            <a:pPr algn="l">
              <a:lnSpc>
                <a:spcPct val="108000"/>
              </a:lnSpc>
              <a:buNone/>
              <a:defRPr sz="1500" b="0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1417"/>
                </a:solidFill>
                <a:latin typeface="Arial"/>
                <a:ea typeface="Arial"/>
                <a:cs typeface="Arial"/>
              </a:rPr>
              <a:t>Thermal and power envelope</a:t>
            </a:r>
          </a:p>
          <a:p>
            <a:pPr algn="l">
              <a:lnSpc>
                <a:spcPct val="108000"/>
              </a:lnSpc>
              <a:buNone/>
              <a:defRPr sz="1500" b="0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1417"/>
                </a:solidFill>
                <a:latin typeface="Arial"/>
                <a:ea typeface="Arial"/>
                <a:cs typeface="Arial"/>
              </a:rPr>
              <a:t>5G modem integration</a:t>
            </a:r>
          </a:p>
        </p:txBody>
      </p:sp>
      <p:sp>
        <p:nvSpPr>
          <p:cNvPr id="18" name="Rectángulo 17">
            <a:extLst>
              <a:ext uri="{FF2B5EF4-FFF2-40B4-BE49-F238E27FC236}">
                <a16:creationId xmlns:a16="http://schemas.microsoft.com/office/drawing/2014/main" id="{35F98F14-64C1-4F3C-913B-756E2FE5182E}"/>
              </a:ext>
            </a:extLst>
          </p:cNvPr>
          <p:cNvSpPr>
            <a:spLocks noGrp="1"/>
          </p:cNvSpPr>
          <p:nvPr/>
        </p:nvSpPr>
        <p:spPr>
          <a:xfrm>
            <a:off x="1466850" y="5886450"/>
            <a:ext cx="92583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4000"/>
              </a:lnSpc>
              <a:buNone/>
              <a:defRPr sz="1425" b="1">
                <a:solidFill>
                  <a:srgbClr val="510034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510034"/>
                </a:solidFill>
                <a:latin typeface="Arial"/>
                <a:ea typeface="Arial"/>
                <a:cs typeface="Arial"/>
              </a:rPr>
              <a:t>Espressif documents H.264 encode up to 1080p30. End-to-end feasibility still requires a prototype.</a:t>
            </a:r>
          </a:p>
        </p:txBody>
      </p:sp>
    </p:spTree>
    <p:extLst>
      <p:ext uri="{BB962C8B-B14F-4D97-AF65-F5344CB8AC3E}">
        <p14:creationId xmlns:p14="http://schemas.microsoft.com/office/powerpoint/2010/main" val="85331985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714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Imagen 8"/>
          <p:cNvPicPr>
            <a:picLocks noChangeAspect="1"/>
          </p:cNvPicPr>
          <p:nvPr/>
        </p:nvPicPr>
        <p:blipFill>
          <a:blip r:embed="rId3"/>
          <a:srcRect t="27" b="27"/>
          <a:stretch>
            <a:fillRect/>
          </a:stretch>
        </p:blipFill>
        <p:spPr>
          <a:xfrm>
            <a:off x="0" y="0"/>
            <a:ext cx="12192000" cy="6858000"/>
          </a:xfrm>
          <a:prstGeom prst="roundRect">
            <a:avLst>
              <a:gd name="adj" fmla="val 1111"/>
            </a:avLst>
          </a:prstGeom>
        </p:spPr>
      </p:pic>
      <p:sp>
        <p:nvSpPr>
          <p:cNvPr id="2" name="Rectángulo 1">
            <a:extLst>
              <a:ext uri="{FF2B5EF4-FFF2-40B4-BE49-F238E27FC236}">
                <a16:creationId xmlns:a16="http://schemas.microsoft.com/office/drawing/2014/main" id="{C10CE48B-9BFC-4BBF-B895-24F3A52485F8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428750"/>
          </a:xfrm>
          <a:prstGeom prst="rect">
            <a:avLst/>
          </a:prstGeom>
          <a:solidFill>
            <a:srgbClr val="000000">
              <a:alpha val="62000"/>
            </a:srgbClr>
          </a:solidFill>
          <a:ln w="0"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920D416F-39E1-4B6A-BD82-F3EA394368E2}"/>
              </a:ext>
            </a:extLst>
          </p:cNvPr>
          <p:cNvSpPr>
            <a:spLocks noGrp="1"/>
          </p:cNvSpPr>
          <p:nvPr/>
        </p:nvSpPr>
        <p:spPr>
          <a:xfrm>
            <a:off x="514350" y="247650"/>
            <a:ext cx="55245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POTENTIAL APPLICATIONS</a:t>
            </a:r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25494355-39FC-4612-BB4B-48ABF715D670}"/>
              </a:ext>
            </a:extLst>
          </p:cNvPr>
          <p:cNvSpPr>
            <a:spLocks noGrp="1"/>
          </p:cNvSpPr>
          <p:nvPr/>
        </p:nvSpPr>
        <p:spPr>
          <a:xfrm>
            <a:off x="514350" y="571500"/>
            <a:ext cx="1057275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4000"/>
              </a:lnSpc>
              <a:buNone/>
              <a:defRPr sz="32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Autonomous Motorway Driving with Remote Final Approach</a:t>
            </a:r>
          </a:p>
        </p:txBody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565AE33F-3F2C-4F06-A816-E1EEE0D17B8D}"/>
              </a:ext>
            </a:extLst>
          </p:cNvPr>
          <p:cNvSpPr>
            <a:spLocks noGrp="1"/>
          </p:cNvSpPr>
          <p:nvPr/>
        </p:nvSpPr>
        <p:spPr>
          <a:xfrm>
            <a:off x="0" y="4953000"/>
            <a:ext cx="12192000" cy="1905000"/>
          </a:xfrm>
          <a:prstGeom prst="rect">
            <a:avLst/>
          </a:prstGeom>
          <a:solidFill>
            <a:srgbClr val="000000">
              <a:alpha val="70000"/>
            </a:srgbClr>
          </a:solidFill>
          <a:ln w="0"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F737B2D3-9E24-404E-9E15-545D4816465B}"/>
              </a:ext>
            </a:extLst>
          </p:cNvPr>
          <p:cNvSpPr>
            <a:spLocks noGrp="1"/>
          </p:cNvSpPr>
          <p:nvPr/>
        </p:nvSpPr>
        <p:spPr>
          <a:xfrm>
            <a:off x="552450" y="5219700"/>
            <a:ext cx="8191500" cy="838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9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 truck handles the long motorway segment autonomously. A remote driver takes over for depot entry, loading areas, and other complex final manoeuvres.</a:t>
            </a:r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0E4CEA42-9524-463F-B871-F4D801D14D1D}"/>
              </a:ext>
            </a:extLst>
          </p:cNvPr>
          <p:cNvSpPr>
            <a:spLocks noGrp="1"/>
          </p:cNvSpPr>
          <p:nvPr/>
        </p:nvSpPr>
        <p:spPr>
          <a:xfrm>
            <a:off x="9010650" y="5219700"/>
            <a:ext cx="2628900" cy="1066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4000"/>
              </a:lnSpc>
              <a:buNone/>
              <a:defRPr sz="13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This project contributes the low-latency video path. Safe teleoperation also requires redundant control, vehicle safety systems, and operational approval.</a:t>
            </a:r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7DDE27EF-9022-417A-9056-80B5A929B78C}"/>
              </a:ext>
            </a:extLst>
          </p:cNvPr>
          <p:cNvSpPr>
            <a:spLocks noGrp="1"/>
          </p:cNvSpPr>
          <p:nvPr/>
        </p:nvSpPr>
        <p:spPr>
          <a:xfrm>
            <a:off x="9525000" y="6496050"/>
            <a:ext cx="2114550" cy="171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4000"/>
              </a:lnSpc>
              <a:buNone/>
              <a:defRPr sz="9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CONCEPT ILLUSTRATION</a:t>
            </a:r>
          </a:p>
        </p:txBody>
      </p:sp>
    </p:spTree>
    <p:extLst>
      <p:ext uri="{BB962C8B-B14F-4D97-AF65-F5344CB8AC3E}">
        <p14:creationId xmlns:p14="http://schemas.microsoft.com/office/powerpoint/2010/main" val="61434858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714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Imagen 12"/>
          <p:cNvPicPr>
            <a:picLocks noChangeAspect="1"/>
          </p:cNvPicPr>
          <p:nvPr/>
        </p:nvPicPr>
        <p:blipFill>
          <a:blip r:embed="rId3"/>
          <a:srcRect t="27" b="27"/>
          <a:stretch>
            <a:fillRect/>
          </a:stretch>
        </p:blipFill>
        <p:spPr>
          <a:xfrm>
            <a:off x="0" y="0"/>
            <a:ext cx="12192000" cy="6858000"/>
          </a:xfrm>
          <a:prstGeom prst="roundRect">
            <a:avLst>
              <a:gd name="adj" fmla="val 1111"/>
            </a:avLst>
          </a:prstGeom>
        </p:spPr>
      </p:pic>
      <p:sp>
        <p:nvSpPr>
          <p:cNvPr id="2" name="Rectángulo 1">
            <a:extLst>
              <a:ext uri="{FF2B5EF4-FFF2-40B4-BE49-F238E27FC236}">
                <a16:creationId xmlns:a16="http://schemas.microsoft.com/office/drawing/2014/main" id="{24607529-79C1-45A2-82E2-1718A25ED2E1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71600"/>
          </a:xfrm>
          <a:prstGeom prst="rect">
            <a:avLst/>
          </a:prstGeom>
          <a:solidFill>
            <a:srgbClr val="000000">
              <a:alpha val="58000"/>
            </a:srgbClr>
          </a:solidFill>
          <a:ln w="0"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C711203A-72ED-4C81-87C9-057255158CAD}"/>
              </a:ext>
            </a:extLst>
          </p:cNvPr>
          <p:cNvSpPr>
            <a:spLocks noGrp="1"/>
          </p:cNvSpPr>
          <p:nvPr/>
        </p:nvSpPr>
        <p:spPr>
          <a:xfrm>
            <a:off x="514350" y="228600"/>
            <a:ext cx="55245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POTENTIAL APPLICATIONS</a:t>
            </a:r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9A3E752F-69EB-4284-916E-81B5C4E5F206}"/>
              </a:ext>
            </a:extLst>
          </p:cNvPr>
          <p:cNvSpPr>
            <a:spLocks noGrp="1"/>
          </p:cNvSpPr>
          <p:nvPr/>
        </p:nvSpPr>
        <p:spPr>
          <a:xfrm>
            <a:off x="514350" y="571500"/>
            <a:ext cx="8572500" cy="609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34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Teleoperated Heavy Vehicles</a:t>
            </a:r>
          </a:p>
        </p:txBody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674CA4BF-056A-4109-8299-CF59C7D19F79}"/>
              </a:ext>
            </a:extLst>
          </p:cNvPr>
          <p:cNvSpPr>
            <a:spLocks noGrp="1"/>
          </p:cNvSpPr>
          <p:nvPr/>
        </p:nvSpPr>
        <p:spPr>
          <a:xfrm>
            <a:off x="0" y="4953000"/>
            <a:ext cx="12192000" cy="1905000"/>
          </a:xfrm>
          <a:prstGeom prst="rect">
            <a:avLst/>
          </a:prstGeom>
          <a:solidFill>
            <a:srgbClr val="000000">
              <a:alpha val="72000"/>
            </a:srgbClr>
          </a:solidFill>
          <a:ln w="0"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2A99DD78-DB96-4215-A956-C0BD1D55845A}"/>
              </a:ext>
            </a:extLst>
          </p:cNvPr>
          <p:cNvSpPr>
            <a:spLocks noGrp="1"/>
          </p:cNvSpPr>
          <p:nvPr/>
        </p:nvSpPr>
        <p:spPr>
          <a:xfrm>
            <a:off x="552450" y="5219700"/>
            <a:ext cx="333375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CRANES</a:t>
            </a:r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0C76CD3A-173F-45E8-868F-06C319AAABC9}"/>
              </a:ext>
            </a:extLst>
          </p:cNvPr>
          <p:cNvSpPr>
            <a:spLocks noGrp="1"/>
          </p:cNvSpPr>
          <p:nvPr/>
        </p:nvSpPr>
        <p:spPr>
          <a:xfrm>
            <a:off x="552450" y="5581650"/>
            <a:ext cx="3333750" cy="647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7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Move operators away from suspended loads</a:t>
            </a:r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8066C5AB-1C58-405D-B164-5F94889FDFF1}"/>
              </a:ext>
            </a:extLst>
          </p:cNvPr>
          <p:cNvSpPr>
            <a:spLocks noGrp="1"/>
          </p:cNvSpPr>
          <p:nvPr/>
        </p:nvSpPr>
        <p:spPr>
          <a:xfrm>
            <a:off x="4457700" y="5219700"/>
            <a:ext cx="333375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MINING</a:t>
            </a:r>
          </a:p>
        </p:txBody>
      </p:sp>
      <p:sp>
        <p:nvSpPr>
          <p:cNvPr id="9" name="Rectángulo 8">
            <a:extLst>
              <a:ext uri="{FF2B5EF4-FFF2-40B4-BE49-F238E27FC236}">
                <a16:creationId xmlns:a16="http://schemas.microsoft.com/office/drawing/2014/main" id="{E8D0222C-1FFC-46DA-ABBC-0BD84CB00ED5}"/>
              </a:ext>
            </a:extLst>
          </p:cNvPr>
          <p:cNvSpPr>
            <a:spLocks noGrp="1"/>
          </p:cNvSpPr>
          <p:nvPr/>
        </p:nvSpPr>
        <p:spPr>
          <a:xfrm>
            <a:off x="4457700" y="5581650"/>
            <a:ext cx="3333750" cy="647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7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Operate in dust, heat, and unstable terrain</a:t>
            </a:r>
          </a:p>
        </p:txBody>
      </p:sp>
      <p:sp>
        <p:nvSpPr>
          <p:cNvPr id="10" name="Rectángulo 9">
            <a:extLst>
              <a:ext uri="{FF2B5EF4-FFF2-40B4-BE49-F238E27FC236}">
                <a16:creationId xmlns:a16="http://schemas.microsoft.com/office/drawing/2014/main" id="{BE0E2B92-8031-4D26-8FBF-44E1EB7432BC}"/>
              </a:ext>
            </a:extLst>
          </p:cNvPr>
          <p:cNvSpPr>
            <a:spLocks noGrp="1"/>
          </p:cNvSpPr>
          <p:nvPr/>
        </p:nvSpPr>
        <p:spPr>
          <a:xfrm>
            <a:off x="8362950" y="5219700"/>
            <a:ext cx="333375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WORKBOATS</a:t>
            </a:r>
          </a:p>
        </p:txBody>
      </p:sp>
      <p:sp>
        <p:nvSpPr>
          <p:cNvPr id="11" name="Rectángulo 10">
            <a:extLst>
              <a:ext uri="{FF2B5EF4-FFF2-40B4-BE49-F238E27FC236}">
                <a16:creationId xmlns:a16="http://schemas.microsoft.com/office/drawing/2014/main" id="{55FF1748-97BC-4790-BCF1-FE9AE78A4BFE}"/>
              </a:ext>
            </a:extLst>
          </p:cNvPr>
          <p:cNvSpPr>
            <a:spLocks noGrp="1"/>
          </p:cNvSpPr>
          <p:nvPr/>
        </p:nvSpPr>
        <p:spPr>
          <a:xfrm>
            <a:off x="8362950" y="5581650"/>
            <a:ext cx="3333750" cy="647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7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Support manoeuvres in hazardous port areas</a:t>
            </a:r>
          </a:p>
        </p:txBody>
      </p:sp>
      <p:sp>
        <p:nvSpPr>
          <p:cNvPr id="12" name="Rectángulo 11">
            <a:extLst>
              <a:ext uri="{FF2B5EF4-FFF2-40B4-BE49-F238E27FC236}">
                <a16:creationId xmlns:a16="http://schemas.microsoft.com/office/drawing/2014/main" id="{CA9B1748-E8A5-483A-BCBB-1FAFEA0406EC}"/>
              </a:ext>
            </a:extLst>
          </p:cNvPr>
          <p:cNvSpPr>
            <a:spLocks noGrp="1"/>
          </p:cNvSpPr>
          <p:nvPr/>
        </p:nvSpPr>
        <p:spPr>
          <a:xfrm>
            <a:off x="3695700" y="6419850"/>
            <a:ext cx="794385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4000"/>
              </a:lnSpc>
              <a:buNone/>
              <a:defRPr sz="112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Concept only. Production systems require redundant command paths and task-specific safety engineering.</a:t>
            </a:r>
          </a:p>
        </p:txBody>
      </p:sp>
    </p:spTree>
    <p:extLst>
      <p:ext uri="{BB962C8B-B14F-4D97-AF65-F5344CB8AC3E}">
        <p14:creationId xmlns:p14="http://schemas.microsoft.com/office/powerpoint/2010/main" val="209651630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9F8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ángulo 15">
            <a:extLst>
              <a:ext uri="{FF2B5EF4-FFF2-40B4-BE49-F238E27FC236}">
                <a16:creationId xmlns:a16="http://schemas.microsoft.com/office/drawing/2014/main" id="{7D327E33-67C5-4395-AA23-705F70418201}"/>
              </a:ext>
            </a:extLst>
          </p:cNvPr>
          <p:cNvSpPr>
            <a:spLocks noGrp="1"/>
          </p:cNvSpPr>
          <p:nvPr/>
        </p:nvSpPr>
        <p:spPr>
          <a:xfrm>
            <a:off x="533400" y="266700"/>
            <a:ext cx="74295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200" b="1">
                <a:solidFill>
                  <a:srgbClr val="830051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830051"/>
                </a:solidFill>
                <a:latin typeface="Arial"/>
                <a:ea typeface="Arial"/>
                <a:cs typeface="Arial"/>
              </a:rPr>
              <a:t>DEMO / VIDEO</a:t>
            </a:r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947E90A0-597C-49E8-995F-75D2F326944D}"/>
              </a:ext>
            </a:extLst>
          </p:cNvPr>
          <p:cNvSpPr>
            <a:spLocks noGrp="1"/>
          </p:cNvSpPr>
          <p:nvPr/>
        </p:nvSpPr>
        <p:spPr>
          <a:xfrm>
            <a:off x="533400" y="590550"/>
            <a:ext cx="10477500" cy="552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4000"/>
              </a:lnSpc>
              <a:buNone/>
              <a:defRPr sz="337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Demo Setup</a:t>
            </a:r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3BAE89E8-DE3A-4498-959A-8E4EDACBA4E0}"/>
              </a:ext>
            </a:extLst>
          </p:cNvPr>
          <p:cNvSpPr>
            <a:spLocks noGrp="1"/>
          </p:cNvSpPr>
          <p:nvPr/>
        </p:nvSpPr>
        <p:spPr>
          <a:xfrm>
            <a:off x="533400" y="1257300"/>
            <a:ext cx="11125200" cy="28575"/>
          </a:xfrm>
          <a:prstGeom prst="rect">
            <a:avLst/>
          </a:prstGeom>
          <a:solidFill>
            <a:srgbClr val="830051"/>
          </a:solidFill>
          <a:ln w="0"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548C60C3-64B3-4E46-8D48-6A830D99E504}"/>
              </a:ext>
            </a:extLst>
          </p:cNvPr>
          <p:cNvSpPr>
            <a:spLocks noGrp="1"/>
          </p:cNvSpPr>
          <p:nvPr/>
        </p:nvSpPr>
        <p:spPr>
          <a:xfrm>
            <a:off x="10858500" y="6457950"/>
            <a:ext cx="8001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4000"/>
              </a:lnSpc>
              <a:buNone/>
              <a:defRPr sz="1125" b="1">
                <a:solidFill>
                  <a:srgbClr val="6F686D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6F686D"/>
                </a:solidFill>
                <a:latin typeface="Arial"/>
                <a:ea typeface="Arial"/>
                <a:cs typeface="Arial"/>
              </a:rPr>
              <a:t>30</a:t>
            </a:r>
          </a:p>
        </p:txBody>
      </p:sp>
      <p:sp>
        <p:nvSpPr>
          <p:cNvPr id="5" name="Rectángulo: esquinas redondeadas 4">
            <a:extLst>
              <a:ext uri="{FF2B5EF4-FFF2-40B4-BE49-F238E27FC236}">
                <a16:creationId xmlns:a16="http://schemas.microsoft.com/office/drawing/2014/main" id="{3DF02DA2-5B6A-47E7-BA77-2D8527C7CEC9}"/>
              </a:ext>
            </a:extLst>
          </p:cNvPr>
          <p:cNvSpPr>
            <a:spLocks noGrp="1"/>
          </p:cNvSpPr>
          <p:nvPr/>
        </p:nvSpPr>
        <p:spPr>
          <a:xfrm>
            <a:off x="571500" y="1638300"/>
            <a:ext cx="6705600" cy="3581400"/>
          </a:xfrm>
          <a:prstGeom prst="roundRect">
            <a:avLst>
              <a:gd name="adj" fmla="val 2660"/>
            </a:avLst>
          </a:prstGeom>
          <a:solidFill>
            <a:srgbClr val="FFFFFF"/>
          </a:solidFill>
          <a:ln w="9525">
            <a:solidFill>
              <a:srgbClr val="E7E3E5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pic>
        <p:nvPicPr>
          <p:cNvPr id="21" name="Imagen 20"/>
          <p:cNvPicPr>
            <a:picLocks noChangeAspect="1"/>
          </p:cNvPicPr>
          <p:nvPr/>
        </p:nvPicPr>
        <p:blipFill>
          <a:blip r:embed="rId3"/>
          <a:srcRect l="51" r="51"/>
          <a:stretch>
            <a:fillRect/>
          </a:stretch>
        </p:blipFill>
        <p:spPr>
          <a:xfrm>
            <a:off x="590550" y="1657350"/>
            <a:ext cx="6667500" cy="3543300"/>
          </a:xfrm>
          <a:prstGeom prst="roundRect">
            <a:avLst>
              <a:gd name="adj" fmla="val 2151"/>
            </a:avLst>
          </a:prstGeom>
        </p:spPr>
      </p:pic>
      <p:sp>
        <p:nvSpPr>
          <p:cNvPr id="7" name="Rectángulo 6">
            <a:extLst>
              <a:ext uri="{FF2B5EF4-FFF2-40B4-BE49-F238E27FC236}">
                <a16:creationId xmlns:a16="http://schemas.microsoft.com/office/drawing/2014/main" id="{20E4B4F0-943C-43D1-945C-489FAAA3AAF1}"/>
              </a:ext>
            </a:extLst>
          </p:cNvPr>
          <p:cNvSpPr>
            <a:spLocks noGrp="1"/>
          </p:cNvSpPr>
          <p:nvPr/>
        </p:nvSpPr>
        <p:spPr>
          <a:xfrm>
            <a:off x="7753350" y="1657350"/>
            <a:ext cx="34290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200" b="1">
                <a:solidFill>
                  <a:srgbClr val="830051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830051"/>
                </a:solidFill>
                <a:latin typeface="Arial"/>
                <a:ea typeface="Arial"/>
                <a:cs typeface="Arial"/>
              </a:rPr>
              <a:t>TWO INPUT PATHS</a:t>
            </a:r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A69BD589-DE7A-423B-B661-7B85E3F30CE5}"/>
              </a:ext>
            </a:extLst>
          </p:cNvPr>
          <p:cNvSpPr>
            <a:spLocks noGrp="1"/>
          </p:cNvSpPr>
          <p:nvPr/>
        </p:nvSpPr>
        <p:spPr>
          <a:xfrm>
            <a:off x="7753350" y="2076450"/>
            <a:ext cx="3238500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2100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Physical car</a:t>
            </a:r>
          </a:p>
        </p:txBody>
      </p:sp>
      <p:sp>
        <p:nvSpPr>
          <p:cNvPr id="9" name="Rectángulo 8">
            <a:extLst>
              <a:ext uri="{FF2B5EF4-FFF2-40B4-BE49-F238E27FC236}">
                <a16:creationId xmlns:a16="http://schemas.microsoft.com/office/drawing/2014/main" id="{E63D221F-8C47-43DC-A569-62AA645CDB19}"/>
              </a:ext>
            </a:extLst>
          </p:cNvPr>
          <p:cNvSpPr>
            <a:spLocks noGrp="1"/>
          </p:cNvSpPr>
          <p:nvPr/>
        </p:nvSpPr>
        <p:spPr>
          <a:xfrm>
            <a:off x="7753350" y="2457450"/>
            <a:ext cx="3238500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575" b="0">
                <a:solidFill>
                  <a:srgbClr val="6F686D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6F686D"/>
                </a:solidFill>
                <a:latin typeface="Arial"/>
                <a:ea typeface="Arial"/>
                <a:cs typeface="Arial"/>
              </a:rPr>
              <a:t>Raspberry Pi + C920 + mobile link</a:t>
            </a:r>
          </a:p>
        </p:txBody>
      </p:sp>
      <p:sp>
        <p:nvSpPr>
          <p:cNvPr id="10" name="Conector recto 9">
            <a:extLst>
              <a:ext uri="{FF2B5EF4-FFF2-40B4-BE49-F238E27FC236}">
                <a16:creationId xmlns:a16="http://schemas.microsoft.com/office/drawing/2014/main" id="{CD6EF109-EC45-4B26-89F7-91E9ED30071F}"/>
              </a:ext>
            </a:extLst>
          </p:cNvPr>
          <p:cNvSpPr>
            <a:spLocks noGrp="1"/>
          </p:cNvSpPr>
          <p:nvPr/>
        </p:nvSpPr>
        <p:spPr>
          <a:xfrm>
            <a:off x="7753350" y="3105150"/>
            <a:ext cx="3238500" cy="0"/>
          </a:xfrm>
          <a:prstGeom prst="line">
            <a:avLst/>
          </a:prstGeom>
          <a:noFill/>
          <a:ln w="9525">
            <a:solidFill>
              <a:srgbClr val="E7E3E5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" name="Rectángulo 10">
            <a:extLst>
              <a:ext uri="{FF2B5EF4-FFF2-40B4-BE49-F238E27FC236}">
                <a16:creationId xmlns:a16="http://schemas.microsoft.com/office/drawing/2014/main" id="{1929A87B-5FD7-4243-A0CF-2A77336DA5BF}"/>
              </a:ext>
            </a:extLst>
          </p:cNvPr>
          <p:cNvSpPr>
            <a:spLocks noGrp="1"/>
          </p:cNvSpPr>
          <p:nvPr/>
        </p:nvSpPr>
        <p:spPr>
          <a:xfrm>
            <a:off x="7753350" y="3333750"/>
            <a:ext cx="3238500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2100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Browser simulator</a:t>
            </a:r>
          </a:p>
        </p:txBody>
      </p:sp>
      <p:sp>
        <p:nvSpPr>
          <p:cNvPr id="12" name="Rectángulo 11">
            <a:extLst>
              <a:ext uri="{FF2B5EF4-FFF2-40B4-BE49-F238E27FC236}">
                <a16:creationId xmlns:a16="http://schemas.microsoft.com/office/drawing/2014/main" id="{157EAAB7-41F0-48A3-B69A-1E3752975A13}"/>
              </a:ext>
            </a:extLst>
          </p:cNvPr>
          <p:cNvSpPr>
            <a:spLocks noGrp="1"/>
          </p:cNvSpPr>
          <p:nvPr/>
        </p:nvSpPr>
        <p:spPr>
          <a:xfrm>
            <a:off x="7753350" y="3714750"/>
            <a:ext cx="3238500" cy="590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575" b="0">
                <a:solidFill>
                  <a:srgbClr val="6F686D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6F686D"/>
                </a:solidFill>
                <a:latin typeface="Arial"/>
                <a:ea typeface="Arial"/>
                <a:cs typeface="Arial"/>
              </a:rPr>
              <a:t>Countdown video captured as a WebRTC track</a:t>
            </a:r>
          </a:p>
        </p:txBody>
      </p:sp>
      <p:sp>
        <p:nvSpPr>
          <p:cNvPr id="13" name="Rectángulo: esquinas redondeadas 12">
            <a:extLst>
              <a:ext uri="{FF2B5EF4-FFF2-40B4-BE49-F238E27FC236}">
                <a16:creationId xmlns:a16="http://schemas.microsoft.com/office/drawing/2014/main" id="{13E5C0C8-EF02-4E7B-8260-370F55ED2159}"/>
              </a:ext>
            </a:extLst>
          </p:cNvPr>
          <p:cNvSpPr>
            <a:spLocks noGrp="1"/>
          </p:cNvSpPr>
          <p:nvPr/>
        </p:nvSpPr>
        <p:spPr>
          <a:xfrm>
            <a:off x="590550" y="5543550"/>
            <a:ext cx="10744200" cy="590550"/>
          </a:xfrm>
          <a:prstGeom prst="roundRect">
            <a:avLst>
              <a:gd name="adj" fmla="val 16129"/>
            </a:avLst>
          </a:prstGeom>
          <a:solidFill>
            <a:srgbClr val="F5EDF2"/>
          </a:solidFill>
          <a:ln w="0"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14" name="Rectángulo 13">
            <a:extLst>
              <a:ext uri="{FF2B5EF4-FFF2-40B4-BE49-F238E27FC236}">
                <a16:creationId xmlns:a16="http://schemas.microsoft.com/office/drawing/2014/main" id="{6BAEC851-9FA2-4C56-87CA-216CCD830040}"/>
              </a:ext>
            </a:extLst>
          </p:cNvPr>
          <p:cNvSpPr>
            <a:spLocks noGrp="1"/>
          </p:cNvSpPr>
          <p:nvPr/>
        </p:nvSpPr>
        <p:spPr>
          <a:xfrm>
            <a:off x="819150" y="5695950"/>
            <a:ext cx="102870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4000"/>
              </a:lnSpc>
              <a:buNone/>
              <a:defRPr sz="1500" b="1">
                <a:solidFill>
                  <a:srgbClr val="51003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510034"/>
                </a:solidFill>
                <a:latin typeface="Arial"/>
                <a:ea typeface="Arial"/>
                <a:cs typeface="Arial"/>
              </a:rPr>
              <a:t>Audience checklist: SignalR, SDP offer/answer, ICE candidate type, connection state, live video</a:t>
            </a:r>
          </a:p>
        </p:txBody>
      </p:sp>
      <p:sp>
        <p:nvSpPr>
          <p:cNvPr id="15" name="Rectángulo 14">
            <a:extLst>
              <a:ext uri="{FF2B5EF4-FFF2-40B4-BE49-F238E27FC236}">
                <a16:creationId xmlns:a16="http://schemas.microsoft.com/office/drawing/2014/main" id="{50E81C59-B980-4994-9D06-7718D0904B05}"/>
              </a:ext>
            </a:extLst>
          </p:cNvPr>
          <p:cNvSpPr>
            <a:spLocks noGrp="1"/>
          </p:cNvSpPr>
          <p:nvPr/>
        </p:nvSpPr>
        <p:spPr>
          <a:xfrm>
            <a:off x="1562100" y="5219700"/>
            <a:ext cx="4724400" cy="209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4000"/>
              </a:lnSpc>
              <a:buNone/>
              <a:defRPr sz="1125" b="0">
                <a:solidFill>
                  <a:srgbClr val="6F686D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6F686D"/>
                </a:solidFill>
                <a:latin typeface="Arial"/>
                <a:ea typeface="Arial"/>
                <a:cs typeface="Arial"/>
              </a:rPr>
              <a:t>The selector lists prototype entries; it is not a production fleet registry.</a:t>
            </a:r>
          </a:p>
        </p:txBody>
      </p:sp>
    </p:spTree>
    <p:extLst>
      <p:ext uri="{BB962C8B-B14F-4D97-AF65-F5344CB8AC3E}">
        <p14:creationId xmlns:p14="http://schemas.microsoft.com/office/powerpoint/2010/main" val="99670419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9F8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Rectángulo 25">
            <a:extLst>
              <a:ext uri="{FF2B5EF4-FFF2-40B4-BE49-F238E27FC236}">
                <a16:creationId xmlns:a16="http://schemas.microsoft.com/office/drawing/2014/main" id="{9C1F6566-7FAF-43D8-B437-5E48C9672EC4}"/>
              </a:ext>
            </a:extLst>
          </p:cNvPr>
          <p:cNvSpPr>
            <a:spLocks noGrp="1"/>
          </p:cNvSpPr>
          <p:nvPr/>
        </p:nvSpPr>
        <p:spPr>
          <a:xfrm>
            <a:off x="533400" y="266700"/>
            <a:ext cx="74295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200" b="1">
                <a:solidFill>
                  <a:srgbClr val="830051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830051"/>
                </a:solidFill>
                <a:latin typeface="Arial"/>
                <a:ea typeface="Arial"/>
                <a:cs typeface="Arial"/>
              </a:rPr>
              <a:t>DEMO / VIDEO</a:t>
            </a:r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DAC06D5A-408D-4A07-B223-C07D60BD48D4}"/>
              </a:ext>
            </a:extLst>
          </p:cNvPr>
          <p:cNvSpPr>
            <a:spLocks noGrp="1"/>
          </p:cNvSpPr>
          <p:nvPr/>
        </p:nvSpPr>
        <p:spPr>
          <a:xfrm>
            <a:off x="533400" y="590550"/>
            <a:ext cx="10477500" cy="552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4000"/>
              </a:lnSpc>
              <a:buNone/>
              <a:defRPr sz="337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Live Demo Sequence</a:t>
            </a:r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C2FE53EF-E845-4E1A-8E5A-88B6DD0E0675}"/>
              </a:ext>
            </a:extLst>
          </p:cNvPr>
          <p:cNvSpPr>
            <a:spLocks noGrp="1"/>
          </p:cNvSpPr>
          <p:nvPr/>
        </p:nvSpPr>
        <p:spPr>
          <a:xfrm>
            <a:off x="533400" y="1257300"/>
            <a:ext cx="11125200" cy="28575"/>
          </a:xfrm>
          <a:prstGeom prst="rect">
            <a:avLst/>
          </a:prstGeom>
          <a:solidFill>
            <a:srgbClr val="830051"/>
          </a:solidFill>
          <a:ln w="0"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6B25B9F2-F082-447E-887E-69E33C6DA048}"/>
              </a:ext>
            </a:extLst>
          </p:cNvPr>
          <p:cNvSpPr>
            <a:spLocks noGrp="1"/>
          </p:cNvSpPr>
          <p:nvPr/>
        </p:nvSpPr>
        <p:spPr>
          <a:xfrm>
            <a:off x="10858500" y="6457950"/>
            <a:ext cx="8001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4000"/>
              </a:lnSpc>
              <a:buNone/>
              <a:defRPr sz="1125" b="1">
                <a:solidFill>
                  <a:srgbClr val="6F686D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6F686D"/>
                </a:solidFill>
                <a:latin typeface="Arial"/>
                <a:ea typeface="Arial"/>
                <a:cs typeface="Arial"/>
              </a:rPr>
              <a:t>31</a:t>
            </a:r>
          </a:p>
        </p:txBody>
      </p:sp>
      <p:sp>
        <p:nvSpPr>
          <p:cNvPr id="5" name="Rectángulo: esquinas redondeadas 4">
            <a:extLst>
              <a:ext uri="{FF2B5EF4-FFF2-40B4-BE49-F238E27FC236}">
                <a16:creationId xmlns:a16="http://schemas.microsoft.com/office/drawing/2014/main" id="{E5F5E854-C8F1-49DA-A8F7-DA3CBB31B480}"/>
              </a:ext>
            </a:extLst>
          </p:cNvPr>
          <p:cNvSpPr>
            <a:spLocks noGrp="1"/>
          </p:cNvSpPr>
          <p:nvPr/>
        </p:nvSpPr>
        <p:spPr>
          <a:xfrm>
            <a:off x="647700" y="1657350"/>
            <a:ext cx="514350" cy="514350"/>
          </a:xfrm>
          <a:prstGeom prst="roundRect">
            <a:avLst>
              <a:gd name="adj" fmla="val 50000"/>
            </a:avLst>
          </a:prstGeom>
          <a:solidFill>
            <a:srgbClr val="830051"/>
          </a:solidFill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4000"/>
              </a:lnSpc>
              <a:buNone/>
              <a:defRPr sz="18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FD0E020F-7867-4BC2-9253-3729F885B8FD}"/>
              </a:ext>
            </a:extLst>
          </p:cNvPr>
          <p:cNvSpPr>
            <a:spLocks noGrp="1"/>
          </p:cNvSpPr>
          <p:nvPr/>
        </p:nvSpPr>
        <p:spPr>
          <a:xfrm>
            <a:off x="1352550" y="1657350"/>
            <a:ext cx="2781300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87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Start server</a:t>
            </a:r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50D5FE07-8503-40C1-8241-164490F8E46E}"/>
              </a:ext>
            </a:extLst>
          </p:cNvPr>
          <p:cNvSpPr>
            <a:spLocks noGrp="1"/>
          </p:cNvSpPr>
          <p:nvPr/>
        </p:nvSpPr>
        <p:spPr>
          <a:xfrm>
            <a:off x="1352550" y="2085975"/>
            <a:ext cx="2781300" cy="533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500" b="0">
                <a:solidFill>
                  <a:srgbClr val="6F686D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6F686D"/>
                </a:solidFill>
                <a:latin typeface="Arial"/>
                <a:ea typeface="Arial"/>
                <a:cs typeface="Arial"/>
              </a:rPr>
              <a:t>Open the selector page</a:t>
            </a:r>
          </a:p>
        </p:txBody>
      </p:sp>
      <p:sp>
        <p:nvSpPr>
          <p:cNvPr id="8" name="Rectángulo: esquinas redondeadas 7">
            <a:extLst>
              <a:ext uri="{FF2B5EF4-FFF2-40B4-BE49-F238E27FC236}">
                <a16:creationId xmlns:a16="http://schemas.microsoft.com/office/drawing/2014/main" id="{342C8493-9B9A-4FB9-93A5-3A35D0AB9F0D}"/>
              </a:ext>
            </a:extLst>
          </p:cNvPr>
          <p:cNvSpPr>
            <a:spLocks noGrp="1"/>
          </p:cNvSpPr>
          <p:nvPr/>
        </p:nvSpPr>
        <p:spPr>
          <a:xfrm>
            <a:off x="4457700" y="1657350"/>
            <a:ext cx="514350" cy="514350"/>
          </a:xfrm>
          <a:prstGeom prst="roundRect">
            <a:avLst>
              <a:gd name="adj" fmla="val 50000"/>
            </a:avLst>
          </a:prstGeom>
          <a:solidFill>
            <a:srgbClr val="830051"/>
          </a:solidFill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4000"/>
              </a:lnSpc>
              <a:buNone/>
              <a:defRPr sz="18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9" name="Rectángulo 8">
            <a:extLst>
              <a:ext uri="{FF2B5EF4-FFF2-40B4-BE49-F238E27FC236}">
                <a16:creationId xmlns:a16="http://schemas.microsoft.com/office/drawing/2014/main" id="{BD1A803A-38C1-4E0D-AA62-16FFD4373ED8}"/>
              </a:ext>
            </a:extLst>
          </p:cNvPr>
          <p:cNvSpPr>
            <a:spLocks noGrp="1"/>
          </p:cNvSpPr>
          <p:nvPr/>
        </p:nvSpPr>
        <p:spPr>
          <a:xfrm>
            <a:off x="5162550" y="1657350"/>
            <a:ext cx="2781300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87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Start device</a:t>
            </a:r>
          </a:p>
        </p:txBody>
      </p:sp>
      <p:sp>
        <p:nvSpPr>
          <p:cNvPr id="10" name="Rectángulo 9">
            <a:extLst>
              <a:ext uri="{FF2B5EF4-FFF2-40B4-BE49-F238E27FC236}">
                <a16:creationId xmlns:a16="http://schemas.microsoft.com/office/drawing/2014/main" id="{BBE507E6-73A1-42D9-96AB-63989FF0A8BE}"/>
              </a:ext>
            </a:extLst>
          </p:cNvPr>
          <p:cNvSpPr>
            <a:spLocks noGrp="1"/>
          </p:cNvSpPr>
          <p:nvPr/>
        </p:nvSpPr>
        <p:spPr>
          <a:xfrm>
            <a:off x="5162550" y="2085975"/>
            <a:ext cx="2781300" cy="533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500" b="0">
                <a:solidFill>
                  <a:srgbClr val="6F686D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6F686D"/>
                </a:solidFill>
                <a:latin typeface="Arial"/>
                <a:ea typeface="Arial"/>
                <a:cs typeface="Arial"/>
              </a:rPr>
              <a:t>Use the car or simulator</a:t>
            </a:r>
          </a:p>
        </p:txBody>
      </p:sp>
      <p:sp>
        <p:nvSpPr>
          <p:cNvPr id="11" name="Rectángulo: esquinas redondeadas 10">
            <a:extLst>
              <a:ext uri="{FF2B5EF4-FFF2-40B4-BE49-F238E27FC236}">
                <a16:creationId xmlns:a16="http://schemas.microsoft.com/office/drawing/2014/main" id="{0778B74F-4A68-464D-BE69-F889CE327143}"/>
              </a:ext>
            </a:extLst>
          </p:cNvPr>
          <p:cNvSpPr>
            <a:spLocks noGrp="1"/>
          </p:cNvSpPr>
          <p:nvPr/>
        </p:nvSpPr>
        <p:spPr>
          <a:xfrm>
            <a:off x="8267700" y="1657350"/>
            <a:ext cx="514350" cy="514350"/>
          </a:xfrm>
          <a:prstGeom prst="roundRect">
            <a:avLst>
              <a:gd name="adj" fmla="val 50000"/>
            </a:avLst>
          </a:prstGeom>
          <a:solidFill>
            <a:srgbClr val="830051"/>
          </a:solidFill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4000"/>
              </a:lnSpc>
              <a:buNone/>
              <a:defRPr sz="18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2" name="Rectángulo 11">
            <a:extLst>
              <a:ext uri="{FF2B5EF4-FFF2-40B4-BE49-F238E27FC236}">
                <a16:creationId xmlns:a16="http://schemas.microsoft.com/office/drawing/2014/main" id="{DB1F277E-6A54-4CAA-BB9C-D084609D9722}"/>
              </a:ext>
            </a:extLst>
          </p:cNvPr>
          <p:cNvSpPr>
            <a:spLocks noGrp="1"/>
          </p:cNvSpPr>
          <p:nvPr/>
        </p:nvSpPr>
        <p:spPr>
          <a:xfrm>
            <a:off x="8972550" y="1657350"/>
            <a:ext cx="2781300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87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Open viewer</a:t>
            </a:r>
          </a:p>
        </p:txBody>
      </p:sp>
      <p:sp>
        <p:nvSpPr>
          <p:cNvPr id="13" name="Rectángulo 12">
            <a:extLst>
              <a:ext uri="{FF2B5EF4-FFF2-40B4-BE49-F238E27FC236}">
                <a16:creationId xmlns:a16="http://schemas.microsoft.com/office/drawing/2014/main" id="{CBFB7B23-6A6A-4004-A241-84B50F819FB4}"/>
              </a:ext>
            </a:extLst>
          </p:cNvPr>
          <p:cNvSpPr>
            <a:spLocks noGrp="1"/>
          </p:cNvSpPr>
          <p:nvPr/>
        </p:nvSpPr>
        <p:spPr>
          <a:xfrm>
            <a:off x="8972550" y="2085975"/>
            <a:ext cx="2781300" cy="533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500" b="0">
                <a:solidFill>
                  <a:srgbClr val="6F686D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6F686D"/>
                </a:solidFill>
                <a:latin typeface="Arial"/>
                <a:ea typeface="Arial"/>
                <a:cs typeface="Arial"/>
              </a:rPr>
              <a:t>Viewer join triggers the offer</a:t>
            </a:r>
          </a:p>
        </p:txBody>
      </p:sp>
      <p:sp>
        <p:nvSpPr>
          <p:cNvPr id="14" name="Rectángulo: esquinas redondeadas 13">
            <a:extLst>
              <a:ext uri="{FF2B5EF4-FFF2-40B4-BE49-F238E27FC236}">
                <a16:creationId xmlns:a16="http://schemas.microsoft.com/office/drawing/2014/main" id="{63B7AB45-2B6F-4C25-80CD-58FF36D49324}"/>
              </a:ext>
            </a:extLst>
          </p:cNvPr>
          <p:cNvSpPr>
            <a:spLocks noGrp="1"/>
          </p:cNvSpPr>
          <p:nvPr/>
        </p:nvSpPr>
        <p:spPr>
          <a:xfrm>
            <a:off x="647700" y="3467100"/>
            <a:ext cx="514350" cy="514350"/>
          </a:xfrm>
          <a:prstGeom prst="roundRect">
            <a:avLst>
              <a:gd name="adj" fmla="val 50000"/>
            </a:avLst>
          </a:prstGeom>
          <a:solidFill>
            <a:srgbClr val="830051"/>
          </a:solidFill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4000"/>
              </a:lnSpc>
              <a:buNone/>
              <a:defRPr sz="18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15" name="Rectángulo 14">
            <a:extLst>
              <a:ext uri="{FF2B5EF4-FFF2-40B4-BE49-F238E27FC236}">
                <a16:creationId xmlns:a16="http://schemas.microsoft.com/office/drawing/2014/main" id="{230EAAFC-5BB6-442B-BD5B-3398EA4526C0}"/>
              </a:ext>
            </a:extLst>
          </p:cNvPr>
          <p:cNvSpPr>
            <a:spLocks noGrp="1"/>
          </p:cNvSpPr>
          <p:nvPr/>
        </p:nvSpPr>
        <p:spPr>
          <a:xfrm>
            <a:off x="1352550" y="3467100"/>
            <a:ext cx="2781300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87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Exchange SDP + ICE</a:t>
            </a:r>
          </a:p>
        </p:txBody>
      </p:sp>
      <p:sp>
        <p:nvSpPr>
          <p:cNvPr id="16" name="Rectángulo 15">
            <a:extLst>
              <a:ext uri="{FF2B5EF4-FFF2-40B4-BE49-F238E27FC236}">
                <a16:creationId xmlns:a16="http://schemas.microsoft.com/office/drawing/2014/main" id="{B213219E-D324-4816-8C77-06F45DB2F9F2}"/>
              </a:ext>
            </a:extLst>
          </p:cNvPr>
          <p:cNvSpPr>
            <a:spLocks noGrp="1"/>
          </p:cNvSpPr>
          <p:nvPr/>
        </p:nvSpPr>
        <p:spPr>
          <a:xfrm>
            <a:off x="1352550" y="3895725"/>
            <a:ext cx="2781300" cy="533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500" b="0">
                <a:solidFill>
                  <a:srgbClr val="6F686D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6F686D"/>
                </a:solidFill>
                <a:latin typeface="Arial"/>
                <a:ea typeface="Arial"/>
                <a:cs typeface="Arial"/>
              </a:rPr>
              <a:t>SignalR carries both</a:t>
            </a:r>
          </a:p>
        </p:txBody>
      </p:sp>
      <p:sp>
        <p:nvSpPr>
          <p:cNvPr id="17" name="Rectángulo: esquinas redondeadas 16">
            <a:extLst>
              <a:ext uri="{FF2B5EF4-FFF2-40B4-BE49-F238E27FC236}">
                <a16:creationId xmlns:a16="http://schemas.microsoft.com/office/drawing/2014/main" id="{EE9BACCA-47E1-45EE-AB96-3215FBD397AC}"/>
              </a:ext>
            </a:extLst>
          </p:cNvPr>
          <p:cNvSpPr>
            <a:spLocks noGrp="1"/>
          </p:cNvSpPr>
          <p:nvPr/>
        </p:nvSpPr>
        <p:spPr>
          <a:xfrm>
            <a:off x="4457700" y="3467100"/>
            <a:ext cx="514350" cy="514350"/>
          </a:xfrm>
          <a:prstGeom prst="roundRect">
            <a:avLst>
              <a:gd name="adj" fmla="val 50000"/>
            </a:avLst>
          </a:prstGeom>
          <a:solidFill>
            <a:srgbClr val="830051"/>
          </a:solidFill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4000"/>
              </a:lnSpc>
              <a:buNone/>
              <a:defRPr sz="18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18" name="Rectángulo 17">
            <a:extLst>
              <a:ext uri="{FF2B5EF4-FFF2-40B4-BE49-F238E27FC236}">
                <a16:creationId xmlns:a16="http://schemas.microsoft.com/office/drawing/2014/main" id="{C4A10371-A3A4-429E-8B4A-9E99FFB65E4C}"/>
              </a:ext>
            </a:extLst>
          </p:cNvPr>
          <p:cNvSpPr>
            <a:spLocks noGrp="1"/>
          </p:cNvSpPr>
          <p:nvPr/>
        </p:nvSpPr>
        <p:spPr>
          <a:xfrm>
            <a:off x="5162550" y="3467100"/>
            <a:ext cx="2781300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87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Inspect selected path</a:t>
            </a:r>
          </a:p>
        </p:txBody>
      </p:sp>
      <p:sp>
        <p:nvSpPr>
          <p:cNvPr id="19" name="Rectángulo 18">
            <a:extLst>
              <a:ext uri="{FF2B5EF4-FFF2-40B4-BE49-F238E27FC236}">
                <a16:creationId xmlns:a16="http://schemas.microsoft.com/office/drawing/2014/main" id="{C38D0CB8-D3ED-4A07-8882-18BA5FAF1BD5}"/>
              </a:ext>
            </a:extLst>
          </p:cNvPr>
          <p:cNvSpPr>
            <a:spLocks noGrp="1"/>
          </p:cNvSpPr>
          <p:nvPr/>
        </p:nvSpPr>
        <p:spPr>
          <a:xfrm>
            <a:off x="5162550" y="3895725"/>
            <a:ext cx="2781300" cy="533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500" b="0">
                <a:solidFill>
                  <a:srgbClr val="6F686D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6F686D"/>
                </a:solidFill>
                <a:latin typeface="Arial"/>
                <a:ea typeface="Arial"/>
                <a:cs typeface="Arial"/>
              </a:rPr>
              <a:t>host, srflx, or relay</a:t>
            </a:r>
          </a:p>
        </p:txBody>
      </p:sp>
      <p:sp>
        <p:nvSpPr>
          <p:cNvPr id="20" name="Rectángulo: esquinas redondeadas 19">
            <a:extLst>
              <a:ext uri="{FF2B5EF4-FFF2-40B4-BE49-F238E27FC236}">
                <a16:creationId xmlns:a16="http://schemas.microsoft.com/office/drawing/2014/main" id="{77A24E0A-AE63-4A7F-868F-2FEE60D1D9E9}"/>
              </a:ext>
            </a:extLst>
          </p:cNvPr>
          <p:cNvSpPr>
            <a:spLocks noGrp="1"/>
          </p:cNvSpPr>
          <p:nvPr/>
        </p:nvSpPr>
        <p:spPr>
          <a:xfrm>
            <a:off x="8267700" y="3467100"/>
            <a:ext cx="514350" cy="514350"/>
          </a:xfrm>
          <a:prstGeom prst="roundRect">
            <a:avLst>
              <a:gd name="adj" fmla="val 50000"/>
            </a:avLst>
          </a:prstGeom>
          <a:solidFill>
            <a:srgbClr val="830051"/>
          </a:solidFill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4000"/>
              </a:lnSpc>
              <a:buNone/>
              <a:defRPr sz="18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>
        <p:nvSpPr>
          <p:cNvPr id="21" name="Rectángulo 20">
            <a:extLst>
              <a:ext uri="{FF2B5EF4-FFF2-40B4-BE49-F238E27FC236}">
                <a16:creationId xmlns:a16="http://schemas.microsoft.com/office/drawing/2014/main" id="{55059A3C-7EC1-44F1-836E-8DD1A07E7920}"/>
              </a:ext>
            </a:extLst>
          </p:cNvPr>
          <p:cNvSpPr>
            <a:spLocks noGrp="1"/>
          </p:cNvSpPr>
          <p:nvPr/>
        </p:nvSpPr>
        <p:spPr>
          <a:xfrm>
            <a:off x="8972550" y="3467100"/>
            <a:ext cx="2781300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87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Show live video</a:t>
            </a:r>
          </a:p>
        </p:txBody>
      </p:sp>
      <p:sp>
        <p:nvSpPr>
          <p:cNvPr id="22" name="Rectángulo 21">
            <a:extLst>
              <a:ext uri="{FF2B5EF4-FFF2-40B4-BE49-F238E27FC236}">
                <a16:creationId xmlns:a16="http://schemas.microsoft.com/office/drawing/2014/main" id="{D0D51A75-2087-4824-BCB5-FCAD5F62EE1D}"/>
              </a:ext>
            </a:extLst>
          </p:cNvPr>
          <p:cNvSpPr>
            <a:spLocks noGrp="1"/>
          </p:cNvSpPr>
          <p:nvPr/>
        </p:nvSpPr>
        <p:spPr>
          <a:xfrm>
            <a:off x="8972550" y="3895725"/>
            <a:ext cx="2781300" cy="533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500" b="0">
                <a:solidFill>
                  <a:srgbClr val="6F686D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6F686D"/>
                </a:solidFill>
                <a:latin typeface="Arial"/>
                <a:ea typeface="Arial"/>
                <a:cs typeface="Arial"/>
              </a:rPr>
              <a:t>Demonstrate the latency target</a:t>
            </a:r>
          </a:p>
        </p:txBody>
      </p:sp>
      <p:sp>
        <p:nvSpPr>
          <p:cNvPr id="23" name="Rectángulo: esquinas redondeadas 22">
            <a:extLst>
              <a:ext uri="{FF2B5EF4-FFF2-40B4-BE49-F238E27FC236}">
                <a16:creationId xmlns:a16="http://schemas.microsoft.com/office/drawing/2014/main" id="{DE23BA1B-4095-4B67-BC5B-7ACAF1E7F9ED}"/>
              </a:ext>
            </a:extLst>
          </p:cNvPr>
          <p:cNvSpPr>
            <a:spLocks noGrp="1"/>
          </p:cNvSpPr>
          <p:nvPr/>
        </p:nvSpPr>
        <p:spPr>
          <a:xfrm>
            <a:off x="647700" y="5467350"/>
            <a:ext cx="10896600" cy="647700"/>
          </a:xfrm>
          <a:prstGeom prst="roundRect">
            <a:avLst>
              <a:gd name="adj" fmla="val 14706"/>
            </a:avLst>
          </a:prstGeom>
          <a:solidFill>
            <a:srgbClr val="F5EDF2"/>
          </a:solidFill>
          <a:ln w="0"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24" name="Rectángulo 23">
            <a:extLst>
              <a:ext uri="{FF2B5EF4-FFF2-40B4-BE49-F238E27FC236}">
                <a16:creationId xmlns:a16="http://schemas.microsoft.com/office/drawing/2014/main" id="{5C00920E-46DD-4441-BAA8-DA2817A40AC0}"/>
              </a:ext>
            </a:extLst>
          </p:cNvPr>
          <p:cNvSpPr>
            <a:spLocks noGrp="1"/>
          </p:cNvSpPr>
          <p:nvPr/>
        </p:nvSpPr>
        <p:spPr>
          <a:xfrm>
            <a:off x="857250" y="5638800"/>
            <a:ext cx="22479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425" b="1">
                <a:solidFill>
                  <a:srgbClr val="510034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510034"/>
                </a:solidFill>
                <a:latin typeface="Arial"/>
                <a:ea typeface="Arial"/>
                <a:cs typeface="Arial"/>
              </a:rPr>
              <a:t>Demo ordering detail</a:t>
            </a:r>
          </a:p>
        </p:txBody>
      </p:sp>
      <p:sp>
        <p:nvSpPr>
          <p:cNvPr id="25" name="Rectángulo 24">
            <a:extLst>
              <a:ext uri="{FF2B5EF4-FFF2-40B4-BE49-F238E27FC236}">
                <a16:creationId xmlns:a16="http://schemas.microsoft.com/office/drawing/2014/main" id="{AEEB818D-208E-4375-8A43-8604CA6472A3}"/>
              </a:ext>
            </a:extLst>
          </p:cNvPr>
          <p:cNvSpPr>
            <a:spLocks noGrp="1"/>
          </p:cNvSpPr>
          <p:nvPr/>
        </p:nvSpPr>
        <p:spPr>
          <a:xfrm>
            <a:off x="3105150" y="5591175"/>
            <a:ext cx="8172450" cy="381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4000"/>
              </a:lnSpc>
              <a:buNone/>
              <a:defRPr sz="1425" b="0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171417"/>
                </a:solidFill>
                <a:latin typeface="Arial"/>
                <a:ea typeface="Arial"/>
                <a:cs typeface="Arial"/>
              </a:rPr>
              <a:t>The real device creates an offer when it receives ClientJoined. Start it before opening or reloading the viewer page.</a:t>
            </a:r>
          </a:p>
        </p:txBody>
      </p:sp>
    </p:spTree>
    <p:extLst>
      <p:ext uri="{BB962C8B-B14F-4D97-AF65-F5344CB8AC3E}">
        <p14:creationId xmlns:p14="http://schemas.microsoft.com/office/powerpoint/2010/main" val="106518628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9F8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ángulo 11">
            <a:extLst>
              <a:ext uri="{FF2B5EF4-FFF2-40B4-BE49-F238E27FC236}">
                <a16:creationId xmlns:a16="http://schemas.microsoft.com/office/drawing/2014/main" id="{19D6B75E-0FF6-4830-871D-C5AC8A7AE25B}"/>
              </a:ext>
            </a:extLst>
          </p:cNvPr>
          <p:cNvSpPr>
            <a:spLocks noGrp="1"/>
          </p:cNvSpPr>
          <p:nvPr/>
        </p:nvSpPr>
        <p:spPr>
          <a:xfrm>
            <a:off x="533400" y="266700"/>
            <a:ext cx="74295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200" b="1">
                <a:solidFill>
                  <a:srgbClr val="830051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830051"/>
                </a:solidFill>
                <a:latin typeface="Arial"/>
                <a:ea typeface="Arial"/>
                <a:cs typeface="Arial"/>
              </a:rPr>
              <a:t>DEMO / VIDEO</a:t>
            </a:r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C04A9D71-E416-4C6F-BA8A-8A94336F9292}"/>
              </a:ext>
            </a:extLst>
          </p:cNvPr>
          <p:cNvSpPr>
            <a:spLocks noGrp="1"/>
          </p:cNvSpPr>
          <p:nvPr/>
        </p:nvSpPr>
        <p:spPr>
          <a:xfrm>
            <a:off x="533400" y="590550"/>
            <a:ext cx="10477500" cy="552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4000"/>
              </a:lnSpc>
              <a:buNone/>
              <a:defRPr sz="337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Fallback Video</a:t>
            </a:r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22285E20-A81C-4A83-843D-9C9E7863E57C}"/>
              </a:ext>
            </a:extLst>
          </p:cNvPr>
          <p:cNvSpPr>
            <a:spLocks noGrp="1"/>
          </p:cNvSpPr>
          <p:nvPr/>
        </p:nvSpPr>
        <p:spPr>
          <a:xfrm>
            <a:off x="533400" y="1257300"/>
            <a:ext cx="11125200" cy="28575"/>
          </a:xfrm>
          <a:prstGeom prst="rect">
            <a:avLst/>
          </a:prstGeom>
          <a:solidFill>
            <a:srgbClr val="830051"/>
          </a:solidFill>
          <a:ln w="0"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2EDF4E9C-DC01-4A6B-A7A5-6EE93A2C685C}"/>
              </a:ext>
            </a:extLst>
          </p:cNvPr>
          <p:cNvSpPr>
            <a:spLocks noGrp="1"/>
          </p:cNvSpPr>
          <p:nvPr/>
        </p:nvSpPr>
        <p:spPr>
          <a:xfrm>
            <a:off x="10858500" y="6457950"/>
            <a:ext cx="8001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4000"/>
              </a:lnSpc>
              <a:buNone/>
              <a:defRPr sz="1125" b="1">
                <a:solidFill>
                  <a:srgbClr val="6F686D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6F686D"/>
                </a:solidFill>
                <a:latin typeface="Arial"/>
                <a:ea typeface="Arial"/>
                <a:cs typeface="Arial"/>
              </a:rPr>
              <a:t>32</a:t>
            </a:r>
          </a:p>
        </p:txBody>
      </p:sp>
      <p:sp>
        <p:nvSpPr>
          <p:cNvPr id="5" name="Rectángulo: esquinas redondeadas 4">
            <a:extLst>
              <a:ext uri="{FF2B5EF4-FFF2-40B4-BE49-F238E27FC236}">
                <a16:creationId xmlns:a16="http://schemas.microsoft.com/office/drawing/2014/main" id="{66BC364A-FB21-4252-8EE4-469F4DB4D45B}"/>
              </a:ext>
            </a:extLst>
          </p:cNvPr>
          <p:cNvSpPr>
            <a:spLocks noGrp="1"/>
          </p:cNvSpPr>
          <p:nvPr/>
        </p:nvSpPr>
        <p:spPr>
          <a:xfrm>
            <a:off x="781050" y="1581150"/>
            <a:ext cx="10629900" cy="4552950"/>
          </a:xfrm>
          <a:prstGeom prst="roundRect">
            <a:avLst>
              <a:gd name="adj" fmla="val 2510"/>
            </a:avLst>
          </a:prstGeom>
          <a:solidFill>
            <a:srgbClr val="171417"/>
          </a:solidFill>
          <a:ln w="28575">
            <a:solidFill>
              <a:srgbClr val="83005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pic>
        <p:nvPicPr>
          <p:cNvPr id="17" name="Imagen 16"/>
          <p:cNvPicPr>
            <a:picLocks noChangeAspect="1"/>
          </p:cNvPicPr>
          <p:nvPr/>
        </p:nvPicPr>
        <p:blipFill>
          <a:blip r:embed="rId3"/>
          <a:srcRect t="13235" b="13235"/>
          <a:stretch>
            <a:fillRect/>
          </a:stretch>
        </p:blipFill>
        <p:spPr>
          <a:xfrm>
            <a:off x="914400" y="1714500"/>
            <a:ext cx="10363200" cy="4286250"/>
          </a:xfrm>
          <a:prstGeom prst="roundRect">
            <a:avLst>
              <a:gd name="adj" fmla="val 1778"/>
            </a:avLst>
          </a:prstGeom>
        </p:spPr>
      </p:pic>
      <p:sp>
        <p:nvSpPr>
          <p:cNvPr id="7" name="Rectángulo 6">
            <a:extLst>
              <a:ext uri="{FF2B5EF4-FFF2-40B4-BE49-F238E27FC236}">
                <a16:creationId xmlns:a16="http://schemas.microsoft.com/office/drawing/2014/main" id="{54646A5D-3F95-4337-8E56-7AD8C094170B}"/>
              </a:ext>
            </a:extLst>
          </p:cNvPr>
          <p:cNvSpPr>
            <a:spLocks noGrp="1"/>
          </p:cNvSpPr>
          <p:nvPr/>
        </p:nvSpPr>
        <p:spPr>
          <a:xfrm>
            <a:off x="914400" y="1714500"/>
            <a:ext cx="10363200" cy="723900"/>
          </a:xfrm>
          <a:prstGeom prst="rect">
            <a:avLst/>
          </a:prstGeom>
          <a:solidFill>
            <a:srgbClr val="000000">
              <a:alpha val="72000"/>
            </a:srgbClr>
          </a:solidFill>
          <a:ln w="0"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2F7A17FF-B04A-4345-A0F6-57C61C0F4F7C}"/>
              </a:ext>
            </a:extLst>
          </p:cNvPr>
          <p:cNvSpPr>
            <a:spLocks noGrp="1"/>
          </p:cNvSpPr>
          <p:nvPr/>
        </p:nvSpPr>
        <p:spPr>
          <a:xfrm>
            <a:off x="1200150" y="1895475"/>
            <a:ext cx="6858000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8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PHYSICAL-CAR RECORDING PLACEHOLDER</a:t>
            </a:r>
          </a:p>
        </p:txBody>
      </p:sp>
      <p:sp>
        <p:nvSpPr>
          <p:cNvPr id="9" name="Rectángulo: esquinas redondeadas 8">
            <a:extLst>
              <a:ext uri="{FF2B5EF4-FFF2-40B4-BE49-F238E27FC236}">
                <a16:creationId xmlns:a16="http://schemas.microsoft.com/office/drawing/2014/main" id="{53B99A8F-710E-4F6E-A159-5B4014F5E2EB}"/>
              </a:ext>
            </a:extLst>
          </p:cNvPr>
          <p:cNvSpPr>
            <a:spLocks noGrp="1"/>
          </p:cNvSpPr>
          <p:nvPr/>
        </p:nvSpPr>
        <p:spPr>
          <a:xfrm>
            <a:off x="1200150" y="5448300"/>
            <a:ext cx="8191500" cy="323850"/>
          </a:xfrm>
          <a:prstGeom prst="roundRect">
            <a:avLst>
              <a:gd name="adj" fmla="val 23529"/>
            </a:avLst>
          </a:prstGeom>
          <a:solidFill>
            <a:srgbClr val="830051">
              <a:alpha val="92000"/>
            </a:srgbClr>
          </a:solidFill>
          <a:ln w="0">
            <a:noFill/>
          </a:ln>
        </p:spPr>
        <p:txBody>
          <a:bodyPr wrap="square" lIns="133350" tIns="38100" rIns="133350" bIns="38100" anchor="ctr">
            <a:noAutofit/>
          </a:bodyPr>
          <a:lstStyle/>
          <a:p>
            <a:pPr algn="l">
              <a:lnSpc>
                <a:spcPct val="104000"/>
              </a:lnSpc>
              <a:buNone/>
              <a:defRPr sz="17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Replace with a 45–60 second RC-car demonstration before the defense</a:t>
            </a:r>
          </a:p>
        </p:txBody>
      </p:sp>
      <p:sp>
        <p:nvSpPr>
          <p:cNvPr id="10" name="Rectángulo 9">
            <a:extLst>
              <a:ext uri="{FF2B5EF4-FFF2-40B4-BE49-F238E27FC236}">
                <a16:creationId xmlns:a16="http://schemas.microsoft.com/office/drawing/2014/main" id="{C1DC7D46-FA70-4BF6-B152-A53088101CD3}"/>
              </a:ext>
            </a:extLst>
          </p:cNvPr>
          <p:cNvSpPr>
            <a:spLocks noGrp="1"/>
          </p:cNvSpPr>
          <p:nvPr/>
        </p:nvSpPr>
        <p:spPr>
          <a:xfrm>
            <a:off x="9544050" y="1876425"/>
            <a:ext cx="1485900" cy="209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4000"/>
              </a:lnSpc>
              <a:buNone/>
              <a:defRPr sz="10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SIMULATOR ASSET</a:t>
            </a:r>
          </a:p>
        </p:txBody>
      </p:sp>
      <p:sp>
        <p:nvSpPr>
          <p:cNvPr id="11" name="Rectángulo 10">
            <a:extLst>
              <a:ext uri="{FF2B5EF4-FFF2-40B4-BE49-F238E27FC236}">
                <a16:creationId xmlns:a16="http://schemas.microsoft.com/office/drawing/2014/main" id="{1C8B408C-9BAC-4EF4-9B21-7D47BD88E662}"/>
              </a:ext>
            </a:extLst>
          </p:cNvPr>
          <p:cNvSpPr>
            <a:spLocks noGrp="1"/>
          </p:cNvSpPr>
          <p:nvPr/>
        </p:nvSpPr>
        <p:spPr>
          <a:xfrm>
            <a:off x="2057400" y="6238875"/>
            <a:ext cx="80772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4000"/>
              </a:lnSpc>
              <a:buNone/>
              <a:defRPr sz="1350" b="1">
                <a:solidFill>
                  <a:srgbClr val="510034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510034"/>
                </a:solidFill>
                <a:latin typeface="Arial"/>
                <a:ea typeface="Arial"/>
                <a:cs typeface="Arial"/>
              </a:rPr>
              <a:t>The committed countdown video supports a technical fallback only. It is not physical-car evidence.</a:t>
            </a:r>
          </a:p>
        </p:txBody>
      </p:sp>
    </p:spTree>
    <p:extLst>
      <p:ext uri="{BB962C8B-B14F-4D97-AF65-F5344CB8AC3E}">
        <p14:creationId xmlns:p14="http://schemas.microsoft.com/office/powerpoint/2010/main" val="1751672792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83005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ángulo 9">
            <a:extLst>
              <a:ext uri="{FF2B5EF4-FFF2-40B4-BE49-F238E27FC236}">
                <a16:creationId xmlns:a16="http://schemas.microsoft.com/office/drawing/2014/main" id="{F017C0D0-1742-4312-AFCF-E7243330BC9F}"/>
              </a:ext>
            </a:extLst>
          </p:cNvPr>
          <p:cNvSpPr>
            <a:spLocks noGrp="1"/>
          </p:cNvSpPr>
          <p:nvPr/>
        </p:nvSpPr>
        <p:spPr>
          <a:xfrm>
            <a:off x="609600" y="361950"/>
            <a:ext cx="51435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FINAL TAKEAWAYS</a:t>
            </a:r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B6F45ACA-1768-4857-8428-574058CADBCB}"/>
              </a:ext>
            </a:extLst>
          </p:cNvPr>
          <p:cNvSpPr>
            <a:spLocks noGrp="1"/>
          </p:cNvSpPr>
          <p:nvPr/>
        </p:nvSpPr>
        <p:spPr>
          <a:xfrm>
            <a:off x="609600" y="819150"/>
            <a:ext cx="5429250" cy="8953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buNone/>
              <a:defRPr sz="35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5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WebRTC can meet the prototype latency target</a:t>
            </a:r>
          </a:p>
        </p:txBody>
      </p:sp>
      <p:sp>
        <p:nvSpPr>
          <p:cNvPr id="3" name="Conector recto 2">
            <a:extLst>
              <a:ext uri="{FF2B5EF4-FFF2-40B4-BE49-F238E27FC236}">
                <a16:creationId xmlns:a16="http://schemas.microsoft.com/office/drawing/2014/main" id="{05E33A8C-ED95-429C-A3B0-0BB6D356D628}"/>
              </a:ext>
            </a:extLst>
          </p:cNvPr>
          <p:cNvSpPr>
            <a:spLocks noGrp="1"/>
          </p:cNvSpPr>
          <p:nvPr/>
        </p:nvSpPr>
        <p:spPr>
          <a:xfrm>
            <a:off x="609600" y="1962150"/>
            <a:ext cx="1238250" cy="0"/>
          </a:xfrm>
          <a:prstGeom prst="line">
            <a:avLst/>
          </a:prstGeom>
          <a:noFill/>
          <a:ln w="381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B823ED0F-3394-490D-89B2-9828B0BA63A3}"/>
              </a:ext>
            </a:extLst>
          </p:cNvPr>
          <p:cNvSpPr>
            <a:spLocks noGrp="1"/>
          </p:cNvSpPr>
          <p:nvPr/>
        </p:nvSpPr>
        <p:spPr>
          <a:xfrm>
            <a:off x="609600" y="2343150"/>
            <a:ext cx="5219700" cy="2381250"/>
          </a:xfrm>
          <a:prstGeom prst="rect">
            <a:avLst/>
          </a:prstGeom>
          <a:noFill/>
          <a:ln w="0">
            <a:noFill/>
          </a:ln>
        </p:spPr>
        <p:txBody>
          <a:bodyPr wrap="square" lIns="38100" tIns="38100" rIns="38100" bIns="38100">
            <a:noAutofit/>
          </a:bodyPr>
          <a:lstStyle/>
          <a:p>
            <a:pPr marL="279400" indent="-139700">
              <a:lnSpc>
                <a:spcPct val="105000"/>
              </a:lnSpc>
              <a:spcAft>
                <a:spcPts val="1300"/>
              </a:spcAft>
              <a:buNone/>
              <a:defRPr sz="1725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725">
                <a:solidFill>
                  <a:srgbClr val="FFFFFF"/>
                </a:solidFill>
                <a:latin typeface="Arial"/>
                <a:ea typeface="Arial"/>
                <a:cs typeface="Arial"/>
              </a:rPr>
              <a:t>One 4G run measured approximately 340 ms glass-to-glass.</a:t>
            </a:r>
          </a:p>
          <a:p>
            <a:pPr marL="279400" indent="-139700">
              <a:lnSpc>
                <a:spcPct val="105000"/>
              </a:lnSpc>
              <a:spcAft>
                <a:spcPts val="1300"/>
              </a:spcAft>
              <a:buNone/>
              <a:defRPr sz="1725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725">
                <a:solidFill>
                  <a:srgbClr val="FFFFFF"/>
                </a:solidFill>
                <a:latin typeface="Arial"/>
                <a:ea typeface="Arial"/>
                <a:cs typeface="Arial"/>
              </a:rPr>
              <a:t>NAT traversal and software encoding drove the main engineering iterations.</a:t>
            </a:r>
          </a:p>
          <a:p>
            <a:pPr marL="279400" indent="-139700">
              <a:lnSpc>
                <a:spcPct val="105000"/>
              </a:lnSpc>
              <a:spcAft>
                <a:spcPts val="1300"/>
              </a:spcAft>
              <a:buNone/>
              <a:defRPr sz="1725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725">
                <a:solidFill>
                  <a:srgbClr val="FFFFFF"/>
                </a:solidFill>
                <a:latin typeface="Arial"/>
                <a:ea typeface="Arial"/>
                <a:cs typeface="Arial"/>
              </a:rPr>
              <a:t>Hardware H.264, broader network testing, and production relay capacity are the next priorities.</a:t>
            </a:r>
          </a:p>
        </p:txBody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E4FAD5FF-1A86-4F7E-9FB8-A06DF91A4F7A}"/>
              </a:ext>
            </a:extLst>
          </p:cNvPr>
          <p:cNvSpPr>
            <a:spLocks noGrp="1"/>
          </p:cNvSpPr>
          <p:nvPr/>
        </p:nvSpPr>
        <p:spPr>
          <a:xfrm>
            <a:off x="609600" y="5391150"/>
            <a:ext cx="4000500" cy="666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40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0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Questions?</a:t>
            </a:r>
          </a:p>
        </p:txBody>
      </p:sp>
      <p:sp>
        <p:nvSpPr>
          <p:cNvPr id="6" name="Rectángulo: esquinas redondeadas 5">
            <a:extLst>
              <a:ext uri="{FF2B5EF4-FFF2-40B4-BE49-F238E27FC236}">
                <a16:creationId xmlns:a16="http://schemas.microsoft.com/office/drawing/2014/main" id="{C9A91C1F-B23A-4843-9D6F-203C534A82C8}"/>
              </a:ext>
            </a:extLst>
          </p:cNvPr>
          <p:cNvSpPr>
            <a:spLocks noGrp="1"/>
          </p:cNvSpPr>
          <p:nvPr/>
        </p:nvSpPr>
        <p:spPr>
          <a:xfrm>
            <a:off x="6419850" y="666750"/>
            <a:ext cx="5219700" cy="4248150"/>
          </a:xfrm>
          <a:prstGeom prst="roundRect">
            <a:avLst>
              <a:gd name="adj" fmla="val 2242"/>
            </a:avLst>
          </a:prstGeom>
          <a:solidFill>
            <a:srgbClr val="FFFFFF"/>
          </a:solidFill>
          <a:ln w="9525">
            <a:solidFill>
              <a:srgbClr val="E7E3E5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pic>
        <p:nvPicPr>
          <p:cNvPr id="16" name="Imagen 15"/>
          <p:cNvPicPr>
            <a:picLocks noChangeAspect="1"/>
          </p:cNvPicPr>
          <p:nvPr/>
        </p:nvPicPr>
        <p:blipFill>
          <a:blip r:embed="rId3"/>
          <a:srcRect l="16223" r="16223"/>
          <a:stretch>
            <a:fillRect/>
          </a:stretch>
        </p:blipFill>
        <p:spPr>
          <a:xfrm>
            <a:off x="6438900" y="685800"/>
            <a:ext cx="5181600" cy="4210050"/>
          </a:xfrm>
          <a:prstGeom prst="roundRect">
            <a:avLst>
              <a:gd name="adj" fmla="val 1810"/>
            </a:avLst>
          </a:prstGeom>
        </p:spPr>
      </p:pic>
      <p:sp>
        <p:nvSpPr>
          <p:cNvPr id="8" name="Rectángulo 7">
            <a:extLst>
              <a:ext uri="{FF2B5EF4-FFF2-40B4-BE49-F238E27FC236}">
                <a16:creationId xmlns:a16="http://schemas.microsoft.com/office/drawing/2014/main" id="{65DF0C26-A832-446D-BE1D-E2D0C51EF5D9}"/>
              </a:ext>
            </a:extLst>
          </p:cNvPr>
          <p:cNvSpPr>
            <a:spLocks noGrp="1"/>
          </p:cNvSpPr>
          <p:nvPr/>
        </p:nvSpPr>
        <p:spPr>
          <a:xfrm>
            <a:off x="7772400" y="5048250"/>
            <a:ext cx="257175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4000"/>
              </a:lnSpc>
              <a:buNone/>
              <a:defRPr sz="12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Physical prototype stream</a:t>
            </a:r>
          </a:p>
        </p:txBody>
      </p:sp>
      <p:pic>
        <p:nvPicPr>
          <p:cNvPr id="18" name="Imagen 17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8248650" y="5770046"/>
            <a:ext cx="3143250" cy="709059"/>
          </a:xfrm>
          <a:prstGeom prst="roundRect">
            <a:avLst>
              <a:gd name="adj" fmla="val 10256"/>
            </a:avLst>
          </a:prstGeom>
        </p:spPr>
      </p:pic>
    </p:spTree>
    <p:extLst>
      <p:ext uri="{BB962C8B-B14F-4D97-AF65-F5344CB8AC3E}">
        <p14:creationId xmlns:p14="http://schemas.microsoft.com/office/powerpoint/2010/main" val="636540901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Metadata/LabelInfo.xml><?xml version="1.0" encoding="utf-8"?>
<clbl:labelList xmlns:clbl="http://schemas.microsoft.com/office/2020/mipLabelMetadata">
  <clbl:label id="{06478f47-69e8-4291-a44a-cc65aad15a8f}" enabled="1" method="Standard" siteId="{96c20d9e-b612-4c42-b402-9b9bc895eddf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5252</Words>
  <Application>Microsoft Office PowerPoint</Application>
  <DocSecurity>0</DocSecurity>
  <PresentationFormat>Panorámica</PresentationFormat>
  <Paragraphs>823</Paragraphs>
  <Slides>33</Slides>
  <Notes>33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33</vt:i4>
      </vt:variant>
    </vt:vector>
  </HeadingPairs>
  <TitlesOfParts>
    <vt:vector size="37" baseType="lpstr">
      <vt:lpstr>Arial</vt:lpstr>
      <vt:lpstr>Calibri</vt:lpstr>
      <vt:lpstr>Consolas</vt:lpstr>
      <vt:lpstr>ChatGPT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Raul Hidalgo</cp:lastModifiedBy>
  <cp:revision>2</cp:revision>
  <dcterms:created xsi:type="dcterms:W3CDTF">2026-09-05T18:56:25Z</dcterms:created>
  <dcterms:modified xsi:type="dcterms:W3CDTF">2026-09-06T21:34:11Z</dcterms:modified>
</cp:coreProperties>
</file>