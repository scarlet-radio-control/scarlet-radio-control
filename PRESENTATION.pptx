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bc12b5a5e74741" /><Relationship Type="http://schemas.openxmlformats.org/officeDocument/2006/relationships/extended-properties" Target="/docProps/app.xml" Id="R2040960df8344d99" /><Relationship Type="http://schemas.openxmlformats.org/officeDocument/2006/relationships/officeDocument" Target="/ppt/presentation.xml" Id="Red3a886cedac45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106f2a3229488b"/>
  </p:sldMasterIdLst>
  <p:notesMasterIdLst>
    <p:notesMasterId xmlns:r="http://schemas.openxmlformats.org/officeDocument/2006/relationships" r:id="R7a668e419b7d4208"/>
  </p:notesMasterIdLst>
  <p:sldIdLst>
    <p:sldId xmlns:r="http://schemas.openxmlformats.org/officeDocument/2006/relationships" id="256" r:id="Re06e2d2ccedd4f60"/>
    <p:sldId xmlns:r="http://schemas.openxmlformats.org/officeDocument/2006/relationships" id="257" r:id="R7f7c8dec136c4ca6"/>
    <p:sldId xmlns:r="http://schemas.openxmlformats.org/officeDocument/2006/relationships" id="258" r:id="R59031ece10534804"/>
    <p:sldId xmlns:r="http://schemas.openxmlformats.org/officeDocument/2006/relationships" id="259" r:id="R12b9765c8f374d51"/>
    <p:sldId xmlns:r="http://schemas.openxmlformats.org/officeDocument/2006/relationships" id="260" r:id="R238ca55a1fc244af"/>
    <p:sldId xmlns:r="http://schemas.openxmlformats.org/officeDocument/2006/relationships" id="261" r:id="R82415e9f0a4f4a5d"/>
    <p:sldId xmlns:r="http://schemas.openxmlformats.org/officeDocument/2006/relationships" id="262" r:id="R14707c6589fa4ef2"/>
    <p:sldId xmlns:r="http://schemas.openxmlformats.org/officeDocument/2006/relationships" id="263" r:id="Rfa7bc310a8a5417b"/>
    <p:sldId xmlns:r="http://schemas.openxmlformats.org/officeDocument/2006/relationships" id="264" r:id="Rf3b6a36c3ad5402a"/>
    <p:sldId xmlns:r="http://schemas.openxmlformats.org/officeDocument/2006/relationships" id="265" r:id="R0551e2cb1d384284"/>
    <p:sldId xmlns:r="http://schemas.openxmlformats.org/officeDocument/2006/relationships" id="266" r:id="R717db9fefab04dad"/>
    <p:sldId xmlns:r="http://schemas.openxmlformats.org/officeDocument/2006/relationships" id="267" r:id="R56e1103b6a634a9b"/>
    <p:sldId xmlns:r="http://schemas.openxmlformats.org/officeDocument/2006/relationships" id="268" r:id="R1baed6b2eb1c47f7"/>
    <p:sldId xmlns:r="http://schemas.openxmlformats.org/officeDocument/2006/relationships" id="269" r:id="R25176018df0447f2"/>
    <p:sldId xmlns:r="http://schemas.openxmlformats.org/officeDocument/2006/relationships" id="270" r:id="Rc0d10dda50f845bc"/>
    <p:sldId xmlns:r="http://schemas.openxmlformats.org/officeDocument/2006/relationships" id="271" r:id="Rc166ca10b4914e87"/>
    <p:sldId xmlns:r="http://schemas.openxmlformats.org/officeDocument/2006/relationships" id="272" r:id="R49b3ca1ce9f749b8"/>
    <p:sldId xmlns:r="http://schemas.openxmlformats.org/officeDocument/2006/relationships" id="273" r:id="Rb354014efe0d49f1"/>
    <p:sldId xmlns:r="http://schemas.openxmlformats.org/officeDocument/2006/relationships" id="274" r:id="R7bbcebc2c0b84bdd"/>
    <p:sldId xmlns:r="http://schemas.openxmlformats.org/officeDocument/2006/relationships" id="275" r:id="R12de9f5d47ea4355"/>
    <p:sldId xmlns:r="http://schemas.openxmlformats.org/officeDocument/2006/relationships" id="276" r:id="R02eab86c164842ba"/>
    <p:sldId xmlns:r="http://schemas.openxmlformats.org/officeDocument/2006/relationships" id="277" r:id="Rb03082c48ff44292"/>
    <p:sldId xmlns:r="http://schemas.openxmlformats.org/officeDocument/2006/relationships" id="278" r:id="Ra5e1f9c8a0674b61"/>
    <p:sldId xmlns:r="http://schemas.openxmlformats.org/officeDocument/2006/relationships" id="279" r:id="R5eb737519bba4075"/>
    <p:sldId xmlns:r="http://schemas.openxmlformats.org/officeDocument/2006/relationships" id="280" r:id="Reebb7a0ad5094534"/>
    <p:sldId xmlns:r="http://schemas.openxmlformats.org/officeDocument/2006/relationships" id="281" r:id="R670f392b74724002"/>
    <p:sldId xmlns:r="http://schemas.openxmlformats.org/officeDocument/2006/relationships" id="282" r:id="Rdac7b2c23ae445f9"/>
    <p:sldId xmlns:r="http://schemas.openxmlformats.org/officeDocument/2006/relationships" id="283" r:id="R9c01c01f63624636"/>
    <p:sldId xmlns:r="http://schemas.openxmlformats.org/officeDocument/2006/relationships" id="284" r:id="R3a7e736f385c4a46"/>
    <p:sldId xmlns:r="http://schemas.openxmlformats.org/officeDocument/2006/relationships" id="285" r:id="R30414661bd2b499d"/>
    <p:sldId xmlns:r="http://schemas.openxmlformats.org/officeDocument/2006/relationships" id="286" r:id="Rda0ac47928ba4956"/>
    <p:sldId xmlns:r="http://schemas.openxmlformats.org/officeDocument/2006/relationships" id="287" r:id="Refc62fc834244480"/>
    <p:sldId xmlns:r="http://schemas.openxmlformats.org/officeDocument/2006/relationships" id="288" r:id="Rc9ebfd5649ae46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36a7b665294366" /><Relationship Type="http://schemas.openxmlformats.org/officeDocument/2006/relationships/slideMaster" Target="/ppt/slideMasters/slideMaster1.xml" Id="R59106f2a3229488b" /><Relationship Type="http://schemas.openxmlformats.org/officeDocument/2006/relationships/notesMaster" Target="/ppt/notesMasters/notesMaster1.xml" Id="R7a668e419b7d4208" /><Relationship Type="http://schemas.openxmlformats.org/officeDocument/2006/relationships/presProps" Target="/ppt/presProps.xml" Id="Rc0827b6a72ea4c49" /><Relationship Type="http://schemas.openxmlformats.org/officeDocument/2006/relationships/tableStyles" Target="/ppt/tableStyles.xml" Id="Re0344117744749ed" /><Relationship Type="http://schemas.openxmlformats.org/officeDocument/2006/relationships/slide" Target="/ppt/slides/slide1.xml" Id="Re06e2d2ccedd4f60" /><Relationship Type="http://schemas.openxmlformats.org/officeDocument/2006/relationships/slide" Target="/ppt/slides/slide2.xml" Id="R7f7c8dec136c4ca6" /><Relationship Type="http://schemas.openxmlformats.org/officeDocument/2006/relationships/slide" Target="/ppt/slides/slide3.xml" Id="R59031ece10534804" /><Relationship Type="http://schemas.openxmlformats.org/officeDocument/2006/relationships/slide" Target="/ppt/slides/slide4.xml" Id="R12b9765c8f374d51" /><Relationship Type="http://schemas.openxmlformats.org/officeDocument/2006/relationships/slide" Target="/ppt/slides/slide5.xml" Id="R238ca55a1fc244af" /><Relationship Type="http://schemas.openxmlformats.org/officeDocument/2006/relationships/slide" Target="/ppt/slides/slide6.xml" Id="R82415e9f0a4f4a5d" /><Relationship Type="http://schemas.openxmlformats.org/officeDocument/2006/relationships/slide" Target="/ppt/slides/slide7.xml" Id="R14707c6589fa4ef2" /><Relationship Type="http://schemas.openxmlformats.org/officeDocument/2006/relationships/slide" Target="/ppt/slides/slide8.xml" Id="Rfa7bc310a8a5417b" /><Relationship Type="http://schemas.openxmlformats.org/officeDocument/2006/relationships/slide" Target="/ppt/slides/slide9.xml" Id="Rf3b6a36c3ad5402a" /><Relationship Type="http://schemas.openxmlformats.org/officeDocument/2006/relationships/slide" Target="/ppt/slides/slide10.xml" Id="R0551e2cb1d384284" /><Relationship Type="http://schemas.openxmlformats.org/officeDocument/2006/relationships/slide" Target="/ppt/slides/slide11.xml" Id="R717db9fefab04dad" /><Relationship Type="http://schemas.openxmlformats.org/officeDocument/2006/relationships/slide" Target="/ppt/slides/slide12.xml" Id="R56e1103b6a634a9b" /><Relationship Type="http://schemas.openxmlformats.org/officeDocument/2006/relationships/slide" Target="/ppt/slides/slide13.xml" Id="R1baed6b2eb1c47f7" /><Relationship Type="http://schemas.openxmlformats.org/officeDocument/2006/relationships/slide" Target="/ppt/slides/slide14.xml" Id="R25176018df0447f2" /><Relationship Type="http://schemas.openxmlformats.org/officeDocument/2006/relationships/slide" Target="/ppt/slides/slide15.xml" Id="Rc0d10dda50f845bc" /><Relationship Type="http://schemas.openxmlformats.org/officeDocument/2006/relationships/slide" Target="/ppt/slides/slide16.xml" Id="Rc166ca10b4914e87" /><Relationship Type="http://schemas.openxmlformats.org/officeDocument/2006/relationships/slide" Target="/ppt/slides/slide17.xml" Id="R49b3ca1ce9f749b8" /><Relationship Type="http://schemas.openxmlformats.org/officeDocument/2006/relationships/slide" Target="/ppt/slides/slide18.xml" Id="Rb354014efe0d49f1" /><Relationship Type="http://schemas.openxmlformats.org/officeDocument/2006/relationships/slide" Target="/ppt/slides/slide19.xml" Id="R7bbcebc2c0b84bdd" /><Relationship Type="http://schemas.openxmlformats.org/officeDocument/2006/relationships/slide" Target="/ppt/slides/slide20.xml" Id="R12de9f5d47ea4355" /><Relationship Type="http://schemas.openxmlformats.org/officeDocument/2006/relationships/slide" Target="/ppt/slides/slide21.xml" Id="R02eab86c164842ba" /><Relationship Type="http://schemas.openxmlformats.org/officeDocument/2006/relationships/slide" Target="/ppt/slides/slide22.xml" Id="Rb03082c48ff44292" /><Relationship Type="http://schemas.openxmlformats.org/officeDocument/2006/relationships/slide" Target="/ppt/slides/slide23.xml" Id="Ra5e1f9c8a0674b61" /><Relationship Type="http://schemas.openxmlformats.org/officeDocument/2006/relationships/slide" Target="/ppt/slides/slide24.xml" Id="R5eb737519bba4075" /><Relationship Type="http://schemas.openxmlformats.org/officeDocument/2006/relationships/slide" Target="/ppt/slides/slide25.xml" Id="Reebb7a0ad5094534" /><Relationship Type="http://schemas.openxmlformats.org/officeDocument/2006/relationships/slide" Target="/ppt/slides/slide26.xml" Id="R670f392b74724002" /><Relationship Type="http://schemas.openxmlformats.org/officeDocument/2006/relationships/slide" Target="/ppt/slides/slide27.xml" Id="Rdac7b2c23ae445f9" /><Relationship Type="http://schemas.openxmlformats.org/officeDocument/2006/relationships/slide" Target="/ppt/slides/slide28.xml" Id="R9c01c01f63624636" /><Relationship Type="http://schemas.openxmlformats.org/officeDocument/2006/relationships/slide" Target="/ppt/slides/slide29.xml" Id="R3a7e736f385c4a46" /><Relationship Type="http://schemas.openxmlformats.org/officeDocument/2006/relationships/slide" Target="/ppt/slides/slide30.xml" Id="R30414661bd2b499d" /><Relationship Type="http://schemas.openxmlformats.org/officeDocument/2006/relationships/slide" Target="/ppt/slides/slide31.xml" Id="Rda0ac47928ba4956" /><Relationship Type="http://schemas.openxmlformats.org/officeDocument/2006/relationships/slide" Target="/ppt/slides/slide32.xml" Id="Refc62fc834244480" /><Relationship Type="http://schemas.openxmlformats.org/officeDocument/2006/relationships/slide" Target="/ppt/slides/slide33.xml" Id="Rc9ebfd5649ae46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13bc269e1d4b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a53c05de4d435e" /><Relationship Type="http://schemas.openxmlformats.org/officeDocument/2006/relationships/notesMaster" Target="/ppt/notesMasters/notesMaster1.xml" Id="Rd3098c8fb6a744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77fcd8b55a4e15" /><Relationship Type="http://schemas.openxmlformats.org/officeDocument/2006/relationships/notesMaster" Target="/ppt/notesMasters/notesMaster1.xml" Id="R34e7b634aaab48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7167afe7e943a5" /><Relationship Type="http://schemas.openxmlformats.org/officeDocument/2006/relationships/notesMaster" Target="/ppt/notesMasters/notesMaster1.xml" Id="Rdf6958a19b9046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ef2a6487cb492e" /><Relationship Type="http://schemas.openxmlformats.org/officeDocument/2006/relationships/notesMaster" Target="/ppt/notesMasters/notesMaster1.xml" Id="Rf1d2d1ab5be744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7ba7ebcfcc41be" /><Relationship Type="http://schemas.openxmlformats.org/officeDocument/2006/relationships/notesMaster" Target="/ppt/notesMasters/notesMaster1.xml" Id="Rb8507a9ce3994c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b8bdb18cb14b44" /><Relationship Type="http://schemas.openxmlformats.org/officeDocument/2006/relationships/notesMaster" Target="/ppt/notesMasters/notesMaster1.xml" Id="Ree8b493b628647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fdb65ab6c142d6" /><Relationship Type="http://schemas.openxmlformats.org/officeDocument/2006/relationships/notesMaster" Target="/ppt/notesMasters/notesMaster1.xml" Id="Rf03db07778e340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40808b4e344d55" /><Relationship Type="http://schemas.openxmlformats.org/officeDocument/2006/relationships/notesMaster" Target="/ppt/notesMasters/notesMaster1.xml" Id="Rd52f0129ff6243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1d9d9379764c3d" /><Relationship Type="http://schemas.openxmlformats.org/officeDocument/2006/relationships/notesMaster" Target="/ppt/notesMasters/notesMaster1.xml" Id="R69ddfd683ca442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bc98aea1a64210" /><Relationship Type="http://schemas.openxmlformats.org/officeDocument/2006/relationships/notesMaster" Target="/ppt/notesMasters/notesMaster1.xml" Id="R3c73afd00c6747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b299c5cfb940d5" /><Relationship Type="http://schemas.openxmlformats.org/officeDocument/2006/relationships/notesMaster" Target="/ppt/notesMasters/notesMaster1.xml" Id="Rbcef8f6658184b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cc73cb2fe641a4" /><Relationship Type="http://schemas.openxmlformats.org/officeDocument/2006/relationships/notesMaster" Target="/ppt/notesMasters/notesMaster1.xml" Id="R192cf64a49b5451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5143705c974014" /><Relationship Type="http://schemas.openxmlformats.org/officeDocument/2006/relationships/notesMaster" Target="/ppt/notesMasters/notesMaster1.xml" Id="Rdba03cef0f6b41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2d3dbe888944869" /><Relationship Type="http://schemas.openxmlformats.org/officeDocument/2006/relationships/notesMaster" Target="/ppt/notesMasters/notesMaster1.xml" Id="Rbd7d2c956191406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d510852d8e4e85" /><Relationship Type="http://schemas.openxmlformats.org/officeDocument/2006/relationships/notesMaster" Target="/ppt/notesMasters/notesMaster1.xml" Id="Ra0b4de3b18fb407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a0a30f8748545f7" /><Relationship Type="http://schemas.openxmlformats.org/officeDocument/2006/relationships/notesMaster" Target="/ppt/notesMasters/notesMaster1.xml" Id="R5acc71cc625d470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63fdb7cf6334721" /><Relationship Type="http://schemas.openxmlformats.org/officeDocument/2006/relationships/notesMaster" Target="/ppt/notesMasters/notesMaster1.xml" Id="R744770da2ab64f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2921ff1acf14e84" /><Relationship Type="http://schemas.openxmlformats.org/officeDocument/2006/relationships/notesMaster" Target="/ppt/notesMasters/notesMaster1.xml" Id="R134c95ac42ea43a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9ca77fdcb064ca9" /><Relationship Type="http://schemas.openxmlformats.org/officeDocument/2006/relationships/notesMaster" Target="/ppt/notesMasters/notesMaster1.xml" Id="R66f39014344e4e5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ddb741841af42a3" /><Relationship Type="http://schemas.openxmlformats.org/officeDocument/2006/relationships/notesMaster" Target="/ppt/notesMasters/notesMaster1.xml" Id="Rf975ddbd043947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013be748ec4a39" /><Relationship Type="http://schemas.openxmlformats.org/officeDocument/2006/relationships/notesMaster" Target="/ppt/notesMasters/notesMaster1.xml" Id="R89892dec50ba470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e065d9e34b14f41" /><Relationship Type="http://schemas.openxmlformats.org/officeDocument/2006/relationships/notesMaster" Target="/ppt/notesMasters/notesMaster1.xml" Id="Rffb54dd16fd244e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ea5df734b7446e9" /><Relationship Type="http://schemas.openxmlformats.org/officeDocument/2006/relationships/notesMaster" Target="/ppt/notesMasters/notesMaster1.xml" Id="Ra2fdee797dd141d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6c4bf7ac9b84488" /><Relationship Type="http://schemas.openxmlformats.org/officeDocument/2006/relationships/notesMaster" Target="/ppt/notesMasters/notesMaster1.xml" Id="Raf6a14fe940c4dd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53e27fa290a4f3a" /><Relationship Type="http://schemas.openxmlformats.org/officeDocument/2006/relationships/notesMaster" Target="/ppt/notesMasters/notesMaster1.xml" Id="R936d9d12e0db4ec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42ea0e2496d4e09" /><Relationship Type="http://schemas.openxmlformats.org/officeDocument/2006/relationships/notesMaster" Target="/ppt/notesMasters/notesMaster1.xml" Id="R60cbdef54a22413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79213cc2e02467d" /><Relationship Type="http://schemas.openxmlformats.org/officeDocument/2006/relationships/notesMaster" Target="/ppt/notesMasters/notesMaster1.xml" Id="R063a9907b58c473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601f2b72ac14276" /><Relationship Type="http://schemas.openxmlformats.org/officeDocument/2006/relationships/notesMaster" Target="/ppt/notesMasters/notesMaster1.xml" Id="Rf018239336f7433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3f5016c684d48cc" /><Relationship Type="http://schemas.openxmlformats.org/officeDocument/2006/relationships/notesMaster" Target="/ppt/notesMasters/notesMaster1.xml" Id="R009dafe9f4cf46a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fd9bff1fd5d4401" /><Relationship Type="http://schemas.openxmlformats.org/officeDocument/2006/relationships/notesMaster" Target="/ppt/notesMasters/notesMaster1.xml" Id="R4731866fba6f4b5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6e11d3f6edc4818" /><Relationship Type="http://schemas.openxmlformats.org/officeDocument/2006/relationships/notesMaster" Target="/ppt/notesMasters/notesMaster1.xml" Id="Rb12bd208e744444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26e65443a62431f" /><Relationship Type="http://schemas.openxmlformats.org/officeDocument/2006/relationships/notesMaster" Target="/ppt/notesMasters/notesMaster1.xml" Id="R94374c0856fa4f0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5b38a578d5e4eeb" /><Relationship Type="http://schemas.openxmlformats.org/officeDocument/2006/relationships/notesMaster" Target="/ppt/notesMasters/notesMaster1.xml" Id="R8848a724d31e49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Introduce the project as a video-path study built around a physical RC-car prototype.</a:t>
            </a:r>
          </a:p>
          <a:p xmlns:a="http://schemas.openxmlformats.org/drawingml/2006/main">
            <a:r>
              <a:t>State the central design choice: the application server coordinates peers but does not carry video.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cover and pp. 7–9.</a:t>
            </a:r>
          </a:p>
          <a:p xmlns:a="http://schemas.openxmlformats.org/drawingml/2006/main">
            <a:r>
              <a:t>- UdL brand: https://www.imatge.udl.cat/ca/marca/color-corporatiu/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 the question once, then separate the intended 5G context from the network used for the prototype measurement.</a:t>
            </a:r>
          </a:p>
          <a:p xmlns:a="http://schemas.openxmlformats.org/drawingml/2006/main">
            <a:r>
              <a:t>Do not imply that the thesis validated 5G behavior. The tested mobile link used a Huawei 4G dongle.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7–9, 13, 36–37.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the exact scope statement because later slides discuss control only as future work.</a:t>
            </a:r>
          </a:p>
          <a:p xmlns:a="http://schemas.openxmlformats.org/drawingml/2006/main">
            <a:r>
              <a:t>The repository contains unused DataChannel scaffolding, but it does not implement vehicle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PLAN.md, Project Scope.</a:t>
            </a:r>
          </a:p>
          <a:p xmlns:a="http://schemas.openxmlformats.org/drawingml/2006/main">
            <a:r>
              <a:t>- TFM.docx, pp. 8–9 and 37.</a:t>
            </a:r>
          </a:p>
          <a:p xmlns:a="http://schemas.openxmlformats.org/drawingml/2006/main">
            <a:r>
              <a:t>- Repository: useRtcPeerConnection.tsx and WebRtcSessionManager.cs; DataChannels are created but unused.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Preview the five main sections in this exact order.</a:t>
            </a:r>
          </a:p>
          <a:p xmlns:a="http://schemas.openxmlformats.org/drawingml/2006/main">
            <a:r>
              <a:t>The timings leave about one minute for transitions inside the thirty-minute defense.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PLAN.md, Slide Structure and Visual and Source Treatment.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 WebRTC as a system rather than a single wire protocol.</a:t>
            </a:r>
          </a:p>
          <a:p xmlns:a="http://schemas.openxmlformats.org/drawingml/2006/main">
            <a:r>
              <a:t>The browser API manages peer state. The IETF protocols provide connectivity, secure media transport, and feedback.</a:t>
            </a:r>
          </a:p>
          <a:p xmlns:a="http://schemas.openxmlformats.org/drawingml/2006/main">
            <a:r>
              <a:t>SignalR is an application choice for signaling because WebRTC deliberately leaves that transport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8825: https://www.rfc-editor.org/rfc/rfc8825.html</a:t>
            </a:r>
          </a:p>
          <a:p xmlns:a="http://schemas.openxmlformats.org/drawingml/2006/main">
            <a:r>
              <a:t>- W3C WebRTC: https://www.w3.org/TR/webrtc/</a:t>
            </a:r>
          </a:p>
          <a:p xmlns:a="http://schemas.openxmlformats.org/drawingml/2006/main">
            <a:r>
              <a:t>- RFC 9429 JSEP: https://www.rfc-editor.org/rfc/rfc9429.html</a:t>
            </a:r>
          </a:p>
          <a:p xmlns:a="http://schemas.openxmlformats.org/drawingml/2006/main">
            <a:r>
              <a:t>- TFM.docx, p.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Walk from capture at the top to UDP and IP at the bottom.</a:t>
            </a:r>
          </a:p>
          <a:p xmlns:a="http://schemas.openxmlformats.org/drawingml/2006/main">
            <a:r>
              <a:t>RTP and RTCP carry media and feedback. WebRTC protects them as SRTP and SRTCP.</a:t>
            </a:r>
          </a:p>
          <a:p xmlns:a="http://schemas.openxmlformats.org/drawingml/2006/main">
            <a:r>
              <a:t>DTLS-SRTP derives media keys on the selected ICE path. DataChannel is part of the standard but outside this project's implemented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8835: https://www.rfc-editor.org/rfc/rfc8835.html</a:t>
            </a:r>
          </a:p>
          <a:p xmlns:a="http://schemas.openxmlformats.org/drawingml/2006/main">
            <a:r>
              <a:t>- RFC 8834: https://www.rfc-editor.org/rfc/rfc8834.html</a:t>
            </a:r>
          </a:p>
          <a:p xmlns:a="http://schemas.openxmlformats.org/drawingml/2006/main">
            <a:r>
              <a:t>- RFC 3711: https://www.rfc-editor.org/rfc/rfc3711.html</a:t>
            </a:r>
          </a:p>
          <a:p xmlns:a="http://schemas.openxmlformats.org/drawingml/2006/main">
            <a:r>
              <a:t>- RFC 5764: https://www.rfc-editor.org/rfc/rfc5764.html</a:t>
            </a:r>
          </a:p>
          <a:p xmlns:a="http://schemas.openxmlformats.org/drawingml/2006/main">
            <a:r>
              <a:t>- TFM.docx, pp. 22–23.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STUN reveals a public-facing mapping and supports connectivity checks. It does not relay the video.</a:t>
            </a:r>
          </a:p>
          <a:p xmlns:a="http://schemas.openxmlformats.org/drawingml/2006/main">
            <a:r>
              <a:t>TURN provides a reachable public relay allocation when direct checks fail.</a:t>
            </a:r>
          </a:p>
          <a:p xmlns:a="http://schemas.openxmlformats.org/drawingml/2006/main">
            <a:r>
              <a:t>ICE generally prefers direct candidates. The relay improves reliability but consumes relay bandwidth and may add latency because media takes an extra hop.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8489 STUN: https://www.rfc-editor.org/rfc/rfc8489.html</a:t>
            </a:r>
          </a:p>
          <a:p xmlns:a="http://schemas.openxmlformats.org/drawingml/2006/main">
            <a:r>
              <a:t>- RFC 8656 TURN: https://www.rfc-editor.org/rfc/rfc8656.html</a:t>
            </a:r>
          </a:p>
          <a:p xmlns:a="http://schemas.openxmlformats.org/drawingml/2006/main">
            <a:r>
              <a:t>- RFC 8445 ICE: https://www.rfc-editor.org/rfc/rfc8445.html</a:t>
            </a:r>
          </a:p>
          <a:p xmlns:a="http://schemas.openxmlformats.org/drawingml/2006/main">
            <a:r>
              <a:t>- TFM.docx, pp. 21–22.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Raspberry Pi creates the offer after a browser joins. SignalR forwards that offer to the selected browser.</a:t>
            </a:r>
          </a:p>
          <a:p xmlns:a="http://schemas.openxmlformats.org/drawingml/2006/main">
            <a:r>
              <a:t>The browser applies the offer, creates the answer, and returns it through the hub.</a:t>
            </a:r>
          </a:p>
          <a:p xmlns:a="http://schemas.openxmlformats.org/drawingml/2006/main">
            <a:r>
              <a:t>SDP carries the parameters needed to agree on media and establish ICE and DTLS. The application server does not become a media endpoint.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8866 SDP: https://www.rfc-editor.org/rfc/rfc8866.html</a:t>
            </a:r>
          </a:p>
          <a:p xmlns:a="http://schemas.openxmlformats.org/drawingml/2006/main">
            <a:r>
              <a:t>- RFC 9429 JSEP: https://www.rfc-editor.org/rfc/rfc9429.html</a:t>
            </a:r>
          </a:p>
          <a:p xmlns:a="http://schemas.openxmlformats.org/drawingml/2006/main">
            <a:r>
              <a:t>- TFM.docx, pp. 21, 33–34.</a:t>
            </a:r>
          </a:p>
          <a:p xmlns:a="http://schemas.openxmlformats.org/drawingml/2006/main">
            <a:r>
              <a:t>- Repository: WebRtcSessionManager.cs, WebRtcSignalingBackgroundService.cs, Control.tsx.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 SDP first for explanatory clarity, then note that gathering can already be in progress while the descriptions are created.</a:t>
            </a:r>
          </a:p>
          <a:p xmlns:a="http://schemas.openxmlformats.org/drawingml/2006/main">
            <a:r>
              <a:t>Trickle ICE sends candidates incrementally. Each side forms pairs, runs STUN checks, ranks viable paths, and nominates the selected pair.</a:t>
            </a:r>
          </a:p>
          <a:p xmlns:a="http://schemas.openxmlformats.org/drawingml/2006/main">
            <a:r>
              <a:t>Peer-reflexive candidates can appear during checks even when they were not gathered beforehand.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8445: https://www.rfc-editor.org/rfc/rfc8445.html</a:t>
            </a:r>
          </a:p>
          <a:p xmlns:a="http://schemas.openxmlformats.org/drawingml/2006/main">
            <a:r>
              <a:t>- RFC 8838: https://www.rfc-editor.org/rfc/rfc8838.html</a:t>
            </a:r>
          </a:p>
          <a:p xmlns:a="http://schemas.openxmlformats.org/drawingml/2006/main">
            <a:r>
              <a:t>- W3C ICE events: https://www.w3.org/TR/webrtc/#rtcpeerconnectioniceevent</a:t>
            </a:r>
          </a:p>
          <a:p xmlns:a="http://schemas.openxmlformats.org/drawingml/2006/main">
            <a:r>
              <a:t>- TFM.docx, p. 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VP8 and H.264 Constrained Baseline form the mandatory video interoperability baseline for WebRTC endpoints that support video.</a:t>
            </a:r>
          </a:p>
          <a:p xmlns:a="http://schemas.openxmlformats.org/drawingml/2006/main">
            <a:r>
              <a:t>VP9 and AV1 depend on endpoint capabilities. H.265 cannot serve as a universal browser assumption.</a:t>
            </a:r>
          </a:p>
          <a:p xmlns:a="http://schemas.openxmlformats.org/drawingml/2006/main">
            <a:r>
              <a:t>The prototype converts the C920 MJPEG stream to H.264. Its SDP advertises packetization mode 1 and profile-level-id 42e01f.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7742 sections 5–6: https://www.rfc-editor.org/rfc/rfc7742.html#section-5</a:t>
            </a:r>
          </a:p>
          <a:p xmlns:a="http://schemas.openxmlformats.org/drawingml/2006/main">
            <a:r>
              <a:t>- W3C getCapabilities: https://www.w3.org/TR/webrtc/#dom-rtcrtpsender-getcapabilities</a:t>
            </a:r>
          </a:p>
          <a:p xmlns:a="http://schemas.openxmlformats.org/drawingml/2006/main">
            <a:r>
              <a:t>- TFM.docx, pp. 23–24.</a:t>
            </a:r>
          </a:p>
          <a:p xmlns:a="http://schemas.openxmlformats.org/drawingml/2006/main">
            <a:r>
              <a:t>- Repository: CameraVideoSource.cs lines 28–35 and appsettings.json.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WHIP covers unidirectional ingest from a publisher to a media server. WHEP covers egress from a media server to a viewer.</a:t>
            </a:r>
          </a:p>
          <a:p xmlns:a="http://schemas.openxmlformats.org/drawingml/2006/main">
            <a:r>
              <a:t>Combining them normally creates two server-terminated WebRTC sessions, so the media server sits in the video path.</a:t>
            </a:r>
          </a:p>
          <a:p xmlns:a="http://schemas.openxmlformats.org/drawingml/2006/main">
            <a:r>
              <a:t>WHIP is a Standards Track RFC. WHEP is still an active Internet-Draft, revision 04, on the date of this defense.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9725: https://www.rfc-editor.org/rfc/rfc9725.html</a:t>
            </a:r>
          </a:p>
          <a:p xmlns:a="http://schemas.openxmlformats.org/drawingml/2006/main">
            <a:r>
              <a:t>- WHEP draft-04: https://www.ietf.org/archive/id/draft-ietf-wish-whep-04.html</a:t>
            </a:r>
          </a:p>
          <a:p xmlns:a="http://schemas.openxmlformats.org/drawingml/2006/main">
            <a:r>
              <a:t>- WHEP status: https://datatracker.ietf.org/doc/draft-ietf-wish-whep/</a:t>
            </a:r>
          </a:p>
          <a:p xmlns:a="http://schemas.openxmlformats.org/drawingml/2006/main">
            <a:r>
              <a:t>- TFM.docx, pp. 24–25.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 the statement directly because it resolves a central architectural distinction.</a:t>
            </a:r>
          </a:p>
          <a:p xmlns:a="http://schemas.openxmlformats.org/drawingml/2006/main">
            <a:r>
              <a:t>The project maps publisher and viewer roles, SDP and ICE exchange, and peer state through SignalR. Termination is only a partial disconnect and cleanup mapping, not a complete protocol lifecycle.</a:t>
            </a:r>
          </a:p>
          <a:p xmlns:a="http://schemas.openxmlformats.org/drawingml/2006/main">
            <a:r>
              <a:t>The current WHIP and WHEP controller methods contain TODOs and return HTTP 501. They provide neither the required session resources nor the PATCH and DELETE lifecycle.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PLAN.md, required statement.</a:t>
            </a:r>
          </a:p>
          <a:p xmlns:a="http://schemas.openxmlformats.org/drawingml/2006/main">
            <a:r>
              <a:t>- RFC 9725: https://www.rfc-editor.org/rfc/rfc9725.html</a:t>
            </a:r>
          </a:p>
          <a:p xmlns:a="http://schemas.openxmlformats.org/drawingml/2006/main">
            <a:r>
              <a:t>- WHEP draft-04: https://www.ietf.org/archive/id/draft-ietf-wish-whep-04.html</a:t>
            </a:r>
          </a:p>
          <a:p xmlns:a="http://schemas.openxmlformats.org/drawingml/2006/main">
            <a:r>
              <a:t>- Repository: DevicesController.WhipAsync.cs and DevicesController.WhepAsync.cs.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first design already separated signaling from media. ASP.NET and SignalR coordinated the two peers, while WebRTC was expected to carry video directly.</a:t>
            </a:r>
          </a:p>
          <a:p xmlns:a="http://schemas.openxmlformats.org/drawingml/2006/main">
            <a:r>
              <a:t>The early configuration contained Google STUN only. TURN was explicitly absent.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history: commit 5b2433a, 14 February 2026; commit 6bc9041, 19 February 2026.</a:t>
            </a:r>
          </a:p>
          <a:p xmlns:a="http://schemas.openxmlformats.org/drawingml/2006/main">
            <a:r>
              <a:t>- TFM.docx, pp. 16–19.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Both endpoints can sit behind private IPv4 addressing. The mobile side adds carrier-grade NAT, and the browser side may add another NAT and firewall.</a:t>
            </a:r>
          </a:p>
          <a:p xmlns:a="http://schemas.openxmlformats.org/drawingml/2006/main">
            <a:r>
              <a:t>STUN can reveal a mapping without proving that the remote peer can send to it. Destination-dependent mapping and blocked inbound UDP can still defeat direct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8489: https://www.rfc-editor.org/rfc/rfc8489.html</a:t>
            </a:r>
          </a:p>
          <a:p xmlns:a="http://schemas.openxmlformats.org/drawingml/2006/main">
            <a:r>
              <a:t>- RFC 8445: https://www.rfc-editor.org/rfc/rfc8445.html</a:t>
            </a:r>
          </a:p>
          <a:p xmlns:a="http://schemas.openxmlformats.org/drawingml/2006/main">
            <a:r>
              <a:t>- TFM.docx, pp. 21–22 and 36–38.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STUN did not work across every network. TURN therefore became an ICE fallback rather than the preferred path.</a:t>
            </a:r>
          </a:p>
          <a:p xmlns:a="http://schemas.openxmlformats.org/drawingml/2006/main">
            <a:r>
              <a:t>The application server still stays outside the video path. When ICE selects a relay candidate, the separate TURN server carries the encrypted media.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history: commit 5b2433a and commit 66702f6 / merge adeac59.</a:t>
            </a:r>
          </a:p>
          <a:p xmlns:a="http://schemas.openxmlformats.org/drawingml/2006/main">
            <a:r>
              <a:t>- RFC 8656: https://www.rfc-editor.org/rfc/rfc8656.html</a:t>
            </a:r>
          </a:p>
          <a:p xmlns:a="http://schemas.openxmlformats.org/drawingml/2006/main">
            <a:r>
              <a:t>- TFM.docx, pp. 16–19, 21–22.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IPv6 could remove the mobile carrier-grade IPv4 translation layer, so ICE should test it alongside IPv4 and TURN.</a:t>
            </a:r>
          </a:p>
          <a:p xmlns:a="http://schemas.openxmlformats.org/drawingml/2006/main">
            <a:r>
              <a:t>IPv6 does not bypass endpoint firewalls and is not automatically faster.</a:t>
            </a:r>
          </a:p>
          <a:p xmlns:a="http://schemas.openxmlformats.org/drawingml/2006/main">
            <a:r>
              <a:t>The current repository uses IPv6 loopback only between FFmpeg and .NET. No end-to-end public IPv6 test has been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36 and 38.</a:t>
            </a:r>
          </a:p>
          <a:p xmlns:a="http://schemas.openxmlformats.org/drawingml/2006/main">
            <a:r>
              <a:t>- Repository: CameraVideoSource.cs line 158 uses IPv6Loopback for local RTP only.</a:t>
            </a:r>
          </a:p>
          <a:p xmlns:a="http://schemas.openxmlformats.org/drawingml/2006/main"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WHIP and WHEP supplied a useful vocabulary for publisher, viewer, signaling state, and teardown.</a:t>
            </a:r>
          </a:p>
          <a:p xmlns:a="http://schemas.openxmlformats.org/drawingml/2006/main">
            <a:r>
              <a:t>A complete implementation would put a central media server into the video path, which conflicts with this project's central architectural goal.</a:t>
            </a:r>
          </a:p>
          <a:p xmlns:a="http://schemas.openxmlformats.org/drawingml/2006/main">
            <a:r>
              <a:t>The concepts moved into the SignalR flow. The HTTP actions remain explicit stubs.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RFC 9725: https://www.rfc-editor.org/rfc/rfc9725.html</a:t>
            </a:r>
          </a:p>
          <a:p xmlns:a="http://schemas.openxmlformats.org/drawingml/2006/main">
            <a:r>
              <a:t>- WHEP draft-04: https://www.ietf.org/archive/id/draft-ietf-wish-whep-04.html</a:t>
            </a:r>
          </a:p>
          <a:p xmlns:a="http://schemas.openxmlformats.org/drawingml/2006/main">
            <a:r>
              <a:t>- Repository history: commits 248f094, 529de9a, 72b7dd1, 87bc7cc.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libcamera was considered as the Raspberry Pi CSI-camera stack, but no recorded revision implemented it. The final USB-camera path uses V4L2.</a:t>
            </a:r>
          </a:p>
          <a:p xmlns:a="http://schemas.openxmlformats.org/drawingml/2006/main">
            <a:r>
              <a:t>The first implementation used SIPSorceryMedia.FFmpeg and FFmpeg.AutoGen for direct callbacks, which coupled deployment to exact native FFmpeg libraries.</a:t>
            </a:r>
          </a:p>
          <a:p xmlns:a="http://schemas.openxmlformats.org/drawingml/2006/main">
            <a:r>
              <a:t>The final version supervises an FFmpeg executable and receives H.264 over loopback RTP. That boundary is easier to deploy but adds depacketization and repacketization.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 history: commit 4b357dd, historical PLAN at 3f9931d, and commit d8e2a27.</a:t>
            </a:r>
          </a:p>
          <a:p xmlns:a="http://schemas.openxmlformats.org/drawingml/2006/main">
            <a:r>
              <a:t>- TFM.docx, pp. 29–30 and 36.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Follow the pipeline from the C920 to the browser. FFmpeg receives MJPEG through V4L2, decodes it, and software-encodes H.264 Constrained Baseline.</a:t>
            </a:r>
          </a:p>
          <a:p xmlns:a="http://schemas.openxmlformats.org/drawingml/2006/main">
            <a:r>
              <a:t>FFmpeg emits RTP on IPv6 loopback. .NET parses RTP, depacketizes H.264, assembles Annex-B access units, and caches SPS and PPS.</a:t>
            </a:r>
          </a:p>
          <a:p xmlns:a="http://schemas.openxmlformats.org/drawingml/2006/main">
            <a:r>
              <a:t>SIPSorcery repacketizes the encoded access unit into the negotiated WebRTC stream and owns SRTP and the peer connection.</a:t>
            </a:r>
          </a:p>
          <a:p xmlns:a="http://schemas.openxmlformats.org/drawingml/2006/main">
            <a:r>
              <a:t>The .NET layer avoids a second decode and encode, but FFmpeg still performs the MJPEG decode and software H.264 encode.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29–30 and 36.</a:t>
            </a:r>
          </a:p>
          <a:p xmlns:a="http://schemas.openxmlformats.org/drawingml/2006/main">
            <a:r>
              <a:t>- Repository: appsettings.json; CameraVideoSource.cs lines 152–188, 359–493; WebRtcSessionManager.cs lines 99–101 and 247–264.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camera outputs MJPEG, so FFmpeg must decode every frame before libx264 can encode H.264 in software.</a:t>
            </a:r>
          </a:p>
          <a:p xmlns:a="http://schemas.openxmlformats.org/drawingml/2006/main">
            <a:r>
              <a:t>Discuss CPU, memory bandwidth, heat, and latency qualitatively. No measured CPU percentage exists in the evidence.</a:t>
            </a:r>
          </a:p>
          <a:p xmlns:a="http://schemas.openxmlformats.org/drawingml/2006/main">
            <a:r>
              <a:t>The external process made deployment more robust. It did not remove the compute cost.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29–30 and 36–39.</a:t>
            </a:r>
          </a:p>
          <a:p xmlns:a="http://schemas.openxmlformats.org/drawingml/2006/main">
            <a:r>
              <a:t>- Repository: appsettings.json and CameraVideoSource.cs.</a:t>
            </a:r>
          </a:p>
          <a:p xmlns:a="http://schemas.openxmlformats.org/drawingml/2006/main">
            <a:r>
              <a:t>- Image: TFM.docx Figure 3, Raspberry Pi 5 product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When the car demands too much current, the Raspberry Pi disconnects momentarily. Treat this as an author-reported observation because the thesis does not document a measured incident trace.</a:t>
            </a:r>
          </a:p>
          <a:p xmlns:a="http://schemas.openxmlformats.org/drawingml/2006/main">
            <a:r>
              <a:t>The thesis does support the mechanism and mitigation: motor-stall peaks, supply monitoring, a fused branch, transient protection, decoupling, and careful grounding.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PLAN.md, Issues with electrical input to the RPI.</a:t>
            </a:r>
          </a:p>
          <a:p xmlns:a="http://schemas.openxmlformats.org/drawingml/2006/main">
            <a:r>
              <a:t>- TFM.docx, pp. 13 and 39.</a:t>
            </a:r>
          </a:p>
          <a:p xmlns:a="http://schemas.openxmlformats.org/drawingml/2006/main">
            <a:r>
              <a:t>- Image: TFM.docx Figure 6, NiMH battery.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measurement compares the visible time reference with the received browser image. The two Unix timestamps differ by exactly 340 milliseconds.</a:t>
            </a:r>
          </a:p>
          <a:p xmlns:a="http://schemas.openxmlformats.org/drawingml/2006/main">
            <a:r>
              <a:t>The browser status line shows a relay local candidate in this captured run, so the observed path appears TURN-relayed.</a:t>
            </a:r>
          </a:p>
          <a:p xmlns:a="http://schemas.openxmlformats.org/drawingml/2006/main">
            <a:r>
              <a:t>Treat this as one 4G observation that supports feasibility. It does not establish a latency distribution, a guarantee, or 5G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8–9 and 36; Figure 10.</a:t>
            </a:r>
          </a:p>
          <a:p xmlns:a="http://schemas.openxmlformats.org/drawingml/2006/main">
            <a:r>
              <a:t>- Resum-TFG-TFM-Raul-Hidalgo-Caballero.docx.pdf, p.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Vehicle control belongs to the next phase, not the completed project scope.</a:t>
            </a:r>
          </a:p>
          <a:p xmlns:a="http://schemas.openxmlformats.org/drawingml/2006/main">
            <a:r>
              <a:t>A production command loop needs explicit sequencing, timestamps, validation, actuation, and a neutral fail-safe whenever communication or input becomes unsafe.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37–38.</a:t>
            </a:r>
          </a:p>
          <a:p xmlns:a="http://schemas.openxmlformats.org/drawingml/2006/main">
            <a:r>
              <a:t>- Image: TFM.docx Figure 2, 3D chassis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best next optimization is direct H.264 from the camera or a hardware encoder, removing MJPEG decode and software libx264 where possible.</a:t>
            </a:r>
          </a:p>
          <a:p xmlns:a="http://schemas.openxmlformats.org/drawingml/2006/main">
            <a:r>
              <a:t>Direct output still needs validation. The profile, parameter sets, packetization, GOP, buffering, and measured latency must match the WebRTC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38–39.</a:t>
            </a:r>
          </a:p>
          <a:p xmlns:a="http://schemas.openxmlformats.org/drawingml/2006/main">
            <a:r>
              <a:t>- Image: TFM.docx Figure 4, Logitech HD Pro C920.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Run a controlled matrix rather than another single demonstration. Compare IPv4 direct, IPv6 direct, and TURN relay across realistic mobile network modes.</a:t>
            </a:r>
          </a:p>
          <a:p xmlns:a="http://schemas.openxmlformats.org/drawingml/2006/main">
            <a:r>
              <a:t>Record distributions and stability, not only a best-case latency number. Include NAT type, mobility, loss, and uplink consistency.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38 and 40.</a:t>
            </a:r>
          </a:p>
          <a:p xmlns:a="http://schemas.openxmlformats.org/drawingml/2006/main"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hardware priority is a protected and measurable power tree that isolates motor transients from the Raspberry Pi rail.</a:t>
            </a:r>
          </a:p>
          <a:p xmlns:a="http://schemas.openxmlformats.org/drawingml/2006/main">
            <a:r>
              <a:t>The plan also calls for complete WHIP and WHEP. That is a separate protocol track because true compliance requires HTTP session resources and a central media server that terminates WebRTC.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p. 39.</a:t>
            </a:r>
          </a:p>
          <a:p xmlns:a="http://schemas.openxmlformats.org/drawingml/2006/main">
            <a:r>
              <a:t>- RFC 9725: https://www.rfc-editor.org/rfc/rfc9725.html</a:t>
            </a:r>
          </a:p>
          <a:p xmlns:a="http://schemas.openxmlformats.org/drawingml/2006/main">
            <a:r>
              <a:t>- WHEP draft-04: https://www.ietf.org/archive/id/draft-ietf-wish-whep-04.html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ESP32-P4 is a long-term consolidation candidate because it combines RISC-V cores, camera interfaces, an image pipeline, hardware H.264, and Ethernet.</a:t>
            </a:r>
          </a:p>
          <a:p xmlns:a="http://schemas.openxmlformats.org/drawingml/2006/main">
            <a:r>
              <a:t>It has no integrated 5G radio, so a modem or network companion remains necessary. Rust HAL support exists, but peripheral maturity and a practical WebRTC stack still need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p. 39.</a:t>
            </a:r>
          </a:p>
          <a:p xmlns:a="http://schemas.openxmlformats.org/drawingml/2006/main">
            <a:r>
              <a:t>- Espressif ESP32-P4 datasheet: https://documentation.espressif.com/esp32-p4_datasheet_en.html</a:t>
            </a:r>
          </a:p>
          <a:p xmlns:a="http://schemas.openxmlformats.org/drawingml/2006/main">
            <a:r>
              <a:t>- Espressif product overview: https://www.espressif.com/en/node/7617</a:t>
            </a:r>
          </a:p>
          <a:p xmlns:a="http://schemas.openxmlformats.org/drawingml/2006/main">
            <a:r>
              <a:t>- esp-hal: https://github.com/esp-rs/esp-hal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this as an application concept, not as a tested system.</a:t>
            </a:r>
          </a:p>
          <a:p xmlns:a="http://schemas.openxmlformats.org/drawingml/2006/main">
            <a:r>
              <a:t>The motorway segment can run autonomously, while a remote operator handles the final approach where context and interaction are harder to automate.</a:t>
            </a:r>
          </a:p>
          <a:p xmlns:a="http://schemas.openxmlformats.org/drawingml/2006/main">
            <a:r>
              <a:t>Low-latency video is one dependency. Production teleoperation needs redundant control, a safety case, secure operations, and regulatory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Application example specified in PLAN.md.</a:t>
            </a:r>
          </a:p>
          <a:p xmlns:a="http://schemas.openxmlformats.org/drawingml/2006/main"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Cranes, mining equipment, and workboats share the value proposition of moving people away from hazardous work zones.</a:t>
            </a:r>
          </a:p>
          <a:p xmlns:a="http://schemas.openxmlformats.org/drawingml/2006/main">
            <a:r>
              <a:t>The video link must remain usable under motion, vibration, coverage changes, and harsh radio conditions.</a:t>
            </a:r>
          </a:p>
          <a:p xmlns:a="http://schemas.openxmlformats.org/drawingml/2006/main">
            <a:r>
              <a:t>The prototype addresses only the video-path question. Each domain needs its own redundant control and safety design.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Application examples specified in PLAN.md.</a:t>
            </a:r>
          </a:p>
          <a:p xmlns:a="http://schemas.openxmlformats.org/drawingml/2006/main"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40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Show the physical device path first when available. Keep the browser simulator ready as the technical fallback.</a:t>
            </a:r>
          </a:p>
          <a:p xmlns:a="http://schemas.openxmlformats.org/drawingml/2006/main">
            <a:r>
              <a:t>Ask the audience to watch signaling state, the offer and answer, candidate types, connection state, and the video itself.</a:t>
            </a:r>
          </a:p>
          <a:p xmlns:a="http://schemas.openxmlformats.org/drawingml/2006/main">
            <a:r>
              <a:t>The device selector uses hard-coded prototype entries and should not be described as live fleet discovery.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p. 32; Figure 9.</a:t>
            </a:r>
          </a:p>
          <a:p xmlns:a="http://schemas.openxmlformats.org/drawingml/2006/main">
            <a:r>
              <a:t>- Repository: Index.tsx, Control.tsx, ControlTest.tsx.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Start the central server and selector page. Then connect the device or start the simulator before opening the viewer route.</a:t>
            </a:r>
          </a:p>
          <a:p xmlns:a="http://schemas.openxmlformats.org/drawingml/2006/main">
            <a:r>
              <a:t>The viewer join event triggers the device offer. SignalR transports the SDP and Trickle ICE candidates.</a:t>
            </a:r>
          </a:p>
          <a:p xmlns:a="http://schemas.openxmlformats.org/drawingml/2006/main">
            <a:r>
              <a:t>Show the candidate types and connected state, then the live video and latency demonstration.</a:t>
            </a:r>
          </a:p>
          <a:p xmlns:a="http://schemas.openxmlformats.org/drawingml/2006/main">
            <a:r>
              <a:t>Do not demonstrate vehicle control as completed project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Repository: WebRtcSignalingBackgroundService.cs lines 25–32; WebRtcHub.cs; Control.tsx.</a:t>
            </a:r>
          </a:p>
          <a:p xmlns:a="http://schemas.openxmlformats.org/drawingml/2006/main">
            <a:r>
              <a:t>- PLAN.md, Live Demo Sequence.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55 seconds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slide reserves the required 16:9 media frame for a real RC-car recording.</a:t>
            </a:r>
          </a:p>
          <a:p xmlns:a="http://schemas.openxmlformats.org/drawingml/2006/main">
            <a:r>
              <a:t>No physical-car video file exists in the repository. The countdown is a 66.94-second simulator asset and can demonstrate the signaling and media path only.</a:t>
            </a:r>
          </a:p>
          <a:p xmlns:a="http://schemas.openxmlformats.org/drawingml/2006/main">
            <a:r>
              <a:t>Keep the placeholder label until real footage is inserted.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Repository: src/ScarletRadioControl.Web.Frontend/src/assets/countdown.mp4 and ControlTest.tsx.</a:t>
            </a:r>
          </a:p>
          <a:p xmlns:a="http://schemas.openxmlformats.org/drawingml/2006/main">
            <a:r>
              <a:t>- PLAN.md, Fallback Video.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40 seconds plus questions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Close with the evidence: the prototype demonstrates feasibility under one tested 4G configuration.</a:t>
            </a:r>
          </a:p>
          <a:p xmlns:a="http://schemas.openxmlformats.org/drawingml/2006/main">
            <a:r>
              <a:t>The most consequential engineering work involved NAT traversal and the software media pipeline.</a:t>
            </a:r>
          </a:p>
          <a:p xmlns:a="http://schemas.openxmlformats.org/drawingml/2006/main">
            <a:r>
              <a:t>Name the next priorities, then invite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TFM.docx, pp. 36–40; Figure 11.</a:t>
            </a:r>
          </a:p>
          <a:p xmlns:a="http://schemas.openxmlformats.org/drawingml/2006/main">
            <a:r>
              <a:t>- PLAN.md, Final Takeaways and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eca2c7f6ae4d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520f7b79164d75" /><Relationship Type="http://schemas.openxmlformats.org/officeDocument/2006/relationships/slideLayout" Target="/ppt/slideLayouts/slideLayout1.xml" Id="R776f51b0720041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6f51b0720041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343ae873a4b4f" /><Relationship Type="http://schemas.openxmlformats.org/officeDocument/2006/relationships/image" Target="/ppt/media/image.png" Id="R03fa49d469a54c81" /><Relationship Type="http://schemas.openxmlformats.org/officeDocument/2006/relationships/notesSlide" Target="/ppt/notesSlides/notesSlide1.xml" Id="R4c20c824f2b64e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db9f46cff4d34" /><Relationship Type="http://schemas.openxmlformats.org/officeDocument/2006/relationships/notesSlide" Target="/ppt/notesSlides/notesSlide2.xml" Id="Rbcb89a0f67f742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0decf085248c6" /><Relationship Type="http://schemas.openxmlformats.org/officeDocument/2006/relationships/notesSlide" Target="/ppt/notesSlides/notesSlide3.xml" Id="Rc88b826e1ec048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845e41bbf4510" /><Relationship Type="http://schemas.openxmlformats.org/officeDocument/2006/relationships/notesSlide" Target="/ppt/notesSlides/notesSlide4.xml" Id="Rbd96fe09848147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924ecbdc646af" /><Relationship Type="http://schemas.openxmlformats.org/officeDocument/2006/relationships/notesSlide" Target="/ppt/notesSlides/notesSlide5.xml" Id="R5edbd5beffb346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f657c1ad84f8d" /><Relationship Type="http://schemas.openxmlformats.org/officeDocument/2006/relationships/notesSlide" Target="/ppt/notesSlides/notesSlide6.xml" Id="R454d9d387d744b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7f4abe4804399" /><Relationship Type="http://schemas.openxmlformats.org/officeDocument/2006/relationships/notesSlide" Target="/ppt/notesSlides/notesSlide7.xml" Id="R09a333cefa3349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87474f95b45a9" /><Relationship Type="http://schemas.openxmlformats.org/officeDocument/2006/relationships/notesSlide" Target="/ppt/notesSlides/notesSlide8.xml" Id="Rc69dd3f5288c4f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cb518472c4e3c" /><Relationship Type="http://schemas.openxmlformats.org/officeDocument/2006/relationships/notesSlide" Target="/ppt/notesSlides/notesSlide9.xml" Id="R7242fa486d7f44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fb1cbbf954f2b" /><Relationship Type="http://schemas.openxmlformats.org/officeDocument/2006/relationships/notesSlide" Target="/ppt/notesSlides/notesSlide10.xml" Id="Rfd6770cd0bd34f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92dfc80e6416f" /><Relationship Type="http://schemas.openxmlformats.org/officeDocument/2006/relationships/notesSlide" Target="/ppt/notesSlides/notesSlide11.xml" Id="R95047671e250460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1991de09141c1" /><Relationship Type="http://schemas.openxmlformats.org/officeDocument/2006/relationships/notesSlide" Target="/ppt/notesSlides/notesSlide12.xml" Id="R261b8d6310984fc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302b2246a42d3" /><Relationship Type="http://schemas.openxmlformats.org/officeDocument/2006/relationships/notesSlide" Target="/ppt/notesSlides/notesSlide13.xml" Id="Rb95af0ae561f47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0b58157054ae2" /><Relationship Type="http://schemas.openxmlformats.org/officeDocument/2006/relationships/notesSlide" Target="/ppt/notesSlides/notesSlide14.xml" Id="R94d931ad1e0640d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79120c60e42a3" /><Relationship Type="http://schemas.openxmlformats.org/officeDocument/2006/relationships/notesSlide" Target="/ppt/notesSlides/notesSlide15.xml" Id="R1b9c875ae36f432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a58771f6f47b0" /><Relationship Type="http://schemas.openxmlformats.org/officeDocument/2006/relationships/notesSlide" Target="/ppt/notesSlides/notesSlide16.xml" Id="R50ce951e5b3c476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4791456644702" /><Relationship Type="http://schemas.openxmlformats.org/officeDocument/2006/relationships/notesSlide" Target="/ppt/notesSlides/notesSlide17.xml" Id="Rcbf98bb2e57c43c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bedf2612b450f" /><Relationship Type="http://schemas.openxmlformats.org/officeDocument/2006/relationships/notesSlide" Target="/ppt/notesSlides/notesSlide18.xml" Id="R507e48474fa34d0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d37c02ca1a4b86" /><Relationship Type="http://schemas.openxmlformats.org/officeDocument/2006/relationships/notesSlide" Target="/ppt/notesSlides/notesSlide19.xml" Id="R119c1ad8532b493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6db9f0cdf46fe" /><Relationship Type="http://schemas.openxmlformats.org/officeDocument/2006/relationships/image" Target="/ppt/media/image.jpeg" Id="R2698dbcb9a53455b" /><Relationship Type="http://schemas.openxmlformats.org/officeDocument/2006/relationships/notesSlide" Target="/ppt/notesSlides/notesSlide20.xml" Id="R224f31809dfe4c3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a656de3ba46ff" /><Relationship Type="http://schemas.openxmlformats.org/officeDocument/2006/relationships/image" Target="/ppt/media/image2.jpeg" Id="R3f0a8eb19b514f0c" /><Relationship Type="http://schemas.openxmlformats.org/officeDocument/2006/relationships/notesSlide" Target="/ppt/notesSlides/notesSlide21.xml" Id="R90360422731542c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9560930564e0d" /><Relationship Type="http://schemas.openxmlformats.org/officeDocument/2006/relationships/image" Target="/ppt/media/image2.png" Id="Rfbba1af4c8474e17" /><Relationship Type="http://schemas.openxmlformats.org/officeDocument/2006/relationships/notesSlide" Target="/ppt/notesSlides/notesSlide22.xml" Id="R7e8bfcdeebc9429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720b170cf461d" /><Relationship Type="http://schemas.openxmlformats.org/officeDocument/2006/relationships/image" Target="/ppt/media/image3.png" Id="R90b09c1245414bd7" /><Relationship Type="http://schemas.openxmlformats.org/officeDocument/2006/relationships/notesSlide" Target="/ppt/notesSlides/notesSlide23.xml" Id="Rcc6d9bd67bd9468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e9f44dbf742b8" /><Relationship Type="http://schemas.openxmlformats.org/officeDocument/2006/relationships/image" Target="/ppt/media/image3.jpeg" Id="R0891a160cce34563" /><Relationship Type="http://schemas.openxmlformats.org/officeDocument/2006/relationships/notesSlide" Target="/ppt/notesSlides/notesSlide24.xml" Id="R276ce5a726c4419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1e77b4eb04a06" /><Relationship Type="http://schemas.openxmlformats.org/officeDocument/2006/relationships/notesSlide" Target="/ppt/notesSlides/notesSlide25.xml" Id="R6debb6c524d0463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c5a1f24f5418c" /><Relationship Type="http://schemas.openxmlformats.org/officeDocument/2006/relationships/notesSlide" Target="/ppt/notesSlides/notesSlide26.xml" Id="R1feb2e6c42674b5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5eeb0c8e8d48fd" /><Relationship Type="http://schemas.openxmlformats.org/officeDocument/2006/relationships/notesSlide" Target="/ppt/notesSlides/notesSlide27.xml" Id="Rb50a9bc9bbff45f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d8a36bcc4493e" /><Relationship Type="http://schemas.openxmlformats.org/officeDocument/2006/relationships/image" Target="/ppt/media/image4.png" Id="R58020c23cc4740d3" /><Relationship Type="http://schemas.openxmlformats.org/officeDocument/2006/relationships/notesSlide" Target="/ppt/notesSlides/notesSlide28.xml" Id="Rdb1e5352baa242c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1a36e64554790" /><Relationship Type="http://schemas.openxmlformats.org/officeDocument/2006/relationships/image" Target="/ppt/media/image5.png" Id="R3c3f7051d511495f" /><Relationship Type="http://schemas.openxmlformats.org/officeDocument/2006/relationships/notesSlide" Target="/ppt/notesSlides/notesSlide29.xml" Id="Red485037077241d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78ee1773d4fff" /><Relationship Type="http://schemas.openxmlformats.org/officeDocument/2006/relationships/image" Target="/ppt/media/image6.png" Id="Re1dfc6cd45264afa" /><Relationship Type="http://schemas.openxmlformats.org/officeDocument/2006/relationships/notesSlide" Target="/ppt/notesSlides/notesSlide30.xml" Id="R077937aa8ebb4d5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0ba24ea024f49" /><Relationship Type="http://schemas.openxmlformats.org/officeDocument/2006/relationships/notesSlide" Target="/ppt/notesSlides/notesSlide31.xml" Id="R1c683e8dbd4f412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6eb8dd0eb4623" /><Relationship Type="http://schemas.openxmlformats.org/officeDocument/2006/relationships/image" Target="/ppt/media/image7.png" Id="R082b7151a4bd4aa1" /><Relationship Type="http://schemas.openxmlformats.org/officeDocument/2006/relationships/notesSlide" Target="/ppt/notesSlides/notesSlide32.xml" Id="R61aa8fb09f6648b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0322d4bd6440a" /><Relationship Type="http://schemas.openxmlformats.org/officeDocument/2006/relationships/image" Target="/ppt/media/image8.png" Id="R0fcb176b4284412f" /><Relationship Type="http://schemas.openxmlformats.org/officeDocument/2006/relationships/image" Target="/ppt/media/image9.png" Id="R85032b2680f243c4" /><Relationship Type="http://schemas.openxmlformats.org/officeDocument/2006/relationships/notesSlide" Target="/ppt/notesSlides/notesSlide33.xml" Id="Rb92121c481554c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83005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a49d469a54c81"/>
          <a:stretch xmlns:a="http://schemas.openxmlformats.org/drawingml/2006/main"/>
        </p:blipFill>
        <p:spPr>
          <a:xfrm xmlns:a="http://schemas.openxmlformats.org/drawingml/2006/main">
            <a:off x="7905750" y="416420"/>
            <a:ext cx="3486150" cy="786411"/>
          </a:xfrm>
          <a:prstGeom xmlns:a="http://schemas.openxmlformats.org/drawingml/2006/main" prst="roundRect">
            <a:avLst>
              <a:gd name="adj" fmla="val 9302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91C85-8193-4CE4-8F4B-8C4E4393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8763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in a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Radio-Controlled Car via 5G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BDE524-BF06-4B5B-BDA7-AB064474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619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1D563-39E4-4ABB-8C7D-DFE2AAD4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Raul Hidalgo Caballero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DEB04-A3BD-4FAA-AA37-0B01C7B8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561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 in Computer Engineering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Director: David Sarrat González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62708-0396-45C6-A701-6995AE03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University of Lleida,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5342745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67CFAC-3748-4C5E-81EF-F794E5D0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20026-1DD5-4213-873D-83F7B27C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250609-784C-4D33-98B8-962C725B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42AAF-4189-44D0-953B-45EB488C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7596CA-7DA9-4B4B-99D5-D69F0E40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3830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25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Can an RC car deliver live video to a remote browser with less than 400 ms glass-to-glass latency while keeping the central server outside the media path?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E93C2-85CE-4599-B8E7-C13DE0B2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5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06A4EB-5BE2-466F-91FF-860DB064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LATENCY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BD687-2F26-4BA9-ADC6-D115F3DD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76600"/>
            <a:ext cx="0" cy="209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7E3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ED4708-9C33-4E35-A29F-2EA0D52E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4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5G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6FE50-325E-4A73-BD99-4EF91BC2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957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Intended deployment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D5B5A6-D81D-4E96-9E89-F856A872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81375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4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4G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F12FB-2E11-4BF0-83C5-DAF41AB6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validation actually performed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1EA44-2047-420D-9365-CAC58B00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953000"/>
            <a:ext cx="61341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DE5AAF-847D-4AB9-BB90-A3A200CD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0863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presentation keeps the target and the evidence separate.</a:t>
            </a:r>
          </a:p>
        </p:txBody>
      </p:sp>
    </p:spTree>
    <p:extLst>
      <p:ext uri="{BB962C8B-B14F-4D97-AF65-F5344CB8AC3E}">
        <p14:creationId xmlns:p14="http://schemas.microsoft.com/office/powerpoint/2010/main" val="4147757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49AAD-E651-4E73-BDD5-7B7B764B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32840-3461-4C44-8108-726D7414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61FF3-70B0-481F-8F1F-A64F0FD0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2085F-5903-4C75-998C-43273A60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0A6230-CFB7-488B-9A58-EAB88742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1905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9525">
            <a:solidFill>
              <a:srgbClr val="EAD8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C2DD8-2AEA-4B96-8894-5AF97FFB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514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5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8D0BE-016D-485A-9AB5-F7219A05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24050"/>
            <a:ext cx="9525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project scope is to establish a low-latency video connection between an RC car and a remote web browser, targeting a glass-to-glass latency below 400 ms. Data transport and vehicle control are not included.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0590FA-78CC-41D7-AABE-518EE2C8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2578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31A760-5ECD-4B88-ABDE-FF33D6E2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767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VIDEO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72A1C-4CFA-4D44-A0C0-C26FE0D6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0060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Capture, encode, negotiate, transport, 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AC06DE-0996-4E81-9B95-518CF273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00500"/>
            <a:ext cx="52578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3BFCD7-C24E-4DA2-BF32-D56FC913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767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3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DATA / CONTROL EXCLUDED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3D8A7D-13B8-4232-AB9A-AF0443F9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0060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No command loop, actuation, or safety controller</a:t>
            </a:r>
          </a:p>
        </p:txBody>
      </p:sp>
    </p:spTree>
    <p:extLst>
      <p:ext uri="{BB962C8B-B14F-4D97-AF65-F5344CB8AC3E}">
        <p14:creationId xmlns:p14="http://schemas.microsoft.com/office/powerpoint/2010/main" val="9057073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BFAC66-E8CE-44A2-9666-26913D27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667DB-23FF-481B-834B-CF665EA2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Presentation 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422EB-687B-4528-BB05-4FFAE7DC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0F9CC-C9E6-4BD5-B35A-5E4FF3E1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F3641-89F9-4E16-B076-F410729B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6AC05-476B-4D77-AE4E-2ABBCCA1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6192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AA48F4-457A-4082-ABE5-EFB2FE2D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192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9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20632-4BB3-47C0-9023-059846EE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669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84672-ECEE-4CAE-8589-EA583D66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91D71-4DFC-4E2F-B88D-692E0536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8B3011-AB9F-4609-AE08-E3EB43AC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574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 min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926995-28B6-432A-B232-3B816906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051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8520B6-99B5-4B3D-95AB-FD44A97F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CE652-D8B7-4766-A5B4-FF92C6C0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956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F237E8-5A4E-462D-A12A-38EBABD5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956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AA6B4C-4760-4DE1-AA87-12517946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433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686026-BBA4-4375-A981-23B76242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88402-640C-4D41-9257-7EE0ABA9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338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1D3DA-CE1D-4A84-8CEF-AAB9316A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338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7C94FC-F09F-4FAA-A4BD-26204176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815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841880-53B8-4BBB-AA7D-0883C63B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720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0FB81F-433C-404D-9BB2-ADE828B7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720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B3D2A-7C42-4C3E-8106-C860F83F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720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2EFD7F-52CF-4FBD-93ED-63BE6841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531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Opening  3 min</a:t>
            </a:r>
          </a:p>
        </p:txBody>
      </p:sp>
    </p:spTree>
    <p:extLst>
      <p:ext uri="{BB962C8B-B14F-4D97-AF65-F5344CB8AC3E}">
        <p14:creationId xmlns:p14="http://schemas.microsoft.com/office/powerpoint/2010/main" val="8075543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CDC69-1409-43D8-9607-D7A772AA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580DE-C4F8-4096-AABD-EE39396A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as a Whole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4ABD69-38EF-4E90-8C3A-E4C4A0A4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13239-B39C-4AE8-8471-1EE347C8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EE678-19EF-40ED-8FAB-869D4C1C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05100"/>
            <a:ext cx="3238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RTCPeerConnection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C65C0-7AB3-4E1D-AF31-CEDB19C1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2857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and native APIs</a:t>
            </a:r>
          </a:p>
        </p:txBody>
      </p: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638550" y="2143125"/>
            <a:ext cx="838200" cy="1085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DCEB5-A124-43C2-B5DA-C85E112E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857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Application-defined signaling</a:t>
            </a:r>
          </a:p>
        </p:txBody>
      </p:sp>
      <p:cxnSp>
        <p:nvCxnSpPr>
          <p:cNvPr id="27" name=""/>
          <p:cNvCxnSpPr>
            <a:stCxn xmlns:a="http://schemas.openxmlformats.org/drawingml/2006/main" id="8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638550" y="3228975"/>
            <a:ext cx="838200" cy="1314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622E93-17B0-401E-8234-D4A9D09C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71650"/>
            <a:ext cx="2857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connectivity</a:t>
            </a:r>
          </a:p>
        </p:txBody>
      </p:sp>
      <p:cxnSp>
        <p:nvCxnSpPr>
          <p:cNvPr id="29" name=""/>
          <p:cNvCxnSpPr>
            <a:stCxn xmlns:a="http://schemas.openxmlformats.org/drawingml/2006/main" id="10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>
            <a:off x="7715250" y="2143125"/>
            <a:ext cx="828675" cy="1085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85FE71-DF2E-455E-BDBD-33A1A28E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71950"/>
            <a:ext cx="2857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DTLS-SRTP encryption</a:t>
            </a:r>
          </a:p>
        </p:txBody>
      </p:sp>
      <p:cxnSp>
        <p:nvCxnSpPr>
          <p:cNvPr id="31" name=""/>
          <p:cNvCxnSpPr>
            <a:stCxn xmlns:a="http://schemas.openxmlformats.org/drawingml/2006/main" id="12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 flipV="1">
            <a:off x="7715250" y="3228975"/>
            <a:ext cx="828675" cy="1314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60421-D5E0-4710-AEB5-BDF7ACD3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485900"/>
            <a:ext cx="3238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Real-time media</a:t>
            </a:r>
          </a:p>
        </p:txBody>
      </p:sp>
      <p:cxnSp>
        <p:nvCxnSpPr>
          <p:cNvPr id="33" name=""/>
          <p:cNvCxnSpPr>
            <a:stCxn xmlns:a="http://schemas.openxmlformats.org/drawingml/2006/main" id="1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6096000" y="222885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6217E-F468-4A2C-917D-216B8EC5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00550"/>
            <a:ext cx="3238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Congestion control</a:t>
            </a:r>
          </a:p>
        </p:txBody>
      </p:sp>
      <p:cxnSp>
        <p:nvCxnSpPr>
          <p:cNvPr id="35" name=""/>
          <p:cNvCxnSpPr>
            <a:stCxn xmlns:a="http://schemas.openxmlformats.org/drawingml/2006/main" id="16" idx="0"/>
            <a:endCxn xmlns:a="http://schemas.openxmlformats.org/drawingml/2006/main" id="5" idx="2"/>
          </p:cNvCxnSpPr>
          <p:nvPr/>
        </p:nvCxnSpPr>
        <p:spPr>
          <a:xfrm xmlns:a="http://schemas.openxmlformats.org/drawingml/2006/main" flipV="1">
            <a:off x="6096000" y="3752850"/>
            <a:ext cx="0" cy="647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3DC108-6F33-487C-8F7E-BB1BFE97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WebRTC combines APIs and protocols. It does not prescribe how the application carries signaling messages.</a:t>
            </a:r>
          </a:p>
        </p:txBody>
      </p:sp>
    </p:spTree>
    <p:extLst>
      <p:ext uri="{BB962C8B-B14F-4D97-AF65-F5344CB8AC3E}">
        <p14:creationId xmlns:p14="http://schemas.microsoft.com/office/powerpoint/2010/main" val="1122588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7F735B-634D-43FB-B2F9-DBD86FA7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F9A2B-8B5A-4D01-A7C9-6998F896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WebRTC Protocol Stack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827970-C07D-4CF0-A8B3-9AF33F1D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21B09-9351-4CFB-9184-F53ED495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E9261-21DD-44A6-A940-EE89DA81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57350"/>
            <a:ext cx="72390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Media capture and browser playback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B5E9A-9DCC-4815-BE42-A8E59198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7239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51003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Video codec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9266D-F3AD-47B5-9D01-5B059AD4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33700"/>
            <a:ext cx="72390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AD8E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RTP / RTCP   protected as   SRTP / SRTCP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03845E-AC5F-471F-8E8D-ADB973F1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0450"/>
            <a:ext cx="72390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 key exchange   +   ICE connectivity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69DE4-6A6D-472D-9BFB-EBEDA7F7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67200"/>
            <a:ext cx="723900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/ 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46303-9D03-405D-A395-B4920132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76800"/>
            <a:ext cx="723900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7141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UDP / 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128B7-7735-483C-A9AC-1E53477B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52650"/>
            <a:ext cx="2381250" cy="2114550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19050">
            <a:solidFill>
              <a:srgbClr val="A69FA3"/>
            </a:solidFill>
            <a:prstDash val="dash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4AF68-7068-4660-941D-167105DF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WIDER STANDARD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AF70C1-E199-40C1-86CD-C60EB225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765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DataChannel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5AB6DC-7633-49ED-9D84-81BD7441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909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SCTP over DTLS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F5E213-C12D-48B1-903D-3D475AAD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8862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Outside project scope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4A6C1-7C31-4B27-B81C-F85CE232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340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FFmpeg prepares H.264 frames. SIPSorcery owns the secure WebRTC transport.</a:t>
            </a:r>
          </a:p>
        </p:txBody>
      </p:sp>
    </p:spTree>
    <p:extLst>
      <p:ext uri="{BB962C8B-B14F-4D97-AF65-F5344CB8AC3E}">
        <p14:creationId xmlns:p14="http://schemas.microsoft.com/office/powerpoint/2010/main" val="342588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06610C-6871-4F0F-A248-6A458BDF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3B3475-957D-4337-958E-59DB2A9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and 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664C0-4CD9-483C-A8C8-B7A998E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55462-4D07-4EFC-A1E5-256E5DCC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F4EFF7-BD51-4027-B6F7-A24EE864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STUN: discover and test a direct path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EFCD8-107F-4465-96FA-1DB41DCF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1381125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Peer A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address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2D488-8DF1-4D76-BAE6-4A53BA20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133600"/>
            <a:ext cx="161925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public mapping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D4139-25E6-449A-934C-89652631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1476375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Peer B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address</a:t>
            </a:r>
          </a:p>
        </p:txBody>
      </p: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2047875" y="2724150"/>
            <a:ext cx="42862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095750" y="2724150"/>
            <a:ext cx="42862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C60E8-367F-495D-81D2-D48508F8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147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300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D662A7-56F6-4B69-BE3B-69BE0F6A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MEDIA DIRECT WHEN REACHABLE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64E835-7B21-4BE5-9CC1-4A2705B3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811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TURN: relay when direct checks 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7A7940-D69F-4A20-B296-BB4B6134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05050"/>
            <a:ext cx="1333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Peer 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2E081-E023-4C0A-B6D2-466218E0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180975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 relay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public allocation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C6609D-46AA-480D-8F1C-615B964D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305050"/>
            <a:ext cx="10477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Peer B</a:t>
            </a:r>
          </a:p>
        </p:txBody>
      </p:sp>
      <p:cxnSp>
        <p:nvCxnSpPr>
          <p:cNvPr id="49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8001000" y="2724150"/>
            <a:ext cx="4762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10287000" y="2724150"/>
            <a:ext cx="4762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EBFB33-29F1-4E81-A40B-47EB978F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638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MEDIA USES RELAY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971D8-36DD-4B13-844C-837189DF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10668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70192A-BAB4-40A0-B4A9-D7556E0C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95825"/>
            <a:ext cx="2324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7816AB-1153-4343-80F9-8022FB16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967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Direct preferred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429662-CF4D-40F1-AD11-C68D98F5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149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Extra relay hop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DD10BC-3757-4FA1-8C87-6CC640C0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95825"/>
            <a:ext cx="2324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LATENCY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30242E-4ED6-475B-ACA4-A55A839C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1967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Usually lower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8ACAF8-7B59-4AB9-8F2C-C1EA929B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149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May increase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A2CD62-B6D4-4745-86B8-5757E346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324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BANDWIDTH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CCBB6D-5F26-40B1-82D6-3D873B8E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1967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Endpoint traffic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B54102-5426-427A-9D3D-5871EBF6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3149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Relay carries all media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567D97-E69B-4F7B-8FA4-CC6D43C6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695825"/>
            <a:ext cx="2324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INFRASTRUCTURE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5E04F6-7ACF-4639-956C-DB8A923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01967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is lightweight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FBBD1D-40D4-4E48-931C-0A6A0599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3149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TURN capacity costs</a:t>
            </a:r>
          </a:p>
        </p:txBody>
      </p:sp>
    </p:spTree>
    <p:extLst>
      <p:ext uri="{BB962C8B-B14F-4D97-AF65-F5344CB8AC3E}">
        <p14:creationId xmlns:p14="http://schemas.microsoft.com/office/powerpoint/2010/main" val="1616458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DF73B5-401A-4D42-A102-65DE4955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A5A16-0215-4F66-9818-D88EBEC6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Offer and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E6A14-72B7-45A1-ACAE-DB0584AE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37308-51C9-4DF4-B136-066AFF6E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70BFC-853B-460B-887A-9B2AA375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2381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OFFERER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4BC62F-084D-4ED3-B09E-0348DC7D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657350"/>
            <a:ext cx="2381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19050">
            <a:solidFill>
              <a:srgbClr val="A69FA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server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FORWARDS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92359-2E1C-4EB6-B599-2A8307C8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657350"/>
            <a:ext cx="2381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Remote browser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ANSWERER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B81101-38B9-4E4D-97A2-481B30E0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5146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9FA3"/>
            </a:solidFill>
            <a:prstDash val="dash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D2DF9B-5CDC-4675-9EA0-6B8E4968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146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9FA3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B19558-6FE1-4F26-A42C-521220F8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5146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69FA3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7A500-A949-4990-BAEF-102CC823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24150"/>
            <a:ext cx="57150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247650" tIns="19050" rIns="2476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OFFER VIA SIGNALR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24A59C-3181-4999-9E70-C0F69421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29000"/>
            <a:ext cx="5715000" cy="4000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7141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247650" tIns="19050" rIns="2476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ANSWER VIA SIGNALR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14E90-0E36-4F31-A993-405F3176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05300"/>
            <a:ext cx="89535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B6AD4F-FC80-4B58-A910-140CECEF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14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A416B2-5235-4530-95E4-583256C9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387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sections and direction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BE6BA0-E9F8-44FD-9764-A37A7C56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514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710C6D-8B26-420D-9023-CCF7B36B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387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codecs and RTP parameters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BC48E-A676-4C4D-BC0B-49B1AE98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7EFF33-7654-4BEA-9BC2-E464ADC2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credentials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72200-A010-4FB1-B0CF-F0194B2E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14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21509F-D3E1-4135-BD37-E28F0D5B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 fingerprints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2869B-5A9E-4D5F-AF7D-40B9D81F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95950"/>
            <a:ext cx="899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SignalR transports the descriptions. It does not interpret or terminate the media session.</a:t>
            </a:r>
          </a:p>
        </p:txBody>
      </p:sp>
    </p:spTree>
    <p:extLst>
      <p:ext uri="{BB962C8B-B14F-4D97-AF65-F5344CB8AC3E}">
        <p14:creationId xmlns:p14="http://schemas.microsoft.com/office/powerpoint/2010/main" val="5420972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BDDA38-60CC-4674-BDCB-BBAE1984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C3FAF-CD7E-4C2D-A68B-B26AFF95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Candidates After SDP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BC067-9811-4F96-B066-82CC5478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B9DBC-6A8F-4E78-B764-08EE1728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E8B5C-89E6-4A52-8EE5-DB7A9632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6573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4A0F3-C2F6-4080-BC61-7FB84B47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905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SDP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offer / answer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6A700-C677-4429-80F8-BC66352C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6573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AE3B4-9934-44EC-91BD-3731B6A3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09800"/>
            <a:ext cx="1905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Candidates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trickle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2E3994-1D6E-48BD-AE5C-34A6C9EE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6573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8AD2DA-E777-4571-9C64-BC1BFBA9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09800"/>
            <a:ext cx="1905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Connectivity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F5E45-B295-4442-83F8-79C8F9FB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573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6783AA-DD81-4FC0-85A1-ECD9917E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09800"/>
            <a:ext cx="1905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Pairs ranked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by priority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9863BE-E6B7-4AAD-AB94-C9042DD9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6573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3CA45F-86F4-4C43-AB65-9A8463D4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209800"/>
            <a:ext cx="1905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Winning pair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nominated</a:t>
            </a:r>
          </a:p>
        </p:txBody>
      </p: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71750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819650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067550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15450" y="26479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810608-C409-42AF-9312-D59A400B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10858500" cy="1390650"/>
          </a:xfrm>
          <a:prstGeom xmlns:a="http://schemas.openxmlformats.org/drawingml/2006/main" prst="roundRect">
            <a:avLst>
              <a:gd name="adj" fmla="val 9589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65B9E7-AB55-443C-9BF8-4701A9CD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04D56-6E93-4D7D-9ED3-85C11CFD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local interface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4F2B47-B32D-491D-940E-BE472FD8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8290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SRFLX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162B0F-AD9E-42E7-8C93-8FFCF2CD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672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via STUN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75C41F-56AD-46CD-88C5-3E05C875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PRFLX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AFBE13-90AB-4015-96DB-04AB8990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672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in checks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1DC4EE-90D8-42C0-9C98-A4EE59BC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290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F8412A-622D-4D21-8A84-239F1B13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672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 allocation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278E64-42E0-4851-AE75-19593368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91150"/>
            <a:ext cx="982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Gathering and SDP creation can overlap at runtime. Trickle ICE sends candidates as soon as they appear.</a:t>
            </a:r>
          </a:p>
        </p:txBody>
      </p:sp>
    </p:spTree>
    <p:extLst>
      <p:ext uri="{BB962C8B-B14F-4D97-AF65-F5344CB8AC3E}">
        <p14:creationId xmlns:p14="http://schemas.microsoft.com/office/powerpoint/2010/main" val="2924550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EEC6EB-3729-4D8E-81B3-44A8BADD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97589-F352-4DAD-AA13-C392E13D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Video Encodings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7F739-39A8-4F21-A569-0BB48CA4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2A9B1-1612-4D38-AEAF-5CBBA1CE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9DE57-0EF7-4715-B9B5-5283DC1A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5245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D378F-CD10-49A6-A053-5908CC55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4307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VP8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D151B-DDA0-4FAC-84E9-E7D869F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43075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Mandatory to implement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8B967-F2F1-4B78-AB65-AAB980CC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5245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534A3-6818-4877-9B20-89AFF53F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Constrained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44FC6B-895F-4E58-B222-21F38795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24125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Mandatory to implement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2C7E49-B402-4E44-910A-F9FFDB44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55245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B5CAE-FD08-41AF-83C3-36A15E9E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VP9 / AV1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BEFB2A-C949-459E-9F54-38D89C4B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05175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Optional modern choices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48A408-0FD8-4597-8FAC-6F739E00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55245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7F6832-A610-47AD-A701-6E7A5B1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FC1C7-87C0-431A-A848-F519202B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086225"/>
            <a:ext cx="2152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Fragmented support; no universal browser assumption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BDCEA-ECCE-4E2A-915A-FC56111E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8592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 PROJECT PIPELINE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E8CDA-12CF-4F7A-9CBA-C8CDE8BC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47900"/>
            <a:ext cx="1381125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57B26-C7D9-4B13-89C4-E236B94E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247900"/>
            <a:ext cx="16573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FFmpeg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+ encode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07DBAF-5D6B-422B-AC52-1A5A6389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2001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cxnSp>
        <p:nvCxnSpPr>
          <p:cNvPr id="47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258175" y="26860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10239375" y="2686050"/>
            <a:ext cx="314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8454EB-B35F-4739-81B0-077FF7B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81400"/>
            <a:ext cx="48768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96EDF8-536D-47DC-85E3-38858FF3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719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Negotiation, not a fixed assumption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FDCD05-B5F9-4475-9F65-E3480507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4305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38100" rIns="38100" bIns="38100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lnSpc>
                <a:spcPct val="105000"/>
              </a:lnSpc>
              <a:spcAft>
                <a:spcPts val="700"/>
              </a:spcAft>
              <a:buNone/>
              <a:defRPr sz="150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417"/>
                </a:solidFill>
                <a:latin typeface="Arial"/>
                <a:ea typeface="Arial"/>
                <a:cs typeface="Arial"/>
              </a:rPr>
              <a:t>Mandatory-to-implement means an interoperability baseline.</a:t>
            </a:r>
          </a:p>
          <a:p xmlns:a="http://schemas.openxmlformats.org/drawingml/2006/main">
            <a:pPr marL="254000" indent="-127000">
              <a:lnSpc>
                <a:spcPct val="105000"/>
              </a:lnSpc>
              <a:spcAft>
                <a:spcPts val="700"/>
              </a:spcAft>
              <a:buNone/>
              <a:defRPr sz="150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selected codec still depends on offer/answer negotiation.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1A512F-D11A-45A4-8F19-A96C93C6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19750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project advertises H.264 packetization-mode=1 with profile-level-id 42e01f.</a:t>
            </a:r>
          </a:p>
        </p:txBody>
      </p:sp>
    </p:spTree>
    <p:extLst>
      <p:ext uri="{BB962C8B-B14F-4D97-AF65-F5344CB8AC3E}">
        <p14:creationId xmlns:p14="http://schemas.microsoft.com/office/powerpoint/2010/main" val="3935726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C6E99-40DC-4E3A-8C1B-FDF6B69E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A95B-CEBE-42F6-8E00-FB64E205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 and WHEP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64D82-8A67-42D7-8E82-9327F958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2E29F-26F7-4D0D-AB67-33CEA17C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E9A8C-6EBE-4DF7-8FF2-681BFA5C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2238375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/ device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ACB176-7671-4D1D-A4B2-2F618376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1409700"/>
          </a:xfrm>
          <a:prstGeom xmlns:a="http://schemas.openxmlformats.org/drawingml/2006/main" prst="roundRect">
            <a:avLst>
              <a:gd name="adj" fmla="val 9459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Central media server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1F63D-FD1C-4B73-B29B-8D7D55B9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24100"/>
            <a:ext cx="2238375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Viewer / browser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05125" y="280035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524750" y="280035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D8302-EB57-4BB1-A275-1BD0569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2937FE-9C16-476E-91AC-DDE5430F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574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D6659-F94A-4D68-B1AC-74280416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193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8D386-9EC8-40A4-9621-86AB18CA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egress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F4BF9-A016-465A-AA58-6CF470A3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67050"/>
            <a:ext cx="1733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7980CD-4735-4DC1-883F-58671DAC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67050"/>
            <a:ext cx="1733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2128C-5866-45BF-8659-458BAE9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52900"/>
            <a:ext cx="10287000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7505FE-036C-404C-85F7-84AB0AC5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005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session lifecycle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BC03B7-1172-4C4D-9DEE-9D823012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400550"/>
            <a:ext cx="7086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offer, 201 answer + Location, PATCH ICE updates, DELETE teardown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5D87A-2396-4879-898F-E01A164A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657850"/>
            <a:ext cx="941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WHIP is RFC 9725. WHEP remains draft-ietf-wish-whep-04 as of 5 September 2026.</a:t>
            </a:r>
          </a:p>
        </p:txBody>
      </p:sp>
    </p:spTree>
    <p:extLst>
      <p:ext uri="{BB962C8B-B14F-4D97-AF65-F5344CB8AC3E}">
        <p14:creationId xmlns:p14="http://schemas.microsoft.com/office/powerpoint/2010/main" val="8268870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28FD90-12B7-470E-86DE-D7ED327C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3EAF4F-4E2C-48E5-B39C-8F869BF5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9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WHIP/WHEP Concepts Implemented Through SignalR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97ED9-0276-4FA4-AF33-386A5B6A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DD1C2-0340-41EE-8813-7359C122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28D49-6685-40A0-BBCF-E3040035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6305550" cy="39243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A595E-F80C-475E-96F1-28D98352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569595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implemented the WHIP and WHEP signaling concepts through SignalR. I did not implement the complete HTTP protocols because WHIP and WHEP are designed for device-to-central-server ingestion and central-server-to-browser egress. This project keeps the central server outside the video path and uses it only for signaling.”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39149-CEFC-4E05-8D4A-32FBEC2B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573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CONCEPT MAPPING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48166-23E4-45AB-8E4A-FD1F0AE8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3835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Publisher / viewer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DBCC3-B5BC-49D2-96F2-4B634A6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38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 / browser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76152-9A48-46AB-A8F4-818F10E9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14600"/>
            <a:ext cx="415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CB4D84-44D7-4F49-9980-2023FD31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60985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SDP exchange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8A8DC-0CA0-4660-9DE0-2E03E207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098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offer / answer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1C7C01-5066-4243-A9A3-3CEFACBB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86100"/>
            <a:ext cx="415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B5B3DB-B2DF-4A43-AFFE-FECA07CE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8135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ICE updates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982218-165F-4C37-A744-3C51FF2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81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candidate events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3D6A0-3727-4DD2-9C85-9D5FC016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57600"/>
            <a:ext cx="415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8F0ED1-E250-47E8-82FF-AAD4FD64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5285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Session lifecycle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2A727-C03C-44C8-A72A-13E6BB6C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hub group + peer state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A963FA-6299-4E60-848E-894818D2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415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F919E6-0BCE-4444-80B7-B693B6EA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Termination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BFCA08-8B85-492F-B67A-7137C2E2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partial disconnect / cleanup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857144-560B-47BB-A15C-3E6B3F4F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00600"/>
            <a:ext cx="415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70063-6E79-4657-9DD5-646AAC84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48250"/>
            <a:ext cx="41529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916ECE-AE9D-4D01-BF0F-077A975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816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Protocol status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031607-59BB-4316-9C06-5B0C910F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816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return 501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906A37-BE0B-444C-A5F6-EED0DB1D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876925"/>
            <a:ext cx="415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Concepts mapped. Protocol compliance remains unimplemented.</a:t>
            </a:r>
          </a:p>
        </p:txBody>
      </p:sp>
    </p:spTree>
    <p:extLst>
      <p:ext uri="{BB962C8B-B14F-4D97-AF65-F5344CB8AC3E}">
        <p14:creationId xmlns:p14="http://schemas.microsoft.com/office/powerpoint/2010/main" val="11610121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6F254D-3F6A-4148-BA6E-96F184E0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928B2C-61A7-4EF9-896F-DC8A9BCE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Prototype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ED930-5044-49B9-96A4-6A663E94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9C258-FAB2-482E-BD25-BA2371E0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06B1E6-D505-45F6-BB44-0422D22F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0300"/>
            <a:ext cx="266700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RC car / Raspberry Pi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WebRTC sender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3CAD8-0C42-414D-8F7E-A0AEE809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57350"/>
            <a:ext cx="26670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19050">
            <a:solidFill>
              <a:srgbClr val="A69FA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ASP.NET Core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coordination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EC3B5-BD31-409F-9924-01299077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00300"/>
            <a:ext cx="266700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React + WebRTC viewer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58B179-B9B0-4F3B-ABAA-0D32CB91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76750"/>
            <a:ext cx="26670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public mapping + checks</a:t>
            </a:r>
          </a:p>
        </p:txBody>
      </p:sp>
      <p:cxnSp>
        <p:nvCxnSpPr>
          <p:cNvPr id="27" name=""/>
          <p:cNvCxnSpPr>
            <a:stCxn xmlns:a="http://schemas.openxmlformats.org/drawingml/2006/main" id="5" idx="0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1962150" y="2181225"/>
            <a:ext cx="280035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7429500" y="2181225"/>
            <a:ext cx="280035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95650" y="2962275"/>
            <a:ext cx="56007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5" idx="2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1962150" y="3524250"/>
            <a:ext cx="2800350" cy="1447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dash"/>
          </a:ln>
        </p:spPr>
      </p:cxnSp>
      <p:cxnSp>
        <p:nvCxnSpPr>
          <p:cNvPr id="31" name=""/>
          <p:cNvCxnSpPr>
            <a:stCxn xmlns:a="http://schemas.openxmlformats.org/drawingml/2006/main" id="7" idx="2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429500" y="3524250"/>
            <a:ext cx="2800350" cy="1447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dash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FAD37-1CFD-403A-92F1-1DE00793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857375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C0F84-15DA-43DD-80AE-CAEC6BCC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57375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2CA54-A2A5-4FBD-8562-C3DDCB05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62300"/>
            <a:ext cx="491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EXPECTED DIRECT WEBRTC VIDEO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92D7A8-283C-4AE7-8F6D-B62AE7A8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91200"/>
            <a:ext cx="109347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1C6BE-B91E-4630-89D2-00B20E70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76925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Initial assumption: STUN would expose a usable route. TURN was not yet part of the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3264543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B64447-A3A3-461B-8473-4F891E9F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6A4F9-5A2B-408C-8BE3-66A40F3E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NAT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8698D-F42F-4921-9D7F-FE319C2F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D137E-8DC1-4C16-9C90-908CC1E2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A07CBF-D991-4C86-9869-912744B0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8097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192.168.x.x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A949E6-5B6C-458F-AD48-AD93B67A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81250"/>
            <a:ext cx="18097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hotspot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129D90-D7AB-4795-BF96-0D4569D3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09800"/>
            <a:ext cx="209550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public IPv4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4F2EED-FEE5-484A-90E8-524D1186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81250"/>
            <a:ext cx="20002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NAT / firewall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7A70B-A441-409F-AE8C-4ECDD0BD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81250"/>
            <a:ext cx="18097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D8E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324100" y="28098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cxnSp>
        <p:nvCxnSpPr>
          <p:cNvPr id="3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457700" y="28098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cxnSp>
        <p:nvCxnSpPr>
          <p:cNvPr id="3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877050" y="28098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cxnSp>
        <p:nvCxnSpPr>
          <p:cNvPr id="34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201150" y="28098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1A3D50-0B8F-452E-A7A3-2BE4BF21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573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 discovers a mapping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0C41A-E288-4AC6-A2F0-01ED3155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38350"/>
            <a:ext cx="215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30051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6F026-AF15-4568-9DF4-6553C4B4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24300"/>
            <a:ext cx="7581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Mapping discovered  ≠  inbound path guaranteed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5F28F7-9623-433E-9B16-C95FB38E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668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14EC45-9A16-46DB-8A28-402C1405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530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WHY DIRECT CHECKS CAN FAIL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066426-8AC7-40CF-ADC5-23656CB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89585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Destination-dependent mappings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FD759A-CC0E-4FCA-8668-3CE42307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9585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Blocked inbound UDP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1BB460-AA80-4665-999B-F61B245E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895850"/>
            <a:ext cx="2533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Multiple translation layers</a:t>
            </a:r>
          </a:p>
        </p:txBody>
      </p:sp>
    </p:spTree>
    <p:extLst>
      <p:ext uri="{BB962C8B-B14F-4D97-AF65-F5344CB8AC3E}">
        <p14:creationId xmlns:p14="http://schemas.microsoft.com/office/powerpoint/2010/main" val="18278443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1EAB4A-07EE-40F9-88AD-C1326D26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52D4C3-E2F8-4788-BAC9-805C36AB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D16D6D-476C-4FB6-8EDE-5CC68D2C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62F46-2E43-41A9-AE74-FC68A7FA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4C5D7-9846-4918-B8FE-C3161D44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573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 FEB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B3DB8-0586-4E53-90D1-3DA19B60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ED8DC-B90C-4626-AF66-BD55CF90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Direct path expected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9F8E9-E380-4308-9AD7-AC25EAF7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5265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300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D62EDE-0990-4E82-A9F6-3A48DB8C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6573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 MAR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9CD94-B09B-4144-A91A-F0F7E18C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193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TURN added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B5258-5D0D-4B3F-803F-8B9505F4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76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joins 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752687-ED8C-408A-AEAA-F03C5AF5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90950"/>
            <a:ext cx="16192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467C66-A8B3-4795-9E9B-5FD7BC14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90950"/>
            <a:ext cx="16192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E8C78-19C8-4C61-A4E5-D9682861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800600"/>
            <a:ext cx="18669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 relay</a:t>
            </a:r>
          </a:p>
        </p:txBody>
      </p:sp>
      <p:cxnSp>
        <p:nvCxnSpPr>
          <p:cNvPr id="35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667000" y="4191000"/>
            <a:ext cx="6858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A17C36-2732-496D-A9ED-EDFB0B41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43300"/>
            <a:ext cx="426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DIRECT CANDIDATES PREFERRED</a:t>
            </a:r>
          </a:p>
        </p:txBody>
      </p:sp>
      <p:cxnSp>
        <p:nvCxnSpPr>
          <p:cNvPr id="37" name=""/>
          <p:cNvCxnSpPr>
            <a:stCxn xmlns:a="http://schemas.openxmlformats.org/drawingml/2006/main" id="12" idx="2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1857375" y="4591050"/>
            <a:ext cx="3305175" cy="638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686D"/>
            </a:solidFill>
            <a:prstDash val="dash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14" idx="3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7029450" y="4591050"/>
            <a:ext cx="3305175" cy="638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686D"/>
            </a:solidFill>
            <a:prstDash val="dash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B4C4D-784D-4D24-B79E-21FEFBA7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8102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WHEN DIRECT CHECKS FAIL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D42BC2-3C9E-4267-AFF8-91C518EA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Reliability improves; the relay adds infrastructure and carries every media byte.</a:t>
            </a:r>
          </a:p>
        </p:txBody>
      </p:sp>
    </p:spTree>
    <p:extLst>
      <p:ext uri="{BB962C8B-B14F-4D97-AF65-F5344CB8AC3E}">
        <p14:creationId xmlns:p14="http://schemas.microsoft.com/office/powerpoint/2010/main" val="16650202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BB7A55-AD36-42BA-961A-F16FA284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B83E5-3711-4998-8BDC-7036FD65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IPv6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733E5-84EB-4D39-AA3A-9E72DB2C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36175-EFE2-4E63-99BC-2756B63F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9A777-97BE-4710-BA84-544BFBAC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289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96A23-425F-4221-B05A-92056417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PROMISING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38489-0D6B-46D3-926F-78ED0E81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 test IPv6 beside IPv4 and TURN.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89AA9-2FA9-4F6D-BB80-1E0979F6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581150"/>
            <a:ext cx="289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B72B63-6709-47A2-AA37-5CD0C34A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752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NOT YET VALIDATED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292E7-60A2-4B89-8611-56CB7A49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 local IPv6 loopback exists in code; WAN behavior remains untested.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F3757C-7668-4741-852D-CBEAEF0E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1809750" cy="762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device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7E180-74E6-49C9-9E3B-304F517F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14700"/>
            <a:ext cx="1809750" cy="762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E7A26-3214-457D-810C-8E35C79C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2415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IPv4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B14DA1-A894-4514-A896-68838269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0350"/>
            <a:ext cx="203835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IPv4 NAT / firewall</a:t>
            </a:r>
          </a:p>
        </p:txBody>
      </p:sp>
      <p:cxnSp>
        <p:nvCxnSpPr>
          <p:cNvPr id="39" name=""/>
          <p:cNvCxnSpPr>
            <a:stCxn xmlns:a="http://schemas.openxmlformats.org/drawingml/2006/main" id="11" idx="0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V="1">
            <a:off x="1666875" y="3152775"/>
            <a:ext cx="2009775" cy="161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772150" y="315277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4" idx="3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8515350" y="3152775"/>
            <a:ext cx="2009775" cy="161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37E7C-458E-41A9-890E-D6FF0DC4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IPv4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9A4A78-CE42-4E3B-A82C-2EAA5EE0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52950"/>
            <a:ext cx="2095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IPv6 Internet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6C0567-ECAB-4B49-A07C-832699A6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52950"/>
            <a:ext cx="2000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19050">
            <a:solidFill>
              <a:srgbClr val="A69FA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Firewall policy</a:t>
            </a:r>
          </a:p>
        </p:txBody>
      </p:sp>
      <p:cxnSp>
        <p:nvCxnSpPr>
          <p:cNvPr id="45" name=""/>
          <p:cNvCxnSpPr>
            <a:stCxn xmlns:a="http://schemas.openxmlformats.org/drawingml/2006/main" id="11" idx="2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666875" y="4076700"/>
            <a:ext cx="2333625" cy="847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096000" y="49244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20" idx="3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V="1">
            <a:off x="8820150" y="4076700"/>
            <a:ext cx="1704975" cy="847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C71F6F-3F00-4FAF-947F-5E7F1960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562600"/>
            <a:ext cx="7277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IPv6 can avoid the IPv4 CGNAT layer, but not firewall policy or latency limits.</a:t>
            </a:r>
          </a:p>
        </p:txBody>
      </p:sp>
    </p:spTree>
    <p:extLst>
      <p:ext uri="{BB962C8B-B14F-4D97-AF65-F5344CB8AC3E}">
        <p14:creationId xmlns:p14="http://schemas.microsoft.com/office/powerpoint/2010/main" val="19776546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336D7-4DA3-4FD8-95A9-A5DD5863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BE574-1A20-428E-9E93-3A78B67C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WHIP and WHEP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186AD-C91A-4131-AC34-68B78817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2BA0A-69DF-432A-96AC-8256132E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0D841-1B4E-455D-ABF0-3EEE4C88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Specifications clarified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5F421-4F5D-447A-85F6-C25AB056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38100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38100" rIns="38100" bIns="38100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and viewer roles</a:t>
            </a:r>
          </a:p>
          <a:p xmlns:a="http://schemas.openxmlformats.org/drawingml/2006/main"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and ICE exchange</a:t>
            </a:r>
          </a:p>
          <a:p xmlns:a="http://schemas.openxmlformats.org/drawingml/2006/main"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session creation and teardown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A4CBC-5EC1-40C3-9C42-6544BD9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38300"/>
            <a:ext cx="0" cy="396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7E3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4A0D7-5350-456D-8DE2-897B1502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764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Architecture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EAE9D-7F47-44C0-B87B-1126A65F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381250"/>
            <a:ext cx="2667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19050">
            <a:solidFill>
              <a:srgbClr val="A69FA3"/>
            </a:solidFill>
            <a:prstDash val="dash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Full HTTP WHIP / WHEP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7CE6F-D50F-4A84-BF1B-FB68F6FE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86000"/>
            <a:ext cx="2667000" cy="1009650"/>
          </a:xfrm>
          <a:prstGeom xmlns:a="http://schemas.openxmlformats.org/drawingml/2006/main" prst="roundRect">
            <a:avLst>
              <a:gd name="adj" fmla="val 13208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19050">
            <a:solidFill>
              <a:srgbClr val="A69FA3"/>
            </a:solidFill>
            <a:prstDash val="dash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Central media server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terminates both sessions</a:t>
            </a:r>
          </a:p>
        </p:txBody>
      </p:sp>
      <p:cxnSp>
        <p:nvCxnSpPr>
          <p:cNvPr id="30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191500" y="2790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D227C-B10C-4D44-A118-DA1ED819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290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Rejected for this architecture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659DAE-BF44-4E56-99AB-C949EA5D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62450"/>
            <a:ext cx="2667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SignalR concept mapping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D2D9F-4823-4CBF-B087-44DE9B03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67200"/>
            <a:ext cx="2667000" cy="1009650"/>
          </a:xfrm>
          <a:prstGeom xmlns:a="http://schemas.openxmlformats.org/drawingml/2006/main" prst="roundRect">
            <a:avLst>
              <a:gd name="adj" fmla="val 13208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 server stays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outside the video path</a:t>
            </a:r>
          </a:p>
        </p:txBody>
      </p:sp>
      <p:cxnSp>
        <p:nvCxnSpPr>
          <p:cNvPr id="3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191500" y="47720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79F98-299D-4A8F-BE55-5F195F84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102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Adopted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A86B1-0B2E-44D2-A601-7785CBBD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3810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4444BD-D2CF-44B1-95EF-395CF4DB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91050"/>
            <a:ext cx="335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remain stubs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B71BB8-775B-4544-80E6-533F2DF6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validates SDP, then returns HTTP 501</a:t>
            </a:r>
          </a:p>
        </p:txBody>
      </p:sp>
    </p:spTree>
    <p:extLst>
      <p:ext uri="{BB962C8B-B14F-4D97-AF65-F5344CB8AC3E}">
        <p14:creationId xmlns:p14="http://schemas.microsoft.com/office/powerpoint/2010/main" val="9699304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6AB0E-780C-4A05-8A6F-57ACBB03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96033-CDD2-4239-B209-9672A838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Integration Iterations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1D31BB-6F8D-43C5-9A70-A0964681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931E4-C079-4FB9-9B0E-8F75898B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562100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190750"/>
                <a:gridCol w="3143250"/>
                <a:gridCol w="371475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Repository status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Strength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 / trade-off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libcamera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Considered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Native Raspberry Pi camera stack for CSI cameras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No recorded implementation. Final Logitech C920 capture uses V4L2.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1200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FFmpeg shared libraries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Implemented first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Direct in-process encoded-sample callbacks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Required exact FFmpeg 8.1 native-library and FFmpeg.AutoGen compatibility.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12192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External FFmpeg RTP emission</a:t>
                      </a:r>
                    </a:p>
                  </a:txBody>
                  <a:tcPr marL="91440" marR="91440" marT="45720" marB="45720"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Final implementation</a:t>
                      </a:r>
                    </a:p>
                  </a:txBody>
                  <a:tcPr marL="91440" marR="91440" marT="45720" marB="45720"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Executable supervision creates a clearer deployment boundary</a:t>
                      </a:r>
                    </a:p>
                  </a:txBody>
                  <a:tcPr marL="91440" marR="91440" marT="45720" marB="45720"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Adds loopback RTP depacketization and WebRTC repacketization.</a:t>
                      </a:r>
                    </a:p>
                  </a:txBody>
                  <a:tcPr marL="91440" marR="91440" marT="45720" marB="45720" anchor="ctr">
                    <a:solidFill>
                      <a:srgbClr val="F5EDF2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DFE70-7D8B-4B25-A753-F737CE8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905500"/>
            <a:ext cx="982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solved native-library fragility, not software encoding load.</a:t>
            </a:r>
          </a:p>
        </p:txBody>
      </p:sp>
    </p:spTree>
    <p:extLst>
      <p:ext uri="{BB962C8B-B14F-4D97-AF65-F5344CB8AC3E}">
        <p14:creationId xmlns:p14="http://schemas.microsoft.com/office/powerpoint/2010/main" val="15389765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D5326-2450-4739-A2EE-1A2A328B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68B80-D6BF-49C1-8427-32A4E665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Final Media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B061F-AB14-40E8-A6C0-3C521780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06B2F-43F0-4B04-86B0-06AE762C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A412F-A074-4183-8A13-A1EED2DD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FFMPEG PROCESS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4CCDB-7F8A-4B74-B1AD-5C4FD027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5240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.NET + SIPSORCERY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6A4E2-33E9-47F6-80BF-111FA1B2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5334000" cy="3086100"/>
          </a:xfrm>
          <a:prstGeom xmlns:a="http://schemas.openxmlformats.org/drawingml/2006/main" prst="roundRect">
            <a:avLst>
              <a:gd name="adj" fmla="val 4321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9525">
            <a:solidFill>
              <a:srgbClr val="EAD8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17B21-6A39-4CEF-9A54-F56E1D11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5334000" cy="3086100"/>
          </a:xfrm>
          <a:prstGeom xmlns:a="http://schemas.openxmlformats.org/drawingml/2006/main" prst="roundRect">
            <a:avLst>
              <a:gd name="adj" fmla="val 4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D8395-6680-47BB-BE24-529E5C6C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33600"/>
            <a:ext cx="14859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Logitech C920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E21FA1-FAD2-49EE-816B-4B0AC365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133600"/>
            <a:ext cx="12382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V4L2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C41AA0-C425-4F05-9CB3-3BE3099D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33600"/>
            <a:ext cx="14097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7C1E94-19D1-4F4C-AB96-1E40B906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600450"/>
            <a:ext cx="17145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975FB7-7ED8-49D8-A219-9B35B9DE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00450"/>
            <a:ext cx="16954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RTP over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IPv6 loopback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9D48E-A11F-40FC-BAB8-2F0C5F72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18097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RTP parse +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H.264 depacketize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37FE39-45FA-4C84-AEDC-0563340B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33600"/>
            <a:ext cx="1333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Annex-B +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SPS / PPS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22FEA-D9E1-4E19-8B0E-B0E35B44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133600"/>
            <a:ext cx="12954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SIPSorcery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/ SRTP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81480-5560-45B6-A169-F3F0473C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71900"/>
            <a:ext cx="16192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17141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playback</a:t>
            </a:r>
          </a:p>
        </p:txBody>
      </p:sp>
      <p:cxnSp>
        <p:nvCxnSpPr>
          <p:cNvPr id="46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28850" y="24955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695700" y="24955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2628900" y="2857500"/>
            <a:ext cx="2000250" cy="742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486150" y="40005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V="1">
            <a:off x="5543550" y="2495550"/>
            <a:ext cx="1009650" cy="1504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1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362950" y="24955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925050" y="24955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6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9058275" y="2857500"/>
            <a:ext cx="1743075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4EF036-9819-4BFF-A4A9-7AB32023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1040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1280×720 at 30 fps, 1.5 Mb/s, superfast, zerolatency, no B-frames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358D2B-A134-460B-8959-1ED6F464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15000"/>
            <a:ext cx="10096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92B5DC-E02E-4C16-AA7F-42DB24B5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38825"/>
            <a:ext cx="967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FFmpeg captures and encodes; SIPSorcery owns the secure WebRTC peer connection.</a:t>
            </a:r>
          </a:p>
        </p:txBody>
      </p:sp>
    </p:spTree>
    <p:extLst>
      <p:ext uri="{BB962C8B-B14F-4D97-AF65-F5344CB8AC3E}">
        <p14:creationId xmlns:p14="http://schemas.microsoft.com/office/powerpoint/2010/main" val="3256903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F84AB-E7BF-42AB-9B17-484BFD7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B8FAF-4F5C-46A2-9C20-52241034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CPU Encoding Cost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9DB93-08FB-4491-9144-AAC15994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86B4B-20CF-4621-98BD-BD03F46B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58F7F-F4BB-4073-A4E8-FDE90904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00200"/>
            <a:ext cx="3752850" cy="3200400"/>
          </a:xfrm>
          <a:prstGeom xmlns:a="http://schemas.openxmlformats.org/drawingml/2006/main" prst="roundRect">
            <a:avLst>
              <a:gd name="adj" fmla="val 2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8dbcb9a53455b"/>
          <a:stretch xmlns:a="http://schemas.openxmlformats.org/drawingml/2006/main"/>
        </p:blipFill>
        <p:spPr>
          <a:xfrm xmlns:a="http://schemas.openxmlformats.org/drawingml/2006/main">
            <a:off x="7715250" y="1790652"/>
            <a:ext cx="3714750" cy="2819495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14795-FAEC-425B-B2CA-8EBE4BCD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WORK ON THE RASPBERRY 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9604F6-8EB9-4669-A91F-90A58850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8E700-494E-4D7D-BA5C-10E64E8B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0383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camera MJPEG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39854-07C8-444B-A4F5-D7F4741C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09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memory bandwidth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5867E-032C-4ECF-8039-E5CE57A6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9CFA3-70DA-473C-9A85-B8C76F76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099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Software-encode H.264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49353A-2CB9-4374-AF43-BD429585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813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heat + latency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DA9AA-EA3B-4772-ABD9-FD0486DF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59D26-2D69-400A-B1C1-C3084AFD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81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Packetize and encrypt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0070F-B615-4EC9-91AB-A261A74C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529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Additional real-time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F56F71-0190-450A-B06D-B1F91536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7442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878158-841C-4652-9FDE-20E28EE0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578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LOW-LATENCY SETTINGS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5BCFBD-AA24-4F08-9B9A-B0682202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006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superfast   zerolatency   no B-frames   small VBV buffer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888A22-376B-4F4B-A893-DDDB3AB8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657850"/>
            <a:ext cx="779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improved deployment isolation; CPU encoding stayed on the Pi.</a:t>
            </a:r>
          </a:p>
        </p:txBody>
      </p:sp>
    </p:spTree>
    <p:extLst>
      <p:ext uri="{BB962C8B-B14F-4D97-AF65-F5344CB8AC3E}">
        <p14:creationId xmlns:p14="http://schemas.microsoft.com/office/powerpoint/2010/main" val="17179426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FDA8C8-F355-49B1-9AC6-3CA960ED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E2A48-4511-40E4-BD5C-38FF1318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Electrical Input to the Raspberry Pi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69A0E-4967-4B24-A732-C70FA494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0514-0159-455A-A39C-90E3356C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44671C-A169-498D-A9BB-BC187D53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32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AUTHOR-REPORTED OBSERVATION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6558CF-A41C-4FC3-B83F-37623E7E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demands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high current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EA668-B313-4191-8786-5388D2B4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7170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Supply voltage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E0C5D-A3B6-4E89-9F14-9685AEFF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71700"/>
            <a:ext cx="2286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disconnects briefly</a:t>
            </a:r>
          </a:p>
        </p:txBody>
      </p: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19400" y="26479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486400" y="26479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15159-F99D-4C5D-BC31-A0C79C2D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76400"/>
            <a:ext cx="2419350" cy="2419350"/>
          </a:xfrm>
          <a:prstGeom xmlns:a="http://schemas.openxmlformats.org/drawingml/2006/main" prst="roundRect">
            <a:avLst>
              <a:gd name="adj" fmla="val 39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0a8eb19b514f0c"/>
          <a:stretch xmlns:a="http://schemas.openxmlformats.org/drawingml/2006/main"/>
        </p:blipFill>
        <p:spPr>
          <a:xfrm xmlns:a="http://schemas.openxmlformats.org/drawingml/2006/main">
            <a:off x="8858250" y="1732657"/>
            <a:ext cx="2381250" cy="2306836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B28BD-763C-4D8D-B9F1-426C9434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7195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NiMH supply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86A77B-6CBD-42B6-B034-7241FD91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553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89F36-6A91-4E78-9359-363836C5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149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PROTECTED POWER 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E2CF15-F669-45E1-9F2E-27B878F5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8577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Separate fused branch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F073C2-6AB0-4618-A236-6B8B38B3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57750"/>
            <a:ext cx="245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DC-DC regulation + decoupling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9619B-1060-4933-8B7C-8002B1D9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Transient suppression + grounding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ED62EE-685E-45B9-B710-D3157B1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54355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Add brownout monitoring and verify worst-case motor-stall current before field tests.</a:t>
            </a:r>
          </a:p>
        </p:txBody>
      </p:sp>
    </p:spTree>
    <p:extLst>
      <p:ext uri="{BB962C8B-B14F-4D97-AF65-F5344CB8AC3E}">
        <p14:creationId xmlns:p14="http://schemas.microsoft.com/office/powerpoint/2010/main" val="9515104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F14BC3-DD77-4479-BEB8-1555D52A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B72B3-2732-4C99-BBAE-6DD749B6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Result and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EAC81-86EB-4746-941D-A908E6B5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99673-964C-4F40-8080-D33A9389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03295-5083-4F2D-8418-B368819B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716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64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340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A73A8-B5CF-455C-ABBF-48B5F1EA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ONE OBSERVATION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5E204-0883-42B0-942D-7ECDB9CC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Glass-to-glass under the tested 4G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FAFD9-DA1B-406A-AA08-3750FCA6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3143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33469-7907-471C-A565-FB32BCC3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E4280-321B-477B-9255-A2D557BB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5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67A95-20C0-4D9F-B091-9A725668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543050"/>
            <a:ext cx="7124700" cy="447675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a1af4c8474e17"/>
          <a:stretch xmlns:a="http://schemas.openxmlformats.org/drawingml/2006/main"/>
        </p:blipFill>
        <p:spPr>
          <a:xfrm xmlns:a="http://schemas.openxmlformats.org/drawingml/2006/main">
            <a:off x="4345224" y="1562100"/>
            <a:ext cx="7082952" cy="4438650"/>
          </a:xfrm>
          <a:prstGeom xmlns:a="http://schemas.openxmlformats.org/drawingml/2006/main" prst="roundRect">
            <a:avLst>
              <a:gd name="adj" fmla="val 1717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F8B6EE-08B4-4D03-849A-571D7484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762625"/>
            <a:ext cx="5181600" cy="2095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47625" tIns="28575" rIns="47625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1788024617068 − 1788024616728 = 340 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311266-5698-4FF5-8A33-B42F043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6153150"/>
            <a:ext cx="963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Evidence of feasibility, not a statistical guarantee or completed 5G validation</a:t>
            </a:r>
          </a:p>
        </p:txBody>
      </p:sp>
    </p:spTree>
    <p:extLst>
      <p:ext uri="{BB962C8B-B14F-4D97-AF65-F5344CB8AC3E}">
        <p14:creationId xmlns:p14="http://schemas.microsoft.com/office/powerpoint/2010/main" val="11654244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5BA53C-F909-4AD8-A391-6503A27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AC8F6-E6F0-47CE-B6A6-475C02F1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Remote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A8988-0230-4FE0-97B5-22EFA4EF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9759A-3422-4424-9246-114E9DE0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099A-B0E1-47C0-812E-8884E48A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600200"/>
            <a:ext cx="4800600" cy="2705100"/>
          </a:xfrm>
          <a:prstGeom xmlns:a="http://schemas.openxmlformats.org/drawingml/2006/main" prst="roundRect">
            <a:avLst>
              <a:gd name="adj" fmla="val 35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b09c1245414bd7"/>
          <a:stretch xmlns:a="http://schemas.openxmlformats.org/drawingml/2006/main"/>
        </p:blipFill>
        <p:spPr>
          <a:xfrm xmlns:a="http://schemas.openxmlformats.org/drawingml/2006/main">
            <a:off x="6667500" y="1750125"/>
            <a:ext cx="4762500" cy="2405249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405B1-2FC1-423D-AC63-A86EE102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NEXT PHASE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7B524-D6DF-45D0-AEC0-E3E250E1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33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3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Add a verified command loop without changing the completed video-scope claim.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0589F-5CB2-4C54-8D7D-5CBE462C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2775D-0E16-448C-85C0-1E4DE519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periodic gamepad sampling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05FB1-E8E8-4D43-AFE0-02639CD0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291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9989DC-A5F5-439B-8CAC-F2D9329D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914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version + sequence + timestamp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A48D3-8EA5-4358-BAB9-31A9CE5D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291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A21E0-2CC8-4592-88B6-1B873242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14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range and staleness checks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7459AF-0949-40BD-8CD9-99DFCF87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6291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ACTUATION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CDD076-8215-4CA0-AFA4-60E3D137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9149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steering and throttle PWM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82C0C5-BE6A-454B-8F45-606C0B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668000" cy="5143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A495B-FD06-4A52-B171-21595518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81675"/>
            <a:ext cx="1017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 safe to neutral on timeout, invalid data, channel loss, or emergency stop.</a:t>
            </a:r>
          </a:p>
        </p:txBody>
      </p:sp>
    </p:spTree>
    <p:extLst>
      <p:ext uri="{BB962C8B-B14F-4D97-AF65-F5344CB8AC3E}">
        <p14:creationId xmlns:p14="http://schemas.microsoft.com/office/powerpoint/2010/main" val="40446484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39AD7-C74B-4A4A-B57E-984CECA0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AC394B-8B02-49A1-92D9-E5274943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and Direct H.264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7A1B3-95AA-4CCC-88E2-6FAF2E22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064EC-4430-4823-982E-DE76D2E5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66FED-BA24-4602-8548-13AF5A3F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A97BB-0899-436F-8845-617DC727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15811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C920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69880-7383-4B12-8F22-0FAE4912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171700"/>
            <a:ext cx="15811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7DCAF-E351-4F8F-ADEA-4F5C868F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71700"/>
            <a:ext cx="15811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</p:txBody>
      </p: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286000" y="25717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229100" y="25717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773672-9662-405A-ACED-0366CCED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DB713F-4746-4BF0-9674-03C4C71F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2286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Camera or SoC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C77E3-AE69-4695-9BEC-4D9EBB03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91000"/>
            <a:ext cx="2286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 adaptation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</a:t>
            </a:r>
          </a:p>
        </p:txBody>
      </p:sp>
      <p:cxnSp>
        <p:nvCxnSpPr>
          <p:cNvPr id="3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990850" y="4629150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E641D8-5CE4-456C-B665-8FF5696A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33550"/>
            <a:ext cx="2133600" cy="2362200"/>
          </a:xfrm>
          <a:prstGeom xmlns:a="http://schemas.openxmlformats.org/drawingml/2006/main" prst="roundRect">
            <a:avLst>
              <a:gd name="adj" fmla="val 44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1a160cce34563"/>
          <a:stretch xmlns:a="http://schemas.openxmlformats.org/drawingml/2006/main"/>
        </p:blipFill>
        <p:spPr>
          <a:xfrm xmlns:a="http://schemas.openxmlformats.org/drawingml/2006/main">
            <a:off x="7527721" y="1752600"/>
            <a:ext cx="2089558" cy="23241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AB0CE5-8CBF-45C1-9569-613D15D9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21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Remove two expensive stages where hardware permits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6D4B58-3021-4B05-BD94-9386B73D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24450"/>
            <a:ext cx="44767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52D933-AEA6-440B-96FB-ADDDBA6C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29590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Validate profile, SPS/PPS, GOP, bitrate, buffering, CPU load, and measured latency.</a:t>
            </a:r>
          </a:p>
        </p:txBody>
      </p:sp>
    </p:spTree>
    <p:extLst>
      <p:ext uri="{BB962C8B-B14F-4D97-AF65-F5344CB8AC3E}">
        <p14:creationId xmlns:p14="http://schemas.microsoft.com/office/powerpoint/2010/main" val="106512147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EDC26C-2FC7-479B-87E4-15B64003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C9EAB-B1CC-4DB4-8D94-3F1054F2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Network Resilience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438D9-E613-4BD5-A346-7B7C47E5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906A2-7A66-449B-B35F-8C68D9E5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C6A9F-5D5B-4FF7-9435-0D81EA1B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PLANNED TEST MATRIX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705100"/>
                <a:gridCol w="2705100"/>
                <a:gridCol w="2705100"/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Candidate path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4G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NSA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SA</a:t>
                      </a:r>
                    </a:p>
                  </a:txBody>
                  <a:tcPr marL="91440" marR="91440" marT="45720" marB="45720" anchor="ctr">
                    <a:solidFill>
                      <a:srgbClr val="830051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IPv4 direct</a:t>
                      </a:r>
                    </a:p>
                  </a:txBody>
                  <a:tcPr marL="91440" marR="91440" marT="45720" marB="45720"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IPv6 direct</a:t>
                      </a:r>
                    </a:p>
                  </a:txBody>
                  <a:tcPr marL="91440" marR="91440" marT="45720" marB="45720"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TURN relay</a:t>
                      </a:r>
                    </a:p>
                  </a:txBody>
                  <a:tcPr marL="91440" marR="91440" marT="45720" marB="45720"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37F475-E982-4DFE-951A-F8534B59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RECORD FOR EVERY RUN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8D738-99E3-48CC-A06A-F9AA6CD4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67350"/>
            <a:ext cx="1943100" cy="43815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connection success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329AA-A55D-4E21-9787-D48B786C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67350"/>
            <a:ext cx="1943100" cy="43815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latency distribution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41B412-B240-4C14-8FDC-66C3BBAB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467350"/>
            <a:ext cx="1943100" cy="43815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jitter + loss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75C5E-0108-4D1D-9859-40C184D6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67350"/>
            <a:ext cx="1943100" cy="43815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mobility stability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97A82-1B99-4CF5-9305-DED6353F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467350"/>
            <a:ext cx="1943100" cy="43815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uplink consistency</a:t>
            </a:r>
          </a:p>
        </p:txBody>
      </p:sp>
    </p:spTree>
    <p:extLst>
      <p:ext uri="{BB962C8B-B14F-4D97-AF65-F5344CB8AC3E}">
        <p14:creationId xmlns:p14="http://schemas.microsoft.com/office/powerpoint/2010/main" val="17612719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9C035B-F9D2-4BBB-906E-D74FC932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BCBEC-AA32-407B-9B14-2AD5E47B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Protected Electrical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AD5373-2F49-41D7-B98F-82F04F34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CD36D-EC19-4D7B-818A-C4FB17EC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80CAD-05C5-410D-8639-AF430B7D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HARDWARE TRACK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87159-490C-42D5-9175-3A158CC8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5240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06072-30FE-4678-A900-240BF187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09800"/>
            <a:ext cx="2095500" cy="971550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Fuse + transient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35B38-6F8B-44AA-A0A5-1644877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09800"/>
            <a:ext cx="2095500" cy="971550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Dedicated DC-DC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regulator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2CBE1-4B2D-4933-B7A2-3F9C73C0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05050"/>
            <a:ext cx="1676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9DBC03-1998-4CDC-BCC7-E27E8245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5240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7E3E5"/>
          </a:solidFill>
          <a:ln xmlns:a="http://schemas.openxmlformats.org/drawingml/2006/main" w="19050">
            <a:solidFill>
              <a:srgbClr val="A69FA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branch</a:t>
            </a:r>
          </a:p>
        </p:txBody>
      </p: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286000" y="26955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876800" y="26955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467600" y="26955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6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1524000" y="30861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D98F7-6CE7-41CE-86B8-EA82AEF8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48050"/>
            <a:ext cx="840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Separate noisy motor current from the compute rail; add decoupling, strain relief, and brownout logging.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813F73-681A-4BE6-A7F4-97CC7A9A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1581150"/>
          </a:xfrm>
          <a:prstGeom xmlns:a="http://schemas.openxmlformats.org/drawingml/2006/main" prst="roundRect">
            <a:avLst>
              <a:gd name="adj" fmla="val 8434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6ADD4-6421-43A0-A4C5-6C829411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281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SEPARATE PROTOCOL TRACK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F2FD32-62BC-4FC4-806D-11605B27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2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WHIP / WHEP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D192A5-F267-4F72-B1DC-8CE96BD0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691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Implement session resources, Location, PATCH, DELETE, HTTPS, and authorization if a central media-server architecture becomes a requirement.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8A7593-7E8C-482F-8350-0A733CC9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467350"/>
            <a:ext cx="691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This protocol track changes the media architecture and must be evaluated explicitly.</a:t>
            </a:r>
          </a:p>
        </p:txBody>
      </p:sp>
    </p:spTree>
    <p:extLst>
      <p:ext uri="{BB962C8B-B14F-4D97-AF65-F5344CB8AC3E}">
        <p14:creationId xmlns:p14="http://schemas.microsoft.com/office/powerpoint/2010/main" val="3721924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514451-8A36-4804-8F64-D4D75929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D52B5E-5609-4B1D-A16C-4B08F5E3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ESP32-P4 Integrated Rust Platform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595FF-BF9A-444A-B3CC-76916D84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3652C-8B44-4254-AE94-00EF00C7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20405B-9A19-4E89-8A06-55176DC0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CANDIDATE PLATFORM, NOT IMPLEMENTED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CCE06-2353-4C10-842E-6E107126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16764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MIPI-CSI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EFA47-2B18-4431-B939-E5105D88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05050"/>
            <a:ext cx="2000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ISP +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encoder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A3AB5-455F-4AF1-9214-ED30410D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09800"/>
            <a:ext cx="2286000" cy="1238250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application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+ safety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33D2B-90E2-48F2-B78A-ACBBD77C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05050"/>
            <a:ext cx="2476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or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external radio / modem</a:t>
            </a:r>
          </a:p>
        </p:txBody>
      </p: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438400" y="28289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914900" y="28289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677150" y="28289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29FD8A-4288-4618-8A22-157196FE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108585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FE75D-2DD3-4A40-A487-4082F441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WHY INVESTIGATE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3378E4-28FA-4741-BA9D-23F8421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148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Dual-core RISC-V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ISP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H.264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MAC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82155D-8D21-4F6B-A286-8948F21B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338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QUESTIONS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3E665-010D-48AA-B8A5-3FC41545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stack and memory budget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driver maturity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Thermal and power envelope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5G modem integration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98F14-64C1-4F3C-913B-756E2FE5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86450"/>
            <a:ext cx="925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Espressif documents H.264 encode up to 1080p30. End-to-end feasibility still requires a prototype.</a:t>
            </a:r>
          </a:p>
        </p:txBody>
      </p:sp>
    </p:spTree>
    <p:extLst>
      <p:ext uri="{BB962C8B-B14F-4D97-AF65-F5344CB8AC3E}">
        <p14:creationId xmlns:p14="http://schemas.microsoft.com/office/powerpoint/2010/main" val="85331985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714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020c23cc4740d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CE48B-9BFC-4BBF-B895-24F3A524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6200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0D416F-39E1-4B6A-BD82-F3EA3943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94355-39FC-4612-BB4B-48ABF715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Autonomous Motorway Driving with Remote Final Approach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AE33F-3F2C-4F06-A816-E1EEE0D1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7000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7B2D3-9E24-404E-9E15-545D4816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8191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truck handles the long motorway segment autonomously. A remote driver takes over for depot entry, loading areas, and other complex final manoeuvres.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CEA42-9524-463F-B871-F4D801D1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219700"/>
            <a:ext cx="2628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project contributes the low-latency video path. Safe teleoperation also requires redundant control, vehicle safety systems, and operational approval.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E27EF-9022-417A-9056-80B5A92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96050"/>
            <a:ext cx="2114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61434858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714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3f7051d511495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607529-79C1-45A2-82E2-1718A25E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800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1203A-72ED-4C81-87C9-05725515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E752F-69EB-4284-916E-81B5C4E5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Teleoperated Heavy Vehicles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4CA4BF-056A-4109-8299-CF59C7D1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7200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99DD78-DB96-4215-A956-C0BD1D55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CRANES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6CD3A-173F-45E8-868F-06C319AA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Move operators away from suspended loads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66C5AB-1C58-405D-B164-5F94889F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197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0222C-1FFC-46DA-ABBC-0BD84CB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5816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Operate in dust, heat, and unstable terrain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E2B92-8031-4D26-8FBF-44E1EB74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197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WORKBOATS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FF1748-97BC-4790-BCF1-FE9AE78A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5816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manoeuvres in hazardous port areas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B1748-E8A5-483A-BCBB-1FAFEA04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6419850"/>
            <a:ext cx="794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only. Production systems require redundant command paths and task-specific safety engineering.</a:t>
            </a:r>
          </a:p>
        </p:txBody>
      </p:sp>
    </p:spTree>
    <p:extLst>
      <p:ext uri="{BB962C8B-B14F-4D97-AF65-F5344CB8AC3E}">
        <p14:creationId xmlns:p14="http://schemas.microsoft.com/office/powerpoint/2010/main" val="209651630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327E33-67C5-4395-AA23-705F704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E90A0-597C-49E8-995F-75D2F326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AE89E8-DE3A-4498-959A-8E4EDACB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C60C3-64B3-4E46-8D48-6A830D99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02DA2-5B6A-47E7-BA77-2D8527C7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6705600" cy="3581400"/>
          </a:xfrm>
          <a:prstGeom xmlns:a="http://schemas.openxmlformats.org/drawingml/2006/main" prst="roundRect">
            <a:avLst>
              <a:gd name="adj" fmla="val 2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dfc6cd45264afa"/>
          <a:srcRect xmlns:a="http://schemas.openxmlformats.org/drawingml/2006/main" l="51" t="0" r="5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1657350"/>
            <a:ext cx="6667500" cy="3543300"/>
          </a:xfrm>
          <a:prstGeom xmlns:a="http://schemas.openxmlformats.org/drawingml/2006/main" prst="roundRect">
            <a:avLst>
              <a:gd name="adj" fmla="val 2151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4B4F0-943C-43D1-945C-489FAAA3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657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TWO INPUT PATHS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9BD589-DE7A-423B-B661-7B85E3F3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0764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Physical car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D221F-8C47-43DC-A569-62AA645C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5745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Raspberry Pi + C920 + mobile link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EF109-EC45-4B26-89F7-91E9ED30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9A87B-5FD7-4243-A0CF-2A77336D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33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simulator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7EAAB7-41F0-48A3-B69A-1E375297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147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Countdown video captured as a WebRTC track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5C0C8-EF02-4E7B-8260-370F55E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43550"/>
            <a:ext cx="107442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AEC851-9FA2-4C56-87CA-216CCD83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959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Audience checklist: SignalR, SDP offer/answer, ICE candidate type, connection state, live video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81C59-B980-4994-9D06-7718D090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21970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The selector lists prototype entries; it is not a production fleet registry.</a:t>
            </a:r>
          </a:p>
        </p:txBody>
      </p:sp>
    </p:spTree>
    <p:extLst>
      <p:ext uri="{BB962C8B-B14F-4D97-AF65-F5344CB8AC3E}">
        <p14:creationId xmlns:p14="http://schemas.microsoft.com/office/powerpoint/2010/main" val="99670419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1F6566-7FAF-43D8-B437-5E48C967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C06D5A-408D-4A07-B223-C07D60BD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Live Demo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FE53EF-E845-4E1A-8E5A-88B6DD0E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5B9F2-F082-447E-887E-69E33C6D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5E854-C8F1-49DA-A8F7-DA3CBB31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E020F-7867-4BC2-9253-3729F885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573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server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5FE07-8503-40C1-8241-164490F8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8597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the selector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2C8493-9B9A-4FB9-93A5-3A35D0AB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573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A803A-38C1-4E0D-AA62-16FFD437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6573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device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507E6-73A1-42D9-96AB-63989FF0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8597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Use the car or simulator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78B74F-4A68-464D-BE69-F889CE32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573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F277E-6A54-4CAA-BB9C-D084609D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6573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Open viewer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FB7B23-6A6A-4004-A241-84B50F81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8597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Viewer join triggers the offer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7AB45-2B6F-4C25-80CD-58FF36D4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0EAAFC-5BB6-442B-BD5B-3398EA45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671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Exchange SDP + 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13219E-D324-4816-8C77-06F45DB2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9572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SignalR carries both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9BACCA-47E1-45EE-AB96-3215FBD3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671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A10371-A3A4-429E-8B4A-9E99FFB6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671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Inspect selected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8D0CB8-D3ED-4A07-8882-18BA5FAF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9572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host, srflx, or relay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A24E0A-AE63-4A7F-868F-2FEE60D1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671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059A3C-7EC1-44F1-836E-8DD1A07E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671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Show live video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D51A75-2087-4824-BCB5-FCAD5F62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9572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Demonstrate the latency target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23BA1B-4095-4B67-BC5B-7ACAF1E7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8966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00920E-46DD-4441-BAA8-DA2817A4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Demo ordering detail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EB818D-208E-4375-8A43-8604CA64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591175"/>
            <a:ext cx="817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real device creates an offer when it receives ClientJoined. Start it before opening or reloading the viewer page.</a:t>
            </a:r>
          </a:p>
        </p:txBody>
      </p:sp>
    </p:spTree>
    <p:extLst>
      <p:ext uri="{BB962C8B-B14F-4D97-AF65-F5344CB8AC3E}">
        <p14:creationId xmlns:p14="http://schemas.microsoft.com/office/powerpoint/2010/main" val="106518628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D6B75E-0FF6-4830-871D-C5AC8A7A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4A9D71-E416-4C6F-BA8A-8A94336F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Fallback Video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85E20-A81C-4A83-843D-9C9E7863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F4E9C-DC01-4A6B-A7A5-6EE93A2C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C364A-FB21-4252-8EE4-469F4DB4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629900" cy="4552950"/>
          </a:xfrm>
          <a:prstGeom xmlns:a="http://schemas.openxmlformats.org/drawingml/2006/main" prst="roundRect">
            <a:avLst>
              <a:gd name="adj" fmla="val 2510"/>
            </a:avLst>
          </a:prstGeom>
          <a:solidFill xmlns:a="http://schemas.openxmlformats.org/drawingml/2006/main">
            <a:srgbClr val="171417"/>
          </a:solidFill>
          <a:ln xmlns:a="http://schemas.openxmlformats.org/drawingml/2006/main" w="28575">
            <a:solidFill>
              <a:srgbClr val="830051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b7151a4bd4aa1"/>
          <a:srcRect xmlns:a="http://schemas.openxmlformats.org/drawingml/2006/main" l="0" t="13235" r="0" b="132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1714500"/>
            <a:ext cx="10363200" cy="4286250"/>
          </a:xfrm>
          <a:prstGeom xmlns:a="http://schemas.openxmlformats.org/drawingml/2006/main" prst="roundRect">
            <a:avLst>
              <a:gd name="adj" fmla="val 17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46A5D-3F95-4337-8E56-7AD8C094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4500"/>
            <a:ext cx="10363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7200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A17FF-B04A-4345-A0F6-57C61C0F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95475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PHYSICAL-CAR RECORDING PLACEHOLDER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99A8F-710E-4F6E-A159-5B4014F5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191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830051">
              <a:alpha val="9200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33350" tIns="38100" rIns="133350" bIns="381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Replace with a 45–60 second RC-car demonstration before the defense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C7D46-FA70-4BF6-B152-A5308810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876425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SIMULATOR ASSET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8B408C-9BAC-4EF4-9B21-7D47BD88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238875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committed countdown video supports a technical fallback only. It is not physical-car evidence.</a:t>
            </a:r>
          </a:p>
        </p:txBody>
      </p:sp>
    </p:spTree>
    <p:extLst>
      <p:ext uri="{BB962C8B-B14F-4D97-AF65-F5344CB8AC3E}">
        <p14:creationId xmlns:p14="http://schemas.microsoft.com/office/powerpoint/2010/main" val="175167279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83005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7C0D0-1742-4312-AFCF-E7243330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TAKEAWAYS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45ACA-1768-4857-8428-574058CA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5429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can meet the prototype latency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33A8C-ED95-429C-A3B0-0BB6D356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23ED0F-3394-490D-89B2-9828B0BA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197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38100" rIns="38100" bIns="38100">
            <a:noAutofit/>
          </a:bodyPr>
          <a:lstStyle xmlns:a="http://schemas.openxmlformats.org/drawingml/2006/main"/>
          <a:p xmlns:a="http://schemas.openxmlformats.org/drawingml/2006/main"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4G run measured approximately 340 ms glass-to-glass.</a:t>
            </a:r>
          </a:p>
          <a:p xmlns:a="http://schemas.openxmlformats.org/drawingml/2006/main"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NAT traversal and software encoding drove the main engineering iterations.</a:t>
            </a:r>
          </a:p>
          <a:p xmlns:a="http://schemas.openxmlformats.org/drawingml/2006/main"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Hardware H.264, broader network testing, and production relay capacity are the next priorities.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AD5FF-1A86-4F7E-9FB8-A06DF91A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91C1F-B23A-4843-9D6F-203C534A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66750"/>
            <a:ext cx="5219700" cy="4248150"/>
          </a:xfrm>
          <a:prstGeom xmlns:a="http://schemas.openxmlformats.org/drawingml/2006/main" prst="roundRect">
            <a:avLst>
              <a:gd name="adj" fmla="val 2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b176b4284412f"/>
          <a:srcRect xmlns:a="http://schemas.openxmlformats.org/drawingml/2006/main" l="16223" t="0" r="162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8900" y="685800"/>
            <a:ext cx="5181600" cy="4210050"/>
          </a:xfrm>
          <a:prstGeom xmlns:a="http://schemas.openxmlformats.org/drawingml/2006/main" prst="roundRect">
            <a:avLst>
              <a:gd name="adj" fmla="val 181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F0C26-A832-446D-BE1D-E2D0C51E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0482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 prototype stream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032b2680f243c4"/>
          <a:stretch xmlns:a="http://schemas.openxmlformats.org/drawingml/2006/main"/>
        </p:blipFill>
        <p:spPr>
          <a:xfrm xmlns:a="http://schemas.openxmlformats.org/drawingml/2006/main">
            <a:off x="8248650" y="5770046"/>
            <a:ext cx="3143250" cy="709059"/>
          </a:xfrm>
          <a:prstGeom xmlns:a="http://schemas.openxmlformats.org/drawingml/2006/main" prst="roundRect">
            <a:avLst>
              <a:gd name="adj" fmla="val 10256"/>
            </a:avLst>
          </a:prstGeom>
        </p:spPr>
      </p:pic>
    </p:spTree>
    <p:extLst>
      <p:ext uri="{BB962C8B-B14F-4D97-AF65-F5344CB8AC3E}">
        <p14:creationId xmlns:p14="http://schemas.microsoft.com/office/powerpoint/2010/main" val="6365409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2026-09-05T18:56:25.4770000Z</dcterms:created>
  <dcterms:modified xsi:type="dcterms:W3CDTF">2026-09-05T18:56:25.4770000Z</dcterms:modified>
</coreProperties>
</file>