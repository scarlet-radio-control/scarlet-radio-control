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Introduce the project as a video-path study built around a physical RC-car prototype.</a:t>
            </a:r>
          </a:p>
          <a:p>
            <a:r>
              <a:t>State the central design choice: the application server coordinates peers but does not carry video.</a:t>
            </a:r>
          </a:p>
          <a:p>
            <a:endParaRPr/>
          </a:p>
          <a:p>
            <a:r>
              <a:t>Sources:</a:t>
            </a:r>
          </a:p>
          <a:p>
            <a:r>
              <a:t>- TFM.docx, cover and pp. 7–9.</a:t>
            </a:r>
          </a:p>
          <a:p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Read the question once, then separate the intended 5G context from the network used for the prototype measurement.</a:t>
            </a:r>
          </a:p>
          <a:p>
            <a:r>
              <a:t>Do not imply that the thesis validated 5G behavior. The tested mobile link used a Huawei 4G dongle.</a:t>
            </a:r>
          </a:p>
          <a:p>
            <a:endParaRPr/>
          </a:p>
          <a:p>
            <a:r>
              <a:t>Sources:</a:t>
            </a:r>
          </a:p>
          <a:p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Use the exact scope statement because later slides discuss control only as future work.</a:t>
            </a:r>
          </a:p>
          <a:p>
            <a:r>
              <a:t>The repository contains unused DataChannel scaffolding, but it does not implement vehicle control.</a:t>
            </a:r>
          </a:p>
          <a:p>
            <a:endParaRPr/>
          </a:p>
          <a:p>
            <a:r>
              <a:t>Sources:</a:t>
            </a:r>
          </a:p>
          <a:p>
            <a:r>
              <a:t>- PLAN.md, Project Scope.</a:t>
            </a:r>
          </a:p>
          <a:p>
            <a:r>
              <a:t>- TFM.docx, pp. 8–9 and 37.</a:t>
            </a:r>
          </a:p>
          <a:p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Preview the five main sections in this exact order.</a:t>
            </a:r>
          </a:p>
          <a:p>
            <a:r>
              <a:t>The timings leave about one minute for transitions inside the thirty-minute defense.</a:t>
            </a:r>
          </a:p>
          <a:p>
            <a:endParaRPr/>
          </a:p>
          <a:p>
            <a:r>
              <a:t>Sources:</a:t>
            </a:r>
          </a:p>
          <a:p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Present WebRTC as a system rather than a single wire protocol.</a:t>
            </a:r>
          </a:p>
          <a:p>
            <a:r>
              <a:t>The browser API manages peer state. The IETF protocols provide connectivity, secure media transport, and feedback.</a:t>
            </a:r>
          </a:p>
          <a:p>
            <a:r>
              <a:t>SignalR is an application choice for signaling because WebRTC deliberately leaves that transport open.</a:t>
            </a:r>
          </a:p>
          <a:p>
            <a:endParaRPr/>
          </a:p>
          <a:p>
            <a:r>
              <a:t>Sources:</a:t>
            </a:r>
          </a:p>
          <a:p>
            <a:r>
              <a:t>- RFC 8825: https://www.rfc-editor.org/rfc/rfc8825.html</a:t>
            </a:r>
          </a:p>
          <a:p>
            <a:r>
              <a:t>- W3C WebRTC: https://www.w3.org/TR/webrtc/</a:t>
            </a:r>
          </a:p>
          <a:p>
            <a:r>
              <a:t>- RFC 9429 JSEP: https://www.rfc-editor.org/rfc/rfc9429.html</a:t>
            </a:r>
          </a:p>
          <a:p>
            <a:r>
              <a:t>- TFM.docx, p.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Walk from capture at the top to UDP and IP at the bottom.</a:t>
            </a:r>
          </a:p>
          <a:p>
            <a:r>
              <a:t>RTP and RTCP carry media and feedback. WebRTC protects them as SRTP and SRTCP.</a:t>
            </a:r>
          </a:p>
          <a:p>
            <a:r>
              <a:t>DTLS-SRTP derives media keys on the selected ICE path. DataChannel is part of the standard but outside this project's implemented scope.</a:t>
            </a:r>
          </a:p>
          <a:p>
            <a:endParaRPr/>
          </a:p>
          <a:p>
            <a:r>
              <a:t>Sources:</a:t>
            </a:r>
          </a:p>
          <a:p>
            <a:r>
              <a:t>- RFC 8835: https://www.rfc-editor.org/rfc/rfc8835.html</a:t>
            </a:r>
          </a:p>
          <a:p>
            <a:r>
              <a:t>- RFC 8834: https://www.rfc-editor.org/rfc/rfc8834.html</a:t>
            </a:r>
          </a:p>
          <a:p>
            <a:r>
              <a:t>- RFC 3711: https://www.rfc-editor.org/rfc/rfc3711.html</a:t>
            </a:r>
          </a:p>
          <a:p>
            <a:r>
              <a:t>- RFC 5764: https://www.rfc-editor.org/rfc/rfc5764.html</a:t>
            </a:r>
          </a:p>
          <a:p>
            <a:r>
              <a:t>- TFM.docx, pp. 22–23.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STUN lookup: each peer asks a STUN server for its public mapped IP address and port. STUN does not carry the media stream.</a:t>
            </a:r>
          </a:p>
          <a:p>
            <a:r>
              <a:t>Direct path: ICE checks candidate pairs and prefers a working direct connection.</a:t>
            </a:r>
          </a:p>
          <a:p>
            <a:r>
              <a:t>TURN fallback: when no direct candidate pair succeeds, the peers use an authenticated allocation on the Metered TURN service and media crosses the relay.</a:t>
            </a:r>
          </a:p>
          <a:p>
            <a:r>
              <a:t>Project sources: WebRtcHub.cs lines 10–16 and 24–35; WebRtcSessionManager.cs lines 33–69 and 78; Control.tsx around line 128.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</a:t>
            </a:r>
          </a:p>
          <a:p>
            <a:endParaRPr lang="en-GB"/>
          </a:p>
          <a:p>
            <a:r>
              <a:rPr lang="en-GB"/>
              <a:t>The Raspberry Pi creates the offer after a browser joins. SignalR forwards that offer to the selected browser.</a:t>
            </a:r>
          </a:p>
          <a:p>
            <a:r>
              <a:rPr lang="en-GB"/>
              <a:t>The browser applies the offer, creates the answer, and returns it through the hub.</a:t>
            </a:r>
          </a:p>
          <a:p>
            <a:r>
              <a:rPr lang="en-GB"/>
              <a:t>SDP carries the parameters needed to agree on media and establish ICE and DTLS. The application server does not become a media endpoint.</a:t>
            </a:r>
          </a:p>
          <a:p>
            <a:endParaRPr lang="en-GB"/>
          </a:p>
          <a:p>
            <a:r>
              <a:rPr lang="en-GB"/>
              <a:t>The SDP excerpt on the slide uses illustrative values adapted from RFC 9429. The fingerprint is shortened for readability.</a:t>
            </a:r>
          </a:p>
          <a:p>
            <a:endParaRPr lang="en-GB"/>
          </a:p>
          <a:p>
            <a:r>
              <a:rPr lang="en-GB"/>
              <a:t>Sources:</a:t>
            </a:r>
          </a:p>
          <a:p>
            <a:r>
              <a:rPr lang="en-GB"/>
              <a:t>- RFC 8866 SDP: https://www.rfc-editor.org/rfc/rfc8866.html</a:t>
            </a:r>
          </a:p>
          <a:p>
            <a:r>
              <a:rPr lang="en-GB"/>
              <a:t>- RFC 9429 JSEP: https://www.rfc-editor.org/rfc/rfc9429.html</a:t>
            </a:r>
          </a:p>
          <a:p>
            <a:r>
              <a:rPr lang="en-GB"/>
              <a:t>- TFM.docx, pp. 21, 33–34.</a:t>
            </a:r>
          </a:p>
          <a:p>
            <a:r>
              <a:rPr lang="en-GB"/>
              <a:t>- Repository: WebRtcSessionManager.cs, WebRtcSignalingBackgroundService.cs, Control.tsx.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Present SDP first for explanatory clarity, then note that gathering can already be in progress while the descriptions are created.</a:t>
            </a:r>
          </a:p>
          <a:p>
            <a:r>
              <a:t>Trickle ICE sends candidates incrementally. Each side forms pairs, runs STUN checks, ranks viable paths, and nominates the selected pair.</a:t>
            </a:r>
          </a:p>
          <a:p>
            <a:r>
              <a:t>Peer-reflexive candidates can appear during checks even when they were not gathered beforehand.</a:t>
            </a:r>
          </a:p>
          <a:p>
            <a:endParaRPr/>
          </a:p>
          <a:p>
            <a:r>
              <a:t>Sources:</a:t>
            </a:r>
          </a:p>
          <a:p>
            <a:r>
              <a:t>- RFC 8445: https://www.rfc-editor.org/rfc/rfc8445.html</a:t>
            </a:r>
          </a:p>
          <a:p>
            <a:r>
              <a:t>- RFC 8838: https://www.rfc-editor.org/rfc/rfc8838.html</a:t>
            </a:r>
          </a:p>
          <a:p>
            <a:r>
              <a:t>- W3C ICE events: https://www.w3.org/TR/webrtc/#rtcpeerconnectioniceevent</a:t>
            </a:r>
          </a:p>
          <a:p>
            <a:r>
              <a:t>- TFM.docx, p.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
VP8 and H.264 Constrained Baseline are the WebRTC video interoperability baselines. VP9, AV1 and H.265 require capability checks and a negotiated fallback.
The network callout uses a 1.5 Mb/s video target for an illustrative 720p30 low-latency stream. About 2 Mb/s sustained uplink adds packet and control overhead plus roughly 25% operating headroom. It is a planning estimate, not a codec minimum.
Relative data use is qualitative. Real bitrate depends on content, encoder implementation, resolution, frame rate, quality target and latency settings. Lower bitrate can reduce mobile-data and TURN-relay traffic, while newer codecs can require more compute or dedicated hardware.
Sources:
- RFC 7742 sections 5–6: https://www.rfc-editor.org/rfc/rfc7742.html#section-5
- Chromium WebRTC 720p singlecast defaults: https://chromium.googlesource.com/external/webrtc/+/refs/heads/master/rtc_base/experiments/encoder_info_settings.cc#47
- Google VP9 live encoding settings: https://developers.google.com/media/vp9/settings
- Alliance for Open Media, Meta AV1 case study: https://aomedia.org/av1-adoption-showcase/meta-story/
- ITU-T HEVC overview: https://www.itu.int/en/ITU-T/studygroups/2017-2020/16/Pages/video/jctvc.aspx
- TFM.docx, pp. 23–24.
- Repository reference: appsettings.json video settings.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WHIP covers unidirectional ingest from a publisher to a media server. WHEP covers egress from a media server to a viewer.</a:t>
            </a:r>
          </a:p>
          <a:p>
            <a:r>
              <a:t>Combining them normally creates two server-terminated WebRTC sessions, so the media server sits in the video path.</a:t>
            </a:r>
          </a:p>
          <a:p>
            <a:r>
              <a:t>WHIP is a Standards Track RFC. WHEP is still an active Internet-Draft, revision 04, on the date of this defense.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WHEP status: https://datatracker.ietf.org/doc/draft-ietf-wish-whep/</a:t>
            </a:r>
          </a:p>
          <a:p>
            <a:r>
              <a:t>- TFM.docx, pp. 24–25.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The first design already separated signaling from media. ASP.NET and SignalR coordinated the two peers, while WebRTC was expected to carry video directly.</a:t>
            </a:r>
          </a:p>
          <a:p>
            <a:r>
              <a:t>The early configuration contained Google STUN only. TURN was explicitly absent.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5b2433a, 14 February 2026; commit 6bc9041, 19 February 2026.</a:t>
            </a:r>
          </a:p>
          <a:p>
            <a:r>
              <a:t>- TFM.docx, pp. 16–19.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Both endpoints can sit behind private IPv4 addressing. The mobile side adds carrier-grade NAT, and the browser side may add another NAT and firewall.</a:t>
            </a:r>
          </a:p>
          <a:p>
            <a:r>
              <a:t>STUN can reveal a mapping without proving that the remote peer can send to it. Destination-dependent mapping and blocked inbound UDP can still defeat direct checks.</a:t>
            </a:r>
          </a:p>
          <a:p>
            <a:endParaRPr/>
          </a:p>
          <a:p>
            <a:r>
              <a:t>Sources:</a:t>
            </a:r>
          </a:p>
          <a:p>
            <a:r>
              <a:t>- RFC 8489: https://www.rfc-editor.org/rfc/rfc8489.html</a:t>
            </a:r>
          </a:p>
          <a:p>
            <a:r>
              <a:t>- RFC 8445: https://www.rfc-editor.org/rfc/rfc8445.html</a:t>
            </a:r>
          </a:p>
          <a:p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STUN did not work across every network. TURN therefore became an ICE fallback rather than the preferred path.</a:t>
            </a:r>
          </a:p>
          <a:p>
            <a:r>
              <a:t>The application server still stays outside the video path. When ICE selects a relay candidate, the separate TURN server carries the encrypted media.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 and commit 66702f6 / merge adeac59.</a:t>
            </a:r>
          </a:p>
          <a:p>
            <a:r>
              <a:t>- RFC 8656: https://www.rfc-editor.org/rfc/rfc8656.html</a:t>
            </a:r>
          </a:p>
          <a:p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IPv6 could remove the mobile carrier-grade IPv4 translation layer, so ICE should test it alongside IPv4 and TURN.</a:t>
            </a:r>
          </a:p>
          <a:p>
            <a:r>
              <a:t>IPv6 does not bypass endpoint firewalls and is not automatically faster.</a:t>
            </a:r>
          </a:p>
          <a:p>
            <a:r>
              <a:t>The current repository uses IPv6 loopback only between FFmpeg and .NET. No end-to-end public IPv6 test has been recorded.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 and 38.</a:t>
            </a:r>
          </a:p>
          <a:p>
            <a:r>
              <a:t>- Repository: CameraVideoSource.cs line 158 uses IPv6Loopback for local RTP only.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WHIP and WHEP supplied a useful vocabulary for publisher, viewer, signaling state, and teardown.</a:t>
            </a:r>
          </a:p>
          <a:p>
            <a:r>
              <a:t>A complete implementation would put a central media server into the video path, which conflicts with this project's central architectural goal.</a:t>
            </a:r>
          </a:p>
          <a:p>
            <a:r>
              <a:t>The concepts moved into the SignalR flow. The HTTP actions remain explicit stubs.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libcamera was considered as the Raspberry Pi CSI-camera stack, but no recorded revision implemented it. The final USB-camera path uses V4L2.</a:t>
            </a:r>
          </a:p>
          <a:p>
            <a:r>
              <a:t>The first implementation used SIPSorceryMedia.FFmpeg and FFmpeg.AutoGen for direct callbacks, which coupled deployment to exact native FFmpeg libraries.</a:t>
            </a:r>
          </a:p>
          <a:p>
            <a:r>
              <a:t>The final version supervises an FFmpeg executable and receives H.264 over loopback RTP. That boundary is easier to deploy but adds depacketization and repacketization.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4b357dd, historical PLAN at 3f9931d, and commit d8e2a27.</a:t>
            </a:r>
          </a:p>
          <a:p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Follow the pipeline from the C920 to the browser. FFmpeg receives MJPEG through V4L2, decodes it, and software-encodes H.264 Constrained Baseline.</a:t>
            </a:r>
          </a:p>
          <a:p>
            <a:r>
              <a:t>FFmpeg emits RTP on IPv6 loopback. .NET parses RTP, depacketizes H.264, assembles Annex-B access units, and caches SPS and PPS.</a:t>
            </a:r>
          </a:p>
          <a:p>
            <a:r>
              <a:t>SIPSorcery repacketizes the encoded access unit into the negotiated WebRTC stream and owns SRTP and the peer connection.</a:t>
            </a:r>
          </a:p>
          <a:p>
            <a:r>
              <a:t>The .NET layer avoids a second decode and encode, but FFmpeg still performs the MJPEG decode and software H.264 encode.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36.</a:t>
            </a:r>
          </a:p>
          <a:p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The camera outputs MJPEG, so FFmpeg must decode every frame before libx264 can encode H.264 in software.</a:t>
            </a:r>
          </a:p>
          <a:p>
            <a:r>
              <a:t>Discuss CPU, memory bandwidth, heat, and latency qualitatively. No measured CPU percentage exists in the evidence.</a:t>
            </a:r>
          </a:p>
          <a:p>
            <a:r>
              <a:t>The external process made deployment more robust. It did not remove the compute cost.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36–39.</a:t>
            </a:r>
          </a:p>
          <a:p>
            <a:r>
              <a:t>- Repository: appsettings.json and CameraVideoSource.cs.</a:t>
            </a:r>
          </a:p>
          <a:p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>
            <a:r>
              <a:t>The thesis does support the mechanism and mitigation: motor-stall peaks, supply monitoring, a fused branch, transient protection, decoupling, and careful grounding.</a:t>
            </a:r>
          </a:p>
          <a:p>
            <a:endParaRPr/>
          </a:p>
          <a:p>
            <a:r>
              <a:t>Sources:</a:t>
            </a:r>
          </a:p>
          <a:p>
            <a:r>
              <a:t>- PLAN.md, Issues with electrical input to the RPI.</a:t>
            </a:r>
          </a:p>
          <a:p>
            <a:r>
              <a:t>- TFM.docx, pp. 13 and 39.</a:t>
            </a:r>
          </a:p>
          <a:p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75 seconds</a:t>
            </a:r>
          </a:p>
          <a:p>
            <a:endParaRPr/>
          </a:p>
          <a:p>
            <a:r>
              <a:t>The measurement compares the visible time reference with the received browser image. The two Unix timestamps differ by exactly 340 milliseconds.</a:t>
            </a:r>
          </a:p>
          <a:p>
            <a:r>
              <a:t>The browser status line shows a relay local candidate in this captured run, so the observed path appears TURN-relayed.</a:t>
            </a:r>
          </a:p>
          <a:p>
            <a:r>
              <a:t>Treat this as one 4G observation that supports feasibility. It does not establish a latency distribution, a guarantee, or 5G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pp. 8–9 and 36; Figure 10.</a:t>
            </a:r>
          </a:p>
          <a:p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Vehicle control belongs to the next phase, not the completed project scope.</a:t>
            </a:r>
          </a:p>
          <a:p>
            <a:r>
              <a:t>A production command loop needs explicit sequencing, timestamps, validation, actuation, and a neutral fail-safe whenever communication or input becomes unsafe.</a:t>
            </a:r>
          </a:p>
          <a:p>
            <a:endParaRPr/>
          </a:p>
          <a:p>
            <a:r>
              <a:t>Sources:</a:t>
            </a:r>
          </a:p>
          <a:p>
            <a:r>
              <a:t>- TFM.docx, pp. 37–38.</a:t>
            </a:r>
          </a:p>
          <a:p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best next optimization is direct H.264 from the camera or a hardware encoder, removing MJPEG decode and software libx264 where possible.</a:t>
            </a:r>
          </a:p>
          <a:p>
            <a:r>
              <a:t>Direct output still needs validation. The profile, parameter sets, packetization, GOP, buffering, and measured latency must match the WebRTC path.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38–39.</a:t>
            </a:r>
          </a:p>
          <a:p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Run a controlled matrix rather than another single demonstration. Compare IPv4 direct, IPv6 direct, and TURN relay across realistic mobile network modes.</a:t>
            </a:r>
          </a:p>
          <a:p>
            <a:r>
              <a:t>Record distributions and stability, not only a best-case latency number. Include NAT type, mobility, loss, and uplink consistency.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 and 40.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hardware priority is a protected and measurable power tree that isolates motor transients from the Raspberry Pi rail.</a:t>
            </a:r>
          </a:p>
          <a:p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ESP32-P4 is a long-term consolidation candidate because it combines RISC-V cores, camera interfaces, an image pipeline, hardware H.264, and Ethernet.</a:t>
            </a:r>
          </a:p>
          <a:p>
            <a:r>
              <a:t>It has no integrated 5G radio, so a modem or network companion remains necessary. Rust HAL support exists, but peripheral maturity and a practical WebRTC stack still need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Espressif ESP32-P4 datasheet: https://documentation.espressif.com/esp32-p4_datasheet_en.html</a:t>
            </a:r>
          </a:p>
          <a:p>
            <a:r>
              <a:t>- Espressif product overview: https://www.espressif.com/en/node/7617</a:t>
            </a:r>
          </a:p>
          <a:p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Use this as an application concept, not as a tested system.</a:t>
            </a:r>
          </a:p>
          <a:p>
            <a:r>
              <a:t>The motorway segment can run autonomously, while a remote operator handles the final approach where context and interaction are harder to automate.</a:t>
            </a:r>
          </a:p>
          <a:p>
            <a:r>
              <a:t>Low-latency video is one dependency. Production teleoperation needs redundant control, a safety case, secure operations, and regulatory approval.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Cranes, mining equipment, and workboats share the value proposition of moving people away from hazardous work zones.</a:t>
            </a:r>
          </a:p>
          <a:p>
            <a:r>
              <a:t>The video link must remain usable under motion, vibration, coverage changes, and harsh radio conditions.</a:t>
            </a:r>
          </a:p>
          <a:p>
            <a:r>
              <a:t>The prototype addresses only the video-path question. Each domain needs its own redundant control and safety design.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examples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</a:t>
            </a:r>
          </a:p>
          <a:p>
            <a:endParaRPr/>
          </a:p>
          <a:p>
            <a:r>
              <a:t>Show the physical device path first when available. Keep the browser simulator ready as the technical fallback.</a:t>
            </a:r>
          </a:p>
          <a:p>
            <a:r>
              <a:t>Ask the audience to watch signaling state, the offer and answer, candidate types, connection state, and the video itself.</a:t>
            </a:r>
          </a:p>
          <a:p>
            <a:r>
              <a:t>The device selector uses hard-coded prototype entries and should not be described as live fleet discovery.</a:t>
            </a:r>
          </a:p>
          <a:p>
            <a:endParaRPr/>
          </a:p>
          <a:p>
            <a:r>
              <a:t>Sources:</a:t>
            </a:r>
          </a:p>
          <a:p>
            <a:r>
              <a:t>- TFM.docx, p. 32; Figure 9.</a:t>
            </a:r>
          </a:p>
          <a:p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Start the central server and selector page. Then connect the device or start the simulator before opening the viewer route.</a:t>
            </a:r>
          </a:p>
          <a:p>
            <a:r>
              <a:t>The viewer join event triggers the device offer. SignalR transports the SDP and Trickle ICE candidates.</a:t>
            </a:r>
          </a:p>
          <a:p>
            <a:r>
              <a:t>Show the candidate types and connected state, then the live video and latency demonstration.</a:t>
            </a:r>
          </a:p>
          <a:p>
            <a:r>
              <a:t>Do not demonstrate vehicle control as completed project scope.</a:t>
            </a:r>
          </a:p>
          <a:p>
            <a:endParaRPr/>
          </a:p>
          <a:p>
            <a:r>
              <a:t>Sources:</a:t>
            </a:r>
          </a:p>
          <a:p>
            <a:r>
              <a:t>- Repository: WebRtcSignalingBackgroundService.cs lines 25–32; WebRtcHub.cs; Control.tsx.</a:t>
            </a:r>
          </a:p>
          <a:p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This slide reserves the required 16:9 media frame for a real RC-car recording.</a:t>
            </a:r>
          </a:p>
          <a:p>
            <a:r>
              <a:t>No physical-car video file exists in the repository. The countdown is a 66.94-second simulator asset and can demonstrate the signaling and media path only.</a:t>
            </a:r>
          </a:p>
          <a:p>
            <a:r>
              <a:t>Keep the placeholder label until real footage is inserted.</a:t>
            </a:r>
          </a:p>
          <a:p>
            <a:endParaRPr/>
          </a:p>
          <a:p>
            <a:r>
              <a:t>Sources:</a:t>
            </a:r>
          </a:p>
          <a:p>
            <a:r>
              <a:t>- Repository: src/ScarletRadioControl.Web.Frontend/src/assets/countdown.mp4 and ControlTest.tsx.</a:t>
            </a:r>
          </a:p>
          <a:p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 plus questions</a:t>
            </a:r>
          </a:p>
          <a:p>
            <a:endParaRPr/>
          </a:p>
          <a:p>
            <a:r>
              <a:t>Close with the evidence: the prototype demonstrates feasibility under one tested 4G configuration.</a:t>
            </a:r>
          </a:p>
          <a:p>
            <a:r>
              <a:t>The most consequential engineering work involved NAT traversal and the software media pipeline.</a:t>
            </a:r>
          </a:p>
          <a:p>
            <a:r>
              <a:t>Name the next priorities, then invite questions.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36–40; Figure 11.</a:t>
            </a:r>
          </a:p>
          <a:p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416420"/>
            <a:ext cx="3486150" cy="786411"/>
          </a:xfrm>
          <a:prstGeom prst="roundRect">
            <a:avLst>
              <a:gd name="adj" fmla="val 9302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noGrp="1"/>
          </p:cNvSpPr>
          <p:nvPr/>
        </p:nvSpPr>
        <p:spPr>
          <a:xfrm>
            <a:off x="742950" y="1638300"/>
            <a:ext cx="87630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noGrp="1"/>
          </p:cNvSpPr>
          <p:nvPr/>
        </p:nvSpPr>
        <p:spPr>
          <a:xfrm>
            <a:off x="762000" y="3667125"/>
            <a:ext cx="1619250" cy="47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5619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noGrp="1"/>
          </p:cNvSpPr>
          <p:nvPr/>
        </p:nvSpPr>
        <p:spPr>
          <a:xfrm>
            <a:off x="762000" y="600075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10763250" cy="1285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400ms glass-to-glass latency?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noGrp="1"/>
          </p:cNvSpPr>
          <p:nvPr/>
        </p:nvSpPr>
        <p:spPr>
          <a:xfrm>
            <a:off x="4400550" y="3276600"/>
            <a:ext cx="0" cy="20955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noGrp="1"/>
          </p:cNvSpPr>
          <p:nvPr/>
        </p:nvSpPr>
        <p:spPr>
          <a:xfrm>
            <a:off x="495300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2571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noGrp="1"/>
          </p:cNvSpPr>
          <p:nvPr/>
        </p:nvSpPr>
        <p:spPr>
          <a:xfrm>
            <a:off x="813435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noGrp="1"/>
          </p:cNvSpPr>
          <p:nvPr/>
        </p:nvSpPr>
        <p:spPr>
          <a:xfrm>
            <a:off x="8134350" y="4095750"/>
            <a:ext cx="295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noGrp="1"/>
          </p:cNvSpPr>
          <p:nvPr/>
        </p:nvSpPr>
        <p:spPr>
          <a:xfrm>
            <a:off x="4953000" y="4952999"/>
            <a:ext cx="6134100" cy="714375"/>
          </a:xfrm>
          <a:prstGeom prst="roundRect">
            <a:avLst>
              <a:gd name="adj" fmla="val 17241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noGrp="1"/>
          </p:cNvSpPr>
          <p:nvPr/>
        </p:nvSpPr>
        <p:spPr>
          <a:xfrm>
            <a:off x="5162550" y="5086350"/>
            <a:ext cx="5810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1905000"/>
          </a:xfrm>
          <a:prstGeom prst="roundRect">
            <a:avLst>
              <a:gd name="adj" fmla="val 8000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143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9525000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noGrp="1"/>
          </p:cNvSpPr>
          <p:nvPr/>
        </p:nvSpPr>
        <p:spPr>
          <a:xfrm>
            <a:off x="10668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noGrp="1"/>
          </p:cNvSpPr>
          <p:nvPr/>
        </p:nvSpPr>
        <p:spPr>
          <a:xfrm>
            <a:off x="65151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noGrp="1"/>
          </p:cNvSpPr>
          <p:nvPr/>
        </p:nvSpPr>
        <p:spPr>
          <a:xfrm>
            <a:off x="1809750" y="16192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noGrp="1"/>
          </p:cNvSpPr>
          <p:nvPr/>
        </p:nvSpPr>
        <p:spPr>
          <a:xfrm>
            <a:off x="1809750" y="22669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noGrp="1"/>
          </p:cNvSpPr>
          <p:nvPr/>
        </p:nvSpPr>
        <p:spPr>
          <a:xfrm>
            <a:off x="819150" y="24574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noGrp="1"/>
          </p:cNvSpPr>
          <p:nvPr/>
        </p:nvSpPr>
        <p:spPr>
          <a:xfrm>
            <a:off x="9620250" y="24574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noGrp="1"/>
          </p:cNvSpPr>
          <p:nvPr/>
        </p:nvSpPr>
        <p:spPr>
          <a:xfrm>
            <a:off x="1809750" y="31051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noGrp="1"/>
          </p:cNvSpPr>
          <p:nvPr/>
        </p:nvSpPr>
        <p:spPr>
          <a:xfrm>
            <a:off x="1809750" y="32956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noGrp="1"/>
          </p:cNvSpPr>
          <p:nvPr/>
        </p:nvSpPr>
        <p:spPr>
          <a:xfrm>
            <a:off x="1809750" y="39433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noGrp="1"/>
          </p:cNvSpPr>
          <p:nvPr/>
        </p:nvSpPr>
        <p:spPr>
          <a:xfrm>
            <a:off x="1809750" y="41338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noGrp="1"/>
          </p:cNvSpPr>
          <p:nvPr/>
        </p:nvSpPr>
        <p:spPr>
          <a:xfrm>
            <a:off x="9620250" y="41338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noGrp="1"/>
          </p:cNvSpPr>
          <p:nvPr/>
        </p:nvSpPr>
        <p:spPr>
          <a:xfrm>
            <a:off x="1809750" y="49720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noGrp="1"/>
          </p:cNvSpPr>
          <p:nvPr/>
        </p:nvSpPr>
        <p:spPr>
          <a:xfrm>
            <a:off x="9620250" y="49720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323850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  <a:endParaRPr sz="23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Conector recto de flecha 24"/>
          <p:cNvCxnSpPr>
            <a:stCxn id="6" idx="3"/>
            <a:endCxn id="5" idx="1"/>
          </p:cNvCxnSpPr>
          <p:nvPr/>
        </p:nvCxnSpPr>
        <p:spPr>
          <a:xfrm>
            <a:off x="3638550" y="2143125"/>
            <a:ext cx="838200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Conector recto de flecha 26"/>
          <p:cNvCxnSpPr>
            <a:stCxn id="8" idx="3"/>
            <a:endCxn id="5" idx="1"/>
          </p:cNvCxnSpPr>
          <p:nvPr/>
        </p:nvCxnSpPr>
        <p:spPr>
          <a:xfrm flipV="1">
            <a:off x="3638550" y="3228975"/>
            <a:ext cx="838200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noGrp="1"/>
          </p:cNvSpPr>
          <p:nvPr/>
        </p:nvSpPr>
        <p:spPr>
          <a:xfrm>
            <a:off x="8543925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Conector recto de flecha 28"/>
          <p:cNvCxnSpPr>
            <a:stCxn id="10" idx="1"/>
            <a:endCxn id="5" idx="3"/>
          </p:cNvCxnSpPr>
          <p:nvPr/>
        </p:nvCxnSpPr>
        <p:spPr>
          <a:xfrm flipH="1">
            <a:off x="7715250" y="2143125"/>
            <a:ext cx="828675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noGrp="1"/>
          </p:cNvSpPr>
          <p:nvPr/>
        </p:nvSpPr>
        <p:spPr>
          <a:xfrm>
            <a:off x="8543925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Conector recto de flecha 30"/>
          <p:cNvCxnSpPr>
            <a:stCxn id="12" idx="1"/>
            <a:endCxn id="5" idx="3"/>
          </p:cNvCxnSpPr>
          <p:nvPr/>
        </p:nvCxnSpPr>
        <p:spPr>
          <a:xfrm flipH="1" flipV="1">
            <a:off x="7715250" y="3228975"/>
            <a:ext cx="828675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noGrp="1"/>
          </p:cNvSpPr>
          <p:nvPr/>
        </p:nvSpPr>
        <p:spPr>
          <a:xfrm>
            <a:off x="4476750" y="148590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Conector recto de flecha 32"/>
          <p:cNvCxnSpPr>
            <a:stCxn id="14" idx="2"/>
            <a:endCxn id="5" idx="0"/>
          </p:cNvCxnSpPr>
          <p:nvPr/>
        </p:nvCxnSpPr>
        <p:spPr>
          <a:xfrm>
            <a:off x="6096000" y="2228850"/>
            <a:ext cx="0" cy="4762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noGrp="1"/>
          </p:cNvSpPr>
          <p:nvPr/>
        </p:nvSpPr>
        <p:spPr>
          <a:xfrm>
            <a:off x="4476750" y="440055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Conector recto de flecha 34"/>
          <p:cNvCxnSpPr>
            <a:stCxn id="16" idx="0"/>
            <a:endCxn id="5" idx="2"/>
          </p:cNvCxnSpPr>
          <p:nvPr/>
        </p:nvCxnSpPr>
        <p:spPr>
          <a:xfrm flipV="1">
            <a:off x="6096000" y="3752850"/>
            <a:ext cx="0" cy="64770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noGrp="1"/>
          </p:cNvSpPr>
          <p:nvPr/>
        </p:nvSpPr>
        <p:spPr>
          <a:xfrm>
            <a:off x="1333500" y="5619750"/>
            <a:ext cx="9525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Imagen 17" descr="WebRTC protocol stack showing browser APIs over HTTP, optional TLS, and TCP; RTCPeerConnection and DataChannel over RTP/RTCP, SCTP, mandatory DTLS, ICE/STUN/TURN, UDP, and IP.">
            <a:extLst>
              <a:ext uri="{FF2B5EF4-FFF2-40B4-BE49-F238E27FC236}">
                <a16:creationId xmlns:a16="http://schemas.microsoft.com/office/drawing/2014/main" id="{2FD464F3-CD95-50DA-2B91-0EBE49D9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58" y="1860803"/>
            <a:ext cx="8811846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Discovery and TURN Relay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0000" name="raspberry-pi-card">
            <a:extLst>
              <a:ext uri="{FF2B5EF4-FFF2-40B4-BE49-F238E27FC236}">
                <a16:creationId xmlns:a16="http://schemas.microsoft.com/office/drawing/2014/main" id="{421CFBDD-0D05-41DC-AC4F-636EB521177E}"/>
              </a:ext>
            </a:extLst>
          </p:cNvPr>
          <p:cNvSpPr>
            <a:spLocks noGrp="1"/>
          </p:cNvSpPr>
          <p:nvPr/>
        </p:nvSpPr>
        <p:spPr>
          <a:xfrm>
            <a:off x="666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100" name="raspberry-pi-icon">
            <a:extLst>
              <a:ext uri="{FF2B5EF4-FFF2-40B4-BE49-F238E27FC236}">
                <a16:creationId xmlns:a16="http://schemas.microsoft.com/office/drawing/2014/main" id="{6FDB1B7C-2969-4284-BE05-727FD784901B}"/>
              </a:ext>
            </a:extLst>
          </p:cNvPr>
          <p:cNvSpPr>
            <a:spLocks noGrp="1"/>
          </p:cNvSpPr>
          <p:nvPr/>
        </p:nvSpPr>
        <p:spPr>
          <a:xfrm>
            <a:off x="857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Pi</a:t>
            </a:r>
          </a:p>
        </p:txBody>
      </p:sp>
      <p:sp>
        <p:nvSpPr>
          <p:cNvPr id="70200" name="raspberry-pi-title">
            <a:extLst>
              <a:ext uri="{FF2B5EF4-FFF2-40B4-BE49-F238E27FC236}">
                <a16:creationId xmlns:a16="http://schemas.microsoft.com/office/drawing/2014/main" id="{0B38E4A8-7471-4E98-8984-E396F6BE6266}"/>
              </a:ext>
            </a:extLst>
          </p:cNvPr>
          <p:cNvSpPr>
            <a:spLocks noGrp="1"/>
          </p:cNvSpPr>
          <p:nvPr/>
        </p:nvSpPr>
        <p:spPr>
          <a:xfrm>
            <a:off x="1543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70300" name="raspberry-pi-subtitle">
            <a:extLst>
              <a:ext uri="{FF2B5EF4-FFF2-40B4-BE49-F238E27FC236}">
                <a16:creationId xmlns:a16="http://schemas.microsoft.com/office/drawing/2014/main" id="{AC9DA8CC-BAC7-4740-8921-B270FFCC4BFF}"/>
              </a:ext>
            </a:extLst>
          </p:cNvPr>
          <p:cNvSpPr>
            <a:spLocks noGrp="1"/>
          </p:cNvSpPr>
          <p:nvPr/>
        </p:nvSpPr>
        <p:spPr>
          <a:xfrm>
            <a:off x="1543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400" name="remote-browser-card">
            <a:extLst>
              <a:ext uri="{FF2B5EF4-FFF2-40B4-BE49-F238E27FC236}">
                <a16:creationId xmlns:a16="http://schemas.microsoft.com/office/drawing/2014/main" id="{1AAED6EF-F33F-4688-81F4-23CFFFEA39FE}"/>
              </a:ext>
            </a:extLst>
          </p:cNvPr>
          <p:cNvSpPr>
            <a:spLocks noGrp="1"/>
          </p:cNvSpPr>
          <p:nvPr/>
        </p:nvSpPr>
        <p:spPr>
          <a:xfrm>
            <a:off x="9048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500" name="remote-browser-icon">
            <a:extLst>
              <a:ext uri="{FF2B5EF4-FFF2-40B4-BE49-F238E27FC236}">
                <a16:creationId xmlns:a16="http://schemas.microsoft.com/office/drawing/2014/main" id="{8EF7393A-24EB-4FC5-A863-7436EAE82EAD}"/>
              </a:ext>
            </a:extLst>
          </p:cNvPr>
          <p:cNvSpPr>
            <a:spLocks noGrp="1"/>
          </p:cNvSpPr>
          <p:nvPr/>
        </p:nvSpPr>
        <p:spPr>
          <a:xfrm>
            <a:off x="9239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sp>
        <p:nvSpPr>
          <p:cNvPr id="70600" name="remote-browser-title">
            <a:extLst>
              <a:ext uri="{FF2B5EF4-FFF2-40B4-BE49-F238E27FC236}">
                <a16:creationId xmlns:a16="http://schemas.microsoft.com/office/drawing/2014/main" id="{989FE0F0-6AFE-45FC-9C49-9454569C8A3A}"/>
              </a:ext>
            </a:extLst>
          </p:cNvPr>
          <p:cNvSpPr>
            <a:spLocks noGrp="1"/>
          </p:cNvSpPr>
          <p:nvPr/>
        </p:nvSpPr>
        <p:spPr>
          <a:xfrm>
            <a:off x="9925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852"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70700" name="remote-browser-subtitle">
            <a:extLst>
              <a:ext uri="{FF2B5EF4-FFF2-40B4-BE49-F238E27FC236}">
                <a16:creationId xmlns:a16="http://schemas.microsoft.com/office/drawing/2014/main" id="{9DB8A013-F365-46B4-8147-8BB58DBD8319}"/>
              </a:ext>
            </a:extLst>
          </p:cNvPr>
          <p:cNvSpPr>
            <a:spLocks noGrp="1"/>
          </p:cNvSpPr>
          <p:nvPr/>
        </p:nvSpPr>
        <p:spPr>
          <a:xfrm>
            <a:off x="9925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800" name="stun-public-ip-lookup-card">
            <a:extLst>
              <a:ext uri="{FF2B5EF4-FFF2-40B4-BE49-F238E27FC236}">
                <a16:creationId xmlns:a16="http://schemas.microsoft.com/office/drawing/2014/main" id="{112A70A3-223F-4636-8FB9-EB145DE555C4}"/>
              </a:ext>
            </a:extLst>
          </p:cNvPr>
          <p:cNvSpPr>
            <a:spLocks noGrp="1"/>
          </p:cNvSpPr>
          <p:nvPr/>
        </p:nvSpPr>
        <p:spPr>
          <a:xfrm>
            <a:off x="4000500" y="1581150"/>
            <a:ext cx="4191000" cy="1200150"/>
          </a:xfrm>
          <a:prstGeom prst="roundRect">
            <a:avLst>
              <a:gd name="adj" fmla="val 14286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900" name="stun-lookup-only-badge">
            <a:extLst>
              <a:ext uri="{FF2B5EF4-FFF2-40B4-BE49-F238E27FC236}">
                <a16:creationId xmlns:a16="http://schemas.microsoft.com/office/drawing/2014/main" id="{AD0DF06B-ED7E-41EA-B673-4E5B44D66C8A}"/>
              </a:ext>
            </a:extLst>
          </p:cNvPr>
          <p:cNvSpPr>
            <a:spLocks noGrp="1"/>
          </p:cNvSpPr>
          <p:nvPr/>
        </p:nvSpPr>
        <p:spPr>
          <a:xfrm>
            <a:off x="4257675" y="1752600"/>
            <a:ext cx="1162050" cy="238125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LOOKUP ONLY</a:t>
            </a:r>
          </a:p>
        </p:txBody>
      </p:sp>
      <p:sp>
        <p:nvSpPr>
          <p:cNvPr id="71000" name="stun-title">
            <a:extLst>
              <a:ext uri="{FF2B5EF4-FFF2-40B4-BE49-F238E27FC236}">
                <a16:creationId xmlns:a16="http://schemas.microsoft.com/office/drawing/2014/main" id="{E0CD24DB-6DC5-4B76-A630-C89559EEE6FC}"/>
              </a:ext>
            </a:extLst>
          </p:cNvPr>
          <p:cNvSpPr>
            <a:spLocks noGrp="1"/>
          </p:cNvSpPr>
          <p:nvPr/>
        </p:nvSpPr>
        <p:spPr>
          <a:xfrm>
            <a:off x="4257675" y="20764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sp>
        <p:nvSpPr>
          <p:cNvPr id="71100" name="stun-purpose">
            <a:extLst>
              <a:ext uri="{FF2B5EF4-FFF2-40B4-BE49-F238E27FC236}">
                <a16:creationId xmlns:a16="http://schemas.microsoft.com/office/drawing/2014/main" id="{797D7DF3-1132-4E7B-93F6-445B5F338173}"/>
              </a:ext>
            </a:extLst>
          </p:cNvPr>
          <p:cNvSpPr>
            <a:spLocks noGrp="1"/>
          </p:cNvSpPr>
          <p:nvPr/>
        </p:nvSpPr>
        <p:spPr>
          <a:xfrm>
            <a:off x="5619750" y="1752600"/>
            <a:ext cx="2314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072"/>
          </a:bodyPr>
          <a:lstStyle/>
          <a:p>
            <a:pPr algn="l"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Returns the public IP and port</a:t>
            </a:r>
          </a:p>
        </p:txBody>
      </p:sp>
      <p:sp>
        <p:nvSpPr>
          <p:cNvPr id="71200" name="stun-no-media">
            <a:extLst>
              <a:ext uri="{FF2B5EF4-FFF2-40B4-BE49-F238E27FC236}">
                <a16:creationId xmlns:a16="http://schemas.microsoft.com/office/drawing/2014/main" id="{5020213E-65F5-48DD-AF3E-D3BDDC9609CA}"/>
              </a:ext>
            </a:extLst>
          </p:cNvPr>
          <p:cNvSpPr>
            <a:spLocks noGrp="1"/>
          </p:cNvSpPr>
          <p:nvPr/>
        </p:nvSpPr>
        <p:spPr>
          <a:xfrm>
            <a:off x="5619750" y="2171700"/>
            <a:ext cx="2314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022"/>
          </a:bodyPr>
          <a:lstStyle/>
          <a:p>
            <a:pPr algn="l"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never passes through STUN</a:t>
            </a:r>
          </a:p>
        </p:txBody>
      </p:sp>
      <p:sp>
        <p:nvSpPr>
          <p:cNvPr id="71300" name="turn-media-relay-card">
            <a:extLst>
              <a:ext uri="{FF2B5EF4-FFF2-40B4-BE49-F238E27FC236}">
                <a16:creationId xmlns:a16="http://schemas.microsoft.com/office/drawing/2014/main" id="{E6A97A5D-0A33-4E35-85E9-617BBB5D1585}"/>
              </a:ext>
            </a:extLst>
          </p:cNvPr>
          <p:cNvSpPr>
            <a:spLocks noGrp="1"/>
          </p:cNvSpPr>
          <p:nvPr/>
        </p:nvSpPr>
        <p:spPr>
          <a:xfrm>
            <a:off x="4000500" y="4514850"/>
            <a:ext cx="4191000" cy="1219200"/>
          </a:xfrm>
          <a:prstGeom prst="roundRect">
            <a:avLst>
              <a:gd name="adj" fmla="val 14063"/>
            </a:avLst>
          </a:prstGeom>
          <a:solidFill>
            <a:srgbClr val="510034"/>
          </a:solidFill>
          <a:ln w="9525">
            <a:solidFill>
              <a:srgbClr val="51003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1400" name="turn-relay-badge">
            <a:extLst>
              <a:ext uri="{FF2B5EF4-FFF2-40B4-BE49-F238E27FC236}">
                <a16:creationId xmlns:a16="http://schemas.microsoft.com/office/drawing/2014/main" id="{96C3EE49-9A67-4A9E-8F67-191722319B6C}"/>
              </a:ext>
            </a:extLst>
          </p:cNvPr>
          <p:cNvSpPr>
            <a:spLocks noGrp="1"/>
          </p:cNvSpPr>
          <p:nvPr/>
        </p:nvSpPr>
        <p:spPr>
          <a:xfrm>
            <a:off x="4257675" y="4695825"/>
            <a:ext cx="914400" cy="238125"/>
          </a:xfrm>
          <a:prstGeom prst="roundRect">
            <a:avLst>
              <a:gd name="adj" fmla="val 48000"/>
            </a:avLst>
          </a:prstGeom>
          <a:solidFill>
            <a:srgbClr val="E97132"/>
          </a:solidFill>
          <a:ln w="9525">
            <a:solidFill>
              <a:srgbClr val="E97132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1500" name="turn-title">
            <a:extLst>
              <a:ext uri="{FF2B5EF4-FFF2-40B4-BE49-F238E27FC236}">
                <a16:creationId xmlns:a16="http://schemas.microsoft.com/office/drawing/2014/main" id="{8D38E62C-585D-4D6E-ABBE-77375046FACE}"/>
              </a:ext>
            </a:extLst>
          </p:cNvPr>
          <p:cNvSpPr>
            <a:spLocks noGrp="1"/>
          </p:cNvSpPr>
          <p:nvPr/>
        </p:nvSpPr>
        <p:spPr>
          <a:xfrm>
            <a:off x="4257675" y="50101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</a:t>
            </a:r>
          </a:p>
        </p:txBody>
      </p:sp>
      <p:sp>
        <p:nvSpPr>
          <p:cNvPr id="71600" name="turn-purpose">
            <a:extLst>
              <a:ext uri="{FF2B5EF4-FFF2-40B4-BE49-F238E27FC236}">
                <a16:creationId xmlns:a16="http://schemas.microsoft.com/office/drawing/2014/main" id="{4312D52D-C8F0-4FE1-B7B8-E47E3EEA6D9B}"/>
              </a:ext>
            </a:extLst>
          </p:cNvPr>
          <p:cNvSpPr>
            <a:spLocks noGrp="1"/>
          </p:cNvSpPr>
          <p:nvPr/>
        </p:nvSpPr>
        <p:spPr>
          <a:xfrm>
            <a:off x="5619750" y="4695825"/>
            <a:ext cx="23145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 media when the direct path fails</a:t>
            </a:r>
          </a:p>
        </p:txBody>
      </p:sp>
      <p:sp>
        <p:nvSpPr>
          <p:cNvPr id="71700" name="turn-in-path">
            <a:extLst>
              <a:ext uri="{FF2B5EF4-FFF2-40B4-BE49-F238E27FC236}">
                <a16:creationId xmlns:a16="http://schemas.microsoft.com/office/drawing/2014/main" id="{C999F9B9-88B3-49A7-85D3-1D3472016C5B}"/>
              </a:ext>
            </a:extLst>
          </p:cNvPr>
          <p:cNvSpPr>
            <a:spLocks noGrp="1"/>
          </p:cNvSpPr>
          <p:nvPr/>
        </p:nvSpPr>
        <p:spPr>
          <a:xfrm>
            <a:off x="5619750" y="5248275"/>
            <a:ext cx="2314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Traffic enters and leaves the relay</a:t>
            </a:r>
          </a:p>
        </p:txBody>
      </p:sp>
      <p:cxnSp>
        <p:nvCxnSpPr>
          <p:cNvPr id="71701" name="stun-request-response-left"/>
          <p:cNvCxnSpPr>
            <a:stCxn id="70000" idx="0"/>
            <a:endCxn id="70800" idx="1"/>
          </p:cNvCxnSpPr>
          <p:nvPr/>
        </p:nvCxnSpPr>
        <p:spPr>
          <a:xfrm flipV="1">
            <a:off x="19050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2" name="stun-request-response-right"/>
          <p:cNvCxnSpPr>
            <a:stCxn id="70400" idx="0"/>
            <a:endCxn id="70800" idx="3"/>
          </p:cNvCxnSpPr>
          <p:nvPr/>
        </p:nvCxnSpPr>
        <p:spPr>
          <a:xfrm flipH="1" flipV="1">
            <a:off x="81915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3" name="direct-media-path"/>
          <p:cNvCxnSpPr>
            <a:stCxn id="70000" idx="3"/>
            <a:endCxn id="70400" idx="1"/>
          </p:cNvCxnSpPr>
          <p:nvPr/>
        </p:nvCxnSpPr>
        <p:spPr>
          <a:xfrm>
            <a:off x="3143250" y="3609975"/>
            <a:ext cx="5905500" cy="0"/>
          </a:xfrm>
          <a:prstGeom prst="straightConnector1">
            <a:avLst/>
          </a:prstGeom>
          <a:ln w="38100">
            <a:solidFill>
              <a:srgbClr val="196B24"/>
            </a:solidFill>
            <a:prstDash val="solid"/>
            <a:tailEnd type="triangle" w="med" len="med"/>
          </a:ln>
        </p:spPr>
      </p:cxnSp>
      <p:sp>
        <p:nvSpPr>
          <p:cNvPr id="72100" name="direct-media-label">
            <a:extLst>
              <a:ext uri="{FF2B5EF4-FFF2-40B4-BE49-F238E27FC236}">
                <a16:creationId xmlns:a16="http://schemas.microsoft.com/office/drawing/2014/main" id="{552CCC5E-F45F-42C4-8D22-C9D7EE68A155}"/>
              </a:ext>
            </a:extLst>
          </p:cNvPr>
          <p:cNvSpPr>
            <a:spLocks noGrp="1"/>
          </p:cNvSpPr>
          <p:nvPr/>
        </p:nvSpPr>
        <p:spPr>
          <a:xfrm>
            <a:off x="4810125" y="3324225"/>
            <a:ext cx="2571750" cy="400050"/>
          </a:xfrm>
          <a:prstGeom prst="roundRect">
            <a:avLst>
              <a:gd name="adj" fmla="val 50000"/>
            </a:avLst>
          </a:prstGeom>
          <a:solidFill>
            <a:srgbClr val="EAF4EC"/>
          </a:solidFill>
          <a:ln w="14288">
            <a:solidFill>
              <a:srgbClr val="196B24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125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6B24"/>
                </a:solidFill>
                <a:latin typeface="Arial"/>
                <a:ea typeface="Arial"/>
                <a:cs typeface="Arial"/>
              </a:rPr>
              <a:t>DIRECT MEDIA WHEN REACHABLE</a:t>
            </a:r>
          </a:p>
        </p:txBody>
      </p:sp>
      <p:cxnSp>
        <p:nvCxnSpPr>
          <p:cNvPr id="72101" name="media-to-turn-relay"/>
          <p:cNvCxnSpPr>
            <a:stCxn id="70000" idx="2"/>
            <a:endCxn id="71300" idx="1"/>
          </p:cNvCxnSpPr>
          <p:nvPr/>
        </p:nvCxnSpPr>
        <p:spPr>
          <a:xfrm>
            <a:off x="19050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cxnSp>
        <p:nvCxnSpPr>
          <p:cNvPr id="72102" name="media-from-turn-relay"/>
          <p:cNvCxnSpPr>
            <a:stCxn id="71300" idx="3"/>
            <a:endCxn id="70400" idx="2"/>
          </p:cNvCxnSpPr>
          <p:nvPr/>
        </p:nvCxnSpPr>
        <p:spPr>
          <a:xfrm flipV="1">
            <a:off x="81915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sp>
        <p:nvSpPr>
          <p:cNvPr id="72400" name="turn-fallback-label">
            <a:extLst>
              <a:ext uri="{FF2B5EF4-FFF2-40B4-BE49-F238E27FC236}">
                <a16:creationId xmlns:a16="http://schemas.microsoft.com/office/drawing/2014/main" id="{3A65503E-FA66-4BED-BB0F-C2184A235AA0}"/>
              </a:ext>
            </a:extLst>
          </p:cNvPr>
          <p:cNvSpPr>
            <a:spLocks noGrp="1"/>
          </p:cNvSpPr>
          <p:nvPr/>
        </p:nvSpPr>
        <p:spPr>
          <a:xfrm>
            <a:off x="4714875" y="4114800"/>
            <a:ext cx="2762250" cy="276225"/>
          </a:xfrm>
          <a:prstGeom prst="roundRect">
            <a:avLst>
              <a:gd name="adj" fmla="val 48276"/>
            </a:avLst>
          </a:prstGeom>
          <a:solidFill>
            <a:srgbClr val="FFF0E8"/>
          </a:solidFill>
          <a:ln w="9525">
            <a:solidFill>
              <a:srgbClr val="E97132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0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7132"/>
                </a:solidFill>
                <a:latin typeface="Arial"/>
                <a:ea typeface="Arial"/>
                <a:cs typeface="Arial"/>
              </a:rPr>
              <a:t>FALLBACK MEDIA THROUGH TURN</a:t>
            </a:r>
          </a:p>
        </p:txBody>
      </p:sp>
      <p:sp>
        <p:nvSpPr>
          <p:cNvPr id="72500" name="stun-turn-takeaway">
            <a:extLst>
              <a:ext uri="{FF2B5EF4-FFF2-40B4-BE49-F238E27FC236}">
                <a16:creationId xmlns:a16="http://schemas.microsoft.com/office/drawing/2014/main" id="{3D7CB19F-F1FB-4E30-A802-8B1D22B6840F}"/>
              </a:ext>
            </a:extLst>
          </p:cNvPr>
          <p:cNvSpPr>
            <a:spLocks noGrp="1"/>
          </p:cNvSpPr>
          <p:nvPr/>
        </p:nvSpPr>
        <p:spPr>
          <a:xfrm>
            <a:off x="1257300" y="5953125"/>
            <a:ext cx="9677400" cy="409575"/>
          </a:xfrm>
          <a:prstGeom prst="roundRect">
            <a:avLst>
              <a:gd name="adj" fmla="val 418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171450" tIns="0" rIns="171450" bIns="0" anchor="ctr">
            <a:normAutofit/>
          </a:bodyPr>
          <a:lstStyle/>
          <a:p>
            <a:pPr algn="ctr">
              <a:defRPr sz="135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returns the public IP and port only.  </a:t>
            </a: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relays media when no direct path works.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noGrp="1"/>
          </p:cNvSpPr>
          <p:nvPr/>
        </p:nvSpPr>
        <p:spPr>
          <a:xfrm>
            <a:off x="4905375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noGrp="1"/>
          </p:cNvSpPr>
          <p:nvPr/>
        </p:nvSpPr>
        <p:spPr>
          <a:xfrm>
            <a:off x="202882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noGrp="1"/>
          </p:cNvSpPr>
          <p:nvPr/>
        </p:nvSpPr>
        <p:spPr>
          <a:xfrm>
            <a:off x="1016317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5715000" cy="400050"/>
          </a:xfrm>
          <a:prstGeom prst="rightArrow">
            <a:avLst/>
          </a:prstGeom>
          <a:solidFill>
            <a:srgbClr val="830051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Flecha: hacia la izquierda 11">
            <a:extLst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noGrp="1"/>
          </p:cNvSpPr>
          <p:nvPr/>
        </p:nvSpPr>
        <p:spPr>
          <a:xfrm>
            <a:off x="3238500" y="3429000"/>
            <a:ext cx="5715000" cy="400050"/>
          </a:xfrm>
          <a:prstGeom prst="leftArrow">
            <a:avLst/>
          </a:prstGeom>
          <a:solidFill>
            <a:srgbClr val="171417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noGrp="1"/>
          </p:cNvSpPr>
          <p:nvPr/>
        </p:nvSpPr>
        <p:spPr>
          <a:xfrm>
            <a:off x="1619250" y="4114800"/>
            <a:ext cx="8953500" cy="1866900"/>
          </a:xfrm>
          <a:prstGeom prst="roundRect">
            <a:avLst>
              <a:gd name="adj" fmla="val 1034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01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media + direction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noGrp="1"/>
          </p:cNvSpPr>
          <p:nvPr/>
        </p:nvSpPr>
        <p:spPr>
          <a:xfrm>
            <a:off x="1809750" y="4737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02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noGrp="1"/>
          </p:cNvSpPr>
          <p:nvPr/>
        </p:nvSpPr>
        <p:spPr>
          <a:xfrm>
            <a:off x="2209800" y="4737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codecs + RTP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noGrp="1"/>
          </p:cNvSpPr>
          <p:nvPr/>
        </p:nvSpPr>
        <p:spPr>
          <a:xfrm>
            <a:off x="1809750" y="5054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03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noGrp="1"/>
          </p:cNvSpPr>
          <p:nvPr/>
        </p:nvSpPr>
        <p:spPr>
          <a:xfrm>
            <a:off x="2209800" y="5054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ICE credentials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04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noGrp="1"/>
          </p:cNvSpPr>
          <p:nvPr/>
        </p:nvSpPr>
        <p:spPr>
          <a:xfrm>
            <a:off x="2209800" y="5372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DTLS fingerprint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noGrp="1"/>
          </p:cNvSpPr>
          <p:nvPr/>
        </p:nvSpPr>
        <p:spPr>
          <a:xfrm>
            <a:off x="1600200" y="6076950"/>
            <a:ext cx="8991600" cy="27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510034"/>
                </a:solidFill>
                <a:latin typeface="Arial" panose="020B0604020202020204" pitchFamily="34" charset="0"/>
                <a:ea typeface="Arial"/>
                <a:cs typeface="Arial"/>
              </a:rPr>
              <a:t>SignalR forwards this SDP text unchanged. WebRTC peers interpret it.</a:t>
            </a:r>
            <a:endParaRPr sz="1425" b="1">
              <a:solidFill>
                <a:srgbClr val="510034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4" name="SDP content key">
            <a:extLst>
              <a:ext uri="{FF2B5EF4-FFF2-40B4-BE49-F238E27FC236}">
                <a16:creationId xmlns:a16="http://schemas.microsoft.com/office/drawing/2014/main" id="{E8281AD2-C29D-6554-0386-8FC168F5740A}"/>
              </a:ext>
            </a:extLst>
          </p:cNvPr>
          <p:cNvSpPr txBox="1"/>
          <p:nvPr/>
        </p:nvSpPr>
        <p:spPr>
          <a:xfrm>
            <a:off x="1809750" y="4210050"/>
            <a:ext cx="225425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830051"/>
                </a:solidFill>
                <a:latin typeface="Arial" panose="020B0604020202020204" pitchFamily="34" charset="0"/>
              </a:rPr>
              <a:t>THE LINES DESCRIBE</a:t>
            </a:r>
          </a:p>
        </p:txBody>
      </p:sp>
      <p:sp>
        <p:nvSpPr>
          <p:cNvPr id="25" name="Illustrative SDP offer background">
            <a:extLst>
              <a:ext uri="{FF2B5EF4-FFF2-40B4-BE49-F238E27FC236}">
                <a16:creationId xmlns:a16="http://schemas.microsoft.com/office/drawing/2014/main" id="{8AE51041-7525-F63B-3808-6D739CACA0D1}"/>
              </a:ext>
            </a:extLst>
          </p:cNvPr>
          <p:cNvSpPr/>
          <p:nvPr/>
        </p:nvSpPr>
        <p:spPr>
          <a:xfrm>
            <a:off x="4210050" y="4229100"/>
            <a:ext cx="6191250" cy="1600200"/>
          </a:xfrm>
          <a:prstGeom prst="roundRect">
            <a:avLst/>
          </a:prstGeom>
          <a:solidFill>
            <a:srgbClr val="17141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Illustrative SDP offer heading">
            <a:extLst>
              <a:ext uri="{FF2B5EF4-FFF2-40B4-BE49-F238E27FC236}">
                <a16:creationId xmlns:a16="http://schemas.microsoft.com/office/drawing/2014/main" id="{A7F383E4-4138-8193-1F9E-ADEF518FEA2C}"/>
              </a:ext>
            </a:extLst>
          </p:cNvPr>
          <p:cNvSpPr txBox="1"/>
          <p:nvPr/>
        </p:nvSpPr>
        <p:spPr>
          <a:xfrm>
            <a:off x="4419600" y="4337050"/>
            <a:ext cx="576580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E8CDDE"/>
                </a:solidFill>
                <a:latin typeface="Arial" panose="020B0604020202020204" pitchFamily="34" charset="0"/>
              </a:rPr>
              <a:t>ILLUSTRATIVE SDP OFFER (ABBREVIATED)</a:t>
            </a:r>
          </a:p>
        </p:txBody>
      </p:sp>
      <p:sp>
        <p:nvSpPr>
          <p:cNvPr id="27" name="Illustrative SDP offer lines">
            <a:extLst>
              <a:ext uri="{FF2B5EF4-FFF2-40B4-BE49-F238E27FC236}">
                <a16:creationId xmlns:a16="http://schemas.microsoft.com/office/drawing/2014/main" id="{8AC11FA4-750C-F7EE-12A7-81A86CB8EE8E}"/>
              </a:ext>
            </a:extLst>
          </p:cNvPr>
          <p:cNvSpPr txBox="1"/>
          <p:nvPr/>
        </p:nvSpPr>
        <p:spPr>
          <a:xfrm>
            <a:off x="4419600" y="4533900"/>
            <a:ext cx="5765800" cy="11938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v=0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m=video 9 UDP/TLS/RTP/SAVPF 101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a=sendonly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a=rtpmap:101 H264/90000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a=fmtp:101 packetization-mode=1;profile-level-id=42e01f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a=ice-ufrag:TpaA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a=ice-pwd:t2Ouhc67y8JcCaYZxUUTgKw/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a=fingerprint:sha-256 A2:F3:A5:…:CE:4D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a=setup:actpass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noGrp="1"/>
          </p:cNvSpPr>
          <p:nvPr/>
        </p:nvSpPr>
        <p:spPr>
          <a:xfrm>
            <a:off x="14001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noGrp="1"/>
          </p:cNvSpPr>
          <p:nvPr/>
        </p:nvSpPr>
        <p:spPr>
          <a:xfrm>
            <a:off x="36480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noGrp="1"/>
          </p:cNvSpPr>
          <p:nvPr/>
        </p:nvSpPr>
        <p:spPr>
          <a:xfrm>
            <a:off x="29146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noGrp="1"/>
          </p:cNvSpPr>
          <p:nvPr/>
        </p:nvSpPr>
        <p:spPr>
          <a:xfrm>
            <a:off x="58959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noGrp="1"/>
          </p:cNvSpPr>
          <p:nvPr/>
        </p:nvSpPr>
        <p:spPr>
          <a:xfrm>
            <a:off x="51625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noGrp="1"/>
          </p:cNvSpPr>
          <p:nvPr/>
        </p:nvSpPr>
        <p:spPr>
          <a:xfrm>
            <a:off x="81438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noGrp="1"/>
          </p:cNvSpPr>
          <p:nvPr/>
        </p:nvSpPr>
        <p:spPr>
          <a:xfrm>
            <a:off x="103917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noGrp="1"/>
          </p:cNvSpPr>
          <p:nvPr/>
        </p:nvSpPr>
        <p:spPr>
          <a:xfrm>
            <a:off x="96583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Conector recto de flecha 42"/>
          <p:cNvCxnSpPr>
            <a:stCxn id="6" idx="3"/>
            <a:endCxn id="8" idx="1"/>
          </p:cNvCxnSpPr>
          <p:nvPr/>
        </p:nvCxnSpPr>
        <p:spPr>
          <a:xfrm>
            <a:off x="25717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Conector recto de flecha 43"/>
          <p:cNvCxnSpPr>
            <a:stCxn id="8" idx="3"/>
            <a:endCxn id="10" idx="1"/>
          </p:cNvCxnSpPr>
          <p:nvPr/>
        </p:nvCxnSpPr>
        <p:spPr>
          <a:xfrm>
            <a:off x="48196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Conector recto de flecha 44"/>
          <p:cNvCxnSpPr>
            <a:stCxn id="10" idx="3"/>
            <a:endCxn id="12" idx="1"/>
          </p:cNvCxnSpPr>
          <p:nvPr/>
        </p:nvCxnSpPr>
        <p:spPr>
          <a:xfrm>
            <a:off x="70675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2" idx="3"/>
            <a:endCxn id="14" idx="1"/>
          </p:cNvCxnSpPr>
          <p:nvPr/>
        </p:nvCxnSpPr>
        <p:spPr>
          <a:xfrm>
            <a:off x="93154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10858500" cy="1390650"/>
          </a:xfrm>
          <a:prstGeom prst="roundRect">
            <a:avLst>
              <a:gd name="adj" fmla="val 958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noGrp="1"/>
          </p:cNvSpPr>
          <p:nvPr/>
        </p:nvSpPr>
        <p:spPr>
          <a:xfrm>
            <a:off x="8953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noGrp="1"/>
          </p:cNvSpPr>
          <p:nvPr/>
        </p:nvSpPr>
        <p:spPr>
          <a:xfrm>
            <a:off x="35433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noGrp="1"/>
          </p:cNvSpPr>
          <p:nvPr/>
        </p:nvSpPr>
        <p:spPr>
          <a:xfrm>
            <a:off x="35433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noGrp="1"/>
          </p:cNvSpPr>
          <p:nvPr/>
        </p:nvSpPr>
        <p:spPr>
          <a:xfrm>
            <a:off x="61912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noGrp="1"/>
          </p:cNvSpPr>
          <p:nvPr/>
        </p:nvSpPr>
        <p:spPr>
          <a:xfrm>
            <a:off x="61912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noGrp="1"/>
          </p:cNvSpPr>
          <p:nvPr/>
        </p:nvSpPr>
        <p:spPr>
          <a:xfrm>
            <a:off x="88392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noGrp="1"/>
          </p:cNvSpPr>
          <p:nvPr/>
        </p:nvSpPr>
        <p:spPr>
          <a:xfrm>
            <a:off x="88392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noGrp="1"/>
          </p:cNvSpPr>
          <p:nvPr/>
        </p:nvSpPr>
        <p:spPr>
          <a:xfrm>
            <a:off x="1181100" y="5391150"/>
            <a:ext cx="98298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WebRTC Video Codec Comparison</a:t>
            </a:r>
            <a:endParaRPr sz="337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D556C90-7DF9-9C3C-1579-0E343B49309F}"/>
              </a:ext>
            </a:extLst>
          </p:cNvPr>
          <p:cNvSpPr txBox="1"/>
          <p:nvPr/>
        </p:nvSpPr>
        <p:spPr>
          <a:xfrm>
            <a:off x="533400" y="26035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 sz="1200" b="1">
                <a:solidFill>
                  <a:srgbClr val="830051"/>
                </a:solidFill>
                <a:latin typeface="Arial" panose="020B0604020202020204" pitchFamily="34" charset="0"/>
              </a:rPr>
              <a:t>THEORY</a:t>
            </a:r>
          </a:p>
        </p:txBody>
      </p:sp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267A9F2E-73F5-4E95-A3FB-9D42FAB2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329630"/>
              </p:ext>
            </p:extLst>
          </p:nvPr>
        </p:nvGraphicFramePr>
        <p:xfrm>
          <a:off x="685800" y="1574800"/>
          <a:ext cx="108204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1640533842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1976426819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4274584915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24320662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CODEC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WEBRTC SUPPORT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RELATIVE DATA USE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ENCODING AND DEPLOYMENT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325501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VP8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Mature software support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73352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H.264 CB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Broad hardware acceleration
Profile and licensing checks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120138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VP9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Negotiate fallback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Lower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Better compression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235113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AV1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Capability check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Lowest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Best efficiency
Demanding without hardware acceleration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67860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H.265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Fragmented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Efficient on supported hardware
Browser and licensing risk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063175"/>
                  </a:ext>
                </a:extLst>
              </a:tr>
            </a:tbl>
          </a:graphicData>
        </a:graphic>
      </p:graphicFrame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F6580D6F-7F06-EB56-DA6D-66C5FB3EEFEE}"/>
              </a:ext>
            </a:extLst>
          </p:cNvPr>
          <p:cNvSpPr/>
          <p:nvPr/>
        </p:nvSpPr>
        <p:spPr>
          <a:xfrm>
            <a:off x="685800" y="5283200"/>
            <a:ext cx="10820400" cy="749300"/>
          </a:xfrm>
          <a:prstGeom prst="roundRect">
            <a:avLst>
              <a:gd name="adj" fmla="val 12000"/>
            </a:avLst>
          </a:prstGeom>
          <a:solidFill>
            <a:srgbClr val="F5ED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CE90D78-3006-0692-5190-AAC7132F570C}"/>
              </a:ext>
            </a:extLst>
          </p:cNvPr>
          <p:cNvSpPr txBox="1"/>
          <p:nvPr/>
        </p:nvSpPr>
        <p:spPr>
          <a:xfrm>
            <a:off x="914400" y="5410200"/>
            <a:ext cx="2159000" cy="64633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150" b="1">
                <a:solidFill>
                  <a:srgbClr val="830051"/>
                </a:solidFill>
                <a:latin typeface="Arial" panose="020B0604020202020204" pitchFamily="34" charset="0"/>
              </a:rPr>
              <a:t>720p AT 30 FPS
LOW-LATENCY VIDEO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9BA6567-3EAC-7BDD-C6B2-2922EA69B02D}"/>
              </a:ext>
            </a:extLst>
          </p:cNvPr>
          <p:cNvSpPr txBox="1"/>
          <p:nvPr/>
        </p:nvSpPr>
        <p:spPr>
          <a:xfrm>
            <a:off x="3530600" y="53721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171417"/>
                </a:solidFill>
                <a:latin typeface="Arial" panose="020B0604020202020204" pitchFamily="34" charset="0"/>
              </a:rPr>
              <a:t>1.5 Mb/s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472BCD9-2F62-B000-2665-347A36C70015}"/>
              </a:ext>
            </a:extLst>
          </p:cNvPr>
          <p:cNvSpPr txBox="1"/>
          <p:nvPr/>
        </p:nvSpPr>
        <p:spPr>
          <a:xfrm>
            <a:off x="3530600" y="57023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video target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962533A-9EB5-6F6D-16EA-49E84881D93F}"/>
              </a:ext>
            </a:extLst>
          </p:cNvPr>
          <p:cNvSpPr txBox="1"/>
          <p:nvPr/>
        </p:nvSpPr>
        <p:spPr>
          <a:xfrm>
            <a:off x="6807200" y="53721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830051"/>
                </a:solidFill>
                <a:latin typeface="Arial" panose="020B0604020202020204" pitchFamily="34" charset="0"/>
              </a:rPr>
              <a:t>about 2 Mb/s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212F3CF-D12D-7E50-FE45-7D400008CB50}"/>
              </a:ext>
            </a:extLst>
          </p:cNvPr>
          <p:cNvSpPr txBox="1"/>
          <p:nvPr/>
        </p:nvSpPr>
        <p:spPr>
          <a:xfrm>
            <a:off x="6807200" y="57023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sustained uplink with headroom</a:t>
            </a:r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58B3A08E-12E9-3676-AA5F-730B319201B9}"/>
              </a:ext>
            </a:extLst>
          </p:cNvPr>
          <p:cNvCxnSpPr/>
          <p:nvPr/>
        </p:nvCxnSpPr>
        <p:spPr>
          <a:xfrm>
            <a:off x="32766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FA90D1A5-1B35-FCC8-A209-0E0EEA42376C}"/>
              </a:ext>
            </a:extLst>
          </p:cNvPr>
          <p:cNvCxnSpPr/>
          <p:nvPr/>
        </p:nvCxnSpPr>
        <p:spPr>
          <a:xfrm>
            <a:off x="65024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72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noGrp="1"/>
          </p:cNvSpPr>
          <p:nvPr/>
        </p:nvSpPr>
        <p:spPr>
          <a:xfrm>
            <a:off x="4667250" y="2095500"/>
            <a:ext cx="2857500" cy="1409700"/>
          </a:xfrm>
          <a:prstGeom prst="roundRect">
            <a:avLst>
              <a:gd name="adj" fmla="val 945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noGrp="1"/>
          </p:cNvSpPr>
          <p:nvPr/>
        </p:nvSpPr>
        <p:spPr>
          <a:xfrm>
            <a:off x="9286875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Conector recto de flecha 26"/>
          <p:cNvCxnSpPr>
            <a:stCxn id="5" idx="3"/>
            <a:endCxn id="6" idx="1"/>
          </p:cNvCxnSpPr>
          <p:nvPr/>
        </p:nvCxnSpPr>
        <p:spPr>
          <a:xfrm>
            <a:off x="2905125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7524750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noGrp="1"/>
          </p:cNvSpPr>
          <p:nvPr/>
        </p:nvSpPr>
        <p:spPr>
          <a:xfrm>
            <a:off x="314325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noGrp="1"/>
          </p:cNvSpPr>
          <p:nvPr/>
        </p:nvSpPr>
        <p:spPr>
          <a:xfrm>
            <a:off x="314325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noGrp="1"/>
          </p:cNvSpPr>
          <p:nvPr/>
        </p:nvSpPr>
        <p:spPr>
          <a:xfrm>
            <a:off x="777240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noGrp="1"/>
          </p:cNvSpPr>
          <p:nvPr/>
        </p:nvSpPr>
        <p:spPr>
          <a:xfrm>
            <a:off x="777240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noGrp="1"/>
          </p:cNvSpPr>
          <p:nvPr/>
        </p:nvSpPr>
        <p:spPr>
          <a:xfrm>
            <a:off x="289560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noGrp="1"/>
          </p:cNvSpPr>
          <p:nvPr/>
        </p:nvSpPr>
        <p:spPr>
          <a:xfrm>
            <a:off x="756285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10287000" cy="1162050"/>
          </a:xfrm>
          <a:prstGeom prst="roundRect">
            <a:avLst>
              <a:gd name="adj" fmla="val 1147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noGrp="1"/>
          </p:cNvSpPr>
          <p:nvPr/>
        </p:nvSpPr>
        <p:spPr>
          <a:xfrm>
            <a:off x="1238250" y="4400550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noGrp="1"/>
          </p:cNvSpPr>
          <p:nvPr/>
        </p:nvSpPr>
        <p:spPr>
          <a:xfrm>
            <a:off x="3829050" y="4400550"/>
            <a:ext cx="70866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noGrp="1"/>
          </p:cNvSpPr>
          <p:nvPr/>
        </p:nvSpPr>
        <p:spPr>
          <a:xfrm>
            <a:off x="1390650" y="5657850"/>
            <a:ext cx="9410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noGrp="1"/>
          </p:cNvSpPr>
          <p:nvPr/>
        </p:nvSpPr>
        <p:spPr>
          <a:xfrm>
            <a:off x="6286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noGrp="1"/>
          </p:cNvSpPr>
          <p:nvPr/>
        </p:nvSpPr>
        <p:spPr>
          <a:xfrm>
            <a:off x="4762500" y="16573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noGrp="1"/>
          </p:cNvSpPr>
          <p:nvPr/>
        </p:nvSpPr>
        <p:spPr>
          <a:xfrm>
            <a:off x="88963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cxnSp>
        <p:nvCxnSpPr>
          <p:cNvPr id="27" name="Conector recto de flecha 26"/>
          <p:cNvCxnSpPr>
            <a:stCxn id="5" idx="0"/>
            <a:endCxn id="6" idx="1"/>
          </p:cNvCxnSpPr>
          <p:nvPr/>
        </p:nvCxnSpPr>
        <p:spPr>
          <a:xfrm flipV="1">
            <a:off x="196215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0"/>
          </p:cNvCxnSpPr>
          <p:nvPr/>
        </p:nvCxnSpPr>
        <p:spPr>
          <a:xfrm>
            <a:off x="742950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Conector recto de flecha 28"/>
          <p:cNvCxnSpPr>
            <a:stCxn id="5" idx="3"/>
            <a:endCxn id="7" idx="1"/>
          </p:cNvCxnSpPr>
          <p:nvPr/>
        </p:nvCxnSpPr>
        <p:spPr>
          <a:xfrm>
            <a:off x="3295650" y="2962275"/>
            <a:ext cx="56007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5" idx="2"/>
            <a:endCxn id="8" idx="1"/>
          </p:cNvCxnSpPr>
          <p:nvPr/>
        </p:nvCxnSpPr>
        <p:spPr>
          <a:xfrm>
            <a:off x="196215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cxnSp>
        <p:nvCxnSpPr>
          <p:cNvPr id="31" name="Conector recto de flecha 30"/>
          <p:cNvCxnSpPr>
            <a:stCxn id="7" idx="2"/>
            <a:endCxn id="8" idx="3"/>
          </p:cNvCxnSpPr>
          <p:nvPr/>
        </p:nvCxnSpPr>
        <p:spPr>
          <a:xfrm flipH="1">
            <a:off x="742950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noGrp="1"/>
          </p:cNvSpPr>
          <p:nvPr/>
        </p:nvSpPr>
        <p:spPr>
          <a:xfrm>
            <a:off x="3638550" y="3162300"/>
            <a:ext cx="49149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934700" cy="381000"/>
          </a:xfrm>
          <a:prstGeom prst="roundRect">
            <a:avLst>
              <a:gd name="adj" fmla="val 20000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noGrp="1"/>
          </p:cNvSpPr>
          <p:nvPr/>
        </p:nvSpPr>
        <p:spPr>
          <a:xfrm>
            <a:off x="876300" y="5876925"/>
            <a:ext cx="1043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</a:t>
            </a:r>
            <a:r>
              <a:rPr lang="en-GB" sz="150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Let WebRTC handle the magic</a:t>
            </a:r>
            <a:endParaRPr sz="1500" b="1" dirty="0">
              <a:solidFill>
                <a:srgbClr val="510034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Problem: </a:t>
            </a:r>
            <a:r>
              <a:rPr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NAT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noGrp="1"/>
          </p:cNvSpPr>
          <p:nvPr/>
        </p:nvSpPr>
        <p:spPr>
          <a:xfrm>
            <a:off x="26479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noGrp="1"/>
          </p:cNvSpPr>
          <p:nvPr/>
        </p:nvSpPr>
        <p:spPr>
          <a:xfrm>
            <a:off x="4781550" y="2209800"/>
            <a:ext cx="2095500" cy="1200150"/>
          </a:xfrm>
          <a:prstGeom prst="roundRect">
            <a:avLst>
              <a:gd name="adj" fmla="val 1111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20002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noGrp="1"/>
          </p:cNvSpPr>
          <p:nvPr/>
        </p:nvSpPr>
        <p:spPr>
          <a:xfrm>
            <a:off x="952500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Conector recto de flecha 30"/>
          <p:cNvCxnSpPr>
            <a:stCxn id="5" idx="3"/>
            <a:endCxn id="6" idx="1"/>
          </p:cNvCxnSpPr>
          <p:nvPr/>
        </p:nvCxnSpPr>
        <p:spPr>
          <a:xfrm>
            <a:off x="23241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2" name="Conector recto de flecha 31"/>
          <p:cNvCxnSpPr>
            <a:stCxn id="6" idx="3"/>
            <a:endCxn id="7" idx="1"/>
          </p:cNvCxnSpPr>
          <p:nvPr/>
        </p:nvCxnSpPr>
        <p:spPr>
          <a:xfrm>
            <a:off x="44577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3" name="Conector recto de flecha 32"/>
          <p:cNvCxnSpPr>
            <a:stCxn id="7" idx="3"/>
            <a:endCxn id="8" idx="1"/>
          </p:cNvCxnSpPr>
          <p:nvPr/>
        </p:nvCxnSpPr>
        <p:spPr>
          <a:xfrm>
            <a:off x="68770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4" name="Conector recto de flecha 33"/>
          <p:cNvCxnSpPr>
            <a:stCxn id="8" idx="3"/>
            <a:endCxn id="9" idx="1"/>
          </p:cNvCxnSpPr>
          <p:nvPr/>
        </p:nvCxnSpPr>
        <p:spPr>
          <a:xfrm>
            <a:off x="92011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noGrp="1"/>
          </p:cNvSpPr>
          <p:nvPr/>
        </p:nvSpPr>
        <p:spPr>
          <a:xfrm>
            <a:off x="1181100" y="165735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152650" cy="0"/>
          </a:xfrm>
          <a:prstGeom prst="line">
            <a:avLst/>
          </a:prstGeom>
          <a:noFill/>
          <a:ln w="19050">
            <a:solidFill>
              <a:srgbClr val="83005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noGrp="1"/>
          </p:cNvSpPr>
          <p:nvPr/>
        </p:nvSpPr>
        <p:spPr>
          <a:xfrm>
            <a:off x="2305050" y="3924300"/>
            <a:ext cx="75819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106680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noGrp="1"/>
          </p:cNvSpPr>
          <p:nvPr/>
        </p:nvSpPr>
        <p:spPr>
          <a:xfrm>
            <a:off x="3867150" y="4895850"/>
            <a:ext cx="23431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noGrp="1"/>
          </p:cNvSpPr>
          <p:nvPr/>
        </p:nvSpPr>
        <p:spPr>
          <a:xfrm>
            <a:off x="6381750" y="4895850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noGrp="1"/>
          </p:cNvSpPr>
          <p:nvPr/>
        </p:nvSpPr>
        <p:spPr>
          <a:xfrm>
            <a:off x="8553450" y="4895850"/>
            <a:ext cx="2533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Solution:</a:t>
            </a:r>
            <a:r>
              <a:rPr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 TURN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noGrp="1"/>
          </p:cNvSpPr>
          <p:nvPr/>
        </p:nvSpPr>
        <p:spPr>
          <a:xfrm>
            <a:off x="70485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noGrp="1"/>
          </p:cNvSpPr>
          <p:nvPr/>
        </p:nvSpPr>
        <p:spPr>
          <a:xfrm>
            <a:off x="3162300" y="2152650"/>
            <a:ext cx="1943100" cy="0"/>
          </a:xfrm>
          <a:prstGeom prst="line">
            <a:avLst/>
          </a:prstGeom>
          <a:noFill/>
          <a:ln w="38100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noGrp="1"/>
          </p:cNvSpPr>
          <p:nvPr/>
        </p:nvSpPr>
        <p:spPr>
          <a:xfrm>
            <a:off x="525780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noGrp="1"/>
          </p:cNvSpPr>
          <p:nvPr/>
        </p:nvSpPr>
        <p:spPr>
          <a:xfrm>
            <a:off x="5257800" y="201930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noGrp="1"/>
          </p:cNvSpPr>
          <p:nvPr/>
        </p:nvSpPr>
        <p:spPr>
          <a:xfrm>
            <a:off x="5257800" y="24765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noGrp="1"/>
          </p:cNvSpPr>
          <p:nvPr/>
        </p:nvSpPr>
        <p:spPr>
          <a:xfrm>
            <a:off x="5162550" y="4800600"/>
            <a:ext cx="18669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Conector recto de flecha 34"/>
          <p:cNvCxnSpPr>
            <a:stCxn id="12" idx="3"/>
            <a:endCxn id="13" idx="1"/>
          </p:cNvCxnSpPr>
          <p:nvPr/>
        </p:nvCxnSpPr>
        <p:spPr>
          <a:xfrm>
            <a:off x="2667000" y="4191000"/>
            <a:ext cx="68580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noGrp="1"/>
          </p:cNvSpPr>
          <p:nvPr/>
        </p:nvSpPr>
        <p:spPr>
          <a:xfrm>
            <a:off x="3962400" y="3543300"/>
            <a:ext cx="426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Conector recto de flecha 36"/>
          <p:cNvCxnSpPr>
            <a:stCxn id="12" idx="2"/>
            <a:endCxn id="14" idx="1"/>
          </p:cNvCxnSpPr>
          <p:nvPr/>
        </p:nvCxnSpPr>
        <p:spPr>
          <a:xfrm>
            <a:off x="1857375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Conector recto de flecha 37"/>
          <p:cNvCxnSpPr>
            <a:stCxn id="14" idx="3"/>
            <a:endCxn id="13" idx="2"/>
          </p:cNvCxnSpPr>
          <p:nvPr/>
        </p:nvCxnSpPr>
        <p:spPr>
          <a:xfrm flipV="1">
            <a:off x="7029450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noGrp="1"/>
          </p:cNvSpPr>
          <p:nvPr/>
        </p:nvSpPr>
        <p:spPr>
          <a:xfrm>
            <a:off x="3695700" y="5810250"/>
            <a:ext cx="480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noGrp="1"/>
          </p:cNvSpPr>
          <p:nvPr/>
        </p:nvSpPr>
        <p:spPr>
          <a:xfrm>
            <a:off x="8020050" y="1790700"/>
            <a:ext cx="33337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Solution:</a:t>
            </a:r>
            <a:r>
              <a:rPr sz="3375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 IPv6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noGrp="1"/>
          </p:cNvSpPr>
          <p:nvPr/>
        </p:nvSpPr>
        <p:spPr>
          <a:xfrm>
            <a:off x="88392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noGrp="1"/>
          </p:cNvSpPr>
          <p:nvPr/>
        </p:nvSpPr>
        <p:spPr>
          <a:xfrm>
            <a:off x="962025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noGrp="1"/>
          </p:cNvSpPr>
          <p:nvPr/>
        </p:nvSpPr>
        <p:spPr>
          <a:xfrm>
            <a:off x="3676650" y="272415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noGrp="1"/>
          </p:cNvSpPr>
          <p:nvPr/>
        </p:nvSpPr>
        <p:spPr>
          <a:xfrm>
            <a:off x="6477000" y="2800350"/>
            <a:ext cx="2038350" cy="704850"/>
          </a:xfrm>
          <a:prstGeom prst="roundRect">
            <a:avLst>
              <a:gd name="adj" fmla="val 1891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Conector recto de flecha 38"/>
          <p:cNvCxnSpPr>
            <a:stCxn id="11" idx="0"/>
            <a:endCxn id="13" idx="1"/>
          </p:cNvCxnSpPr>
          <p:nvPr/>
        </p:nvCxnSpPr>
        <p:spPr>
          <a:xfrm flipV="1">
            <a:off x="1666875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Conector recto de flecha 39"/>
          <p:cNvCxnSpPr>
            <a:stCxn id="13" idx="3"/>
            <a:endCxn id="14" idx="1"/>
          </p:cNvCxnSpPr>
          <p:nvPr/>
        </p:nvCxnSpPr>
        <p:spPr>
          <a:xfrm>
            <a:off x="5772150" y="3152775"/>
            <a:ext cx="704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Conector recto de flecha 40"/>
          <p:cNvCxnSpPr>
            <a:stCxn id="14" idx="3"/>
            <a:endCxn id="12" idx="0"/>
          </p:cNvCxnSpPr>
          <p:nvPr/>
        </p:nvCxnSpPr>
        <p:spPr>
          <a:xfrm>
            <a:off x="8515350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noGrp="1"/>
          </p:cNvSpPr>
          <p:nvPr/>
        </p:nvSpPr>
        <p:spPr>
          <a:xfrm>
            <a:off x="5200650" y="241935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noGrp="1"/>
          </p:cNvSpPr>
          <p:nvPr/>
        </p:nvSpPr>
        <p:spPr>
          <a:xfrm>
            <a:off x="4000500" y="4552950"/>
            <a:ext cx="2095500" cy="742950"/>
          </a:xfrm>
          <a:prstGeom prst="roundRect">
            <a:avLst>
              <a:gd name="adj" fmla="val 1794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2000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Conector recto de flecha 44"/>
          <p:cNvCxnSpPr>
            <a:stCxn id="11" idx="2"/>
            <a:endCxn id="19" idx="1"/>
          </p:cNvCxnSpPr>
          <p:nvPr/>
        </p:nvCxnSpPr>
        <p:spPr>
          <a:xfrm>
            <a:off x="1666875" y="4076700"/>
            <a:ext cx="233362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9" idx="3"/>
            <a:endCxn id="20" idx="1"/>
          </p:cNvCxnSpPr>
          <p:nvPr/>
        </p:nvCxnSpPr>
        <p:spPr>
          <a:xfrm>
            <a:off x="6096000" y="4924425"/>
            <a:ext cx="7239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20" idx="3"/>
            <a:endCxn id="12" idx="2"/>
          </p:cNvCxnSpPr>
          <p:nvPr/>
        </p:nvCxnSpPr>
        <p:spPr>
          <a:xfrm flipV="1">
            <a:off x="8820150" y="4076700"/>
            <a:ext cx="170497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noGrp="1"/>
          </p:cNvSpPr>
          <p:nvPr/>
        </p:nvSpPr>
        <p:spPr>
          <a:xfrm>
            <a:off x="2457450" y="5562600"/>
            <a:ext cx="7277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noGrp="1"/>
          </p:cNvSpPr>
          <p:nvPr/>
        </p:nvSpPr>
        <p:spPr>
          <a:xfrm>
            <a:off x="74295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noGrp="1"/>
          </p:cNvSpPr>
          <p:nvPr/>
        </p:nvSpPr>
        <p:spPr>
          <a:xfrm>
            <a:off x="819150" y="2228850"/>
            <a:ext cx="3810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noGrp="1"/>
          </p:cNvSpPr>
          <p:nvPr/>
        </p:nvSpPr>
        <p:spPr>
          <a:xfrm>
            <a:off x="4953000" y="1638300"/>
            <a:ext cx="0" cy="39624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noGrp="1"/>
          </p:cNvSpPr>
          <p:nvPr/>
        </p:nvSpPr>
        <p:spPr>
          <a:xfrm>
            <a:off x="548640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noGrp="1"/>
          </p:cNvSpPr>
          <p:nvPr/>
        </p:nvSpPr>
        <p:spPr>
          <a:xfrm>
            <a:off x="5524500" y="23812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noGrp="1"/>
          </p:cNvSpPr>
          <p:nvPr/>
        </p:nvSpPr>
        <p:spPr>
          <a:xfrm>
            <a:off x="8724900" y="22860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Conector recto de flecha 29"/>
          <p:cNvCxnSpPr>
            <a:stCxn id="9" idx="3"/>
            <a:endCxn id="10" idx="1"/>
          </p:cNvCxnSpPr>
          <p:nvPr/>
        </p:nvCxnSpPr>
        <p:spPr>
          <a:xfrm>
            <a:off x="8191500" y="2790825"/>
            <a:ext cx="5334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noGrp="1"/>
          </p:cNvSpPr>
          <p:nvPr/>
        </p:nvSpPr>
        <p:spPr>
          <a:xfrm>
            <a:off x="5524500" y="43624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noGrp="1"/>
          </p:cNvSpPr>
          <p:nvPr/>
        </p:nvSpPr>
        <p:spPr>
          <a:xfrm>
            <a:off x="8724900" y="42672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Conector recto de flecha 33"/>
          <p:cNvCxnSpPr>
            <a:stCxn id="13" idx="3"/>
            <a:endCxn id="14" idx="1"/>
          </p:cNvCxnSpPr>
          <p:nvPr/>
        </p:nvCxnSpPr>
        <p:spPr>
          <a:xfrm>
            <a:off x="8191500" y="4772025"/>
            <a:ext cx="5334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noGrp="1"/>
          </p:cNvSpPr>
          <p:nvPr/>
        </p:nvSpPr>
        <p:spPr>
          <a:xfrm>
            <a:off x="6858000" y="541020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3810000" cy="1123950"/>
          </a:xfrm>
          <a:prstGeom prst="roundRect">
            <a:avLst>
              <a:gd name="adj" fmla="val 1016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3200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Tabla 10"/>
          <p:cNvGraphicFramePr/>
          <p:nvPr/>
        </p:nvGraphicFramePr>
        <p:xfrm>
          <a:off x="571500" y="1562100"/>
          <a:ext cx="11049000" cy="409575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noGrp="1"/>
          </p:cNvSpPr>
          <p:nvPr/>
        </p:nvSpPr>
        <p:spPr>
          <a:xfrm>
            <a:off x="1181100" y="5905500"/>
            <a:ext cx="9829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0673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noGrp="1"/>
          </p:cNvSpPr>
          <p:nvPr/>
        </p:nvSpPr>
        <p:spPr>
          <a:xfrm>
            <a:off x="6629400" y="152400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noGrp="1"/>
          </p:cNvSpPr>
          <p:nvPr/>
        </p:nvSpPr>
        <p:spPr>
          <a:xfrm>
            <a:off x="5334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14859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noGrp="1"/>
          </p:cNvSpPr>
          <p:nvPr/>
        </p:nvSpPr>
        <p:spPr>
          <a:xfrm>
            <a:off x="2457450" y="2133600"/>
            <a:ext cx="12382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4097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noGrp="1"/>
          </p:cNvSpPr>
          <p:nvPr/>
        </p:nvSpPr>
        <p:spPr>
          <a:xfrm>
            <a:off x="1771650" y="3600450"/>
            <a:ext cx="171450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noGrp="1"/>
          </p:cNvSpPr>
          <p:nvPr/>
        </p:nvSpPr>
        <p:spPr>
          <a:xfrm>
            <a:off x="3848100" y="3600450"/>
            <a:ext cx="16954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noGrp="1"/>
          </p:cNvSpPr>
          <p:nvPr/>
        </p:nvSpPr>
        <p:spPr>
          <a:xfrm>
            <a:off x="6553200" y="2133600"/>
            <a:ext cx="180975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noGrp="1"/>
          </p:cNvSpPr>
          <p:nvPr/>
        </p:nvSpPr>
        <p:spPr>
          <a:xfrm>
            <a:off x="8591550" y="2133600"/>
            <a:ext cx="133350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noGrp="1"/>
          </p:cNvSpPr>
          <p:nvPr/>
        </p:nvSpPr>
        <p:spPr>
          <a:xfrm>
            <a:off x="10153650" y="2133600"/>
            <a:ext cx="1295400" cy="723900"/>
          </a:xfrm>
          <a:prstGeom prst="roundRect">
            <a:avLst>
              <a:gd name="adj" fmla="val 1842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noGrp="1"/>
          </p:cNvSpPr>
          <p:nvPr/>
        </p:nvSpPr>
        <p:spPr>
          <a:xfrm>
            <a:off x="8248650" y="37719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171417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Conector recto de flecha 45"/>
          <p:cNvCxnSpPr>
            <a:stCxn id="9" idx="3"/>
            <a:endCxn id="10" idx="1"/>
          </p:cNvCxnSpPr>
          <p:nvPr/>
        </p:nvCxnSpPr>
        <p:spPr>
          <a:xfrm>
            <a:off x="22288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10" idx="3"/>
            <a:endCxn id="11" idx="1"/>
          </p:cNvCxnSpPr>
          <p:nvPr/>
        </p:nvCxnSpPr>
        <p:spPr>
          <a:xfrm>
            <a:off x="369570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: angular 47"/>
          <p:cNvCxnSpPr>
            <a:stCxn id="11" idx="2"/>
            <a:endCxn id="12" idx="0"/>
          </p:cNvCxnSpPr>
          <p:nvPr/>
        </p:nvCxnSpPr>
        <p:spPr>
          <a:xfrm flipH="1">
            <a:off x="2628900" y="2857500"/>
            <a:ext cx="2000250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Conector recto de flecha 48"/>
          <p:cNvCxnSpPr>
            <a:stCxn id="12" idx="3"/>
            <a:endCxn id="13" idx="1"/>
          </p:cNvCxnSpPr>
          <p:nvPr/>
        </p:nvCxnSpPr>
        <p:spPr>
          <a:xfrm>
            <a:off x="3486150" y="400050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Conector: angular 49"/>
          <p:cNvCxnSpPr>
            <a:stCxn id="13" idx="3"/>
            <a:endCxn id="14" idx="1"/>
          </p:cNvCxnSpPr>
          <p:nvPr/>
        </p:nvCxnSpPr>
        <p:spPr>
          <a:xfrm flipV="1">
            <a:off x="5543550" y="2495550"/>
            <a:ext cx="1009650" cy="1504950"/>
          </a:xfrm>
          <a:prstGeom prst="bentConnector3">
            <a:avLst>
              <a:gd name="adj1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Conector recto de flecha 50"/>
          <p:cNvCxnSpPr>
            <a:stCxn id="14" idx="3"/>
            <a:endCxn id="15" idx="1"/>
          </p:cNvCxnSpPr>
          <p:nvPr/>
        </p:nvCxnSpPr>
        <p:spPr>
          <a:xfrm>
            <a:off x="83629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Conector recto de flecha 51"/>
          <p:cNvCxnSpPr>
            <a:stCxn id="15" idx="3"/>
            <a:endCxn id="16" idx="1"/>
          </p:cNvCxnSpPr>
          <p:nvPr/>
        </p:nvCxnSpPr>
        <p:spPr>
          <a:xfrm>
            <a:off x="9925050" y="2495550"/>
            <a:ext cx="2286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Conector: angular 52"/>
          <p:cNvCxnSpPr>
            <a:stCxn id="16" idx="2"/>
            <a:endCxn id="17" idx="0"/>
          </p:cNvCxnSpPr>
          <p:nvPr/>
        </p:nvCxnSpPr>
        <p:spPr>
          <a:xfrm flipH="1">
            <a:off x="9058275" y="2857500"/>
            <a:ext cx="1743075" cy="914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10096500" cy="495300"/>
          </a:xfrm>
          <a:prstGeom prst="roundRect">
            <a:avLst>
              <a:gd name="adj" fmla="val 1538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noGrp="1"/>
          </p:cNvSpPr>
          <p:nvPr/>
        </p:nvSpPr>
        <p:spPr>
          <a:xfrm>
            <a:off x="1257300" y="5838825"/>
            <a:ext cx="96774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noGrp="1"/>
          </p:cNvSpPr>
          <p:nvPr/>
        </p:nvSpPr>
        <p:spPr>
          <a:xfrm>
            <a:off x="7696200" y="1600200"/>
            <a:ext cx="3752850" cy="320040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15250" y="1790652"/>
            <a:ext cx="3714750" cy="2819495"/>
          </a:xfrm>
          <a:prstGeom prst="roundRect">
            <a:avLst>
              <a:gd name="adj" fmla="val 2410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noGrp="1"/>
          </p:cNvSpPr>
          <p:nvPr/>
        </p:nvSpPr>
        <p:spPr>
          <a:xfrm>
            <a:off x="1390650" y="2038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noGrp="1"/>
          </p:cNvSpPr>
          <p:nvPr/>
        </p:nvSpPr>
        <p:spPr>
          <a:xfrm>
            <a:off x="1390650" y="24098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noGrp="1"/>
          </p:cNvSpPr>
          <p:nvPr/>
        </p:nvSpPr>
        <p:spPr>
          <a:xfrm>
            <a:off x="1390650" y="30099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noGrp="1"/>
          </p:cNvSpPr>
          <p:nvPr/>
        </p:nvSpPr>
        <p:spPr>
          <a:xfrm>
            <a:off x="1390650" y="33813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noGrp="1"/>
          </p:cNvSpPr>
          <p:nvPr/>
        </p:nvSpPr>
        <p:spPr>
          <a:xfrm>
            <a:off x="1390650" y="39814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noGrp="1"/>
          </p:cNvSpPr>
          <p:nvPr/>
        </p:nvSpPr>
        <p:spPr>
          <a:xfrm>
            <a:off x="1390650" y="43529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07442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noGrp="1"/>
          </p:cNvSpPr>
          <p:nvPr/>
        </p:nvSpPr>
        <p:spPr>
          <a:xfrm>
            <a:off x="933450" y="5257800"/>
            <a:ext cx="2438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noGrp="1"/>
          </p:cNvSpPr>
          <p:nvPr/>
        </p:nvSpPr>
        <p:spPr>
          <a:xfrm>
            <a:off x="3429000" y="5200650"/>
            <a:ext cx="7524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noGrp="1"/>
          </p:cNvSpPr>
          <p:nvPr/>
        </p:nvSpPr>
        <p:spPr>
          <a:xfrm>
            <a:off x="3276600" y="5657850"/>
            <a:ext cx="77914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432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noGrp="1"/>
          </p:cNvSpPr>
          <p:nvPr/>
        </p:nvSpPr>
        <p:spPr>
          <a:xfrm>
            <a:off x="723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noGrp="1"/>
          </p:cNvSpPr>
          <p:nvPr/>
        </p:nvSpPr>
        <p:spPr>
          <a:xfrm>
            <a:off x="3390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286000" cy="952500"/>
          </a:xfrm>
          <a:prstGeom prst="roundRect">
            <a:avLst>
              <a:gd name="adj" fmla="val 14000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819400" y="2647950"/>
            <a:ext cx="5715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5486400" y="2647950"/>
            <a:ext cx="5715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noGrp="1"/>
          </p:cNvSpPr>
          <p:nvPr/>
        </p:nvSpPr>
        <p:spPr>
          <a:xfrm>
            <a:off x="8839200" y="1676400"/>
            <a:ext cx="241935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n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1732657"/>
            <a:ext cx="2381250" cy="2306836"/>
          </a:xfrm>
          <a:prstGeom prst="roundRect">
            <a:avLst>
              <a:gd name="adj" fmla="val 3200"/>
            </a:avLst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0764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553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noGrp="1"/>
          </p:cNvSpPr>
          <p:nvPr/>
        </p:nvSpPr>
        <p:spPr>
          <a:xfrm>
            <a:off x="933450" y="4914900"/>
            <a:ext cx="2724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noGrp="1"/>
          </p:cNvSpPr>
          <p:nvPr/>
        </p:nvSpPr>
        <p:spPr>
          <a:xfrm>
            <a:off x="3790950" y="485775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noGrp="1"/>
          </p:cNvSpPr>
          <p:nvPr/>
        </p:nvSpPr>
        <p:spPr>
          <a:xfrm>
            <a:off x="5943600" y="4857750"/>
            <a:ext cx="24574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noGrp="1"/>
          </p:cNvSpPr>
          <p:nvPr/>
        </p:nvSpPr>
        <p:spPr>
          <a:xfrm>
            <a:off x="8572500" y="4857750"/>
            <a:ext cx="238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noGrp="1"/>
          </p:cNvSpPr>
          <p:nvPr/>
        </p:nvSpPr>
        <p:spPr>
          <a:xfrm>
            <a:off x="3162300" y="554355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noGrp="1"/>
          </p:cNvSpPr>
          <p:nvPr/>
        </p:nvSpPr>
        <p:spPr>
          <a:xfrm>
            <a:off x="4324350" y="1543050"/>
            <a:ext cx="712470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45224" y="1562100"/>
            <a:ext cx="7082952" cy="4438650"/>
          </a:xfrm>
          <a:prstGeom prst="roundRect">
            <a:avLst>
              <a:gd name="adj" fmla="val 1717"/>
            </a:avLst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noGrp="1"/>
          </p:cNvSpPr>
          <p:nvPr/>
        </p:nvSpPr>
        <p:spPr>
          <a:xfrm>
            <a:off x="5314950" y="5762625"/>
            <a:ext cx="5181600" cy="209550"/>
          </a:xfrm>
          <a:prstGeom prst="roundRect">
            <a:avLst>
              <a:gd name="adj" fmla="val 27273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47625" tIns="28575" rIns="47625" bIns="2857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noGrp="1"/>
          </p:cNvSpPr>
          <p:nvPr/>
        </p:nvSpPr>
        <p:spPr>
          <a:xfrm>
            <a:off x="1276350" y="6153150"/>
            <a:ext cx="9639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8006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0" y="1750125"/>
            <a:ext cx="4762500" cy="2405249"/>
          </a:xfrm>
          <a:prstGeom prst="roundRect">
            <a:avLst>
              <a:gd name="adj" fmla="val 2857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334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noGrp="1"/>
          </p:cNvSpPr>
          <p:nvPr/>
        </p:nvSpPr>
        <p:spPr>
          <a:xfrm>
            <a:off x="34099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noGrp="1"/>
          </p:cNvSpPr>
          <p:nvPr/>
        </p:nvSpPr>
        <p:spPr>
          <a:xfrm>
            <a:off x="34099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noGrp="1"/>
          </p:cNvSpPr>
          <p:nvPr/>
        </p:nvSpPr>
        <p:spPr>
          <a:xfrm>
            <a:off x="60960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noGrp="1"/>
          </p:cNvSpPr>
          <p:nvPr/>
        </p:nvSpPr>
        <p:spPr>
          <a:xfrm>
            <a:off x="87820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noGrp="1"/>
          </p:cNvSpPr>
          <p:nvPr/>
        </p:nvSpPr>
        <p:spPr>
          <a:xfrm>
            <a:off x="87820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668000" cy="51435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noGrp="1"/>
          </p:cNvSpPr>
          <p:nvPr/>
        </p:nvSpPr>
        <p:spPr>
          <a:xfrm>
            <a:off x="971550" y="5781675"/>
            <a:ext cx="1017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noGrp="1"/>
          </p:cNvSpPr>
          <p:nvPr/>
        </p:nvSpPr>
        <p:spPr>
          <a:xfrm>
            <a:off x="45910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286000" y="2571750"/>
            <a:ext cx="3619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229100" y="257175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noGrp="1"/>
          </p:cNvSpPr>
          <p:nvPr/>
        </p:nvSpPr>
        <p:spPr>
          <a:xfrm>
            <a:off x="36385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Conector recto de flecha 32"/>
          <p:cNvCxnSpPr>
            <a:stCxn id="12" idx="3"/>
            <a:endCxn id="13" idx="1"/>
          </p:cNvCxnSpPr>
          <p:nvPr/>
        </p:nvCxnSpPr>
        <p:spPr>
          <a:xfrm>
            <a:off x="2990850" y="4629150"/>
            <a:ext cx="6477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2133600" cy="23622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7721" y="1752600"/>
            <a:ext cx="2089558" cy="2324100"/>
          </a:xfrm>
          <a:prstGeom prst="roundRect">
            <a:avLst>
              <a:gd name="adj" fmla="val 3636"/>
            </a:avLst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noGrp="1"/>
          </p:cNvSpPr>
          <p:nvPr/>
        </p:nvSpPr>
        <p:spPr>
          <a:xfrm>
            <a:off x="6858000" y="4343400"/>
            <a:ext cx="4191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noGrp="1"/>
          </p:cNvSpPr>
          <p:nvPr/>
        </p:nvSpPr>
        <p:spPr>
          <a:xfrm>
            <a:off x="6762750" y="5124450"/>
            <a:ext cx="447675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noGrp="1"/>
          </p:cNvSpPr>
          <p:nvPr/>
        </p:nvSpPr>
        <p:spPr>
          <a:xfrm>
            <a:off x="7010400" y="5295900"/>
            <a:ext cx="39814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3048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Tabla 17"/>
          <p:cNvGraphicFramePr/>
          <p:nvPr/>
        </p:nvGraphicFramePr>
        <p:xfrm>
          <a:off x="609600" y="1885950"/>
          <a:ext cx="10972800" cy="2857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noGrp="1"/>
          </p:cNvSpPr>
          <p:nvPr/>
        </p:nvSpPr>
        <p:spPr>
          <a:xfrm>
            <a:off x="628650" y="51054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noGrp="1"/>
          </p:cNvSpPr>
          <p:nvPr/>
        </p:nvSpPr>
        <p:spPr>
          <a:xfrm>
            <a:off x="6286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noGrp="1"/>
          </p:cNvSpPr>
          <p:nvPr/>
        </p:nvSpPr>
        <p:spPr>
          <a:xfrm>
            <a:off x="27622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5EDF2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noGrp="1"/>
          </p:cNvSpPr>
          <p:nvPr/>
        </p:nvSpPr>
        <p:spPr>
          <a:xfrm>
            <a:off x="48958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noGrp="1"/>
          </p:cNvSpPr>
          <p:nvPr/>
        </p:nvSpPr>
        <p:spPr>
          <a:xfrm>
            <a:off x="70294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noGrp="1"/>
          </p:cNvSpPr>
          <p:nvPr/>
        </p:nvSpPr>
        <p:spPr>
          <a:xfrm>
            <a:off x="91630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15240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noGrp="1"/>
          </p:cNvSpPr>
          <p:nvPr/>
        </p:nvSpPr>
        <p:spPr>
          <a:xfrm>
            <a:off x="27813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noGrp="1"/>
          </p:cNvSpPr>
          <p:nvPr/>
        </p:nvSpPr>
        <p:spPr>
          <a:xfrm>
            <a:off x="53721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noGrp="1"/>
          </p:cNvSpPr>
          <p:nvPr/>
        </p:nvSpPr>
        <p:spPr>
          <a:xfrm>
            <a:off x="7962900" y="2305050"/>
            <a:ext cx="16764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24000" cy="609600"/>
          </a:xfrm>
          <a:prstGeom prst="roundRect">
            <a:avLst>
              <a:gd name="adj" fmla="val 21875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Conector recto de flecha 30"/>
          <p:cNvCxnSpPr>
            <a:stCxn id="6" idx="3"/>
            <a:endCxn id="7" idx="1"/>
          </p:cNvCxnSpPr>
          <p:nvPr/>
        </p:nvCxnSpPr>
        <p:spPr>
          <a:xfrm>
            <a:off x="2286000" y="2695575"/>
            <a:ext cx="4953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Conector recto de flecha 31"/>
          <p:cNvCxnSpPr>
            <a:stCxn id="7" idx="3"/>
            <a:endCxn id="8" idx="1"/>
          </p:cNvCxnSpPr>
          <p:nvPr/>
        </p:nvCxnSpPr>
        <p:spPr>
          <a:xfrm>
            <a:off x="48768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Conector recto de flecha 32"/>
          <p:cNvCxnSpPr>
            <a:stCxn id="8" idx="3"/>
            <a:endCxn id="9" idx="1"/>
          </p:cNvCxnSpPr>
          <p:nvPr/>
        </p:nvCxnSpPr>
        <p:spPr>
          <a:xfrm>
            <a:off x="74676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Conector recto de flecha 33"/>
          <p:cNvCxnSpPr>
            <a:stCxn id="6" idx="2"/>
            <a:endCxn id="10" idx="0"/>
          </p:cNvCxnSpPr>
          <p:nvPr/>
        </p:nvCxnSpPr>
        <p:spPr>
          <a:xfrm>
            <a:off x="1524000" y="3086100"/>
            <a:ext cx="0" cy="2476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noGrp="1"/>
          </p:cNvSpPr>
          <p:nvPr/>
        </p:nvSpPr>
        <p:spPr>
          <a:xfrm>
            <a:off x="2724150" y="3448050"/>
            <a:ext cx="84010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10972800" cy="1581150"/>
          </a:xfrm>
          <a:prstGeom prst="roundRect">
            <a:avLst>
              <a:gd name="adj" fmla="val 843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281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noGrp="1"/>
          </p:cNvSpPr>
          <p:nvPr/>
        </p:nvSpPr>
        <p:spPr>
          <a:xfrm>
            <a:off x="4343400" y="4629150"/>
            <a:ext cx="69151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noGrp="1"/>
          </p:cNvSpPr>
          <p:nvPr/>
        </p:nvSpPr>
        <p:spPr>
          <a:xfrm>
            <a:off x="4343400" y="5467350"/>
            <a:ext cx="6915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67640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noGrp="1"/>
          </p:cNvSpPr>
          <p:nvPr/>
        </p:nvSpPr>
        <p:spPr>
          <a:xfrm>
            <a:off x="2914650" y="2305050"/>
            <a:ext cx="200025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noGrp="1"/>
          </p:cNvSpPr>
          <p:nvPr/>
        </p:nvSpPr>
        <p:spPr>
          <a:xfrm>
            <a:off x="5391150" y="2209800"/>
            <a:ext cx="2286000" cy="1238250"/>
          </a:xfrm>
          <a:prstGeom prst="roundRect">
            <a:avLst>
              <a:gd name="adj" fmla="val 1076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noGrp="1"/>
          </p:cNvSpPr>
          <p:nvPr/>
        </p:nvSpPr>
        <p:spPr>
          <a:xfrm>
            <a:off x="8153400" y="2305050"/>
            <a:ext cx="247650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438400" y="2828925"/>
            <a:ext cx="4762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91490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8" idx="3"/>
            <a:endCxn id="9" idx="1"/>
          </p:cNvCxnSpPr>
          <p:nvPr/>
        </p:nvCxnSpPr>
        <p:spPr>
          <a:xfrm>
            <a:off x="767715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0858500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noGrp="1"/>
          </p:cNvSpPr>
          <p:nvPr/>
        </p:nvSpPr>
        <p:spPr>
          <a:xfrm>
            <a:off x="895350" y="451485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noGrp="1"/>
          </p:cNvSpPr>
          <p:nvPr/>
        </p:nvSpPr>
        <p:spPr>
          <a:xfrm>
            <a:off x="44767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noGrp="1"/>
          </p:cNvSpPr>
          <p:nvPr/>
        </p:nvSpPr>
        <p:spPr>
          <a:xfrm>
            <a:off x="4476750" y="4514850"/>
            <a:ext cx="6191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noGrp="1"/>
          </p:cNvSpPr>
          <p:nvPr/>
        </p:nvSpPr>
        <p:spPr>
          <a:xfrm>
            <a:off x="1466850" y="5886450"/>
            <a:ext cx="925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00000">
              <a:alpha val="6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noGrp="1"/>
          </p:cNvSpPr>
          <p:nvPr/>
        </p:nvSpPr>
        <p:spPr>
          <a:xfrm>
            <a:off x="9010650" y="5219700"/>
            <a:ext cx="26289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noGrp="1"/>
          </p:cNvSpPr>
          <p:nvPr/>
        </p:nvSpPr>
        <p:spPr>
          <a:xfrm>
            <a:off x="9525000" y="6496050"/>
            <a:ext cx="21145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00000">
              <a:alpha val="58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8572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noGrp="1"/>
          </p:cNvSpPr>
          <p:nvPr/>
        </p:nvSpPr>
        <p:spPr>
          <a:xfrm>
            <a:off x="5524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noGrp="1"/>
          </p:cNvSpPr>
          <p:nvPr/>
        </p:nvSpPr>
        <p:spPr>
          <a:xfrm>
            <a:off x="445770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noGrp="1"/>
          </p:cNvSpPr>
          <p:nvPr/>
        </p:nvSpPr>
        <p:spPr>
          <a:xfrm>
            <a:off x="83629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noGrp="1"/>
          </p:cNvSpPr>
          <p:nvPr/>
        </p:nvSpPr>
        <p:spPr>
          <a:xfrm>
            <a:off x="83629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noGrp="1"/>
          </p:cNvSpPr>
          <p:nvPr/>
        </p:nvSpPr>
        <p:spPr>
          <a:xfrm>
            <a:off x="3695700" y="6419850"/>
            <a:ext cx="7943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6705600" cy="3581400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rcRect l="51" r="51"/>
          <a:stretch>
            <a:fillRect/>
          </a:stretch>
        </p:blipFill>
        <p:spPr>
          <a:xfrm>
            <a:off x="590550" y="1657350"/>
            <a:ext cx="6667500" cy="3543300"/>
          </a:xfrm>
          <a:prstGeom prst="roundRect">
            <a:avLst>
              <a:gd name="adj" fmla="val 2151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noGrp="1"/>
          </p:cNvSpPr>
          <p:nvPr/>
        </p:nvSpPr>
        <p:spPr>
          <a:xfrm>
            <a:off x="7753350" y="165735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noGrp="1"/>
          </p:cNvSpPr>
          <p:nvPr/>
        </p:nvSpPr>
        <p:spPr>
          <a:xfrm>
            <a:off x="7753350" y="20764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noGrp="1"/>
          </p:cNvSpPr>
          <p:nvPr/>
        </p:nvSpPr>
        <p:spPr>
          <a:xfrm>
            <a:off x="7753350" y="2457450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3238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noGrp="1"/>
          </p:cNvSpPr>
          <p:nvPr/>
        </p:nvSpPr>
        <p:spPr>
          <a:xfrm>
            <a:off x="7753350" y="33337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noGrp="1"/>
          </p:cNvSpPr>
          <p:nvPr/>
        </p:nvSpPr>
        <p:spPr>
          <a:xfrm>
            <a:off x="7753350" y="3714750"/>
            <a:ext cx="3238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noGrp="1"/>
          </p:cNvSpPr>
          <p:nvPr/>
        </p:nvSpPr>
        <p:spPr>
          <a:xfrm>
            <a:off x="590550" y="5543550"/>
            <a:ext cx="10744200" cy="590550"/>
          </a:xfrm>
          <a:prstGeom prst="roundRect">
            <a:avLst>
              <a:gd name="adj" fmla="val 1612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noGrp="1"/>
          </p:cNvSpPr>
          <p:nvPr/>
        </p:nvSpPr>
        <p:spPr>
          <a:xfrm>
            <a:off x="819150" y="56959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noGrp="1"/>
          </p:cNvSpPr>
          <p:nvPr/>
        </p:nvSpPr>
        <p:spPr>
          <a:xfrm>
            <a:off x="1562100" y="5219700"/>
            <a:ext cx="47244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noGrp="1"/>
          </p:cNvSpPr>
          <p:nvPr/>
        </p:nvSpPr>
        <p:spPr>
          <a:xfrm>
            <a:off x="445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noGrp="1"/>
          </p:cNvSpPr>
          <p:nvPr/>
        </p:nvSpPr>
        <p:spPr>
          <a:xfrm>
            <a:off x="516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noGrp="1"/>
          </p:cNvSpPr>
          <p:nvPr/>
        </p:nvSpPr>
        <p:spPr>
          <a:xfrm>
            <a:off x="826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noGrp="1"/>
          </p:cNvSpPr>
          <p:nvPr/>
        </p:nvSpPr>
        <p:spPr>
          <a:xfrm>
            <a:off x="897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noGrp="1"/>
          </p:cNvSpPr>
          <p:nvPr/>
        </p:nvSpPr>
        <p:spPr>
          <a:xfrm>
            <a:off x="64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noGrp="1"/>
          </p:cNvSpPr>
          <p:nvPr/>
        </p:nvSpPr>
        <p:spPr>
          <a:xfrm>
            <a:off x="135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noGrp="1"/>
          </p:cNvSpPr>
          <p:nvPr/>
        </p:nvSpPr>
        <p:spPr>
          <a:xfrm>
            <a:off x="135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noGrp="1"/>
          </p:cNvSpPr>
          <p:nvPr/>
        </p:nvSpPr>
        <p:spPr>
          <a:xfrm>
            <a:off x="445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noGrp="1"/>
          </p:cNvSpPr>
          <p:nvPr/>
        </p:nvSpPr>
        <p:spPr>
          <a:xfrm>
            <a:off x="516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noGrp="1"/>
          </p:cNvSpPr>
          <p:nvPr/>
        </p:nvSpPr>
        <p:spPr>
          <a:xfrm>
            <a:off x="516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noGrp="1"/>
          </p:cNvSpPr>
          <p:nvPr/>
        </p:nvSpPr>
        <p:spPr>
          <a:xfrm>
            <a:off x="897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noGrp="1"/>
          </p:cNvSpPr>
          <p:nvPr/>
        </p:nvSpPr>
        <p:spPr>
          <a:xfrm>
            <a:off x="897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noGrp="1"/>
          </p:cNvSpPr>
          <p:nvPr/>
        </p:nvSpPr>
        <p:spPr>
          <a:xfrm>
            <a:off x="647700" y="5467350"/>
            <a:ext cx="10896600" cy="647700"/>
          </a:xfrm>
          <a:prstGeom prst="roundRect">
            <a:avLst>
              <a:gd name="adj" fmla="val 14706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noGrp="1"/>
          </p:cNvSpPr>
          <p:nvPr/>
        </p:nvSpPr>
        <p:spPr>
          <a:xfrm>
            <a:off x="857250" y="5638800"/>
            <a:ext cx="2247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noGrp="1"/>
          </p:cNvSpPr>
          <p:nvPr/>
        </p:nvSpPr>
        <p:spPr>
          <a:xfrm>
            <a:off x="3105150" y="5591175"/>
            <a:ext cx="81724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noGrp="1"/>
          </p:cNvSpPr>
          <p:nvPr/>
        </p:nvSpPr>
        <p:spPr>
          <a:xfrm>
            <a:off x="781050" y="1581150"/>
            <a:ext cx="10629900" cy="4552950"/>
          </a:xfrm>
          <a:prstGeom prst="roundRect">
            <a:avLst>
              <a:gd name="adj" fmla="val 2510"/>
            </a:avLst>
          </a:prstGeom>
          <a:solidFill>
            <a:srgbClr val="171417"/>
          </a:solidFill>
          <a:ln w="28575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rcRect t="13235" b="13235"/>
          <a:stretch>
            <a:fillRect/>
          </a:stretch>
        </p:blipFill>
        <p:spPr>
          <a:xfrm>
            <a:off x="914400" y="1714500"/>
            <a:ext cx="10363200" cy="4286250"/>
          </a:xfrm>
          <a:prstGeom prst="roundRect">
            <a:avLst>
              <a:gd name="adj" fmla="val 1778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10363200" cy="7239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685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noGrp="1"/>
          </p:cNvSpPr>
          <p:nvPr/>
        </p:nvSpPr>
        <p:spPr>
          <a:xfrm>
            <a:off x="1200150" y="5448300"/>
            <a:ext cx="8191500" cy="323850"/>
          </a:xfrm>
          <a:prstGeom prst="roundRect">
            <a:avLst>
              <a:gd name="adj" fmla="val 23529"/>
            </a:avLst>
          </a:prstGeom>
          <a:solidFill>
            <a:srgbClr val="830051">
              <a:alpha val="92000"/>
            </a:srgbClr>
          </a:solidFill>
          <a:ln w="0">
            <a:noFill/>
          </a:ln>
        </p:spPr>
        <p:txBody>
          <a:bodyPr wrap="square" lIns="133350" tIns="38100" rIns="133350" bIns="3810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noGrp="1"/>
          </p:cNvSpPr>
          <p:nvPr/>
        </p:nvSpPr>
        <p:spPr>
          <a:xfrm>
            <a:off x="9544050" y="1876425"/>
            <a:ext cx="148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noGrp="1"/>
          </p:cNvSpPr>
          <p:nvPr/>
        </p:nvSpPr>
        <p:spPr>
          <a:xfrm>
            <a:off x="2057400" y="6238875"/>
            <a:ext cx="807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5143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429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23825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52197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400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noGrp="1"/>
          </p:cNvSpPr>
          <p:nvPr/>
        </p:nvSpPr>
        <p:spPr>
          <a:xfrm>
            <a:off x="6419850" y="666750"/>
            <a:ext cx="5219700" cy="424815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rcRect l="16223" r="16223"/>
          <a:stretch>
            <a:fillRect/>
          </a:stretch>
        </p:blipFill>
        <p:spPr>
          <a:xfrm>
            <a:off x="6438900" y="685800"/>
            <a:ext cx="5181600" cy="4210050"/>
          </a:xfrm>
          <a:prstGeom prst="roundRect">
            <a:avLst>
              <a:gd name="adj" fmla="val 1810"/>
            </a:avLst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248650" y="5770046"/>
            <a:ext cx="3143250" cy="709059"/>
          </a:xfrm>
          <a:prstGeom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6478f47-69e8-4291-a44a-cc65aad15a8f}" enabled="1" method="Standard" siteId="{96c20d9e-b612-4c42-b402-9b9bc895edd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5181</Words>
  <Application>Microsoft Office PowerPoint</Application>
  <DocSecurity>0</DocSecurity>
  <PresentationFormat>Panorámica</PresentationFormat>
  <Paragraphs>793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Arial</vt:lpstr>
      <vt:lpstr>Calibri</vt:lpstr>
      <vt:lpstr>Consolas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Raul Hidalgo</cp:lastModifiedBy>
  <cp:revision>5</cp:revision>
  <dcterms:created xsi:type="dcterms:W3CDTF">2026-09-05T18:56:25Z</dcterms:created>
  <dcterms:modified xsi:type="dcterms:W3CDTF">2026-09-06T22:31:20Z</dcterms:modified>
</cp:coreProperties>
</file>