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30 seconds</a:t>
            </a:r>
          </a:p>
          <a:p>
            <a:endParaRPr/>
          </a:p>
          <a:p>
            <a:r>
              <a:t>Introduce the project as a video-path study built around a physical RC-car prototype.</a:t>
            </a:r>
          </a:p>
          <a:p>
            <a:r>
              <a:t>State the central design choice: the application server coordinates peers but does not carry video.</a:t>
            </a:r>
          </a:p>
          <a:p>
            <a:endParaRPr/>
          </a:p>
          <a:p>
            <a:r>
              <a:t>Sources:</a:t>
            </a:r>
          </a:p>
          <a:p>
            <a:r>
              <a:t>- TFM.docx, cover and pp. 7–9.</a:t>
            </a:r>
          </a:p>
          <a:p>
            <a:r>
              <a:t>- UdL brand: https://www.imatge.udl.cat/ca/marca/color-corporatiu/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 seconds</a:t>
            </a:r>
          </a:p>
          <a:p>
            <a:endParaRPr/>
          </a:p>
          <a:p>
            <a:r>
              <a:t>Read the question once, then separate the intended 5G context from the network used for the prototype measurement.</a:t>
            </a:r>
          </a:p>
          <a:p>
            <a:r>
              <a:t>Do not imply that the thesis validated 5G behavior. The tested mobile link used a Huawei 4G dongle.</a:t>
            </a:r>
          </a:p>
          <a:p>
            <a:endParaRPr/>
          </a:p>
          <a:p>
            <a:r>
              <a:t>Sources:</a:t>
            </a:r>
          </a:p>
          <a:p>
            <a:r>
              <a:t>- TFM.docx, pp. 7–9, 13, 36–37.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55 seconds</a:t>
            </a:r>
          </a:p>
          <a:p>
            <a:endParaRPr/>
          </a:p>
          <a:p>
            <a:r>
              <a:t>Use the exact scope statement because later slides discuss control only as future work.</a:t>
            </a:r>
          </a:p>
          <a:p>
            <a:r>
              <a:t>The repository contains unused DataChannel scaffolding, but it does not implement vehicle control.</a:t>
            </a:r>
          </a:p>
          <a:p>
            <a:endParaRPr/>
          </a:p>
          <a:p>
            <a:r>
              <a:t>Sources:</a:t>
            </a:r>
          </a:p>
          <a:p>
            <a:r>
              <a:t>- PLAN.md, Project Scope.</a:t>
            </a:r>
          </a:p>
          <a:p>
            <a:r>
              <a:t>- TFM.docx, pp. 8–9 and 37.</a:t>
            </a:r>
          </a:p>
          <a:p>
            <a:r>
              <a:t>- Repository: useRtcPeerConnection.tsx and WebRtcSessionManager.cs; DataChannels are created but unused.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 seconds</a:t>
            </a:r>
          </a:p>
          <a:p>
            <a:endParaRPr/>
          </a:p>
          <a:p>
            <a:r>
              <a:t>Preview the five main sections in this exact order.</a:t>
            </a:r>
          </a:p>
          <a:p>
            <a:r>
              <a:t>The timings leave about one minute for transitions inside the thirty-minute defense.</a:t>
            </a:r>
          </a:p>
          <a:p>
            <a:endParaRPr/>
          </a:p>
          <a:p>
            <a:r>
              <a:t>Sources:</a:t>
            </a:r>
          </a:p>
          <a:p>
            <a:r>
              <a:t>- PLAN.md, Slide Structure and Visual and Source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Present WebRTC as a system rather than a single wire protocol.</a:t>
            </a:r>
          </a:p>
          <a:p>
            <a:r>
              <a:t>The browser API manages peer state. The IETF protocols provide connectivity, secure media transport, and feedback.</a:t>
            </a:r>
          </a:p>
          <a:p>
            <a:r>
              <a:t>SignalR is an application choice for signaling because WebRTC deliberately leaves that transport open.</a:t>
            </a:r>
          </a:p>
          <a:p>
            <a:endParaRPr/>
          </a:p>
          <a:p>
            <a:r>
              <a:t>Sources:</a:t>
            </a:r>
          </a:p>
          <a:p>
            <a:r>
              <a:t>- RFC 8825: https://www.rfc-editor.org/rfc/rfc8825.html</a:t>
            </a:r>
          </a:p>
          <a:p>
            <a:r>
              <a:t>- W3C WebRTC: https://www.w3.org/TR/webrtc/</a:t>
            </a:r>
          </a:p>
          <a:p>
            <a:r>
              <a:t>- RFC 9429 JSEP: https://www.rfc-editor.org/rfc/rfc9429.html</a:t>
            </a:r>
          </a:p>
          <a:p>
            <a:r>
              <a:t>- TFM.docx, p.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Walk from capture at the top to UDP and IP at the bottom.</a:t>
            </a:r>
          </a:p>
          <a:p>
            <a:r>
              <a:t>RTP and RTCP carry media and feedback. WebRTC protects them as SRTP and SRTCP.</a:t>
            </a:r>
          </a:p>
          <a:p>
            <a:r>
              <a:t>DTLS-SRTP derives media keys on the selected ICE path. DataChannel is part of the standard but outside this project's implemented scope.</a:t>
            </a:r>
          </a:p>
          <a:p>
            <a:endParaRPr/>
          </a:p>
          <a:p>
            <a:r>
              <a:t>Sources:</a:t>
            </a:r>
          </a:p>
          <a:p>
            <a:r>
              <a:t>- RFC 8835: https://www.rfc-editor.org/rfc/rfc8835.html</a:t>
            </a:r>
          </a:p>
          <a:p>
            <a:r>
              <a:t>- RFC 8834: https://www.rfc-editor.org/rfc/rfc8834.html</a:t>
            </a:r>
          </a:p>
          <a:p>
            <a:r>
              <a:t>- RFC 3711: https://www.rfc-editor.org/rfc/rfc3711.html</a:t>
            </a:r>
          </a:p>
          <a:p>
            <a:r>
              <a:t>- RFC 5764: https://www.rfc-editor.org/rfc/rfc5764.html</a:t>
            </a:r>
          </a:p>
          <a:p>
            <a:r>
              <a:t>- TFM.docx, pp. 22–23.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70 seconds</a:t>
            </a:r>
          </a:p>
          <a:p>
            <a:endParaRPr/>
          </a:p>
          <a:p>
            <a:r>
              <a:t>STUN reveals a public-facing mapping and supports connectivity checks. It does not relay the video.</a:t>
            </a:r>
          </a:p>
          <a:p>
            <a:r>
              <a:t>TURN provides a reachable public relay allocation when direct checks fail.</a:t>
            </a:r>
          </a:p>
          <a:p>
            <a:r>
              <a:t>ICE generally prefers direct candidates. The relay improves reliability but consumes relay bandwidth and may add latency because media takes an extra hop.</a:t>
            </a:r>
          </a:p>
          <a:p>
            <a:endParaRPr/>
          </a:p>
          <a:p>
            <a:r>
              <a:t>Sources:</a:t>
            </a:r>
          </a:p>
          <a:p>
            <a:r>
              <a:t>- RFC 8489 STUN: https://www.rfc-editor.org/rfc/rfc8489.html</a:t>
            </a:r>
          </a:p>
          <a:p>
            <a:r>
              <a:t>- RFC 8656 TURN: https://www.rfc-editor.org/rfc/rfc8656.html</a:t>
            </a:r>
          </a:p>
          <a:p>
            <a:r>
              <a:t>- RFC 8445 ICE: https://www.rfc-editor.org/rfc/rfc8445.html</a:t>
            </a:r>
          </a:p>
          <a:p>
            <a:r>
              <a:t>- TFM.docx, pp. 21–22.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65 seconds</a:t>
            </a:r>
          </a:p>
          <a:p>
            <a:endParaRPr/>
          </a:p>
          <a:p>
            <a:r>
              <a:t>The Raspberry Pi creates the offer after a browser joins. SignalR forwards that offer to the selected browser.</a:t>
            </a:r>
          </a:p>
          <a:p>
            <a:r>
              <a:t>The browser applies the offer, creates the answer, and returns it through the hub.</a:t>
            </a:r>
          </a:p>
          <a:p>
            <a:r>
              <a:t>SDP carries the parameters needed to agree on media and establish ICE and DTLS. The application server does not become a media endpoint.</a:t>
            </a:r>
          </a:p>
          <a:p>
            <a:endParaRPr/>
          </a:p>
          <a:p>
            <a:r>
              <a:t>Sources:</a:t>
            </a:r>
          </a:p>
          <a:p>
            <a:r>
              <a:t>- RFC 8866 SDP: https://www.rfc-editor.org/rfc/rfc8866.html</a:t>
            </a:r>
          </a:p>
          <a:p>
            <a:r>
              <a:t>- RFC 9429 JSEP: https://www.rfc-editor.org/rfc/rfc9429.html</a:t>
            </a:r>
          </a:p>
          <a:p>
            <a:r>
              <a:t>- TFM.docx, pp. 21, 33–34.</a:t>
            </a:r>
          </a:p>
          <a:p>
            <a:r>
              <a:t>- Repository: WebRtcSessionManager.cs, WebRtcSignalingBackgroundService.cs, Control.tsx.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70 seconds</a:t>
            </a:r>
          </a:p>
          <a:p>
            <a:endParaRPr/>
          </a:p>
          <a:p>
            <a:r>
              <a:t>Present SDP first for explanatory clarity, then note that gathering can already be in progress while the descriptions are created.</a:t>
            </a:r>
          </a:p>
          <a:p>
            <a:r>
              <a:t>Trickle ICE sends candidates incrementally. Each side forms pairs, runs STUN checks, ranks viable paths, and nominates the selected pair.</a:t>
            </a:r>
          </a:p>
          <a:p>
            <a:r>
              <a:t>Peer-reflexive candidates can appear during checks even when they were not gathered beforehand.</a:t>
            </a:r>
          </a:p>
          <a:p>
            <a:endParaRPr/>
          </a:p>
          <a:p>
            <a:r>
              <a:t>Sources:</a:t>
            </a:r>
          </a:p>
          <a:p>
            <a:r>
              <a:t>- RFC 8445: https://www.rfc-editor.org/rfc/rfc8445.html</a:t>
            </a:r>
          </a:p>
          <a:p>
            <a:r>
              <a:t>- RFC 8838: https://www.rfc-editor.org/rfc/rfc8838.html</a:t>
            </a:r>
          </a:p>
          <a:p>
            <a:r>
              <a:t>- W3C ICE events: https://www.w3.org/TR/webrtc/#rtcpeerconnectioniceevent</a:t>
            </a:r>
          </a:p>
          <a:p>
            <a:r>
              <a:t>- TFM.docx, p.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65 seconds</a:t>
            </a:r>
          </a:p>
          <a:p>
            <a:endParaRPr/>
          </a:p>
          <a:p>
            <a:r>
              <a:t>VP8 and H.264 Constrained Baseline form the mandatory video interoperability baseline for WebRTC endpoints that support video.</a:t>
            </a:r>
          </a:p>
          <a:p>
            <a:r>
              <a:t>VP9 and AV1 depend on endpoint capabilities. H.265 cannot serve as a universal browser assumption.</a:t>
            </a:r>
          </a:p>
          <a:p>
            <a:r>
              <a:t>The prototype converts the C920 MJPEG stream to H.264. Its SDP advertises packetization mode 1 and profile-level-id 42e01f.</a:t>
            </a:r>
          </a:p>
          <a:p>
            <a:endParaRPr/>
          </a:p>
          <a:p>
            <a:r>
              <a:t>Sources:</a:t>
            </a:r>
          </a:p>
          <a:p>
            <a:r>
              <a:t>- RFC 7742 sections 5–6: https://www.rfc-editor.org/rfc/rfc7742.html#section-5</a:t>
            </a:r>
          </a:p>
          <a:p>
            <a:r>
              <a:t>- W3C getCapabilities: https://www.w3.org/TR/webrtc/#dom-rtcrtpsender-getcapabilities</a:t>
            </a:r>
          </a:p>
          <a:p>
            <a:r>
              <a:t>- TFM.docx, pp. 23–24.</a:t>
            </a:r>
          </a:p>
          <a:p>
            <a:r>
              <a:t>- Repository: CameraVideoSource.cs lines 28–35 and appsettings.json.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70 seconds</a:t>
            </a:r>
          </a:p>
          <a:p>
            <a:endParaRPr/>
          </a:p>
          <a:p>
            <a:r>
              <a:t>WHIP covers unidirectional ingest from a publisher to a media server. WHEP covers egress from a media server to a viewer.</a:t>
            </a:r>
          </a:p>
          <a:p>
            <a:r>
              <a:t>Combining them normally creates two server-terminated WebRTC sessions, so the media server sits in the video path.</a:t>
            </a:r>
          </a:p>
          <a:p>
            <a:r>
              <a:t>WHIP is a Standards Track RFC. WHEP is still an active Internet-Draft, revision 04, on the date of this defense.</a:t>
            </a:r>
          </a:p>
          <a:p>
            <a:endParaRPr/>
          </a:p>
          <a:p>
            <a:r>
              <a:t>Sources:</a:t>
            </a:r>
          </a:p>
          <a:p>
            <a:r>
              <a:t>- RFC 9725: https://www.rfc-editor.org/rfc/rfc9725.html</a:t>
            </a:r>
          </a:p>
          <a:p>
            <a:r>
              <a:t>- WHEP draft-04: https://www.ietf.org/archive/id/draft-ietf-wish-whep-04.html</a:t>
            </a:r>
          </a:p>
          <a:p>
            <a:r>
              <a:t>- WHEP status: https://datatracker.ietf.org/doc/draft-ietf-wish-whep/</a:t>
            </a:r>
          </a:p>
          <a:p>
            <a:r>
              <a:t>- TFM.docx, pp. 24–25.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80 seconds</a:t>
            </a:r>
          </a:p>
          <a:p>
            <a:endParaRPr/>
          </a:p>
          <a:p>
            <a:r>
              <a:t>Read the statement directly because it resolves a central architectural distinction.</a:t>
            </a:r>
          </a:p>
          <a:p>
            <a:r>
              <a:t>The project maps publisher and viewer roles, SDP and ICE exchange, and peer state through SignalR. Termination is only a partial disconnect and cleanup mapping, not a complete protocol lifecycle.</a:t>
            </a:r>
          </a:p>
          <a:p>
            <a:r>
              <a:t>The current WHIP and WHEP controller methods contain TODOs and return HTTP 501. They provide neither the required session resources nor the PATCH and DELETE lifecycle.</a:t>
            </a:r>
          </a:p>
          <a:p>
            <a:endParaRPr/>
          </a:p>
          <a:p>
            <a:r>
              <a:t>Sources:</a:t>
            </a:r>
          </a:p>
          <a:p>
            <a:r>
              <a:t>- PLAN.md, required statement.</a:t>
            </a:r>
          </a:p>
          <a:p>
            <a:r>
              <a:t>- RFC 9725: https://www.rfc-editor.org/rfc/rfc9725.html</a:t>
            </a:r>
          </a:p>
          <a:p>
            <a:r>
              <a:t>- WHEP draft-04: https://www.ietf.org/archive/id/draft-ietf-wish-whep-04.html</a:t>
            </a:r>
          </a:p>
          <a:p>
            <a:r>
              <a:t>- Repository: DevicesController.WhipAsync.cs and DevicesController.WhepAsync.cs.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 seconds</a:t>
            </a:r>
          </a:p>
          <a:p>
            <a:endParaRPr/>
          </a:p>
          <a:p>
            <a:r>
              <a:t>The first design already separated signaling from media. ASP.NET and SignalR coordinated the two peers, while WebRTC was expected to carry video directly.</a:t>
            </a:r>
          </a:p>
          <a:p>
            <a:r>
              <a:t>The early configuration contained Google STUN only. TURN was explicitly absent.</a:t>
            </a:r>
          </a:p>
          <a:p>
            <a:endParaRPr/>
          </a:p>
          <a:p>
            <a:r>
              <a:t>Sources:</a:t>
            </a:r>
          </a:p>
          <a:p>
            <a:r>
              <a:t>- Repository history: commit 5b2433a, 14 February 2026; commit 6bc9041, 19 February 2026.</a:t>
            </a:r>
          </a:p>
          <a:p>
            <a:r>
              <a:t>- TFM.docx, pp. 16–19.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Both endpoints can sit behind private IPv4 addressing. The mobile side adds carrier-grade NAT, and the browser side may add another NAT and firewall.</a:t>
            </a:r>
          </a:p>
          <a:p>
            <a:r>
              <a:t>STUN can reveal a mapping without proving that the remote peer can send to it. Destination-dependent mapping and blocked inbound UDP can still defeat direct checks.</a:t>
            </a:r>
          </a:p>
          <a:p>
            <a:endParaRPr/>
          </a:p>
          <a:p>
            <a:r>
              <a:t>Sources:</a:t>
            </a:r>
          </a:p>
          <a:p>
            <a:r>
              <a:t>- RFC 8489: https://www.rfc-editor.org/rfc/rfc8489.html</a:t>
            </a:r>
          </a:p>
          <a:p>
            <a:r>
              <a:t>- RFC 8445: https://www.rfc-editor.org/rfc/rfc8445.html</a:t>
            </a:r>
          </a:p>
          <a:p>
            <a:r>
              <a:t>- TFM.docx, pp. 21–22 and 36–38.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55 seconds</a:t>
            </a:r>
          </a:p>
          <a:p>
            <a:endParaRPr/>
          </a:p>
          <a:p>
            <a:r>
              <a:t>STUN did not work across every network. TURN therefore became an ICE fallback rather than the preferred path.</a:t>
            </a:r>
          </a:p>
          <a:p>
            <a:r>
              <a:t>The application server still stays outside the video path. When ICE selects a relay candidate, the separate TURN server carries the encrypted media.</a:t>
            </a:r>
          </a:p>
          <a:p>
            <a:endParaRPr/>
          </a:p>
          <a:p>
            <a:r>
              <a:t>Sources:</a:t>
            </a:r>
          </a:p>
          <a:p>
            <a:r>
              <a:t>- Repository history: commit 5b2433a and commit 66702f6 / merge adeac59.</a:t>
            </a:r>
          </a:p>
          <a:p>
            <a:r>
              <a:t>- RFC 8656: https://www.rfc-editor.org/rfc/rfc8656.html</a:t>
            </a:r>
          </a:p>
          <a:p>
            <a:r>
              <a:t>- TFM.docx, pp. 16–19, 21–22.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 seconds</a:t>
            </a:r>
          </a:p>
          <a:p>
            <a:endParaRPr/>
          </a:p>
          <a:p>
            <a:r>
              <a:t>IPv6 could remove the mobile carrier-grade IPv4 translation layer, so ICE should test it alongside IPv4 and TURN.</a:t>
            </a:r>
          </a:p>
          <a:p>
            <a:r>
              <a:t>IPv6 does not bypass endpoint firewalls and is not automatically faster.</a:t>
            </a:r>
          </a:p>
          <a:p>
            <a:r>
              <a:t>The current repository uses IPv6 loopback only between FFmpeg and .NET. No end-to-end public IPv6 test has been recorded.</a:t>
            </a:r>
          </a:p>
          <a:p>
            <a:endParaRPr/>
          </a:p>
          <a:p>
            <a:r>
              <a:t>Sources:</a:t>
            </a:r>
          </a:p>
          <a:p>
            <a:r>
              <a:t>- TFM.docx, pp. 36 and 38.</a:t>
            </a:r>
          </a:p>
          <a:p>
            <a:r>
              <a:t>- Repository: CameraVideoSource.cs line 158 uses IPv6Loopback for local RTP only.</a:t>
            </a:r>
          </a:p>
          <a:p>
            <a:r>
              <a:t>- RFC 8445: https://www.rfc-editor.org/rfc/rfc8445.html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 seconds</a:t>
            </a:r>
          </a:p>
          <a:p>
            <a:endParaRPr/>
          </a:p>
          <a:p>
            <a:r>
              <a:t>WHIP and WHEP supplied a useful vocabulary for publisher, viewer, signaling state, and teardown.</a:t>
            </a:r>
          </a:p>
          <a:p>
            <a:r>
              <a:t>A complete implementation would put a central media server into the video path, which conflicts with this project's central architectural goal.</a:t>
            </a:r>
          </a:p>
          <a:p>
            <a:r>
              <a:t>The concepts moved into the SignalR flow. The HTTP actions remain explicit stubs.</a:t>
            </a:r>
          </a:p>
          <a:p>
            <a:endParaRPr/>
          </a:p>
          <a:p>
            <a:r>
              <a:t>Sources:</a:t>
            </a:r>
          </a:p>
          <a:p>
            <a:r>
              <a:t>- RFC 9725: https://www.rfc-editor.org/rfc/rfc9725.html</a:t>
            </a:r>
          </a:p>
          <a:p>
            <a:r>
              <a:t>- WHEP draft-04: https://www.ietf.org/archive/id/draft-ietf-wish-whep-04.html</a:t>
            </a:r>
          </a:p>
          <a:p>
            <a:r>
              <a:t>- Repository history: commits 248f094, 529de9a, 72b7dd1, 87bc7cc.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70 seconds</a:t>
            </a:r>
          </a:p>
          <a:p>
            <a:endParaRPr/>
          </a:p>
          <a:p>
            <a:r>
              <a:t>libcamera was considered as the Raspberry Pi CSI-camera stack, but no recorded revision implemented it. The final USB-camera path uses V4L2.</a:t>
            </a:r>
          </a:p>
          <a:p>
            <a:r>
              <a:t>The first implementation used SIPSorceryMedia.FFmpeg and FFmpeg.AutoGen for direct callbacks, which coupled deployment to exact native FFmpeg libraries.</a:t>
            </a:r>
          </a:p>
          <a:p>
            <a:r>
              <a:t>The final version supervises an FFmpeg executable and receives H.264 over loopback RTP. That boundary is easier to deploy but adds depacketization and repacketization.</a:t>
            </a:r>
          </a:p>
          <a:p>
            <a:endParaRPr/>
          </a:p>
          <a:p>
            <a:r>
              <a:t>Sources:</a:t>
            </a:r>
          </a:p>
          <a:p>
            <a:r>
              <a:t>- Repository history: commit 4b357dd, historical PLAN at 3f9931d, and commit d8e2a27.</a:t>
            </a:r>
          </a:p>
          <a:p>
            <a:r>
              <a:t>- TFM.docx, pp. 29–30 and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80 seconds</a:t>
            </a:r>
          </a:p>
          <a:p>
            <a:endParaRPr/>
          </a:p>
          <a:p>
            <a:r>
              <a:t>Follow the pipeline from the C920 to the browser. FFmpeg receives MJPEG through V4L2, decodes it, and software-encodes H.264 Constrained Baseline.</a:t>
            </a:r>
          </a:p>
          <a:p>
            <a:r>
              <a:t>FFmpeg emits RTP on IPv6 loopback. .NET parses RTP, depacketizes H.264, assembles Annex-B access units, and caches SPS and PPS.</a:t>
            </a:r>
          </a:p>
          <a:p>
            <a:r>
              <a:t>SIPSorcery repacketizes the encoded access unit into the negotiated WebRTC stream and owns SRTP and the peer connection.</a:t>
            </a:r>
          </a:p>
          <a:p>
            <a:r>
              <a:t>The .NET layer avoids a second decode and encode, but FFmpeg still performs the MJPEG decode and software H.264 encode.</a:t>
            </a:r>
          </a:p>
          <a:p>
            <a:endParaRPr/>
          </a:p>
          <a:p>
            <a:r>
              <a:t>Sources:</a:t>
            </a:r>
          </a:p>
          <a:p>
            <a:r>
              <a:t>- TFM.docx, pp. 29–30 and 36.</a:t>
            </a:r>
          </a:p>
          <a:p>
            <a:r>
              <a:t>- Repository: appsettings.json; CameraVideoSource.cs lines 152–188, 359–493; WebRtcSessionManager.cs lines 99–101 and 247–264.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The camera outputs MJPEG, so FFmpeg must decode every frame before libx264 can encode H.264 in software.</a:t>
            </a:r>
          </a:p>
          <a:p>
            <a:r>
              <a:t>Discuss CPU, memory bandwidth, heat, and latency qualitatively. No measured CPU percentage exists in the evidence.</a:t>
            </a:r>
          </a:p>
          <a:p>
            <a:r>
              <a:t>The external process made deployment more robust. It did not remove the compute cost.</a:t>
            </a:r>
          </a:p>
          <a:p>
            <a:endParaRPr/>
          </a:p>
          <a:p>
            <a:r>
              <a:t>Sources:</a:t>
            </a:r>
          </a:p>
          <a:p>
            <a:r>
              <a:t>- TFM.docx, pp. 29–30 and 36–39.</a:t>
            </a:r>
          </a:p>
          <a:p>
            <a:r>
              <a:t>- Repository: appsettings.json and CameraVideoSource.cs.</a:t>
            </a:r>
          </a:p>
          <a:p>
            <a:r>
              <a:t>- Image: TFM.docx Figure 3, Raspberry Pi 5 product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50 seconds</a:t>
            </a:r>
          </a:p>
          <a:p>
            <a:endParaRPr/>
          </a:p>
          <a:p>
            <a:r>
              <a:t>When the car demands too much current, the Raspberry Pi disconnects momentarily. Treat this as an author-reported observation because the thesis does not document a measured incident trace.</a:t>
            </a:r>
          </a:p>
          <a:p>
            <a:r>
              <a:t>The thesis does support the mechanism and mitigation: motor-stall peaks, supply monitoring, a fused branch, transient protection, decoupling, and careful grounding.</a:t>
            </a:r>
          </a:p>
          <a:p>
            <a:endParaRPr/>
          </a:p>
          <a:p>
            <a:r>
              <a:t>Sources:</a:t>
            </a:r>
          </a:p>
          <a:p>
            <a:r>
              <a:t>- PLAN.md, Issues with electrical input to the RPI.</a:t>
            </a:r>
          </a:p>
          <a:p>
            <a:r>
              <a:t>- TFM.docx, pp. 13 and 39.</a:t>
            </a:r>
          </a:p>
          <a:p>
            <a:r>
              <a:t>- Image: TFM.docx Figure 6, NiMH battery.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75 seconds</a:t>
            </a:r>
          </a:p>
          <a:p>
            <a:endParaRPr/>
          </a:p>
          <a:p>
            <a:r>
              <a:t>The measurement compares the visible time reference with the received browser image. The two Unix timestamps differ by exactly 340 milliseconds.</a:t>
            </a:r>
          </a:p>
          <a:p>
            <a:r>
              <a:t>The browser status line shows a relay local candidate in this captured run, so the observed path appears TURN-relayed.</a:t>
            </a:r>
          </a:p>
          <a:p>
            <a:r>
              <a:t>Treat this as one 4G observation that supports feasibility. It does not establish a latency distribution, a guarantee, or 5G validation.</a:t>
            </a:r>
          </a:p>
          <a:p>
            <a:endParaRPr/>
          </a:p>
          <a:p>
            <a:r>
              <a:t>Sources:</a:t>
            </a:r>
          </a:p>
          <a:p>
            <a:r>
              <a:t>- TFM.docx, pp. 8–9 and 36; Figure 10.</a:t>
            </a:r>
          </a:p>
          <a:p>
            <a:r>
              <a:t>- Resum-TFG-TFM-Raul-Hidalgo-Caballero.docx.pdf, p.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 seconds</a:t>
            </a:r>
          </a:p>
          <a:p>
            <a:endParaRPr/>
          </a:p>
          <a:p>
            <a:r>
              <a:t>Vehicle control belongs to the next phase, not the completed project scope.</a:t>
            </a:r>
          </a:p>
          <a:p>
            <a:r>
              <a:t>A production command loop needs explicit sequencing, timestamps, validation, actuation, and a neutral fail-safe whenever communication or input becomes unsafe.</a:t>
            </a:r>
          </a:p>
          <a:p>
            <a:endParaRPr/>
          </a:p>
          <a:p>
            <a:r>
              <a:t>Sources:</a:t>
            </a:r>
          </a:p>
          <a:p>
            <a:r>
              <a:t>- TFM.docx, pp. 37–38.</a:t>
            </a:r>
          </a:p>
          <a:p>
            <a:r>
              <a:t>- Image: TFM.docx Figure 2, 3D chassis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35 seconds</a:t>
            </a:r>
          </a:p>
          <a:p>
            <a:endParaRPr/>
          </a:p>
          <a:p>
            <a:r>
              <a:t>The best next optimization is direct H.264 from the camera or a hardware encoder, removing MJPEG decode and software libx264 where possible.</a:t>
            </a:r>
          </a:p>
          <a:p>
            <a:r>
              <a:t>Direct output still needs validation. The profile, parameter sets, packetization, GOP, buffering, and measured latency must match the WebRTC path.</a:t>
            </a:r>
          </a:p>
          <a:p>
            <a:endParaRPr/>
          </a:p>
          <a:p>
            <a:r>
              <a:t>Sources:</a:t>
            </a:r>
          </a:p>
          <a:p>
            <a:r>
              <a:t>- TFM.docx, pp. 38–39.</a:t>
            </a:r>
          </a:p>
          <a:p>
            <a:r>
              <a:t>- Image: TFM.docx Figure 4, Logitech HD Pro C920.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35 seconds</a:t>
            </a:r>
          </a:p>
          <a:p>
            <a:endParaRPr/>
          </a:p>
          <a:p>
            <a:r>
              <a:t>Run a controlled matrix rather than another single demonstration. Compare IPv4 direct, IPv6 direct, and TURN relay across realistic mobile network modes.</a:t>
            </a:r>
          </a:p>
          <a:p>
            <a:r>
              <a:t>Record distributions and stability, not only a best-case latency number. Include NAT type, mobility, loss, and uplink consistency.</a:t>
            </a:r>
          </a:p>
          <a:p>
            <a:endParaRPr/>
          </a:p>
          <a:p>
            <a:r>
              <a:t>Sources:</a:t>
            </a:r>
          </a:p>
          <a:p>
            <a:r>
              <a:t>- TFM.docx, pp. 38 and 40.</a:t>
            </a:r>
          </a:p>
          <a:p>
            <a:r>
              <a:t>- RFC 8445: https://www.rfc-editor.org/rfc/rfc8445.html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35 seconds</a:t>
            </a:r>
          </a:p>
          <a:p>
            <a:endParaRPr/>
          </a:p>
          <a:p>
            <a:r>
              <a:t>The hardware priority is a protected and measurable power tree that isolates motor transients from the Raspberry Pi rail.</a:t>
            </a:r>
          </a:p>
          <a:p>
            <a:r>
              <a:t>The plan also calls for complete WHIP and WHEP. That is a separate protocol track because true compliance requires HTTP session resources and a central media server that terminates WebRTC.</a:t>
            </a:r>
          </a:p>
          <a:p>
            <a:endParaRPr/>
          </a:p>
          <a:p>
            <a:r>
              <a:t>Sources:</a:t>
            </a:r>
          </a:p>
          <a:p>
            <a:r>
              <a:t>- TFM.docx, p. 39.</a:t>
            </a:r>
          </a:p>
          <a:p>
            <a:r>
              <a:t>- RFC 9725: https://www.rfc-editor.org/rfc/rfc9725.html</a:t>
            </a:r>
          </a:p>
          <a:p>
            <a:r>
              <a:t>- WHEP draft-04: https://www.ietf.org/archive/id/draft-ietf-wish-whep-04.html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30 seconds</a:t>
            </a:r>
          </a:p>
          <a:p>
            <a:endParaRPr/>
          </a:p>
          <a:p>
            <a:r>
              <a:t>ESP32-P4 is a long-term consolidation candidate because it combines RISC-V cores, camera interfaces, an image pipeline, hardware H.264, and Ethernet.</a:t>
            </a:r>
          </a:p>
          <a:p>
            <a:r>
              <a:t>It has no integrated 5G radio, so a modem or network companion remains necessary. Rust HAL support exists, but peripheral maturity and a practical WebRTC stack still need validation.</a:t>
            </a:r>
          </a:p>
          <a:p>
            <a:endParaRPr/>
          </a:p>
          <a:p>
            <a:r>
              <a:t>Sources:</a:t>
            </a:r>
          </a:p>
          <a:p>
            <a:r>
              <a:t>- TFM.docx, p. 39.</a:t>
            </a:r>
          </a:p>
          <a:p>
            <a:r>
              <a:t>- Espressif ESP32-P4 datasheet: https://documentation.espressif.com/esp32-p4_datasheet_en.html</a:t>
            </a:r>
          </a:p>
          <a:p>
            <a:r>
              <a:t>- Espressif product overview: https://www.espressif.com/en/node/7617</a:t>
            </a:r>
          </a:p>
          <a:p>
            <a:r>
              <a:t>- esp-hal: https://github.com/esp-rs/esp-hal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Use this as an application concept, not as a tested system.</a:t>
            </a:r>
          </a:p>
          <a:p>
            <a:r>
              <a:t>The motorway segment can run autonomously, while a remote operator handles the final approach where context and interaction are harder to automate.</a:t>
            </a:r>
          </a:p>
          <a:p>
            <a:r>
              <a:t>Low-latency video is one dependency. Production teleoperation needs redundant control, a safety case, secure operations, and regulatory approval.</a:t>
            </a:r>
          </a:p>
          <a:p>
            <a:endParaRPr/>
          </a:p>
          <a:p>
            <a:r>
              <a:t>Sources:</a:t>
            </a:r>
          </a:p>
          <a:p>
            <a:r>
              <a:t>- Application example specified in PLAN.md.</a:t>
            </a:r>
          </a:p>
          <a:p>
            <a:r>
              <a:t>- Concept illustration generated for this presentation with OpenAI ImageGen; it is not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60 seconds</a:t>
            </a:r>
          </a:p>
          <a:p>
            <a:endParaRPr/>
          </a:p>
          <a:p>
            <a:r>
              <a:t>Cranes, mining equipment, and workboats share the value proposition of moving people away from hazardous work zones.</a:t>
            </a:r>
          </a:p>
          <a:p>
            <a:r>
              <a:t>The video link must remain usable under motion, vibration, coverage changes, and harsh radio conditions.</a:t>
            </a:r>
          </a:p>
          <a:p>
            <a:r>
              <a:t>The prototype addresses only the video-path question. Each domain needs its own redundant control and safety design.</a:t>
            </a:r>
          </a:p>
          <a:p>
            <a:endParaRPr/>
          </a:p>
          <a:p>
            <a:r>
              <a:t>Sources:</a:t>
            </a:r>
          </a:p>
          <a:p>
            <a:r>
              <a:t>- Application examples specified in PLAN.md.</a:t>
            </a:r>
          </a:p>
          <a:p>
            <a:r>
              <a:t>- Concept illustration generated for this presentation with OpenAI ImageGen; it is not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40 seconds</a:t>
            </a:r>
          </a:p>
          <a:p>
            <a:endParaRPr/>
          </a:p>
          <a:p>
            <a:r>
              <a:t>Show the physical device path first when available. Keep the browser simulator ready as the technical fallback.</a:t>
            </a:r>
          </a:p>
          <a:p>
            <a:r>
              <a:t>Ask the audience to watch signaling state, the offer and answer, candidate types, connection state, and the video itself.</a:t>
            </a:r>
          </a:p>
          <a:p>
            <a:r>
              <a:t>The device selector uses hard-coded prototype entries and should not be described as live fleet discovery.</a:t>
            </a:r>
          </a:p>
          <a:p>
            <a:endParaRPr/>
          </a:p>
          <a:p>
            <a:r>
              <a:t>Sources:</a:t>
            </a:r>
          </a:p>
          <a:p>
            <a:r>
              <a:t>- TFM.docx, p. 32; Figure 9.</a:t>
            </a:r>
          </a:p>
          <a:p>
            <a:r>
              <a:t>- Repository: Index.tsx, Control.tsx, ControlTest.tsx.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45 seconds</a:t>
            </a:r>
          </a:p>
          <a:p>
            <a:endParaRPr/>
          </a:p>
          <a:p>
            <a:r>
              <a:t>Start the central server and selector page. Then connect the device or start the simulator before opening the viewer route.</a:t>
            </a:r>
          </a:p>
          <a:p>
            <a:r>
              <a:t>The viewer join event triggers the device offer. SignalR transports the SDP and Trickle ICE candidates.</a:t>
            </a:r>
          </a:p>
          <a:p>
            <a:r>
              <a:t>Show the candidate types and connected state, then the live video and latency demonstration.</a:t>
            </a:r>
          </a:p>
          <a:p>
            <a:r>
              <a:t>Do not demonstrate vehicle control as completed project scope.</a:t>
            </a:r>
          </a:p>
          <a:p>
            <a:endParaRPr/>
          </a:p>
          <a:p>
            <a:r>
              <a:t>Sources:</a:t>
            </a:r>
          </a:p>
          <a:p>
            <a:r>
              <a:t>- Repository: WebRtcSignalingBackgroundService.cs lines 25–32; WebRtcHub.cs; Control.tsx.</a:t>
            </a:r>
          </a:p>
          <a:p>
            <a:r>
              <a:t>- PLAN.md, Live Demo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55 seconds</a:t>
            </a:r>
          </a:p>
          <a:p>
            <a:endParaRPr/>
          </a:p>
          <a:p>
            <a:r>
              <a:t>This slide reserves the required 16:9 media frame for a real RC-car recording.</a:t>
            </a:r>
          </a:p>
          <a:p>
            <a:r>
              <a:t>No physical-car video file exists in the repository. The countdown is a 66.94-second simulator asset and can demonstrate the signaling and media path only.</a:t>
            </a:r>
          </a:p>
          <a:p>
            <a:r>
              <a:t>Keep the placeholder label until real footage is inserted.</a:t>
            </a:r>
          </a:p>
          <a:p>
            <a:endParaRPr/>
          </a:p>
          <a:p>
            <a:r>
              <a:t>Sources:</a:t>
            </a:r>
          </a:p>
          <a:p>
            <a:r>
              <a:t>- Repository: src/ScarletRadioControl.Web.Frontend/src/assets/countdown.mp4 and ControlTest.tsx.</a:t>
            </a:r>
          </a:p>
          <a:p>
            <a:r>
              <a:t>- PLAN.md, Fallback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40 seconds plus questions</a:t>
            </a:r>
          </a:p>
          <a:p>
            <a:endParaRPr/>
          </a:p>
          <a:p>
            <a:r>
              <a:t>Close with the evidence: the prototype demonstrates feasibility under one tested 4G configuration.</a:t>
            </a:r>
          </a:p>
          <a:p>
            <a:r>
              <a:t>The most consequential engineering work involved NAT traversal and the software media pipeline.</a:t>
            </a:r>
          </a:p>
          <a:p>
            <a:r>
              <a:t>Name the next priorities, then invite questions.</a:t>
            </a:r>
          </a:p>
          <a:p>
            <a:endParaRPr/>
          </a:p>
          <a:p>
            <a:r>
              <a:t>Sources:</a:t>
            </a:r>
          </a:p>
          <a:p>
            <a:r>
              <a:t>- TFM.docx, pp. 36–40; Figure 11.</a:t>
            </a:r>
          </a:p>
          <a:p>
            <a:r>
              <a:t>- PLAN.md, Final Takeaways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0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05750" y="416420"/>
            <a:ext cx="3486150" cy="786411"/>
          </a:xfrm>
          <a:prstGeom prst="roundRect">
            <a:avLst>
              <a:gd name="adj" fmla="val 9302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DD91C85-8193-4CE4-8F4B-8C4E4393CA07}"/>
              </a:ext>
            </a:extLst>
          </p:cNvPr>
          <p:cNvSpPr>
            <a:spLocks noGrp="1"/>
          </p:cNvSpPr>
          <p:nvPr/>
        </p:nvSpPr>
        <p:spPr>
          <a:xfrm>
            <a:off x="742950" y="1638300"/>
            <a:ext cx="8763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WebRTC in a</a:t>
            </a:r>
          </a:p>
          <a:p>
            <a:pPr algn="l">
              <a:lnSpc>
                <a:spcPct val="9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Radio-Controlled Car via 5G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BDE524-BF06-4B5B-BDA7-AB0644749E8F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1619250" cy="47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111D563-39E4-4ABB-8C7D-DFE2AAD4093F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Hidalgo Caballero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8DEB04-A3BD-4FAA-AA37-0B01C7B83495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5619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 in Computer Engineering</a:t>
            </a:r>
          </a:p>
          <a:p>
            <a:pPr algn="l">
              <a:lnSpc>
                <a:spcPct val="11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Director: David Sarrat González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962708-0396-45C6-A701-6995AE03B1FB}"/>
              </a:ext>
            </a:extLst>
          </p:cNvPr>
          <p:cNvSpPr>
            <a:spLocks noGrp="1"/>
          </p:cNvSpPr>
          <p:nvPr/>
        </p:nvSpPr>
        <p:spPr>
          <a:xfrm>
            <a:off x="762000" y="60007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University of Lleida,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3427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967CFAC-3748-4C5E-81EF-F794E5D0902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320026-1DD5-4213-873D-83F7B27C997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250609-784C-4D33-98B8-962C725BEDDB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D42AAF-4189-44D0-953B-45EB488C195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7596CA-7DA9-4B4B-99D5-D69F0E402F42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107632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25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171417"/>
                </a:solidFill>
                <a:latin typeface="Arial"/>
                <a:ea typeface="Arial"/>
                <a:cs typeface="Arial"/>
              </a:rPr>
              <a:t>Can an RC car deliver live video to a remote browser with less than 400ms glass-to-glass latency?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B0E93C2-85CE-4599-B8E7-C13DE0B22960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3238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5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&lt; 400 ms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06A4EB-5BE2-466F-91FF-860DB0645C4E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LATENCY TARGET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FABD687-2F26-4BA9-ADC6-D115F3DD550C}"/>
              </a:ext>
            </a:extLst>
          </p:cNvPr>
          <p:cNvSpPr>
            <a:spLocks noGrp="1"/>
          </p:cNvSpPr>
          <p:nvPr/>
        </p:nvSpPr>
        <p:spPr>
          <a:xfrm>
            <a:off x="4400550" y="3276600"/>
            <a:ext cx="0" cy="2095500"/>
          </a:xfrm>
          <a:prstGeom prst="line">
            <a:avLst/>
          </a:prstGeom>
          <a:noFill/>
          <a:ln w="19050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ED4708-9C33-4E35-A29F-2EA0D52E81B3}"/>
              </a:ext>
            </a:extLst>
          </p:cNvPr>
          <p:cNvSpPr>
            <a:spLocks noGrp="1"/>
          </p:cNvSpPr>
          <p:nvPr/>
        </p:nvSpPr>
        <p:spPr>
          <a:xfrm>
            <a:off x="4953000" y="3381375"/>
            <a:ext cx="1571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41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5G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26FE50-325E-4A73-BD99-4EF91BC251D5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2571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Intended deployment context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D5B5A6-D81D-4E96-9E89-F856A87246A4}"/>
              </a:ext>
            </a:extLst>
          </p:cNvPr>
          <p:cNvSpPr>
            <a:spLocks noGrp="1"/>
          </p:cNvSpPr>
          <p:nvPr/>
        </p:nvSpPr>
        <p:spPr>
          <a:xfrm>
            <a:off x="8134350" y="3381375"/>
            <a:ext cx="1571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4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4G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F0F12FB-2E11-4BF0-83C5-DAF41AB69C06}"/>
              </a:ext>
            </a:extLst>
          </p:cNvPr>
          <p:cNvSpPr>
            <a:spLocks noGrp="1"/>
          </p:cNvSpPr>
          <p:nvPr/>
        </p:nvSpPr>
        <p:spPr>
          <a:xfrm>
            <a:off x="8134350" y="4095750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Prototype validation actually performed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B71EA44-2047-420D-9365-CAC58B0008C3}"/>
              </a:ext>
            </a:extLst>
          </p:cNvPr>
          <p:cNvSpPr>
            <a:spLocks noGrp="1"/>
          </p:cNvSpPr>
          <p:nvPr/>
        </p:nvSpPr>
        <p:spPr>
          <a:xfrm>
            <a:off x="4953000" y="4952999"/>
            <a:ext cx="6134100" cy="714375"/>
          </a:xfrm>
          <a:prstGeom prst="roundRect">
            <a:avLst>
              <a:gd name="adj" fmla="val 17241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7DE5AAF-847D-4AB9-BB90-A3A200CDA510}"/>
              </a:ext>
            </a:extLst>
          </p:cNvPr>
          <p:cNvSpPr>
            <a:spLocks noGrp="1"/>
          </p:cNvSpPr>
          <p:nvPr/>
        </p:nvSpPr>
        <p:spPr>
          <a:xfrm>
            <a:off x="5162550" y="5086350"/>
            <a:ext cx="581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510034"/>
                </a:solidFill>
                <a:latin typeface="Arial"/>
                <a:ea typeface="Arial"/>
                <a:cs typeface="Arial"/>
              </a:rPr>
              <a:t>The presentation keeps the target and the evidence separate.</a:t>
            </a:r>
          </a:p>
        </p:txBody>
      </p:sp>
    </p:spTree>
    <p:extLst>
      <p:ext uri="{BB962C8B-B14F-4D97-AF65-F5344CB8AC3E}">
        <p14:creationId xmlns:p14="http://schemas.microsoft.com/office/powerpoint/2010/main" val="414775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B649AAD-E651-4E73-BDD5-7B7B764B784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A32840-3461-4C44-8108-726D7414FF1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161FF3-70B0-481F-8F1F-A64F0FD0FBC8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132085F-5903-4C75-998C-43273A609C8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C0A6230-CFB7-488B-9A58-EAB88742610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F5EDF2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9C2DD8-2AEA-4B96-8894-5AF97FFBA621}"/>
              </a:ext>
            </a:extLst>
          </p:cNvPr>
          <p:cNvSpPr>
            <a:spLocks noGrp="1"/>
          </p:cNvSpPr>
          <p:nvPr/>
        </p:nvSpPr>
        <p:spPr>
          <a:xfrm>
            <a:off x="933450" y="1676400"/>
            <a:ext cx="514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52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8B8D0BE-016D-485A-9AB5-F7219A055CFB}"/>
              </a:ext>
            </a:extLst>
          </p:cNvPr>
          <p:cNvSpPr>
            <a:spLocks noGrp="1"/>
          </p:cNvSpPr>
          <p:nvPr/>
        </p:nvSpPr>
        <p:spPr>
          <a:xfrm>
            <a:off x="1466850" y="1924050"/>
            <a:ext cx="95250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The project scope is to establish a low-latency video connection between an RC car and a remote web browser, targeting a glass-to-glass latency below 400 ms. Data transport and vehicle control are not included.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60590FA-78CC-41D7-AABE-518EE2C842A3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5257800" cy="1504950"/>
          </a:xfrm>
          <a:prstGeom prst="roundRect">
            <a:avLst>
              <a:gd name="adj" fmla="val 8861"/>
            </a:avLst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31A760-5ECD-4B88-ABDE-FF33D6E251F3}"/>
              </a:ext>
            </a:extLst>
          </p:cNvPr>
          <p:cNvSpPr>
            <a:spLocks noGrp="1"/>
          </p:cNvSpPr>
          <p:nvPr/>
        </p:nvSpPr>
        <p:spPr>
          <a:xfrm>
            <a:off x="952500" y="427672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INCLUDED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1672A1C-4CFA-4D44-A0C0-C26FE0D68CA5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4533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Capture, encode, negotiate, transport, play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EAC06DE-0996-4E81-9B95-518CF2739960}"/>
              </a:ext>
            </a:extLst>
          </p:cNvPr>
          <p:cNvSpPr>
            <a:spLocks noGrp="1"/>
          </p:cNvSpPr>
          <p:nvPr/>
        </p:nvSpPr>
        <p:spPr>
          <a:xfrm>
            <a:off x="6248400" y="4000500"/>
            <a:ext cx="5257800" cy="1504950"/>
          </a:xfrm>
          <a:prstGeom prst="roundRect">
            <a:avLst>
              <a:gd name="adj" fmla="val 8861"/>
            </a:avLst>
          </a:prstGeom>
          <a:solidFill>
            <a:srgbClr val="E7E3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3BFCD7-C24E-4DA2-BF32-D56FC91305BE}"/>
              </a:ext>
            </a:extLst>
          </p:cNvPr>
          <p:cNvSpPr>
            <a:spLocks noGrp="1"/>
          </p:cNvSpPr>
          <p:nvPr/>
        </p:nvSpPr>
        <p:spPr>
          <a:xfrm>
            <a:off x="6515100" y="427672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3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DATA / CONTROL EXCLUDED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3D8A7D-13B8-4232-AB9A-AF0443F9A369}"/>
              </a:ext>
            </a:extLst>
          </p:cNvPr>
          <p:cNvSpPr>
            <a:spLocks noGrp="1"/>
          </p:cNvSpPr>
          <p:nvPr/>
        </p:nvSpPr>
        <p:spPr>
          <a:xfrm>
            <a:off x="6629400" y="4800600"/>
            <a:ext cx="4533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No command loop, actuation, or safety controller</a:t>
            </a:r>
          </a:p>
        </p:txBody>
      </p:sp>
    </p:spTree>
    <p:extLst>
      <p:ext uri="{BB962C8B-B14F-4D97-AF65-F5344CB8AC3E}">
        <p14:creationId xmlns:p14="http://schemas.microsoft.com/office/powerpoint/2010/main" val="90570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27BFAC66-E8CE-44A2-9666-26913D270E8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4667DB-23FF-481B-834B-CF665EA246E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Presentation Roadmap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A6422EB-687B-4528-BB05-4FFAE7DCD1CA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A0F9CC-C9E6-4BD5-B35A-5E4FF3E18ABE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E7F3641-89F9-4E16-B076-F410729B50EC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85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8A6AC05-476B-4D77-AE4E-2ABBCCA14AF4}"/>
              </a:ext>
            </a:extLst>
          </p:cNvPr>
          <p:cNvSpPr>
            <a:spLocks noGrp="1"/>
          </p:cNvSpPr>
          <p:nvPr/>
        </p:nvSpPr>
        <p:spPr>
          <a:xfrm>
            <a:off x="1809750" y="161925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AA48F4-457A-4082-ABE5-EFB2FE2D63AA}"/>
              </a:ext>
            </a:extLst>
          </p:cNvPr>
          <p:cNvSpPr>
            <a:spLocks noGrp="1"/>
          </p:cNvSpPr>
          <p:nvPr/>
        </p:nvSpPr>
        <p:spPr>
          <a:xfrm>
            <a:off x="9620250" y="16192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6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9 min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8B320632-4BB3-47C0-9023-059846EECD9B}"/>
              </a:ext>
            </a:extLst>
          </p:cNvPr>
          <p:cNvSpPr>
            <a:spLocks noGrp="1"/>
          </p:cNvSpPr>
          <p:nvPr/>
        </p:nvSpPr>
        <p:spPr>
          <a:xfrm>
            <a:off x="1809750" y="2266950"/>
            <a:ext cx="93345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ED84672-ECEE-4CAE-8589-EA583D66F8E0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85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491D71-4DFC-4E2F-B88D-692E0536634A}"/>
              </a:ext>
            </a:extLst>
          </p:cNvPr>
          <p:cNvSpPr>
            <a:spLocks noGrp="1"/>
          </p:cNvSpPr>
          <p:nvPr/>
        </p:nvSpPr>
        <p:spPr>
          <a:xfrm>
            <a:off x="1809750" y="245745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8B3011-AB9F-4609-AE08-E3EB43AC8522}"/>
              </a:ext>
            </a:extLst>
          </p:cNvPr>
          <p:cNvSpPr>
            <a:spLocks noGrp="1"/>
          </p:cNvSpPr>
          <p:nvPr/>
        </p:nvSpPr>
        <p:spPr>
          <a:xfrm>
            <a:off x="9620250" y="24574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6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5D926995-28B6-432A-B232-3B816906B6CF}"/>
              </a:ext>
            </a:extLst>
          </p:cNvPr>
          <p:cNvSpPr>
            <a:spLocks noGrp="1"/>
          </p:cNvSpPr>
          <p:nvPr/>
        </p:nvSpPr>
        <p:spPr>
          <a:xfrm>
            <a:off x="1809750" y="3105150"/>
            <a:ext cx="93345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38520B6-99B5-4B3D-95AB-FD44A97F6671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85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DCE652-D8B7-4766-A5B4-FF92C6C0AAB0}"/>
              </a:ext>
            </a:extLst>
          </p:cNvPr>
          <p:cNvSpPr>
            <a:spLocks noGrp="1"/>
          </p:cNvSpPr>
          <p:nvPr/>
        </p:nvSpPr>
        <p:spPr>
          <a:xfrm>
            <a:off x="1809750" y="329565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3F237E8-5A4E-462D-A12A-38EBABD58893}"/>
              </a:ext>
            </a:extLst>
          </p:cNvPr>
          <p:cNvSpPr>
            <a:spLocks noGrp="1"/>
          </p:cNvSpPr>
          <p:nvPr/>
        </p:nvSpPr>
        <p:spPr>
          <a:xfrm>
            <a:off x="9620250" y="32956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6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57AA6B4C-4760-4DE1-AA87-125179468521}"/>
              </a:ext>
            </a:extLst>
          </p:cNvPr>
          <p:cNvSpPr>
            <a:spLocks noGrp="1"/>
          </p:cNvSpPr>
          <p:nvPr/>
        </p:nvSpPr>
        <p:spPr>
          <a:xfrm>
            <a:off x="1809750" y="3943350"/>
            <a:ext cx="93345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686026-BBA4-4375-A981-23B762421BD6}"/>
              </a:ext>
            </a:extLst>
          </p:cNvPr>
          <p:cNvSpPr>
            <a:spLocks noGrp="1"/>
          </p:cNvSpPr>
          <p:nvPr/>
        </p:nvSpPr>
        <p:spPr>
          <a:xfrm>
            <a:off x="819150" y="4133850"/>
            <a:ext cx="85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F88402-640C-4D41-9257-7EE0ABA905AB}"/>
              </a:ext>
            </a:extLst>
          </p:cNvPr>
          <p:cNvSpPr>
            <a:spLocks noGrp="1"/>
          </p:cNvSpPr>
          <p:nvPr/>
        </p:nvSpPr>
        <p:spPr>
          <a:xfrm>
            <a:off x="1809750" y="413385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Potential Applications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B1D3DA-CE1D-4A84-8CEF-AAB9316A4CFE}"/>
              </a:ext>
            </a:extLst>
          </p:cNvPr>
          <p:cNvSpPr>
            <a:spLocks noGrp="1"/>
          </p:cNvSpPr>
          <p:nvPr/>
        </p:nvSpPr>
        <p:spPr>
          <a:xfrm>
            <a:off x="9620250" y="41338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6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7F7C94FC-F09F-4FAA-A4BD-2620417666C5}"/>
              </a:ext>
            </a:extLst>
          </p:cNvPr>
          <p:cNvSpPr>
            <a:spLocks noGrp="1"/>
          </p:cNvSpPr>
          <p:nvPr/>
        </p:nvSpPr>
        <p:spPr>
          <a:xfrm>
            <a:off x="1809750" y="4781550"/>
            <a:ext cx="93345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5841880-53B8-4BBB-AA7D-0883C63B6EE2}"/>
              </a:ext>
            </a:extLst>
          </p:cNvPr>
          <p:cNvSpPr>
            <a:spLocks noGrp="1"/>
          </p:cNvSpPr>
          <p:nvPr/>
        </p:nvSpPr>
        <p:spPr>
          <a:xfrm>
            <a:off x="819150" y="4972050"/>
            <a:ext cx="85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8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30FB81F-433C-404D-9BB2-ADE828B7783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7239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Demo / Video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02B3D2A-7C42-4C3E-8106-C860F83F02A0}"/>
              </a:ext>
            </a:extLst>
          </p:cNvPr>
          <p:cNvSpPr>
            <a:spLocks noGrp="1"/>
          </p:cNvSpPr>
          <p:nvPr/>
        </p:nvSpPr>
        <p:spPr>
          <a:xfrm>
            <a:off x="9620250" y="4972050"/>
            <a:ext cx="1524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6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</p:spTree>
    <p:extLst>
      <p:ext uri="{BB962C8B-B14F-4D97-AF65-F5344CB8AC3E}">
        <p14:creationId xmlns:p14="http://schemas.microsoft.com/office/powerpoint/2010/main" val="80755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48CDC69-1409-43D8-9607-D7A772AAA0A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8F580DE-C4F8-4096-AABD-EE39396A031F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WebRTC as a Whole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4ABD69-38EF-4E90-8C3A-E4C4A0A4D375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AE13239-B39C-4AE8-8471-1EE347C831E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BEEE678-19EF-40ED-8FAB-869D4C1CB78E}"/>
              </a:ext>
            </a:extLst>
          </p:cNvPr>
          <p:cNvSpPr>
            <a:spLocks noGrp="1"/>
          </p:cNvSpPr>
          <p:nvPr/>
        </p:nvSpPr>
        <p:spPr>
          <a:xfrm>
            <a:off x="4476750" y="2705100"/>
            <a:ext cx="3238500" cy="1047750"/>
          </a:xfrm>
          <a:prstGeom prst="roundRect">
            <a:avLst>
              <a:gd name="adj" fmla="val 12727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RTCPeerConnection</a:t>
            </a:r>
            <a:endParaRPr sz="23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5CC65C0-7AB3-4E1D-AF31-CEDB19C17C85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2857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Browser and native APIs</a:t>
            </a:r>
          </a:p>
        </p:txBody>
      </p:sp>
      <p:cxnSp>
        <p:nvCxnSpPr>
          <p:cNvPr id="25" name="Conector recto de flecha 24"/>
          <p:cNvCxnSpPr>
            <a:stCxn id="6" idx="3"/>
            <a:endCxn id="5" idx="1"/>
          </p:cNvCxnSpPr>
          <p:nvPr/>
        </p:nvCxnSpPr>
        <p:spPr>
          <a:xfrm>
            <a:off x="3638550" y="2143125"/>
            <a:ext cx="838200" cy="10858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F0DCEB5-A124-43C2-B5DA-C85E112ECA88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2857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Application-defined signaling</a:t>
            </a:r>
          </a:p>
        </p:txBody>
      </p:sp>
      <p:cxnSp>
        <p:nvCxnSpPr>
          <p:cNvPr id="27" name="Conector recto de flecha 26"/>
          <p:cNvCxnSpPr>
            <a:stCxn id="8" idx="3"/>
            <a:endCxn id="5" idx="1"/>
          </p:cNvCxnSpPr>
          <p:nvPr/>
        </p:nvCxnSpPr>
        <p:spPr>
          <a:xfrm flipV="1">
            <a:off x="3638550" y="3228975"/>
            <a:ext cx="838200" cy="13144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4622E93-17B0-401E-8234-D4A9D09CAAE6}"/>
              </a:ext>
            </a:extLst>
          </p:cNvPr>
          <p:cNvSpPr>
            <a:spLocks noGrp="1"/>
          </p:cNvSpPr>
          <p:nvPr/>
        </p:nvSpPr>
        <p:spPr>
          <a:xfrm>
            <a:off x="8543925" y="1771650"/>
            <a:ext cx="2857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ICE connectivity</a:t>
            </a:r>
          </a:p>
        </p:txBody>
      </p:sp>
      <p:cxnSp>
        <p:nvCxnSpPr>
          <p:cNvPr id="29" name="Conector recto de flecha 28"/>
          <p:cNvCxnSpPr>
            <a:stCxn id="10" idx="1"/>
            <a:endCxn id="5" idx="3"/>
          </p:cNvCxnSpPr>
          <p:nvPr/>
        </p:nvCxnSpPr>
        <p:spPr>
          <a:xfrm flipH="1">
            <a:off x="7715250" y="2143125"/>
            <a:ext cx="828675" cy="10858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C85FE71-DF2E-455E-BDBD-33A1A28E969D}"/>
              </a:ext>
            </a:extLst>
          </p:cNvPr>
          <p:cNvSpPr>
            <a:spLocks noGrp="1"/>
          </p:cNvSpPr>
          <p:nvPr/>
        </p:nvSpPr>
        <p:spPr>
          <a:xfrm>
            <a:off x="8543925" y="4171950"/>
            <a:ext cx="2857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DTLS-SRTP encryption</a:t>
            </a:r>
          </a:p>
        </p:txBody>
      </p:sp>
      <p:cxnSp>
        <p:nvCxnSpPr>
          <p:cNvPr id="31" name="Conector recto de flecha 30"/>
          <p:cNvCxnSpPr>
            <a:stCxn id="12" idx="1"/>
            <a:endCxn id="5" idx="3"/>
          </p:cNvCxnSpPr>
          <p:nvPr/>
        </p:nvCxnSpPr>
        <p:spPr>
          <a:xfrm flipH="1" flipV="1">
            <a:off x="7715250" y="3228975"/>
            <a:ext cx="828675" cy="13144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3B60421-D5E0-4710-AEB5-BDF7ACD32F43}"/>
              </a:ext>
            </a:extLst>
          </p:cNvPr>
          <p:cNvSpPr>
            <a:spLocks noGrp="1"/>
          </p:cNvSpPr>
          <p:nvPr/>
        </p:nvSpPr>
        <p:spPr>
          <a:xfrm>
            <a:off x="4476750" y="1485900"/>
            <a:ext cx="3238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Real-time media</a:t>
            </a:r>
          </a:p>
        </p:txBody>
      </p:sp>
      <p:cxnSp>
        <p:nvCxnSpPr>
          <p:cNvPr id="33" name="Conector recto de flecha 32"/>
          <p:cNvCxnSpPr>
            <a:stCxn id="14" idx="2"/>
            <a:endCxn id="5" idx="0"/>
          </p:cNvCxnSpPr>
          <p:nvPr/>
        </p:nvCxnSpPr>
        <p:spPr>
          <a:xfrm>
            <a:off x="6096000" y="2228850"/>
            <a:ext cx="0" cy="4762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6E6217E-F468-4A2C-917D-216B8EC58672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238500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Congestion control</a:t>
            </a:r>
          </a:p>
        </p:txBody>
      </p:sp>
      <p:cxnSp>
        <p:nvCxnSpPr>
          <p:cNvPr id="35" name="Conector recto de flecha 34"/>
          <p:cNvCxnSpPr>
            <a:stCxn id="16" idx="0"/>
            <a:endCxn id="5" idx="2"/>
          </p:cNvCxnSpPr>
          <p:nvPr/>
        </p:nvCxnSpPr>
        <p:spPr>
          <a:xfrm flipV="1">
            <a:off x="6096000" y="3752850"/>
            <a:ext cx="0" cy="64770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23DC108-6F33-487C-8F7E-BB1BFE97CD91}"/>
              </a:ext>
            </a:extLst>
          </p:cNvPr>
          <p:cNvSpPr>
            <a:spLocks noGrp="1"/>
          </p:cNvSpPr>
          <p:nvPr/>
        </p:nvSpPr>
        <p:spPr>
          <a:xfrm>
            <a:off x="1333500" y="561975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WebRTC combines APIs and protocols. It does not prescribe how the application carries signaling messages.</a:t>
            </a:r>
          </a:p>
        </p:txBody>
      </p:sp>
    </p:spTree>
    <p:extLst>
      <p:ext uri="{BB962C8B-B14F-4D97-AF65-F5344CB8AC3E}">
        <p14:creationId xmlns:p14="http://schemas.microsoft.com/office/powerpoint/2010/main" val="11225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07F735B-634D-43FB-B2F9-DBD86FA79A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85F9A2B-8B5A-4D01-A7C9-6998F896249A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The WebRTC Protocol Stack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827970-C07D-4CF0-A8B3-9AF33F1DDD7A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F21B09-9351-4CFB-9184-F53ED495B2F2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8" name="Imagen 17" descr="WebRTC protocol stack showing browser APIs over HTTP, optional TLS, and TCP; RTCPeerConnection and DataChannel over RTP/RTCP, SCTP, mandatory DTLS, ICE/STUN/TURN, UDP, and IP.">
            <a:extLst>
              <a:ext uri="{FF2B5EF4-FFF2-40B4-BE49-F238E27FC236}">
                <a16:creationId xmlns:a16="http://schemas.microsoft.com/office/drawing/2014/main" id="{2FD464F3-CD95-50DA-2B91-0EBE49D96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958" y="1860803"/>
            <a:ext cx="8811846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D06610C-6871-4F0F-A248-6A458BDF9A8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83B3475-957D-4337-958E-59DB2A938EEF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STUN and TURN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C664C0-4CD9-483C-A8C8-B7A998E20760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055462-4D07-4EFC-A1E5-256E5DCC6647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F4EFF7-BD51-4027-B6F7-A24EE86414A7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1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STUN: discover and test a direct path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65EFCD8-107F-4465-96FA-1DB41DCF5FBB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1381125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Peer A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private address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BE2D488-8DF1-4D76-BAE6-4A53BA20A5A9}"/>
              </a:ext>
            </a:extLst>
          </p:cNvPr>
          <p:cNvSpPr>
            <a:spLocks noGrp="1"/>
          </p:cNvSpPr>
          <p:nvPr/>
        </p:nvSpPr>
        <p:spPr>
          <a:xfrm>
            <a:off x="2476500" y="2133600"/>
            <a:ext cx="1619250" cy="1181100"/>
          </a:xfrm>
          <a:prstGeom prst="roundRect">
            <a:avLst>
              <a:gd name="adj" fmla="val 11290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STUN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public mapping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73D4139-25E6-449A-934C-89652631673B}"/>
              </a:ext>
            </a:extLst>
          </p:cNvPr>
          <p:cNvSpPr>
            <a:spLocks noGrp="1"/>
          </p:cNvSpPr>
          <p:nvPr/>
        </p:nvSpPr>
        <p:spPr>
          <a:xfrm>
            <a:off x="4524375" y="2305050"/>
            <a:ext cx="1476375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Peer B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private address</a:t>
            </a:r>
          </a:p>
        </p:txBody>
      </p:sp>
      <p:cxnSp>
        <p:nvCxnSpPr>
          <p:cNvPr id="41" name="Conector recto de flecha 40"/>
          <p:cNvCxnSpPr>
            <a:stCxn id="6" idx="3"/>
            <a:endCxn id="7" idx="1"/>
          </p:cNvCxnSpPr>
          <p:nvPr/>
        </p:nvCxnSpPr>
        <p:spPr>
          <a:xfrm flipV="1">
            <a:off x="2047875" y="2724150"/>
            <a:ext cx="428625" cy="952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cxnSp>
        <p:nvCxnSpPr>
          <p:cNvPr id="42" name="Conector recto de flecha 41"/>
          <p:cNvCxnSpPr>
            <a:stCxn id="7" idx="3"/>
            <a:endCxn id="8" idx="1"/>
          </p:cNvCxnSpPr>
          <p:nvPr/>
        </p:nvCxnSpPr>
        <p:spPr>
          <a:xfrm>
            <a:off x="4095750" y="2724150"/>
            <a:ext cx="428625" cy="952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B7DC60E8-367F-495D-81D2-D48508F85B25}"/>
              </a:ext>
            </a:extLst>
          </p:cNvPr>
          <p:cNvSpPr>
            <a:spLocks noGrp="1"/>
          </p:cNvSpPr>
          <p:nvPr/>
        </p:nvSpPr>
        <p:spPr>
          <a:xfrm>
            <a:off x="1371600" y="3514725"/>
            <a:ext cx="3886200" cy="0"/>
          </a:xfrm>
          <a:prstGeom prst="line">
            <a:avLst/>
          </a:prstGeom>
          <a:noFill/>
          <a:ln w="38100">
            <a:solidFill>
              <a:srgbClr val="8300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5D662A7-56F6-4B69-BE3B-69BE0F6A91AB}"/>
              </a:ext>
            </a:extLst>
          </p:cNvPr>
          <p:cNvSpPr>
            <a:spLocks noGrp="1"/>
          </p:cNvSpPr>
          <p:nvPr/>
        </p:nvSpPr>
        <p:spPr>
          <a:xfrm>
            <a:off x="1381125" y="36385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MEDIA DIRECT WHEN REACHABLE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264E835-7B21-4BE5-9CC1-4A2705B30AD5}"/>
              </a:ext>
            </a:extLst>
          </p:cNvPr>
          <p:cNvSpPr>
            <a:spLocks noGrp="1"/>
          </p:cNvSpPr>
          <p:nvPr/>
        </p:nvSpPr>
        <p:spPr>
          <a:xfrm>
            <a:off x="6610350" y="158115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1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TURN: relay when direct checks fail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57A7940-D69F-4A20-B296-BB4B6134C289}"/>
              </a:ext>
            </a:extLst>
          </p:cNvPr>
          <p:cNvSpPr>
            <a:spLocks noGrp="1"/>
          </p:cNvSpPr>
          <p:nvPr/>
        </p:nvSpPr>
        <p:spPr>
          <a:xfrm>
            <a:off x="6667500" y="2305050"/>
            <a:ext cx="13335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Peer A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872E081-E023-4C0A-B6D2-466218E0D98A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1809750" cy="1181100"/>
          </a:xfrm>
          <a:prstGeom prst="roundRect">
            <a:avLst>
              <a:gd name="adj" fmla="val 11290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relay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allocation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7C6609D-46AA-480D-8F1C-615B964DBA62}"/>
              </a:ext>
            </a:extLst>
          </p:cNvPr>
          <p:cNvSpPr>
            <a:spLocks noGrp="1"/>
          </p:cNvSpPr>
          <p:nvPr/>
        </p:nvSpPr>
        <p:spPr>
          <a:xfrm>
            <a:off x="10763250" y="2305050"/>
            <a:ext cx="10477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Peer B</a:t>
            </a:r>
          </a:p>
        </p:txBody>
      </p:sp>
      <p:cxnSp>
        <p:nvCxnSpPr>
          <p:cNvPr id="49" name="Conector recto de flecha 48"/>
          <p:cNvCxnSpPr>
            <a:stCxn id="14" idx="3"/>
            <a:endCxn id="15" idx="1"/>
          </p:cNvCxnSpPr>
          <p:nvPr/>
        </p:nvCxnSpPr>
        <p:spPr>
          <a:xfrm flipV="1">
            <a:off x="8001000" y="2724150"/>
            <a:ext cx="476250" cy="9525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50" name="Conector recto de flecha 49"/>
          <p:cNvCxnSpPr>
            <a:stCxn id="15" idx="3"/>
            <a:endCxn id="16" idx="1"/>
          </p:cNvCxnSpPr>
          <p:nvPr/>
        </p:nvCxnSpPr>
        <p:spPr>
          <a:xfrm>
            <a:off x="10287000" y="2724150"/>
            <a:ext cx="476250" cy="9525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8EBFB33-29F1-4E81-A40B-47EB978FB5BF}"/>
              </a:ext>
            </a:extLst>
          </p:cNvPr>
          <p:cNvSpPr>
            <a:spLocks noGrp="1"/>
          </p:cNvSpPr>
          <p:nvPr/>
        </p:nvSpPr>
        <p:spPr>
          <a:xfrm>
            <a:off x="8553450" y="36385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MEDIA USES RELAY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F7971D8-36DD-4B13-844C-837189DF755C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06680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870192A-BAB4-40A0-B4A9-D7556E0C34ED}"/>
              </a:ext>
            </a:extLst>
          </p:cNvPr>
          <p:cNvSpPr>
            <a:spLocks noGrp="1"/>
          </p:cNvSpPr>
          <p:nvPr/>
        </p:nvSpPr>
        <p:spPr>
          <a:xfrm>
            <a:off x="933450" y="46958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57816AB-1153-4343-80F9-8022FB168381}"/>
              </a:ext>
            </a:extLst>
          </p:cNvPr>
          <p:cNvSpPr>
            <a:spLocks noGrp="1"/>
          </p:cNvSpPr>
          <p:nvPr/>
        </p:nvSpPr>
        <p:spPr>
          <a:xfrm>
            <a:off x="933450" y="5019675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Direct preferred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7429662-CF4D-40F1-AD11-C68D98F5C56D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Extra relay hop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1DD10BC-3757-4FA1-8C87-6CC640C03D87}"/>
              </a:ext>
            </a:extLst>
          </p:cNvPr>
          <p:cNvSpPr>
            <a:spLocks noGrp="1"/>
          </p:cNvSpPr>
          <p:nvPr/>
        </p:nvSpPr>
        <p:spPr>
          <a:xfrm>
            <a:off x="3524250" y="46958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930242E-4ED6-475B-ACA4-A55A839C89A2}"/>
              </a:ext>
            </a:extLst>
          </p:cNvPr>
          <p:cNvSpPr>
            <a:spLocks noGrp="1"/>
          </p:cNvSpPr>
          <p:nvPr/>
        </p:nvSpPr>
        <p:spPr>
          <a:xfrm>
            <a:off x="3524250" y="5019675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Usually lower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38ACAF8-7B59-4AB9-8F2C-C1EA929B2D8A}"/>
              </a:ext>
            </a:extLst>
          </p:cNvPr>
          <p:cNvSpPr>
            <a:spLocks noGrp="1"/>
          </p:cNvSpPr>
          <p:nvPr/>
        </p:nvSpPr>
        <p:spPr>
          <a:xfrm>
            <a:off x="3524250" y="5314950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May increase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5A2CD62-B6D4-4745-86B8-5757E346E380}"/>
              </a:ext>
            </a:extLst>
          </p:cNvPr>
          <p:cNvSpPr>
            <a:spLocks noGrp="1"/>
          </p:cNvSpPr>
          <p:nvPr/>
        </p:nvSpPr>
        <p:spPr>
          <a:xfrm>
            <a:off x="6115050" y="46958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BANDWIDTH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4CCBB6D-5F26-40B1-82D6-3D873B8E0E53}"/>
              </a:ext>
            </a:extLst>
          </p:cNvPr>
          <p:cNvSpPr>
            <a:spLocks noGrp="1"/>
          </p:cNvSpPr>
          <p:nvPr/>
        </p:nvSpPr>
        <p:spPr>
          <a:xfrm>
            <a:off x="6115050" y="5019675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Endpoint traffic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FB54102-5426-427A-9D3D-5871EBF66F78}"/>
              </a:ext>
            </a:extLst>
          </p:cNvPr>
          <p:cNvSpPr>
            <a:spLocks noGrp="1"/>
          </p:cNvSpPr>
          <p:nvPr/>
        </p:nvSpPr>
        <p:spPr>
          <a:xfrm>
            <a:off x="6115050" y="5314950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Relay carries all media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4567D97-E69B-4F7B-8FA4-CC6D43C6128B}"/>
              </a:ext>
            </a:extLst>
          </p:cNvPr>
          <p:cNvSpPr>
            <a:spLocks noGrp="1"/>
          </p:cNvSpPr>
          <p:nvPr/>
        </p:nvSpPr>
        <p:spPr>
          <a:xfrm>
            <a:off x="8705850" y="4695825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15E04F6-7ACF-4639-956C-DB8A9233E246}"/>
              </a:ext>
            </a:extLst>
          </p:cNvPr>
          <p:cNvSpPr>
            <a:spLocks noGrp="1"/>
          </p:cNvSpPr>
          <p:nvPr/>
        </p:nvSpPr>
        <p:spPr>
          <a:xfrm>
            <a:off x="8705850" y="5019675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STUN is lightweight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9FBBD1D-40D4-4E48-931C-0A6A05998505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324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TURN capacity costs</a:t>
            </a:r>
          </a:p>
        </p:txBody>
      </p:sp>
    </p:spTree>
    <p:extLst>
      <p:ext uri="{BB962C8B-B14F-4D97-AF65-F5344CB8AC3E}">
        <p14:creationId xmlns:p14="http://schemas.microsoft.com/office/powerpoint/2010/main" val="16164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67DF73B5-401A-4D42-A102-65DE49555885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2A5A16-0215-4F66-9818-D88EBEC69C2B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SDP Offer and Answer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7E6A14-72B7-45A1-ACAE-DB0584AE79D3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837308-51C9-4DF4-B136-066AFF6E02F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5770BFC-853B-460B-887A-9B2AA3751602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Raspberry Pi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OFFERER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24BC62F-084D-4ED3-B09E-0348DC7D326B}"/>
              </a:ext>
            </a:extLst>
          </p:cNvPr>
          <p:cNvSpPr>
            <a:spLocks noGrp="1"/>
          </p:cNvSpPr>
          <p:nvPr/>
        </p:nvSpPr>
        <p:spPr>
          <a:xfrm>
            <a:off x="4905375" y="16573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SignalR server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FORWARDS ONLY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5992359-2E1C-4EB6-B599-2A8307C840A7}"/>
              </a:ext>
            </a:extLst>
          </p:cNvPr>
          <p:cNvSpPr>
            <a:spLocks noGrp="1"/>
          </p:cNvSpPr>
          <p:nvPr/>
        </p:nvSpPr>
        <p:spPr>
          <a:xfrm>
            <a:off x="8972550" y="1657350"/>
            <a:ext cx="2381250" cy="742950"/>
          </a:xfrm>
          <a:prstGeom prst="roundRect">
            <a:avLst>
              <a:gd name="adj" fmla="val 17949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Remote browser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ANSWERER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99B81101-38B9-4E4D-97A2-481B30E04091}"/>
              </a:ext>
            </a:extLst>
          </p:cNvPr>
          <p:cNvSpPr>
            <a:spLocks noGrp="1"/>
          </p:cNvSpPr>
          <p:nvPr/>
        </p:nvSpPr>
        <p:spPr>
          <a:xfrm>
            <a:off x="2028825" y="2514600"/>
            <a:ext cx="0" cy="2895600"/>
          </a:xfrm>
          <a:prstGeom prst="line">
            <a:avLst/>
          </a:prstGeom>
          <a:noFill/>
          <a:ln w="9525">
            <a:solidFill>
              <a:srgbClr val="A69FA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2FD2DF9B-5CDC-4675-9EA0-6B8E49687783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0" cy="2895600"/>
          </a:xfrm>
          <a:prstGeom prst="line">
            <a:avLst/>
          </a:prstGeom>
          <a:noFill/>
          <a:ln w="9525">
            <a:solidFill>
              <a:srgbClr val="A69FA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00B19558-6FE1-4F26-A42C-521220F84CA5}"/>
              </a:ext>
            </a:extLst>
          </p:cNvPr>
          <p:cNvSpPr>
            <a:spLocks noGrp="1"/>
          </p:cNvSpPr>
          <p:nvPr/>
        </p:nvSpPr>
        <p:spPr>
          <a:xfrm>
            <a:off x="10163175" y="2514600"/>
            <a:ext cx="0" cy="2895600"/>
          </a:xfrm>
          <a:prstGeom prst="line">
            <a:avLst/>
          </a:prstGeom>
          <a:noFill/>
          <a:ln w="9525">
            <a:solidFill>
              <a:srgbClr val="A69FA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777A500-A949-4990-BAEF-102CC8238EC7}"/>
              </a:ext>
            </a:extLst>
          </p:cNvPr>
          <p:cNvSpPr>
            <a:spLocks noGrp="1"/>
          </p:cNvSpPr>
          <p:nvPr/>
        </p:nvSpPr>
        <p:spPr>
          <a:xfrm>
            <a:off x="3238500" y="2724150"/>
            <a:ext cx="5715000" cy="400050"/>
          </a:xfrm>
          <a:prstGeom prst="rightArrow">
            <a:avLst/>
          </a:prstGeom>
          <a:solidFill>
            <a:srgbClr val="830051"/>
          </a:solidFill>
          <a:ln w="0">
            <a:noFill/>
          </a:ln>
        </p:spPr>
        <p:txBody>
          <a:bodyPr wrap="square" lIns="247650" tIns="19050" rIns="24765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SDP OFFER VIA SIGNALR</a:t>
            </a:r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F824A59C-3181-4999-9E70-C0F69421CB66}"/>
              </a:ext>
            </a:extLst>
          </p:cNvPr>
          <p:cNvSpPr>
            <a:spLocks noGrp="1"/>
          </p:cNvSpPr>
          <p:nvPr/>
        </p:nvSpPr>
        <p:spPr>
          <a:xfrm>
            <a:off x="3238500" y="3429000"/>
            <a:ext cx="5715000" cy="400050"/>
          </a:xfrm>
          <a:prstGeom prst="leftArrow">
            <a:avLst/>
          </a:prstGeom>
          <a:solidFill>
            <a:srgbClr val="171417"/>
          </a:solidFill>
          <a:ln w="0">
            <a:noFill/>
          </a:ln>
        </p:spPr>
        <p:txBody>
          <a:bodyPr wrap="square" lIns="247650" tIns="19050" rIns="24765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SDP ANSWER VIA SIGNALR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A614E90-0E36-4F31-A993-405F31762C1A}"/>
              </a:ext>
            </a:extLst>
          </p:cNvPr>
          <p:cNvSpPr>
            <a:spLocks noGrp="1"/>
          </p:cNvSpPr>
          <p:nvPr/>
        </p:nvSpPr>
        <p:spPr>
          <a:xfrm>
            <a:off x="1619250" y="4305300"/>
            <a:ext cx="8953500" cy="1104900"/>
          </a:xfrm>
          <a:prstGeom prst="roundRect">
            <a:avLst>
              <a:gd name="adj" fmla="val 10345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AB6AD4F-FC80-4B58-A910-140CECEF067B}"/>
              </a:ext>
            </a:extLst>
          </p:cNvPr>
          <p:cNvSpPr>
            <a:spLocks noGrp="1"/>
          </p:cNvSpPr>
          <p:nvPr/>
        </p:nvSpPr>
        <p:spPr>
          <a:xfrm>
            <a:off x="1809750" y="45148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CA416B2-5235-4530-95E4-583256C9CFEA}"/>
              </a:ext>
            </a:extLst>
          </p:cNvPr>
          <p:cNvSpPr>
            <a:spLocks noGrp="1"/>
          </p:cNvSpPr>
          <p:nvPr/>
        </p:nvSpPr>
        <p:spPr>
          <a:xfrm>
            <a:off x="1809750" y="4838700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media sections and direction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DBE6BA0-E9F8-44FD-9764-A37A7C5652BC}"/>
              </a:ext>
            </a:extLst>
          </p:cNvPr>
          <p:cNvSpPr>
            <a:spLocks noGrp="1"/>
          </p:cNvSpPr>
          <p:nvPr/>
        </p:nvSpPr>
        <p:spPr>
          <a:xfrm>
            <a:off x="3981450" y="45148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710C6D-8B26-420D-9023-CCF7B36BE36C}"/>
              </a:ext>
            </a:extLst>
          </p:cNvPr>
          <p:cNvSpPr>
            <a:spLocks noGrp="1"/>
          </p:cNvSpPr>
          <p:nvPr/>
        </p:nvSpPr>
        <p:spPr>
          <a:xfrm>
            <a:off x="3981450" y="4838700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codecs and RTP parameters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94BC48E-A676-4C4D-BC0B-49B1AE984A1E}"/>
              </a:ext>
            </a:extLst>
          </p:cNvPr>
          <p:cNvSpPr>
            <a:spLocks noGrp="1"/>
          </p:cNvSpPr>
          <p:nvPr/>
        </p:nvSpPr>
        <p:spPr>
          <a:xfrm>
            <a:off x="6153150" y="45148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A7EFF33-7654-4BEA-9BC2-E464ADC217A2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ICE credentials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472200-A010-4FB1-B0CF-F0194B2E2E60}"/>
              </a:ext>
            </a:extLst>
          </p:cNvPr>
          <p:cNvSpPr>
            <a:spLocks noGrp="1"/>
          </p:cNvSpPr>
          <p:nvPr/>
        </p:nvSpPr>
        <p:spPr>
          <a:xfrm>
            <a:off x="8324850" y="45148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21509F-D3E1-4135-BD37-E28F0D5B0E3A}"/>
              </a:ext>
            </a:extLst>
          </p:cNvPr>
          <p:cNvSpPr>
            <a:spLocks noGrp="1"/>
          </p:cNvSpPr>
          <p:nvPr/>
        </p:nvSpPr>
        <p:spPr>
          <a:xfrm>
            <a:off x="8324850" y="4838700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DTLS fingerprints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772869B-5A9E-4D5F-AF7D-40B9D81FEB7B}"/>
              </a:ext>
            </a:extLst>
          </p:cNvPr>
          <p:cNvSpPr>
            <a:spLocks noGrp="1"/>
          </p:cNvSpPr>
          <p:nvPr/>
        </p:nvSpPr>
        <p:spPr>
          <a:xfrm>
            <a:off x="1600200" y="5695950"/>
            <a:ext cx="8991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SignalR transports the descriptions. It does not interpret or terminate the media session.</a:t>
            </a:r>
          </a:p>
        </p:txBody>
      </p:sp>
    </p:spTree>
    <p:extLst>
      <p:ext uri="{BB962C8B-B14F-4D97-AF65-F5344CB8AC3E}">
        <p14:creationId xmlns:p14="http://schemas.microsoft.com/office/powerpoint/2010/main" val="542097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ADBDDA38-60CC-4674-BDCB-BBAE198471B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CC3FAF-CD7E-4C2D-A68B-B26AFF95DC6D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ICE Candidates After SDP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CBC067-9811-4F96-B066-82CC54781C54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3B9DBC-6A8F-4E78-B764-08EE1728ACB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2DE8B5C-89E6-4A52-8EE5-DB7A96328A5E}"/>
              </a:ext>
            </a:extLst>
          </p:cNvPr>
          <p:cNvSpPr>
            <a:spLocks noGrp="1"/>
          </p:cNvSpPr>
          <p:nvPr/>
        </p:nvSpPr>
        <p:spPr>
          <a:xfrm>
            <a:off x="1400175" y="16573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334A0F3-C2F6-4080-BC61-7FB84B47731C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9050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Initial SDP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offer / answer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516A700-C677-4429-80F8-BC66352C8768}"/>
              </a:ext>
            </a:extLst>
          </p:cNvPr>
          <p:cNvSpPr>
            <a:spLocks noGrp="1"/>
          </p:cNvSpPr>
          <p:nvPr/>
        </p:nvSpPr>
        <p:spPr>
          <a:xfrm>
            <a:off x="3648075" y="16573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1AE3B4-9934-44EC-91BD-3731B6A3C257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19050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Candidates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trickle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02E3994-1D6E-48BD-AE5C-34A6C9EE885C}"/>
              </a:ext>
            </a:extLst>
          </p:cNvPr>
          <p:cNvSpPr>
            <a:spLocks noGrp="1"/>
          </p:cNvSpPr>
          <p:nvPr/>
        </p:nvSpPr>
        <p:spPr>
          <a:xfrm>
            <a:off x="5895975" y="16573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A8AD2DA-E777-4571-9C64-BC1BFBA96433}"/>
              </a:ext>
            </a:extLst>
          </p:cNvPr>
          <p:cNvSpPr>
            <a:spLocks noGrp="1"/>
          </p:cNvSpPr>
          <p:nvPr/>
        </p:nvSpPr>
        <p:spPr>
          <a:xfrm>
            <a:off x="5162550" y="2209800"/>
            <a:ext cx="19050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Connectivity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85F5E45-B295-4442-83F8-79C8F9FBF843}"/>
              </a:ext>
            </a:extLst>
          </p:cNvPr>
          <p:cNvSpPr>
            <a:spLocks noGrp="1"/>
          </p:cNvSpPr>
          <p:nvPr/>
        </p:nvSpPr>
        <p:spPr>
          <a:xfrm>
            <a:off x="8143875" y="16573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C6783AA-DD81-4FC0-85A1-ECD9917E79C7}"/>
              </a:ext>
            </a:extLst>
          </p:cNvPr>
          <p:cNvSpPr>
            <a:spLocks noGrp="1"/>
          </p:cNvSpPr>
          <p:nvPr/>
        </p:nvSpPr>
        <p:spPr>
          <a:xfrm>
            <a:off x="7410450" y="2209800"/>
            <a:ext cx="19050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Pairs ranked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by priority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B9863BE-E6B7-4AAD-AB94-C9042DD9B716}"/>
              </a:ext>
            </a:extLst>
          </p:cNvPr>
          <p:cNvSpPr>
            <a:spLocks noGrp="1"/>
          </p:cNvSpPr>
          <p:nvPr/>
        </p:nvSpPr>
        <p:spPr>
          <a:xfrm>
            <a:off x="10391775" y="16573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43CA45F-86F4-4C43-AB65-9A8463D462F5}"/>
              </a:ext>
            </a:extLst>
          </p:cNvPr>
          <p:cNvSpPr>
            <a:spLocks noGrp="1"/>
          </p:cNvSpPr>
          <p:nvPr/>
        </p:nvSpPr>
        <p:spPr>
          <a:xfrm>
            <a:off x="9658350" y="2209800"/>
            <a:ext cx="1905000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Winning pair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nominated</a:t>
            </a:r>
          </a:p>
        </p:txBody>
      </p:sp>
      <p:cxnSp>
        <p:nvCxnSpPr>
          <p:cNvPr id="43" name="Conector recto de flecha 42"/>
          <p:cNvCxnSpPr>
            <a:stCxn id="6" idx="3"/>
            <a:endCxn id="8" idx="1"/>
          </p:cNvCxnSpPr>
          <p:nvPr/>
        </p:nvCxnSpPr>
        <p:spPr>
          <a:xfrm>
            <a:off x="2571750" y="2647950"/>
            <a:ext cx="3429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4" name="Conector recto de flecha 43"/>
          <p:cNvCxnSpPr>
            <a:stCxn id="8" idx="3"/>
            <a:endCxn id="10" idx="1"/>
          </p:cNvCxnSpPr>
          <p:nvPr/>
        </p:nvCxnSpPr>
        <p:spPr>
          <a:xfrm>
            <a:off x="4819650" y="2647950"/>
            <a:ext cx="3429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5" name="Conector recto de flecha 44"/>
          <p:cNvCxnSpPr>
            <a:stCxn id="10" idx="3"/>
            <a:endCxn id="12" idx="1"/>
          </p:cNvCxnSpPr>
          <p:nvPr/>
        </p:nvCxnSpPr>
        <p:spPr>
          <a:xfrm>
            <a:off x="7067550" y="2647950"/>
            <a:ext cx="3429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6" name="Conector recto de flecha 45"/>
          <p:cNvCxnSpPr>
            <a:stCxn id="12" idx="3"/>
            <a:endCxn id="14" idx="1"/>
          </p:cNvCxnSpPr>
          <p:nvPr/>
        </p:nvCxnSpPr>
        <p:spPr>
          <a:xfrm>
            <a:off x="9315450" y="2647950"/>
            <a:ext cx="3429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A810608-C409-42AF-9312-D59A400BAF7A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10858500" cy="1390650"/>
          </a:xfrm>
          <a:prstGeom prst="roundRect">
            <a:avLst>
              <a:gd name="adj" fmla="val 9589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C65B9E7-AB55-443C-9BF8-4701A9CDE5B6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HOST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904D56-6E93-4D7D-9ED3-85C11CFD3546}"/>
              </a:ext>
            </a:extLst>
          </p:cNvPr>
          <p:cNvSpPr>
            <a:spLocks noGrp="1"/>
          </p:cNvSpPr>
          <p:nvPr/>
        </p:nvSpPr>
        <p:spPr>
          <a:xfrm>
            <a:off x="895350" y="4267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local interface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A4F2B47-B32D-491D-940E-BE472FD8F2EC}"/>
              </a:ext>
            </a:extLst>
          </p:cNvPr>
          <p:cNvSpPr>
            <a:spLocks noGrp="1"/>
          </p:cNvSpPr>
          <p:nvPr/>
        </p:nvSpPr>
        <p:spPr>
          <a:xfrm>
            <a:off x="3543300" y="38290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SRFLX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5162B0F-AD9E-42E7-8C93-8FFCF2CDFB5F}"/>
              </a:ext>
            </a:extLst>
          </p:cNvPr>
          <p:cNvSpPr>
            <a:spLocks noGrp="1"/>
          </p:cNvSpPr>
          <p:nvPr/>
        </p:nvSpPr>
        <p:spPr>
          <a:xfrm>
            <a:off x="3543300" y="4267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mapping learned via STUN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775C41F-56AD-46CD-88C5-3E05C875A344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PRFLX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CAFBE13-90AB-4015-96DB-04AB89908922}"/>
              </a:ext>
            </a:extLst>
          </p:cNvPr>
          <p:cNvSpPr>
            <a:spLocks noGrp="1"/>
          </p:cNvSpPr>
          <p:nvPr/>
        </p:nvSpPr>
        <p:spPr>
          <a:xfrm>
            <a:off x="6191250" y="4267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mapping learned in checks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E1DC4EE-90D8-42C0-9C98-A4EE59BCDDD5}"/>
              </a:ext>
            </a:extLst>
          </p:cNvPr>
          <p:cNvSpPr>
            <a:spLocks noGrp="1"/>
          </p:cNvSpPr>
          <p:nvPr/>
        </p:nvSpPr>
        <p:spPr>
          <a:xfrm>
            <a:off x="8839200" y="38290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RELAY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5F8412A-622D-4D21-8A84-239F1B131658}"/>
              </a:ext>
            </a:extLst>
          </p:cNvPr>
          <p:cNvSpPr>
            <a:spLocks noGrp="1"/>
          </p:cNvSpPr>
          <p:nvPr/>
        </p:nvSpPr>
        <p:spPr>
          <a:xfrm>
            <a:off x="8839200" y="4267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TURN allocation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78E64-42E0-4851-AE75-19593368754B}"/>
              </a:ext>
            </a:extLst>
          </p:cNvPr>
          <p:cNvSpPr>
            <a:spLocks noGrp="1"/>
          </p:cNvSpPr>
          <p:nvPr/>
        </p:nvSpPr>
        <p:spPr>
          <a:xfrm>
            <a:off x="1181100" y="5391150"/>
            <a:ext cx="9829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Gathering and SDP creation can overlap at runtime. Trickle ICE sends candidates as soon as they appear.</a:t>
            </a:r>
          </a:p>
        </p:txBody>
      </p:sp>
    </p:spTree>
    <p:extLst>
      <p:ext uri="{BB962C8B-B14F-4D97-AF65-F5344CB8AC3E}">
        <p14:creationId xmlns:p14="http://schemas.microsoft.com/office/powerpoint/2010/main" val="292455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6EEC6EB-3729-4D8E-81B3-44A8BADDC8E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897589-F352-4DAD-AA13-C392E13D9C65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WebRTC Video Encodings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F7F739-39A8-4F21-A569-0BB48CA42622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72A9B1-1612-4D38-AEAF-5CBBA1CE0D8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B39DE57-0EF7-4715-B9B5-5283DC1ACD62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524500" cy="628650"/>
          </a:xfrm>
          <a:prstGeom prst="roundRect">
            <a:avLst>
              <a:gd name="adj" fmla="val 15152"/>
            </a:avLst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3D378F-CD10-49A6-A053-5908CC55975A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VP8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0D151B-DDA0-4FAC-84E9-E7D869F2F876}"/>
              </a:ext>
            </a:extLst>
          </p:cNvPr>
          <p:cNvSpPr>
            <a:spLocks noGrp="1"/>
          </p:cNvSpPr>
          <p:nvPr/>
        </p:nvSpPr>
        <p:spPr>
          <a:xfrm>
            <a:off x="3829050" y="1743075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Mandatory to implement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3F8B967-F2F1-4B78-AB65-AAB980CC11C8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5524500" cy="628650"/>
          </a:xfrm>
          <a:prstGeom prst="roundRect">
            <a:avLst>
              <a:gd name="adj" fmla="val 15152"/>
            </a:avLst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A534A3-6818-4877-9B20-89AFF53FA6E3}"/>
              </a:ext>
            </a:extLst>
          </p:cNvPr>
          <p:cNvSpPr>
            <a:spLocks noGrp="1"/>
          </p:cNvSpPr>
          <p:nvPr/>
        </p:nvSpPr>
        <p:spPr>
          <a:xfrm>
            <a:off x="876300" y="25241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 Constrained Baseline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244FC6B-895F-4E58-B222-21F38795EFAB}"/>
              </a:ext>
            </a:extLst>
          </p:cNvPr>
          <p:cNvSpPr>
            <a:spLocks noGrp="1"/>
          </p:cNvSpPr>
          <p:nvPr/>
        </p:nvSpPr>
        <p:spPr>
          <a:xfrm>
            <a:off x="3829050" y="2524125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Mandatory to implement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62C7E49-B402-4E44-910A-F9FFDB444818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5524500" cy="628650"/>
          </a:xfrm>
          <a:prstGeom prst="roundRect">
            <a:avLst>
              <a:gd name="adj" fmla="val 15152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67B5CAE-FD08-41AF-83C3-36A15E9E9EFC}"/>
              </a:ext>
            </a:extLst>
          </p:cNvPr>
          <p:cNvSpPr>
            <a:spLocks noGrp="1"/>
          </p:cNvSpPr>
          <p:nvPr/>
        </p:nvSpPr>
        <p:spPr>
          <a:xfrm>
            <a:off x="876300" y="33051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VP9 / AV1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1BEFB2A-C949-459E-9F54-38D89C4B753B}"/>
              </a:ext>
            </a:extLst>
          </p:cNvPr>
          <p:cNvSpPr>
            <a:spLocks noGrp="1"/>
          </p:cNvSpPr>
          <p:nvPr/>
        </p:nvSpPr>
        <p:spPr>
          <a:xfrm>
            <a:off x="3829050" y="3305175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Optional modern choices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048A408-0FD8-4597-8FAC-6F739E00D79A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5524500" cy="628650"/>
          </a:xfrm>
          <a:prstGeom prst="roundRect">
            <a:avLst>
              <a:gd name="adj" fmla="val 15152"/>
            </a:avLst>
          </a:prstGeom>
          <a:solidFill>
            <a:srgbClr val="E7E3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F6832-A610-47AD-A701-6E7A5B11637A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H.265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2FC1C7-87C0-431A-A848-F519202B8AC3}"/>
              </a:ext>
            </a:extLst>
          </p:cNvPr>
          <p:cNvSpPr>
            <a:spLocks noGrp="1"/>
          </p:cNvSpPr>
          <p:nvPr/>
        </p:nvSpPr>
        <p:spPr>
          <a:xfrm>
            <a:off x="3829050" y="4086225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Fragmented support; no universal browser assumption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8BDCEA-ECCE-4E2A-915A-FC56111E5E16}"/>
              </a:ext>
            </a:extLst>
          </p:cNvPr>
          <p:cNvSpPr>
            <a:spLocks noGrp="1"/>
          </p:cNvSpPr>
          <p:nvPr/>
        </p:nvSpPr>
        <p:spPr>
          <a:xfrm>
            <a:off x="6934200" y="1685925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CURRENT PROJECT PIPELINE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C1E8CDA-12CF-4F7A-9CBA-C8CDE8BCA38E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138112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Camera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MJPEG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A557B26-C7D9-4B13-89C4-E236B94E03DB}"/>
              </a:ext>
            </a:extLst>
          </p:cNvPr>
          <p:cNvSpPr>
            <a:spLocks noGrp="1"/>
          </p:cNvSpPr>
          <p:nvPr/>
        </p:nvSpPr>
        <p:spPr>
          <a:xfrm>
            <a:off x="8582025" y="2247900"/>
            <a:ext cx="1657350" cy="876300"/>
          </a:xfrm>
          <a:prstGeom prst="roundRect">
            <a:avLst>
              <a:gd name="adj" fmla="val 15217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FFmpeg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decode + encode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207DBAF-5D6B-422B-AC52-1A5A63890A19}"/>
              </a:ext>
            </a:extLst>
          </p:cNvPr>
          <p:cNvSpPr>
            <a:spLocks noGrp="1"/>
          </p:cNvSpPr>
          <p:nvPr/>
        </p:nvSpPr>
        <p:spPr>
          <a:xfrm>
            <a:off x="10553700" y="2247900"/>
            <a:ext cx="1200150" cy="876300"/>
          </a:xfrm>
          <a:prstGeom prst="roundRect">
            <a:avLst>
              <a:gd name="adj" fmla="val 1521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cxnSp>
        <p:nvCxnSpPr>
          <p:cNvPr id="47" name="Conector recto de flecha 46"/>
          <p:cNvCxnSpPr>
            <a:stCxn id="18" idx="3"/>
            <a:endCxn id="19" idx="1"/>
          </p:cNvCxnSpPr>
          <p:nvPr/>
        </p:nvCxnSpPr>
        <p:spPr>
          <a:xfrm>
            <a:off x="8258175" y="2686050"/>
            <a:ext cx="323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8" name="Conector recto de flecha 47"/>
          <p:cNvCxnSpPr>
            <a:stCxn id="19" idx="3"/>
            <a:endCxn id="20" idx="1"/>
          </p:cNvCxnSpPr>
          <p:nvPr/>
        </p:nvCxnSpPr>
        <p:spPr>
          <a:xfrm>
            <a:off x="10239375" y="2686050"/>
            <a:ext cx="314325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48454EB-B35F-4739-81B0-077FF7B5EBCD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87680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E96EDF8-536D-47DC-85E3-38858FF3F5D4}"/>
              </a:ext>
            </a:extLst>
          </p:cNvPr>
          <p:cNvSpPr>
            <a:spLocks noGrp="1"/>
          </p:cNvSpPr>
          <p:nvPr/>
        </p:nvSpPr>
        <p:spPr>
          <a:xfrm>
            <a:off x="7124700" y="377190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Negotiation, not a fixed assumption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1FDCD05-B5F9-4475-9F65-E34805077BD9}"/>
              </a:ext>
            </a:extLst>
          </p:cNvPr>
          <p:cNvSpPr>
            <a:spLocks noGrp="1"/>
          </p:cNvSpPr>
          <p:nvPr/>
        </p:nvSpPr>
        <p:spPr>
          <a:xfrm>
            <a:off x="7124700" y="4210050"/>
            <a:ext cx="43053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>
            <a:noAutofit/>
          </a:bodyPr>
          <a:lstStyle/>
          <a:p>
            <a:pPr marL="254000" indent="-127000">
              <a:lnSpc>
                <a:spcPct val="105000"/>
              </a:lnSpc>
              <a:spcAft>
                <a:spcPts val="700"/>
              </a:spcAft>
              <a:buNone/>
              <a:defRPr sz="150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417"/>
                </a:solidFill>
                <a:latin typeface="Arial"/>
                <a:ea typeface="Arial"/>
                <a:cs typeface="Arial"/>
              </a:rPr>
              <a:t>Mandatory-to-implement means an interoperability baseline.</a:t>
            </a:r>
          </a:p>
          <a:p>
            <a:pPr marL="254000" indent="-127000">
              <a:lnSpc>
                <a:spcPct val="105000"/>
              </a:lnSpc>
              <a:spcAft>
                <a:spcPts val="700"/>
              </a:spcAft>
              <a:buNone/>
              <a:defRPr sz="150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1417"/>
                </a:solidFill>
                <a:latin typeface="Arial"/>
                <a:ea typeface="Arial"/>
                <a:cs typeface="Arial"/>
              </a:rPr>
              <a:t>The selected codec still depends on offer/answer negotiation.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81A512F-D11A-45A4-8F19-A96C93C67A6E}"/>
              </a:ext>
            </a:extLst>
          </p:cNvPr>
          <p:cNvSpPr>
            <a:spLocks noGrp="1"/>
          </p:cNvSpPr>
          <p:nvPr/>
        </p:nvSpPr>
        <p:spPr>
          <a:xfrm>
            <a:off x="1219200" y="5619750"/>
            <a:ext cx="9753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The project advertises H.264 packetization-mode=1 with profile-level-id 42e01f.</a:t>
            </a:r>
          </a:p>
        </p:txBody>
      </p:sp>
    </p:spTree>
    <p:extLst>
      <p:ext uri="{BB962C8B-B14F-4D97-AF65-F5344CB8AC3E}">
        <p14:creationId xmlns:p14="http://schemas.microsoft.com/office/powerpoint/2010/main" val="39357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FEEC6E99-40DC-4E3A-8C1B-FDF6B69E6BB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C73A95B-CEBE-42F6-8E00-FB64E205C0E6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WHIP and WHEP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664D82-8A67-42D7-8E82-9327F95846E8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6D2E29F-26F7-4D0D-AB67-33CEA17C466D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A1E9A8C-6EBE-4DF7-8FF2-681BFA5C120D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2238375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Publisher / device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6ACB176-7671-4D1D-A4B2-2F6183760695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2857500" cy="1409700"/>
          </a:xfrm>
          <a:prstGeom prst="roundRect">
            <a:avLst>
              <a:gd name="adj" fmla="val 9459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 media server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C1F63D-FD1C-4B73-B29B-8D7D55B943A9}"/>
              </a:ext>
            </a:extLst>
          </p:cNvPr>
          <p:cNvSpPr>
            <a:spLocks noGrp="1"/>
          </p:cNvSpPr>
          <p:nvPr/>
        </p:nvSpPr>
        <p:spPr>
          <a:xfrm>
            <a:off x="9286875" y="2324100"/>
            <a:ext cx="2238375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Viewer / browser</a:t>
            </a:r>
          </a:p>
        </p:txBody>
      </p:sp>
      <p:cxnSp>
        <p:nvCxnSpPr>
          <p:cNvPr id="27" name="Conector recto de flecha 26"/>
          <p:cNvCxnSpPr>
            <a:stCxn id="5" idx="3"/>
            <a:endCxn id="6" idx="1"/>
          </p:cNvCxnSpPr>
          <p:nvPr/>
        </p:nvCxnSpPr>
        <p:spPr>
          <a:xfrm>
            <a:off x="2905125" y="2800350"/>
            <a:ext cx="1762125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28" name="Conector recto de flecha 27"/>
          <p:cNvCxnSpPr>
            <a:stCxn id="6" idx="3"/>
            <a:endCxn id="7" idx="1"/>
          </p:cNvCxnSpPr>
          <p:nvPr/>
        </p:nvCxnSpPr>
        <p:spPr>
          <a:xfrm>
            <a:off x="7524750" y="2800350"/>
            <a:ext cx="1762125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D6FD8302-EB57-4BB1-A275-1BD05698EE6F}"/>
              </a:ext>
            </a:extLst>
          </p:cNvPr>
          <p:cNvSpPr>
            <a:spLocks noGrp="1"/>
          </p:cNvSpPr>
          <p:nvPr/>
        </p:nvSpPr>
        <p:spPr>
          <a:xfrm>
            <a:off x="3143250" y="20193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2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WHIP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2937FE-9C16-476E-91AC-DDE5430FEE73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1D6659-F94A-4D68-B1AC-74280416F9D6}"/>
              </a:ext>
            </a:extLst>
          </p:cNvPr>
          <p:cNvSpPr>
            <a:spLocks noGrp="1"/>
          </p:cNvSpPr>
          <p:nvPr/>
        </p:nvSpPr>
        <p:spPr>
          <a:xfrm>
            <a:off x="7772400" y="2019300"/>
            <a:ext cx="1276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2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WHEP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28D386-9EC8-40A4-9621-86AB18CA782F}"/>
              </a:ext>
            </a:extLst>
          </p:cNvPr>
          <p:cNvSpPr>
            <a:spLocks noGrp="1"/>
          </p:cNvSpPr>
          <p:nvPr/>
        </p:nvSpPr>
        <p:spPr>
          <a:xfrm>
            <a:off x="7772400" y="24574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egress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AF4BF9-A016-465A-AA58-6CF470A3644F}"/>
              </a:ext>
            </a:extLst>
          </p:cNvPr>
          <p:cNvSpPr>
            <a:spLocks noGrp="1"/>
          </p:cNvSpPr>
          <p:nvPr/>
        </p:nvSpPr>
        <p:spPr>
          <a:xfrm>
            <a:off x="2895600" y="3067050"/>
            <a:ext cx="17335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WebRTC session 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F7980CD-4735-4DC1-883F-58671DACA570}"/>
              </a:ext>
            </a:extLst>
          </p:cNvPr>
          <p:cNvSpPr>
            <a:spLocks noGrp="1"/>
          </p:cNvSpPr>
          <p:nvPr/>
        </p:nvSpPr>
        <p:spPr>
          <a:xfrm>
            <a:off x="7562850" y="3067050"/>
            <a:ext cx="17335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WebRTC session 2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4B2128C-5866-45BF-8659-458BAE9C61CA}"/>
              </a:ext>
            </a:extLst>
          </p:cNvPr>
          <p:cNvSpPr>
            <a:spLocks noGrp="1"/>
          </p:cNvSpPr>
          <p:nvPr/>
        </p:nvSpPr>
        <p:spPr>
          <a:xfrm>
            <a:off x="952500" y="4152900"/>
            <a:ext cx="10287000" cy="1162050"/>
          </a:xfrm>
          <a:prstGeom prst="roundRect">
            <a:avLst>
              <a:gd name="adj" fmla="val 11475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D7505FE-036C-404C-85F7-84AB0AC5FC85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HTTP session lifecycle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FBC03B7-1172-4C4D-9DEE-9D823012C74E}"/>
              </a:ext>
            </a:extLst>
          </p:cNvPr>
          <p:cNvSpPr>
            <a:spLocks noGrp="1"/>
          </p:cNvSpPr>
          <p:nvPr/>
        </p:nvSpPr>
        <p:spPr>
          <a:xfrm>
            <a:off x="3829050" y="4400550"/>
            <a:ext cx="7086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POST offer, 201 answer + Location, PATCH ICE updates, DELETE teardown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695D87A-2396-4879-898F-E01A164AC5FB}"/>
              </a:ext>
            </a:extLst>
          </p:cNvPr>
          <p:cNvSpPr>
            <a:spLocks noGrp="1"/>
          </p:cNvSpPr>
          <p:nvPr/>
        </p:nvSpPr>
        <p:spPr>
          <a:xfrm>
            <a:off x="1390650" y="5657850"/>
            <a:ext cx="9410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WHIP is RFC 9725. WHEP remains draft-ietf-wish-whep-04 as of 5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82688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2328FD90-12B7-470E-86DE-D7ED327C2530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THEORY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3EAF4F-4E2C-48E5-B39C-8F869BF55EB8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29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WHIP/WHEP Concepts Implemented Through SignalR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A97ED9-0276-4FA4-AF33-386A5B6A7548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6DD1C2-0340-41EE-8813-7359C122975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1128D49-6685-40A0-BBCF-E3040035F58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6305550" cy="3924300"/>
          </a:xfrm>
          <a:prstGeom prst="roundRect">
            <a:avLst>
              <a:gd name="adj" fmla="val 3883"/>
            </a:avLst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05A595E-F80C-475E-96F1-28D9835297F3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5695950" cy="3257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“I implemented the WHIP and WHEP signaling concepts through SignalR. I did not implement the complete HTTP protocols because WHIP and WHEP are designed for device-to-central-server ingestion and central-server-to-browser egress. This project keeps the central server outside the video path and uses it only for signaling.”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E39149-CEFC-4E05-8D4A-32FBEC2B6DC6}"/>
              </a:ext>
            </a:extLst>
          </p:cNvPr>
          <p:cNvSpPr>
            <a:spLocks noGrp="1"/>
          </p:cNvSpPr>
          <p:nvPr/>
        </p:nvSpPr>
        <p:spPr>
          <a:xfrm>
            <a:off x="7334250" y="16573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CONCEPT MAPPING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8148166-23E4-45AB-8E4A-FD1F0AE85964}"/>
              </a:ext>
            </a:extLst>
          </p:cNvPr>
          <p:cNvSpPr>
            <a:spLocks noGrp="1"/>
          </p:cNvSpPr>
          <p:nvPr/>
        </p:nvSpPr>
        <p:spPr>
          <a:xfrm>
            <a:off x="7334250" y="2038350"/>
            <a:ext cx="1695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Publisher / viewer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9DBCC3-B5BC-49D2-96F2-4B634A660DC0}"/>
              </a:ext>
            </a:extLst>
          </p:cNvPr>
          <p:cNvSpPr>
            <a:spLocks noGrp="1"/>
          </p:cNvSpPr>
          <p:nvPr/>
        </p:nvSpPr>
        <p:spPr>
          <a:xfrm>
            <a:off x="9105900" y="2038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device / browser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C5776152-9A48-46AB-A8F4-818F10E90BCD}"/>
              </a:ext>
            </a:extLst>
          </p:cNvPr>
          <p:cNvSpPr>
            <a:spLocks noGrp="1"/>
          </p:cNvSpPr>
          <p:nvPr/>
        </p:nvSpPr>
        <p:spPr>
          <a:xfrm>
            <a:off x="7334250" y="2514600"/>
            <a:ext cx="41529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CB4D84-44D7-4F49-9980-2023FD31EFFE}"/>
              </a:ext>
            </a:extLst>
          </p:cNvPr>
          <p:cNvSpPr>
            <a:spLocks noGrp="1"/>
          </p:cNvSpPr>
          <p:nvPr/>
        </p:nvSpPr>
        <p:spPr>
          <a:xfrm>
            <a:off x="7334250" y="2609850"/>
            <a:ext cx="1695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SDP exchange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78A8DC-0CA0-4660-9DE0-2E03E2071425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SignalR offer / answer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921C7C01-5066-4243-A9A3-3CEFACBBF41C}"/>
              </a:ext>
            </a:extLst>
          </p:cNvPr>
          <p:cNvSpPr>
            <a:spLocks noGrp="1"/>
          </p:cNvSpPr>
          <p:nvPr/>
        </p:nvSpPr>
        <p:spPr>
          <a:xfrm>
            <a:off x="7334250" y="3086100"/>
            <a:ext cx="41529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CB5B3DB-B2DF-4A43-AFFE-FECA07CE53C9}"/>
              </a:ext>
            </a:extLst>
          </p:cNvPr>
          <p:cNvSpPr>
            <a:spLocks noGrp="1"/>
          </p:cNvSpPr>
          <p:nvPr/>
        </p:nvSpPr>
        <p:spPr>
          <a:xfrm>
            <a:off x="7334250" y="3181350"/>
            <a:ext cx="1695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ICE updates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9982218-165F-4C37-A744-3C51FF255A4A}"/>
              </a:ext>
            </a:extLst>
          </p:cNvPr>
          <p:cNvSpPr>
            <a:spLocks noGrp="1"/>
          </p:cNvSpPr>
          <p:nvPr/>
        </p:nvSpPr>
        <p:spPr>
          <a:xfrm>
            <a:off x="9105900" y="3181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SignalR candidate events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C5F3D6A0-3727-4DD2-9C85-9D5FC016066C}"/>
              </a:ext>
            </a:extLst>
          </p:cNvPr>
          <p:cNvSpPr>
            <a:spLocks noGrp="1"/>
          </p:cNvSpPr>
          <p:nvPr/>
        </p:nvSpPr>
        <p:spPr>
          <a:xfrm>
            <a:off x="7334250" y="3657600"/>
            <a:ext cx="41529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B8F0ED1-E250-47E8-82FF-AAD4FD644C9C}"/>
              </a:ext>
            </a:extLst>
          </p:cNvPr>
          <p:cNvSpPr>
            <a:spLocks noGrp="1"/>
          </p:cNvSpPr>
          <p:nvPr/>
        </p:nvSpPr>
        <p:spPr>
          <a:xfrm>
            <a:off x="7334250" y="3752850"/>
            <a:ext cx="1695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Session lifecycle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B2A727-C03C-44C8-A72A-13E6BB6CEEF7}"/>
              </a:ext>
            </a:extLst>
          </p:cNvPr>
          <p:cNvSpPr>
            <a:spLocks noGrp="1"/>
          </p:cNvSpPr>
          <p:nvPr/>
        </p:nvSpPr>
        <p:spPr>
          <a:xfrm>
            <a:off x="9105900" y="37528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hub group + peer state</a:t>
            </a: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8BA963FA-6299-4E60-848E-894818D2BE1D}"/>
              </a:ext>
            </a:extLst>
          </p:cNvPr>
          <p:cNvSpPr>
            <a:spLocks noGrp="1"/>
          </p:cNvSpPr>
          <p:nvPr/>
        </p:nvSpPr>
        <p:spPr>
          <a:xfrm>
            <a:off x="7334250" y="4229100"/>
            <a:ext cx="41529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1F919E6-0BCE-4444-80B7-B693B6EA0005}"/>
              </a:ext>
            </a:extLst>
          </p:cNvPr>
          <p:cNvSpPr>
            <a:spLocks noGrp="1"/>
          </p:cNvSpPr>
          <p:nvPr/>
        </p:nvSpPr>
        <p:spPr>
          <a:xfrm>
            <a:off x="7334250" y="4324350"/>
            <a:ext cx="1695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Termination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4BFCA08-8B85-492F-B67A-7137C2E20775}"/>
              </a:ext>
            </a:extLst>
          </p:cNvPr>
          <p:cNvSpPr>
            <a:spLocks noGrp="1"/>
          </p:cNvSpPr>
          <p:nvPr/>
        </p:nvSpPr>
        <p:spPr>
          <a:xfrm>
            <a:off x="9105900" y="43243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partial disconnect / cleanup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AC857144-560B-47BB-A15C-3E6B3F4F6853}"/>
              </a:ext>
            </a:extLst>
          </p:cNvPr>
          <p:cNvSpPr>
            <a:spLocks noGrp="1"/>
          </p:cNvSpPr>
          <p:nvPr/>
        </p:nvSpPr>
        <p:spPr>
          <a:xfrm>
            <a:off x="7334250" y="4800600"/>
            <a:ext cx="41529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4EE70063-6E79-4657-9DD5-646AAC84B762}"/>
              </a:ext>
            </a:extLst>
          </p:cNvPr>
          <p:cNvSpPr>
            <a:spLocks noGrp="1"/>
          </p:cNvSpPr>
          <p:nvPr/>
        </p:nvSpPr>
        <p:spPr>
          <a:xfrm>
            <a:off x="7334250" y="5048250"/>
            <a:ext cx="4152900" cy="666750"/>
          </a:xfrm>
          <a:prstGeom prst="roundRect">
            <a:avLst>
              <a:gd name="adj" fmla="val 14286"/>
            </a:avLst>
          </a:prstGeom>
          <a:solidFill>
            <a:srgbClr val="E7E3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916ECE-AE9D-4D01-BF0F-077A97566B91}"/>
              </a:ext>
            </a:extLst>
          </p:cNvPr>
          <p:cNvSpPr>
            <a:spLocks noGrp="1"/>
          </p:cNvSpPr>
          <p:nvPr/>
        </p:nvSpPr>
        <p:spPr>
          <a:xfrm>
            <a:off x="7524750" y="5181600"/>
            <a:ext cx="1314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Protocol status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A031607-59BB-4316-9C06-5B0C910FD083}"/>
              </a:ext>
            </a:extLst>
          </p:cNvPr>
          <p:cNvSpPr>
            <a:spLocks noGrp="1"/>
          </p:cNvSpPr>
          <p:nvPr/>
        </p:nvSpPr>
        <p:spPr>
          <a:xfrm>
            <a:off x="8915400" y="51816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HTTP endpoints return 501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1906A37-BE0B-444C-A5F6-EED0DB1D3BED}"/>
              </a:ext>
            </a:extLst>
          </p:cNvPr>
          <p:cNvSpPr>
            <a:spLocks noGrp="1"/>
          </p:cNvSpPr>
          <p:nvPr/>
        </p:nvSpPr>
        <p:spPr>
          <a:xfrm>
            <a:off x="7334250" y="5876925"/>
            <a:ext cx="4152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Concepts mapped. Protocol compliance remains unimplemented.</a:t>
            </a:r>
          </a:p>
        </p:txBody>
      </p:sp>
    </p:spTree>
    <p:extLst>
      <p:ext uri="{BB962C8B-B14F-4D97-AF65-F5344CB8AC3E}">
        <p14:creationId xmlns:p14="http://schemas.microsoft.com/office/powerpoint/2010/main" val="116101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C6F254D-3F6A-4148-BA6E-96F184E0346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928B2C-61A7-4EF9-896F-DC8A9BCEAC24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Initial Prototype Architecture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DED930-5044-49B9-96A4-6A663E9490BB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F9C258-FAB2-482E-BD25-BA2371E0A997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506B1E6-D505-45F6-BB44-0422D22FE157}"/>
              </a:ext>
            </a:extLst>
          </p:cNvPr>
          <p:cNvSpPr>
            <a:spLocks noGrp="1"/>
          </p:cNvSpPr>
          <p:nvPr/>
        </p:nvSpPr>
        <p:spPr>
          <a:xfrm>
            <a:off x="628650" y="2400300"/>
            <a:ext cx="266700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RC car / Raspberry Pi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Camera + WebRTC sender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FE3CAD8-0C42-414D-8F7E-A0AEE809DD0C}"/>
              </a:ext>
            </a:extLst>
          </p:cNvPr>
          <p:cNvSpPr>
            <a:spLocks noGrp="1"/>
          </p:cNvSpPr>
          <p:nvPr/>
        </p:nvSpPr>
        <p:spPr>
          <a:xfrm>
            <a:off x="4762500" y="1657350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ASP.NET Core</a:t>
            </a:r>
          </a:p>
          <a:p>
            <a:pPr algn="ctr">
              <a:lnSpc>
                <a:spcPct val="104000"/>
              </a:lnSpc>
              <a:buNone/>
              <a:defRPr sz="17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SignalR coordination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A5EC3B5-BD31-409F-9924-012990776421}"/>
              </a:ext>
            </a:extLst>
          </p:cNvPr>
          <p:cNvSpPr>
            <a:spLocks noGrp="1"/>
          </p:cNvSpPr>
          <p:nvPr/>
        </p:nvSpPr>
        <p:spPr>
          <a:xfrm>
            <a:off x="8896350" y="2400300"/>
            <a:ext cx="266700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Remote browser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React + WebRTC viewer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158B179-B9B0-4F3B-ABAA-0D32CB91D9CA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2667000" cy="990600"/>
          </a:xfrm>
          <a:prstGeom prst="roundRect">
            <a:avLst>
              <a:gd name="adj" fmla="val 13462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STUN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public mapping + checks</a:t>
            </a:r>
          </a:p>
        </p:txBody>
      </p:sp>
      <p:cxnSp>
        <p:nvCxnSpPr>
          <p:cNvPr id="27" name="Conector recto de flecha 26"/>
          <p:cNvCxnSpPr>
            <a:stCxn id="5" idx="0"/>
            <a:endCxn id="6" idx="1"/>
          </p:cNvCxnSpPr>
          <p:nvPr/>
        </p:nvCxnSpPr>
        <p:spPr>
          <a:xfrm flipV="1">
            <a:off x="1962150" y="2181225"/>
            <a:ext cx="2800350" cy="21907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8" name="Conector recto de flecha 27"/>
          <p:cNvCxnSpPr>
            <a:stCxn id="6" idx="3"/>
            <a:endCxn id="7" idx="0"/>
          </p:cNvCxnSpPr>
          <p:nvPr/>
        </p:nvCxnSpPr>
        <p:spPr>
          <a:xfrm>
            <a:off x="7429500" y="2181225"/>
            <a:ext cx="2800350" cy="21907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Conector recto de flecha 28"/>
          <p:cNvCxnSpPr>
            <a:stCxn id="5" idx="3"/>
            <a:endCxn id="7" idx="1"/>
          </p:cNvCxnSpPr>
          <p:nvPr/>
        </p:nvCxnSpPr>
        <p:spPr>
          <a:xfrm>
            <a:off x="3295650" y="2962275"/>
            <a:ext cx="5600700" cy="0"/>
          </a:xfrm>
          <a:prstGeom prst="straightConnector1">
            <a:avLst/>
          </a:prstGeom>
          <a:ln w="3810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30" name="Conector recto de flecha 29"/>
          <p:cNvCxnSpPr>
            <a:stCxn id="5" idx="2"/>
            <a:endCxn id="8" idx="1"/>
          </p:cNvCxnSpPr>
          <p:nvPr/>
        </p:nvCxnSpPr>
        <p:spPr>
          <a:xfrm>
            <a:off x="1962150" y="3524250"/>
            <a:ext cx="2800350" cy="1447800"/>
          </a:xfrm>
          <a:prstGeom prst="straightConnector1">
            <a:avLst/>
          </a:prstGeom>
          <a:ln w="19050">
            <a:solidFill>
              <a:srgbClr val="A69FA3"/>
            </a:solidFill>
            <a:prstDash val="dash"/>
          </a:ln>
        </p:spPr>
      </p:cxnSp>
      <p:cxnSp>
        <p:nvCxnSpPr>
          <p:cNvPr id="31" name="Conector recto de flecha 30"/>
          <p:cNvCxnSpPr>
            <a:stCxn id="7" idx="2"/>
            <a:endCxn id="8" idx="3"/>
          </p:cNvCxnSpPr>
          <p:nvPr/>
        </p:nvCxnSpPr>
        <p:spPr>
          <a:xfrm flipH="1">
            <a:off x="7429500" y="3524250"/>
            <a:ext cx="2800350" cy="1447800"/>
          </a:xfrm>
          <a:prstGeom prst="straightConnector1">
            <a:avLst/>
          </a:prstGeom>
          <a:ln w="19050">
            <a:solidFill>
              <a:srgbClr val="A69FA3"/>
            </a:solidFill>
            <a:prstDash val="dash"/>
          </a:ln>
        </p:spPr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9AFAD37-1CFD-403A-92F1-1DE0079345BC}"/>
              </a:ext>
            </a:extLst>
          </p:cNvPr>
          <p:cNvSpPr>
            <a:spLocks noGrp="1"/>
          </p:cNvSpPr>
          <p:nvPr/>
        </p:nvSpPr>
        <p:spPr>
          <a:xfrm>
            <a:off x="3162300" y="18573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SIGNALING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5C0F84-15DA-43DD-80AE-CAEC6BCC3C34}"/>
              </a:ext>
            </a:extLst>
          </p:cNvPr>
          <p:cNvSpPr>
            <a:spLocks noGrp="1"/>
          </p:cNvSpPr>
          <p:nvPr/>
        </p:nvSpPr>
        <p:spPr>
          <a:xfrm>
            <a:off x="7429500" y="18573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SIGNALING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D32CA54-A2A5-4FBD-8562-C3DDCB05BC50}"/>
              </a:ext>
            </a:extLst>
          </p:cNvPr>
          <p:cNvSpPr>
            <a:spLocks noGrp="1"/>
          </p:cNvSpPr>
          <p:nvPr/>
        </p:nvSpPr>
        <p:spPr>
          <a:xfrm>
            <a:off x="3638550" y="3162300"/>
            <a:ext cx="491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EXPECTED DIRECT WEBRTC VIDEO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B92D7A8-283C-4AE7-8F6D-B62AE7A83C8B}"/>
              </a:ext>
            </a:extLst>
          </p:cNvPr>
          <p:cNvSpPr>
            <a:spLocks noGrp="1"/>
          </p:cNvSpPr>
          <p:nvPr/>
        </p:nvSpPr>
        <p:spPr>
          <a:xfrm>
            <a:off x="628650" y="5791200"/>
            <a:ext cx="10934700" cy="381000"/>
          </a:xfrm>
          <a:prstGeom prst="roundRect">
            <a:avLst>
              <a:gd name="adj" fmla="val 20000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31C6BE-B91E-4630-89D2-00B20E708A45}"/>
              </a:ext>
            </a:extLst>
          </p:cNvPr>
          <p:cNvSpPr>
            <a:spLocks noGrp="1"/>
          </p:cNvSpPr>
          <p:nvPr/>
        </p:nvSpPr>
        <p:spPr>
          <a:xfrm>
            <a:off x="876300" y="5876925"/>
            <a:ext cx="10439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Initial assumption: STUN would expose a usable route. TURN was not yet part of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326454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A8B64447-A3A3-461B-8473-4F891E9FC30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C6A4F9-5A2B-408C-8BE3-66A40F3EE87C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The NAT Problem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08698D-F42F-4921-9D7F-FE319C2FD973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0AD137E-8DC1-4C16-9C90-908CC1E2A38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BA07CBF-D991-4C86-9869-912744B020A3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18097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Raspberry Pi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192.168.x.x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AA949E6-5B6C-458F-AD48-AD93B67A283B}"/>
              </a:ext>
            </a:extLst>
          </p:cNvPr>
          <p:cNvSpPr>
            <a:spLocks noGrp="1"/>
          </p:cNvSpPr>
          <p:nvPr/>
        </p:nvSpPr>
        <p:spPr>
          <a:xfrm>
            <a:off x="2647950" y="2381250"/>
            <a:ext cx="1809750" cy="857250"/>
          </a:xfrm>
          <a:prstGeom prst="roundRect">
            <a:avLst>
              <a:gd name="adj" fmla="val 15556"/>
            </a:avLst>
          </a:prstGeom>
          <a:solidFill>
            <a:srgbClr val="F5EDF2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Mobile hotspot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private IPv4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5129D90-D7AB-4795-BF96-0D4569D361A7}"/>
              </a:ext>
            </a:extLst>
          </p:cNvPr>
          <p:cNvSpPr>
            <a:spLocks noGrp="1"/>
          </p:cNvSpPr>
          <p:nvPr/>
        </p:nvSpPr>
        <p:spPr>
          <a:xfrm>
            <a:off x="4781550" y="2209800"/>
            <a:ext cx="2095500" cy="1200150"/>
          </a:xfrm>
          <a:prstGeom prst="roundRect">
            <a:avLst>
              <a:gd name="adj" fmla="val 11111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Carrier-grade NAT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public IPv4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04F2EED-FEE5-484A-90E8-524D1186EAE9}"/>
              </a:ext>
            </a:extLst>
          </p:cNvPr>
          <p:cNvSpPr>
            <a:spLocks noGrp="1"/>
          </p:cNvSpPr>
          <p:nvPr/>
        </p:nvSpPr>
        <p:spPr>
          <a:xfrm>
            <a:off x="7200900" y="2381250"/>
            <a:ext cx="2000250" cy="857250"/>
          </a:xfrm>
          <a:prstGeom prst="roundRect">
            <a:avLst>
              <a:gd name="adj" fmla="val 15556"/>
            </a:avLst>
          </a:prstGeom>
          <a:solidFill>
            <a:srgbClr val="F5EDF2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Browser NAT / firewall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027A70B-A441-409F-AE8C-4ECDD0BD5BAB}"/>
              </a:ext>
            </a:extLst>
          </p:cNvPr>
          <p:cNvSpPr>
            <a:spLocks noGrp="1"/>
          </p:cNvSpPr>
          <p:nvPr/>
        </p:nvSpPr>
        <p:spPr>
          <a:xfrm>
            <a:off x="9525000" y="2381250"/>
            <a:ext cx="180975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EAD8E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Browser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private IPv4</a:t>
            </a:r>
          </a:p>
        </p:txBody>
      </p:sp>
      <p:cxnSp>
        <p:nvCxnSpPr>
          <p:cNvPr id="31" name="Conector recto de flecha 30"/>
          <p:cNvCxnSpPr>
            <a:stCxn id="5" idx="3"/>
            <a:endCxn id="6" idx="1"/>
          </p:cNvCxnSpPr>
          <p:nvPr/>
        </p:nvCxnSpPr>
        <p:spPr>
          <a:xfrm>
            <a:off x="2324100" y="2809875"/>
            <a:ext cx="323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cxnSp>
        <p:nvCxnSpPr>
          <p:cNvPr id="32" name="Conector recto de flecha 31"/>
          <p:cNvCxnSpPr>
            <a:stCxn id="6" idx="3"/>
            <a:endCxn id="7" idx="1"/>
          </p:cNvCxnSpPr>
          <p:nvPr/>
        </p:nvCxnSpPr>
        <p:spPr>
          <a:xfrm>
            <a:off x="4457700" y="2809875"/>
            <a:ext cx="323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cxnSp>
        <p:nvCxnSpPr>
          <p:cNvPr id="33" name="Conector recto de flecha 32"/>
          <p:cNvCxnSpPr>
            <a:stCxn id="7" idx="3"/>
            <a:endCxn id="8" idx="1"/>
          </p:cNvCxnSpPr>
          <p:nvPr/>
        </p:nvCxnSpPr>
        <p:spPr>
          <a:xfrm>
            <a:off x="6877050" y="2809875"/>
            <a:ext cx="323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cxnSp>
        <p:nvCxnSpPr>
          <p:cNvPr id="34" name="Conector recto de flecha 33"/>
          <p:cNvCxnSpPr>
            <a:stCxn id="8" idx="3"/>
            <a:endCxn id="9" idx="1"/>
          </p:cNvCxnSpPr>
          <p:nvPr/>
        </p:nvCxnSpPr>
        <p:spPr>
          <a:xfrm>
            <a:off x="9201150" y="2809875"/>
            <a:ext cx="323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21A3D50-0B8F-452E-A7A3-2BE4BF219B13}"/>
              </a:ext>
            </a:extLst>
          </p:cNvPr>
          <p:cNvSpPr>
            <a:spLocks noGrp="1"/>
          </p:cNvSpPr>
          <p:nvPr/>
        </p:nvSpPr>
        <p:spPr>
          <a:xfrm>
            <a:off x="1181100" y="1657350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STUN discovers a mapping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D670C41A-E288-4AC6-A2F0-01ED3155992D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152650" cy="0"/>
          </a:xfrm>
          <a:prstGeom prst="line">
            <a:avLst/>
          </a:prstGeom>
          <a:noFill/>
          <a:ln w="19050">
            <a:solidFill>
              <a:srgbClr val="830051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06F026-AF15-4568-9DF4-6553C4B4D4D6}"/>
              </a:ext>
            </a:extLst>
          </p:cNvPr>
          <p:cNvSpPr>
            <a:spLocks noGrp="1"/>
          </p:cNvSpPr>
          <p:nvPr/>
        </p:nvSpPr>
        <p:spPr>
          <a:xfrm>
            <a:off x="2305050" y="3924300"/>
            <a:ext cx="7581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4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Mapping discovered  ≠  inbound path guaranteed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05F28F7-9623-433E-9B16-C95FB38EA344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6680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414EC45-9A16-46DB-8A28-402C14059C72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2724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WHY DIRECT CHECKS CAN FAIL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A066426-8AC7-40CF-ADC5-23656CB8CAE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23431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Destination-dependent mappings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2FD759A-CC0E-4FCA-8668-3CE42307BD1F}"/>
              </a:ext>
            </a:extLst>
          </p:cNvPr>
          <p:cNvSpPr>
            <a:spLocks noGrp="1"/>
          </p:cNvSpPr>
          <p:nvPr/>
        </p:nvSpPr>
        <p:spPr>
          <a:xfrm>
            <a:off x="6381750" y="4895850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Blocked inbound UDP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41BB460-AA80-4665-999B-F61B245E2F39}"/>
              </a:ext>
            </a:extLst>
          </p:cNvPr>
          <p:cNvSpPr>
            <a:spLocks noGrp="1"/>
          </p:cNvSpPr>
          <p:nvPr/>
        </p:nvSpPr>
        <p:spPr>
          <a:xfrm>
            <a:off x="8553450" y="4895850"/>
            <a:ext cx="2533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Multiple translation layers</a:t>
            </a:r>
          </a:p>
        </p:txBody>
      </p:sp>
    </p:spTree>
    <p:extLst>
      <p:ext uri="{BB962C8B-B14F-4D97-AF65-F5344CB8AC3E}">
        <p14:creationId xmlns:p14="http://schemas.microsoft.com/office/powerpoint/2010/main" val="182784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E01EAB4A-07EE-40F9-88AD-C1326D26425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52D4C3-E2F8-4788-BAC9-805C36ABD1C6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Discovery of TURN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CD16D6D-476C-4FB6-8EDE-5CC68D2C450A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F762F46-2E43-41A9-AE74-FC68A7FAC8B0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8D4C5D7-9846-4918-B8FE-C3161D44B664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14 FEB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7B3DB8-0586-4E53-90D1-3DA19B60A794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STUN only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1ED8DC-B90C-4626-AF66-BD55CF908135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Direct path expected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6629F8E9-E380-4308-9AD7-AC25EAF7EED6}"/>
              </a:ext>
            </a:extLst>
          </p:cNvPr>
          <p:cNvSpPr>
            <a:spLocks noGrp="1"/>
          </p:cNvSpPr>
          <p:nvPr/>
        </p:nvSpPr>
        <p:spPr>
          <a:xfrm>
            <a:off x="3162300" y="2152650"/>
            <a:ext cx="1943100" cy="0"/>
          </a:xfrm>
          <a:prstGeom prst="line">
            <a:avLst/>
          </a:prstGeom>
          <a:noFill/>
          <a:ln w="38100">
            <a:solidFill>
              <a:srgbClr val="8300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D62EDE-0990-4E82-A9F6-3A48DB8C1B76}"/>
              </a:ext>
            </a:extLst>
          </p:cNvPr>
          <p:cNvSpPr>
            <a:spLocks noGrp="1"/>
          </p:cNvSpPr>
          <p:nvPr/>
        </p:nvSpPr>
        <p:spPr>
          <a:xfrm>
            <a:off x="5257800" y="16573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01 MAR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79CD94-B09B-4144-A91A-F0F7E18CDD40}"/>
              </a:ext>
            </a:extLst>
          </p:cNvPr>
          <p:cNvSpPr>
            <a:spLocks noGrp="1"/>
          </p:cNvSpPr>
          <p:nvPr/>
        </p:nvSpPr>
        <p:spPr>
          <a:xfrm>
            <a:off x="5257800" y="201930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4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TURN added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9B5258-5D0D-4B3F-803F-8B9505F4E8BC}"/>
              </a:ext>
            </a:extLst>
          </p:cNvPr>
          <p:cNvSpPr>
            <a:spLocks noGrp="1"/>
          </p:cNvSpPr>
          <p:nvPr/>
        </p:nvSpPr>
        <p:spPr>
          <a:xfrm>
            <a:off x="5257800" y="24765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Relay fallback joins ICE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6752687-ED8C-408A-AEAA-F03C5AF5B7EF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16192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5467C66-A8B3-4795-9E9B-5FD7BC14D2B2}"/>
              </a:ext>
            </a:extLst>
          </p:cNvPr>
          <p:cNvSpPr>
            <a:spLocks noGrp="1"/>
          </p:cNvSpPr>
          <p:nvPr/>
        </p:nvSpPr>
        <p:spPr>
          <a:xfrm>
            <a:off x="9525000" y="3790950"/>
            <a:ext cx="16192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04E8C78-19C8-4C61-A4E5-D96828612C8E}"/>
              </a:ext>
            </a:extLst>
          </p:cNvPr>
          <p:cNvSpPr>
            <a:spLocks noGrp="1"/>
          </p:cNvSpPr>
          <p:nvPr/>
        </p:nvSpPr>
        <p:spPr>
          <a:xfrm>
            <a:off x="5162550" y="4800600"/>
            <a:ext cx="1866900" cy="857250"/>
          </a:xfrm>
          <a:prstGeom prst="roundRect">
            <a:avLst>
              <a:gd name="adj" fmla="val 15556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relay</a:t>
            </a:r>
          </a:p>
        </p:txBody>
      </p:sp>
      <p:cxnSp>
        <p:nvCxnSpPr>
          <p:cNvPr id="35" name="Conector recto de flecha 34"/>
          <p:cNvCxnSpPr>
            <a:stCxn id="12" idx="3"/>
            <a:endCxn id="13" idx="1"/>
          </p:cNvCxnSpPr>
          <p:nvPr/>
        </p:nvCxnSpPr>
        <p:spPr>
          <a:xfrm>
            <a:off x="2667000" y="4191000"/>
            <a:ext cx="6858000" cy="0"/>
          </a:xfrm>
          <a:prstGeom prst="straightConnector1">
            <a:avLst/>
          </a:prstGeom>
          <a:ln w="3810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EA17C36-2732-496D-A9ED-EDFB0B411564}"/>
              </a:ext>
            </a:extLst>
          </p:cNvPr>
          <p:cNvSpPr>
            <a:spLocks noGrp="1"/>
          </p:cNvSpPr>
          <p:nvPr/>
        </p:nvSpPr>
        <p:spPr>
          <a:xfrm>
            <a:off x="3962400" y="3543300"/>
            <a:ext cx="426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DIRECT CANDIDATES PREFERRED</a:t>
            </a:r>
          </a:p>
        </p:txBody>
      </p:sp>
      <p:cxnSp>
        <p:nvCxnSpPr>
          <p:cNvPr id="37" name="Conector recto de flecha 36"/>
          <p:cNvCxnSpPr>
            <a:stCxn id="12" idx="2"/>
            <a:endCxn id="14" idx="1"/>
          </p:cNvCxnSpPr>
          <p:nvPr/>
        </p:nvCxnSpPr>
        <p:spPr>
          <a:xfrm>
            <a:off x="1857375" y="4591050"/>
            <a:ext cx="3305175" cy="638175"/>
          </a:xfrm>
          <a:prstGeom prst="straightConnector1">
            <a:avLst/>
          </a:prstGeom>
          <a:ln w="19050">
            <a:solidFill>
              <a:srgbClr val="6F686D"/>
            </a:solidFill>
            <a:prstDash val="dash"/>
            <a:tailEnd type="triangle" w="sm" len="sm"/>
          </a:ln>
        </p:spPr>
      </p:cxnSp>
      <p:cxnSp>
        <p:nvCxnSpPr>
          <p:cNvPr id="38" name="Conector recto de flecha 37"/>
          <p:cNvCxnSpPr>
            <a:stCxn id="14" idx="3"/>
            <a:endCxn id="13" idx="2"/>
          </p:cNvCxnSpPr>
          <p:nvPr/>
        </p:nvCxnSpPr>
        <p:spPr>
          <a:xfrm flipV="1">
            <a:off x="7029450" y="4591050"/>
            <a:ext cx="3305175" cy="638175"/>
          </a:xfrm>
          <a:prstGeom prst="straightConnector1">
            <a:avLst/>
          </a:prstGeom>
          <a:ln w="19050">
            <a:solidFill>
              <a:srgbClr val="6F686D"/>
            </a:solidFill>
            <a:prstDash val="dash"/>
            <a:tailEnd type="triangle" w="sm" len="sm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1EB4C4D-784D-4D24-B79E-21FEFBA717D1}"/>
              </a:ext>
            </a:extLst>
          </p:cNvPr>
          <p:cNvSpPr>
            <a:spLocks noGrp="1"/>
          </p:cNvSpPr>
          <p:nvPr/>
        </p:nvSpPr>
        <p:spPr>
          <a:xfrm>
            <a:off x="3695700" y="5810250"/>
            <a:ext cx="480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RELAY FALLBACK WHEN DIRECT CHECKS FAIL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3D42BC2-3C9E-4267-AFF8-91C518EAE24E}"/>
              </a:ext>
            </a:extLst>
          </p:cNvPr>
          <p:cNvSpPr>
            <a:spLocks noGrp="1"/>
          </p:cNvSpPr>
          <p:nvPr/>
        </p:nvSpPr>
        <p:spPr>
          <a:xfrm>
            <a:off x="8020050" y="1790700"/>
            <a:ext cx="3333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7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Reliability improves; the relay adds infrastructure and carries every media byte.</a:t>
            </a:r>
          </a:p>
        </p:txBody>
      </p:sp>
    </p:spTree>
    <p:extLst>
      <p:ext uri="{BB962C8B-B14F-4D97-AF65-F5344CB8AC3E}">
        <p14:creationId xmlns:p14="http://schemas.microsoft.com/office/powerpoint/2010/main" val="1665020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B0BB7A55-AD36-42BA-961A-F16FA284479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71B83E5-3711-4998-8BDC-7036FD6578A0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Discovery of IPv6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D733E5-84EB-4D39-AA3A-9E72DB2CC3EF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D736175-EFE2-4E63-99BC-2756B63F57C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859A777-97BE-4710-BA84-544BFBACFE69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895600" cy="990600"/>
          </a:xfrm>
          <a:prstGeom prst="roundRect">
            <a:avLst>
              <a:gd name="adj" fmla="val 11538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5796A23-425F-4221-B05A-92056417D1B0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PROMISING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838489-0D6B-46D3-926F-78ED0E81CEDE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ICE can test IPv6 beside IPv4 and TURN.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5789AA9-2FA9-4F6D-BB80-1E0979F6F6D3}"/>
              </a:ext>
            </a:extLst>
          </p:cNvPr>
          <p:cNvSpPr>
            <a:spLocks noGrp="1"/>
          </p:cNvSpPr>
          <p:nvPr/>
        </p:nvSpPr>
        <p:spPr>
          <a:xfrm>
            <a:off x="8629650" y="1581150"/>
            <a:ext cx="2895600" cy="990600"/>
          </a:xfrm>
          <a:prstGeom prst="roundRect">
            <a:avLst>
              <a:gd name="adj" fmla="val 11538"/>
            </a:avLst>
          </a:prstGeom>
          <a:solidFill>
            <a:srgbClr val="E7E3E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DB72B63-6709-47A2-AA37-5CD0C34AAD96}"/>
              </a:ext>
            </a:extLst>
          </p:cNvPr>
          <p:cNvSpPr>
            <a:spLocks noGrp="1"/>
          </p:cNvSpPr>
          <p:nvPr/>
        </p:nvSpPr>
        <p:spPr>
          <a:xfrm>
            <a:off x="8839200" y="175260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2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NOT YET VALIDATED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A292E7-60A2-4B89-8611-56CB7A49EB61}"/>
              </a:ext>
            </a:extLst>
          </p:cNvPr>
          <p:cNvSpPr>
            <a:spLocks noGrp="1"/>
          </p:cNvSpPr>
          <p:nvPr/>
        </p:nvSpPr>
        <p:spPr>
          <a:xfrm>
            <a:off x="8839200" y="207645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Only local IPv6 loopback exists in code; WAN behavior remains untested.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BF3757C-7668-4741-852D-CBEAEF0E070B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180975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Mobile device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AF7E180-74E6-49C9-9E3B-304F517F52FE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809750" cy="762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Remote browser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A8E7A26-3214-457D-810C-8E35C79C08EC}"/>
              </a:ext>
            </a:extLst>
          </p:cNvPr>
          <p:cNvSpPr>
            <a:spLocks noGrp="1"/>
          </p:cNvSpPr>
          <p:nvPr/>
        </p:nvSpPr>
        <p:spPr>
          <a:xfrm>
            <a:off x="3676650" y="2724150"/>
            <a:ext cx="2095500" cy="857250"/>
          </a:xfrm>
          <a:prstGeom prst="roundRect">
            <a:avLst>
              <a:gd name="adj" fmla="val 15556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IPv4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carrier-grade NAT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AB14DA1-A894-4514-A896-688382690240}"/>
              </a:ext>
            </a:extLst>
          </p:cNvPr>
          <p:cNvSpPr>
            <a:spLocks noGrp="1"/>
          </p:cNvSpPr>
          <p:nvPr/>
        </p:nvSpPr>
        <p:spPr>
          <a:xfrm>
            <a:off x="6477000" y="2800350"/>
            <a:ext cx="2038350" cy="704850"/>
          </a:xfrm>
          <a:prstGeom prst="roundRect">
            <a:avLst>
              <a:gd name="adj" fmla="val 18919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IPv4 NAT / firewall</a:t>
            </a:r>
          </a:p>
        </p:txBody>
      </p:sp>
      <p:cxnSp>
        <p:nvCxnSpPr>
          <p:cNvPr id="39" name="Conector recto de flecha 38"/>
          <p:cNvCxnSpPr>
            <a:stCxn id="11" idx="0"/>
            <a:endCxn id="13" idx="1"/>
          </p:cNvCxnSpPr>
          <p:nvPr/>
        </p:nvCxnSpPr>
        <p:spPr>
          <a:xfrm flipV="1">
            <a:off x="1666875" y="3152775"/>
            <a:ext cx="2009775" cy="16192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0" name="Conector recto de flecha 39"/>
          <p:cNvCxnSpPr>
            <a:stCxn id="13" idx="3"/>
            <a:endCxn id="14" idx="1"/>
          </p:cNvCxnSpPr>
          <p:nvPr/>
        </p:nvCxnSpPr>
        <p:spPr>
          <a:xfrm>
            <a:off x="5772150" y="3152775"/>
            <a:ext cx="7048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1" name="Conector recto de flecha 40"/>
          <p:cNvCxnSpPr>
            <a:stCxn id="14" idx="3"/>
            <a:endCxn id="12" idx="0"/>
          </p:cNvCxnSpPr>
          <p:nvPr/>
        </p:nvCxnSpPr>
        <p:spPr>
          <a:xfrm>
            <a:off x="8515350" y="3152775"/>
            <a:ext cx="2009775" cy="161925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837E7C-458E-41A9-890E-D6FF0DC47D9E}"/>
              </a:ext>
            </a:extLst>
          </p:cNvPr>
          <p:cNvSpPr>
            <a:spLocks noGrp="1"/>
          </p:cNvSpPr>
          <p:nvPr/>
        </p:nvSpPr>
        <p:spPr>
          <a:xfrm>
            <a:off x="5200650" y="24193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IPv4 path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79A4A78-CE42-4E3B-A82C-2EAA5EE0E1F1}"/>
              </a:ext>
            </a:extLst>
          </p:cNvPr>
          <p:cNvSpPr>
            <a:spLocks noGrp="1"/>
          </p:cNvSpPr>
          <p:nvPr/>
        </p:nvSpPr>
        <p:spPr>
          <a:xfrm>
            <a:off x="4000500" y="4552950"/>
            <a:ext cx="2095500" cy="742950"/>
          </a:xfrm>
          <a:prstGeom prst="roundRect">
            <a:avLst>
              <a:gd name="adj" fmla="val 17949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IPv6 Internet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C6C0567-ECAB-4B49-A07C-832699A6A5C5}"/>
              </a:ext>
            </a:extLst>
          </p:cNvPr>
          <p:cNvSpPr>
            <a:spLocks noGrp="1"/>
          </p:cNvSpPr>
          <p:nvPr/>
        </p:nvSpPr>
        <p:spPr>
          <a:xfrm>
            <a:off x="6819900" y="4552950"/>
            <a:ext cx="2000250" cy="742950"/>
          </a:xfrm>
          <a:prstGeom prst="roundRect">
            <a:avLst>
              <a:gd name="adj" fmla="val 17949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Firewall policy</a:t>
            </a:r>
          </a:p>
        </p:txBody>
      </p:sp>
      <p:cxnSp>
        <p:nvCxnSpPr>
          <p:cNvPr id="45" name="Conector recto de flecha 44"/>
          <p:cNvCxnSpPr>
            <a:stCxn id="11" idx="2"/>
            <a:endCxn id="19" idx="1"/>
          </p:cNvCxnSpPr>
          <p:nvPr/>
        </p:nvCxnSpPr>
        <p:spPr>
          <a:xfrm>
            <a:off x="1666875" y="4076700"/>
            <a:ext cx="2333625" cy="847725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46" name="Conector recto de flecha 45"/>
          <p:cNvCxnSpPr>
            <a:stCxn id="19" idx="3"/>
            <a:endCxn id="20" idx="1"/>
          </p:cNvCxnSpPr>
          <p:nvPr/>
        </p:nvCxnSpPr>
        <p:spPr>
          <a:xfrm>
            <a:off x="6096000" y="4924425"/>
            <a:ext cx="7239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47" name="Conector recto de flecha 46"/>
          <p:cNvCxnSpPr>
            <a:stCxn id="20" idx="3"/>
            <a:endCxn id="12" idx="2"/>
          </p:cNvCxnSpPr>
          <p:nvPr/>
        </p:nvCxnSpPr>
        <p:spPr>
          <a:xfrm flipV="1">
            <a:off x="8820150" y="4076700"/>
            <a:ext cx="1704975" cy="847725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EC71F6F-3F00-4FAF-947F-5E7F19608E27}"/>
              </a:ext>
            </a:extLst>
          </p:cNvPr>
          <p:cNvSpPr>
            <a:spLocks noGrp="1"/>
          </p:cNvSpPr>
          <p:nvPr/>
        </p:nvSpPr>
        <p:spPr>
          <a:xfrm>
            <a:off x="2457450" y="5562600"/>
            <a:ext cx="7277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IPv6 can avoid the IPv4 CGNAT layer, but not firewall policy or latency limits.</a:t>
            </a:r>
          </a:p>
        </p:txBody>
      </p:sp>
    </p:spTree>
    <p:extLst>
      <p:ext uri="{BB962C8B-B14F-4D97-AF65-F5344CB8AC3E}">
        <p14:creationId xmlns:p14="http://schemas.microsoft.com/office/powerpoint/2010/main" val="1977654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A65336D7-4DA3-4FD8-95A9-A5DD5863256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1FBE574-1A20-428E-9E93-3A78B67C917E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Discovery of WHIP and WHEP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0186AD-C91A-4131-AC34-68B788173D23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42BA0A-69DF-432A-96AC-8256132EFAD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F0D841-1B4E-455D-ABF0-3EEE4C885EEE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3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Specifications clarified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25F421-4F5D-447A-85F6-C25AB05648D3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381000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>
            <a:noAutofit/>
          </a:bodyPr>
          <a:lstStyle/>
          <a:p>
            <a:pPr marL="254000" indent="-127000">
              <a:lnSpc>
                <a:spcPct val="105000"/>
              </a:lnSpc>
              <a:spcAft>
                <a:spcPts val="900"/>
              </a:spcAft>
              <a:buNone/>
              <a:defRPr sz="1725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417"/>
                </a:solidFill>
                <a:latin typeface="Arial"/>
                <a:ea typeface="Arial"/>
                <a:cs typeface="Arial"/>
              </a:rPr>
              <a:t>publisher and viewer roles</a:t>
            </a:r>
          </a:p>
          <a:p>
            <a:pPr marL="254000" indent="-127000">
              <a:lnSpc>
                <a:spcPct val="105000"/>
              </a:lnSpc>
              <a:spcAft>
                <a:spcPts val="900"/>
              </a:spcAft>
              <a:buNone/>
              <a:defRPr sz="1725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417"/>
                </a:solidFill>
                <a:latin typeface="Arial"/>
                <a:ea typeface="Arial"/>
                <a:cs typeface="Arial"/>
              </a:rPr>
              <a:t>SDP and ICE exchange</a:t>
            </a:r>
          </a:p>
          <a:p>
            <a:pPr marL="254000" indent="-127000">
              <a:lnSpc>
                <a:spcPct val="105000"/>
              </a:lnSpc>
              <a:spcAft>
                <a:spcPts val="900"/>
              </a:spcAft>
              <a:buNone/>
              <a:defRPr sz="1725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1417"/>
                </a:solidFill>
                <a:latin typeface="Arial"/>
                <a:ea typeface="Arial"/>
                <a:cs typeface="Arial"/>
              </a:rPr>
              <a:t>session creation and teardown</a:t>
            </a: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D24A4CBC-5EC1-40C3-9C42-6544BD94CF15}"/>
              </a:ext>
            </a:extLst>
          </p:cNvPr>
          <p:cNvSpPr>
            <a:spLocks noGrp="1"/>
          </p:cNvSpPr>
          <p:nvPr/>
        </p:nvSpPr>
        <p:spPr>
          <a:xfrm>
            <a:off x="4953000" y="1638300"/>
            <a:ext cx="0" cy="3962400"/>
          </a:xfrm>
          <a:prstGeom prst="line">
            <a:avLst/>
          </a:prstGeom>
          <a:noFill/>
          <a:ln w="19050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B4A0D7-5350-456D-8DE2-897B15022E19}"/>
              </a:ext>
            </a:extLst>
          </p:cNvPr>
          <p:cNvSpPr>
            <a:spLocks noGrp="1"/>
          </p:cNvSpPr>
          <p:nvPr/>
        </p:nvSpPr>
        <p:spPr>
          <a:xfrm>
            <a:off x="5486400" y="167640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3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Architecture decision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7EAE9D-7F47-44C0-B87B-1126A65F10CF}"/>
              </a:ext>
            </a:extLst>
          </p:cNvPr>
          <p:cNvSpPr>
            <a:spLocks noGrp="1"/>
          </p:cNvSpPr>
          <p:nvPr/>
        </p:nvSpPr>
        <p:spPr>
          <a:xfrm>
            <a:off x="5524500" y="2381250"/>
            <a:ext cx="2667000" cy="819150"/>
          </a:xfrm>
          <a:prstGeom prst="roundRect">
            <a:avLst>
              <a:gd name="adj" fmla="val 16279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dash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Full HTTP WHIP / WHEP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8E7CE6F-D50F-4A84-BF1B-FB68F6FE45D6}"/>
              </a:ext>
            </a:extLst>
          </p:cNvPr>
          <p:cNvSpPr>
            <a:spLocks noGrp="1"/>
          </p:cNvSpPr>
          <p:nvPr/>
        </p:nvSpPr>
        <p:spPr>
          <a:xfrm>
            <a:off x="8724900" y="2286000"/>
            <a:ext cx="2667000" cy="1009650"/>
          </a:xfrm>
          <a:prstGeom prst="roundRect">
            <a:avLst>
              <a:gd name="adj" fmla="val 13208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dash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Central media server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terminates both sessions</a:t>
            </a:r>
          </a:p>
        </p:txBody>
      </p:sp>
      <p:cxnSp>
        <p:nvCxnSpPr>
          <p:cNvPr id="30" name="Conector recto de flecha 29"/>
          <p:cNvCxnSpPr>
            <a:stCxn id="9" idx="3"/>
            <a:endCxn id="10" idx="1"/>
          </p:cNvCxnSpPr>
          <p:nvPr/>
        </p:nvCxnSpPr>
        <p:spPr>
          <a:xfrm>
            <a:off x="8191500" y="2790825"/>
            <a:ext cx="5334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3DD227C-B10C-4D44-A118-DA1ED8193E12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Rejected for this architecture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0659DAE-BF44-4E56-99AB-C949EA5D5EDB}"/>
              </a:ext>
            </a:extLst>
          </p:cNvPr>
          <p:cNvSpPr>
            <a:spLocks noGrp="1"/>
          </p:cNvSpPr>
          <p:nvPr/>
        </p:nvSpPr>
        <p:spPr>
          <a:xfrm>
            <a:off x="5524500" y="4362450"/>
            <a:ext cx="2667000" cy="819150"/>
          </a:xfrm>
          <a:prstGeom prst="roundRect">
            <a:avLst>
              <a:gd name="adj" fmla="val 16279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SignalR concept mapping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52D2D9F-4823-4CBF-B087-44DE9B03E06F}"/>
              </a:ext>
            </a:extLst>
          </p:cNvPr>
          <p:cNvSpPr>
            <a:spLocks noGrp="1"/>
          </p:cNvSpPr>
          <p:nvPr/>
        </p:nvSpPr>
        <p:spPr>
          <a:xfrm>
            <a:off x="8724900" y="4267200"/>
            <a:ext cx="2667000" cy="1009650"/>
          </a:xfrm>
          <a:prstGeom prst="roundRect">
            <a:avLst>
              <a:gd name="adj" fmla="val 13208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Application server stays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outside the video path</a:t>
            </a:r>
          </a:p>
        </p:txBody>
      </p:sp>
      <p:cxnSp>
        <p:nvCxnSpPr>
          <p:cNvPr id="34" name="Conector recto de flecha 33"/>
          <p:cNvCxnSpPr>
            <a:stCxn id="13" idx="3"/>
            <a:endCxn id="14" idx="1"/>
          </p:cNvCxnSpPr>
          <p:nvPr/>
        </p:nvCxnSpPr>
        <p:spPr>
          <a:xfrm>
            <a:off x="8191500" y="4772025"/>
            <a:ext cx="5334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DB79F98-299D-4A8F-BE55-5F195F84958E}"/>
              </a:ext>
            </a:extLst>
          </p:cNvPr>
          <p:cNvSpPr>
            <a:spLocks noGrp="1"/>
          </p:cNvSpPr>
          <p:nvPr/>
        </p:nvSpPr>
        <p:spPr>
          <a:xfrm>
            <a:off x="6858000" y="541020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Adopted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D2A86B1-0B2E-44D2-A601-7785CBBDA6D4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3810000" cy="1123950"/>
          </a:xfrm>
          <a:prstGeom prst="roundRect">
            <a:avLst>
              <a:gd name="adj" fmla="val 10169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A4444BD-D2CF-44B1-95EF-395CF4DBC8A8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335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HTTP endpoints remain stubs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6B71BB8-775B-4544-80E6-533F2DF6F095}"/>
              </a:ext>
            </a:extLst>
          </p:cNvPr>
          <p:cNvSpPr>
            <a:spLocks noGrp="1"/>
          </p:cNvSpPr>
          <p:nvPr/>
        </p:nvSpPr>
        <p:spPr>
          <a:xfrm>
            <a:off x="1066800" y="5067300"/>
            <a:ext cx="3200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POST validates SDP, then returns HTTP 501</a:t>
            </a:r>
          </a:p>
        </p:txBody>
      </p:sp>
    </p:spTree>
    <p:extLst>
      <p:ext uri="{BB962C8B-B14F-4D97-AF65-F5344CB8AC3E}">
        <p14:creationId xmlns:p14="http://schemas.microsoft.com/office/powerpoint/2010/main" val="969930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CE6AB0E-780C-4A05-8A6F-57ACBB036B4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5196033-CDD2-4239-B209-9672A838A42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Camera Integration Iterations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1D31BB-6F8D-43C5-9A70-A09646811F4A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4A931E4-C079-4FB9-9B0E-8F75898BEE96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Tabla 10"/>
          <p:cNvGraphicFramePr/>
          <p:nvPr/>
        </p:nvGraphicFramePr>
        <p:xfrm>
          <a:off x="571500" y="1562100"/>
          <a:ext cx="11049000" cy="40957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Repository status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 / trade-off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libcamera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Considered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Native Raspberry Pi camera stack for CSI cameras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No recorded implementation. Final Logitech C920 capture uses V4L2.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FFmpeg shared libraries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Implemented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Direct in-process encoded-sample callbacks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Required exact FFmpeg 8.1 native-library and FFmpeg.AutoGen compatibility.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External FFmpeg RTP emission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Final implementation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Executable supervision creates a clearer deployment boundary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1417"/>
                          </a:solidFill>
                          <a:latin typeface="Arial"/>
                          <a:ea typeface="Arial"/>
                          <a:cs typeface="Arial"/>
                        </a:rPr>
                        <a:t>Adds loopback RTP depacketization and WebRTC repacketization.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69ADFE70-7D8B-4B25-A753-F737CE8AEF5C}"/>
              </a:ext>
            </a:extLst>
          </p:cNvPr>
          <p:cNvSpPr>
            <a:spLocks noGrp="1"/>
          </p:cNvSpPr>
          <p:nvPr/>
        </p:nvSpPr>
        <p:spPr>
          <a:xfrm>
            <a:off x="1181100" y="5905500"/>
            <a:ext cx="9829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External FFmpeg solved native-library fragility, not software encoding load.</a:t>
            </a:r>
          </a:p>
        </p:txBody>
      </p:sp>
    </p:spTree>
    <p:extLst>
      <p:ext uri="{BB962C8B-B14F-4D97-AF65-F5344CB8AC3E}">
        <p14:creationId xmlns:p14="http://schemas.microsoft.com/office/powerpoint/2010/main" val="1538976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0ECD5326-2450-4739-A2EE-1A2A328B90A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D968B80-D6BF-49C1-8427-32A4E665ADF1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Final Media Pipeline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7B061F-AB14-40E8-A6C0-3C5217807C4B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2106B2F-43F0-4B04-86B0-06AE762C1B77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7A412F-A074-4183-8A13-A1EED2DD668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5067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FFMPEG PROCESS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54CCDB-7F8A-4B74-B1AD-5C4FD027E4BD}"/>
              </a:ext>
            </a:extLst>
          </p:cNvPr>
          <p:cNvSpPr>
            <a:spLocks noGrp="1"/>
          </p:cNvSpPr>
          <p:nvPr/>
        </p:nvSpPr>
        <p:spPr>
          <a:xfrm>
            <a:off x="6629400" y="15240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.NET + SIPSORCERY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696A4E2-33E9-47F6-80BF-111FA1B25591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5334000" cy="3086100"/>
          </a:xfrm>
          <a:prstGeom prst="roundRect">
            <a:avLst>
              <a:gd name="adj" fmla="val 4321"/>
            </a:avLst>
          </a:prstGeom>
          <a:solidFill>
            <a:srgbClr val="F5EDF2"/>
          </a:solidFill>
          <a:ln w="9525">
            <a:solidFill>
              <a:srgbClr val="EAD8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2E17B21-6A39-4CEF-9A54-F56E1D1197B4}"/>
              </a:ext>
            </a:extLst>
          </p:cNvPr>
          <p:cNvSpPr>
            <a:spLocks noGrp="1"/>
          </p:cNvSpPr>
          <p:nvPr/>
        </p:nvSpPr>
        <p:spPr>
          <a:xfrm>
            <a:off x="6324600" y="1828800"/>
            <a:ext cx="5334000" cy="30861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A2D8395-6680-47BB-BE24-529E5C6C7A93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14859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Logitech C920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MJPEG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7E21FA1-FAD2-49EE-816B-4B0AC3657793}"/>
              </a:ext>
            </a:extLst>
          </p:cNvPr>
          <p:cNvSpPr>
            <a:spLocks noGrp="1"/>
          </p:cNvSpPr>
          <p:nvPr/>
        </p:nvSpPr>
        <p:spPr>
          <a:xfrm>
            <a:off x="2457450" y="2133600"/>
            <a:ext cx="12382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V4L2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C41AA0-C425-4F05-9CB3-3BE3099D930C}"/>
              </a:ext>
            </a:extLst>
          </p:cNvPr>
          <p:cNvSpPr>
            <a:spLocks noGrp="1"/>
          </p:cNvSpPr>
          <p:nvPr/>
        </p:nvSpPr>
        <p:spPr>
          <a:xfrm>
            <a:off x="3924300" y="2133600"/>
            <a:ext cx="14097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MJPEG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F7C1E94-19D1-4F4C-AB96-1E40B906D077}"/>
              </a:ext>
            </a:extLst>
          </p:cNvPr>
          <p:cNvSpPr>
            <a:spLocks noGrp="1"/>
          </p:cNvSpPr>
          <p:nvPr/>
        </p:nvSpPr>
        <p:spPr>
          <a:xfrm>
            <a:off x="1771650" y="3600450"/>
            <a:ext cx="1714500" cy="800100"/>
          </a:xfrm>
          <a:prstGeom prst="roundRect">
            <a:avLst>
              <a:gd name="adj" fmla="val 1666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libx264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 baseline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B975FB7-7ED8-49D8-A219-9B35B9DE37BB}"/>
              </a:ext>
            </a:extLst>
          </p:cNvPr>
          <p:cNvSpPr>
            <a:spLocks noGrp="1"/>
          </p:cNvSpPr>
          <p:nvPr/>
        </p:nvSpPr>
        <p:spPr>
          <a:xfrm>
            <a:off x="3848100" y="3600450"/>
            <a:ext cx="1695450" cy="800100"/>
          </a:xfrm>
          <a:prstGeom prst="roundRect">
            <a:avLst>
              <a:gd name="adj" fmla="val 1666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RTP over</a:t>
            </a:r>
          </a:p>
          <a:p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IPv6 loopback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709D48E-A11F-40FC-BAB8-2F0C5F72B6D5}"/>
              </a:ext>
            </a:extLst>
          </p:cNvPr>
          <p:cNvSpPr>
            <a:spLocks noGrp="1"/>
          </p:cNvSpPr>
          <p:nvPr/>
        </p:nvSpPr>
        <p:spPr>
          <a:xfrm>
            <a:off x="6553200" y="2133600"/>
            <a:ext cx="1809750" cy="723900"/>
          </a:xfrm>
          <a:prstGeom prst="roundRect">
            <a:avLst>
              <a:gd name="adj" fmla="val 18421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RTP parse +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H.264 depacketize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237FE39-45FA-4C84-AEDC-0563340BBD36}"/>
              </a:ext>
            </a:extLst>
          </p:cNvPr>
          <p:cNvSpPr>
            <a:spLocks noGrp="1"/>
          </p:cNvSpPr>
          <p:nvPr/>
        </p:nvSpPr>
        <p:spPr>
          <a:xfrm>
            <a:off x="8591550" y="2133600"/>
            <a:ext cx="1333500" cy="723900"/>
          </a:xfrm>
          <a:prstGeom prst="roundRect">
            <a:avLst>
              <a:gd name="adj" fmla="val 18421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Annex-B +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SPS / PPS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E622FEA-D9E1-4E19-8B0E-B0E35B4483C9}"/>
              </a:ext>
            </a:extLst>
          </p:cNvPr>
          <p:cNvSpPr>
            <a:spLocks noGrp="1"/>
          </p:cNvSpPr>
          <p:nvPr/>
        </p:nvSpPr>
        <p:spPr>
          <a:xfrm>
            <a:off x="10153650" y="2133600"/>
            <a:ext cx="1295400" cy="723900"/>
          </a:xfrm>
          <a:prstGeom prst="roundRect">
            <a:avLst>
              <a:gd name="adj" fmla="val 18421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SIPSorcery</a:t>
            </a:r>
          </a:p>
          <a:p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WebRTC / SRTP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4481480-5560-45B6-A169-F3F0473CDC89}"/>
              </a:ext>
            </a:extLst>
          </p:cNvPr>
          <p:cNvSpPr>
            <a:spLocks noGrp="1"/>
          </p:cNvSpPr>
          <p:nvPr/>
        </p:nvSpPr>
        <p:spPr>
          <a:xfrm>
            <a:off x="8248650" y="3771900"/>
            <a:ext cx="1619250" cy="723900"/>
          </a:xfrm>
          <a:prstGeom prst="roundRect">
            <a:avLst>
              <a:gd name="adj" fmla="val 18421"/>
            </a:avLst>
          </a:prstGeom>
          <a:solidFill>
            <a:srgbClr val="171417"/>
          </a:solidFill>
          <a:ln w="0">
            <a:noFill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playback</a:t>
            </a:r>
          </a:p>
        </p:txBody>
      </p:sp>
      <p:cxnSp>
        <p:nvCxnSpPr>
          <p:cNvPr id="46" name="Conector recto de flecha 45"/>
          <p:cNvCxnSpPr>
            <a:stCxn id="9" idx="3"/>
            <a:endCxn id="10" idx="1"/>
          </p:cNvCxnSpPr>
          <p:nvPr/>
        </p:nvCxnSpPr>
        <p:spPr>
          <a:xfrm>
            <a:off x="2228850" y="2495550"/>
            <a:ext cx="2286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7" name="Conector recto de flecha 46"/>
          <p:cNvCxnSpPr>
            <a:stCxn id="10" idx="3"/>
            <a:endCxn id="11" idx="1"/>
          </p:cNvCxnSpPr>
          <p:nvPr/>
        </p:nvCxnSpPr>
        <p:spPr>
          <a:xfrm>
            <a:off x="3695700" y="2495550"/>
            <a:ext cx="2286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48" name="Conector: angular 47"/>
          <p:cNvCxnSpPr>
            <a:stCxn id="11" idx="2"/>
            <a:endCxn id="12" idx="0"/>
          </p:cNvCxnSpPr>
          <p:nvPr/>
        </p:nvCxnSpPr>
        <p:spPr>
          <a:xfrm flipH="1">
            <a:off x="2628900" y="2857500"/>
            <a:ext cx="2000250" cy="742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49" name="Conector recto de flecha 48"/>
          <p:cNvCxnSpPr>
            <a:stCxn id="12" idx="3"/>
            <a:endCxn id="13" idx="1"/>
          </p:cNvCxnSpPr>
          <p:nvPr/>
        </p:nvCxnSpPr>
        <p:spPr>
          <a:xfrm>
            <a:off x="3486150" y="4000500"/>
            <a:ext cx="36195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50" name="Conector: angular 49"/>
          <p:cNvCxnSpPr>
            <a:stCxn id="13" idx="3"/>
            <a:endCxn id="14" idx="1"/>
          </p:cNvCxnSpPr>
          <p:nvPr/>
        </p:nvCxnSpPr>
        <p:spPr>
          <a:xfrm flipV="1">
            <a:off x="5543550" y="2495550"/>
            <a:ext cx="1009650" cy="1504950"/>
          </a:xfrm>
          <a:prstGeom prst="bentConnector3">
            <a:avLst>
              <a:gd name="adj1" fmla="val 50000"/>
            </a:avLst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51" name="Conector recto de flecha 50"/>
          <p:cNvCxnSpPr>
            <a:stCxn id="14" idx="3"/>
            <a:endCxn id="15" idx="1"/>
          </p:cNvCxnSpPr>
          <p:nvPr/>
        </p:nvCxnSpPr>
        <p:spPr>
          <a:xfrm>
            <a:off x="8362950" y="2495550"/>
            <a:ext cx="2286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52" name="Conector recto de flecha 51"/>
          <p:cNvCxnSpPr>
            <a:stCxn id="15" idx="3"/>
            <a:endCxn id="16" idx="1"/>
          </p:cNvCxnSpPr>
          <p:nvPr/>
        </p:nvCxnSpPr>
        <p:spPr>
          <a:xfrm>
            <a:off x="9925050" y="2495550"/>
            <a:ext cx="2286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53" name="Conector: angular 52"/>
          <p:cNvCxnSpPr>
            <a:stCxn id="16" idx="2"/>
            <a:endCxn id="17" idx="0"/>
          </p:cNvCxnSpPr>
          <p:nvPr/>
        </p:nvCxnSpPr>
        <p:spPr>
          <a:xfrm flipH="1">
            <a:off x="9058275" y="2857500"/>
            <a:ext cx="1743075" cy="914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A4EF036-9819-4BFF-A4A9-7AB32023C977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1040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1280×720 at 30 fps, 1.5 Mb/s, superfast, zerolatency, no B-frames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4358D2B-A134-460B-8959-1ED6F464BA20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10096500" cy="495300"/>
          </a:xfrm>
          <a:prstGeom prst="roundRect">
            <a:avLst>
              <a:gd name="adj" fmla="val 15385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F92B5DC-E02E-4C16-AA7F-42DB24B57681}"/>
              </a:ext>
            </a:extLst>
          </p:cNvPr>
          <p:cNvSpPr>
            <a:spLocks noGrp="1"/>
          </p:cNvSpPr>
          <p:nvPr/>
        </p:nvSpPr>
        <p:spPr>
          <a:xfrm>
            <a:off x="1257300" y="5838825"/>
            <a:ext cx="9677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FFmpeg captures and encodes; SIPSorcery owns the secure WebRTC peer connection.</a:t>
            </a:r>
          </a:p>
        </p:txBody>
      </p:sp>
    </p:spTree>
    <p:extLst>
      <p:ext uri="{BB962C8B-B14F-4D97-AF65-F5344CB8AC3E}">
        <p14:creationId xmlns:p14="http://schemas.microsoft.com/office/powerpoint/2010/main" val="32569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38CF84AB-E7BF-42AB-9B17-484BFD79FB8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AB8FAF-4F5C-46A2-9C20-522410343538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Discovery of CPU Encoding Cost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E9DB93-08FB-4491-9144-AAC159944FDC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086B4B-20CF-4621-98BD-BD03F46B1D37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BA58F7F-F4BB-4073-A4E8-FDE909046CA3}"/>
              </a:ext>
            </a:extLst>
          </p:cNvPr>
          <p:cNvSpPr>
            <a:spLocks noGrp="1"/>
          </p:cNvSpPr>
          <p:nvPr/>
        </p:nvSpPr>
        <p:spPr>
          <a:xfrm>
            <a:off x="7696200" y="1600200"/>
            <a:ext cx="3752850" cy="320040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15250" y="1790652"/>
            <a:ext cx="3714750" cy="2819495"/>
          </a:xfrm>
          <a:prstGeom prst="roundRect">
            <a:avLst>
              <a:gd name="adj" fmla="val 2410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D014795-FAEC-425B-B2CA-8EBE4BCDC572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WORK ON THE RASPBERRY PI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19604F6-8EB9-4669-A91F-90A588504219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F8E700-494E-4D7D-BA5C-10E64E8B8D21}"/>
              </a:ext>
            </a:extLst>
          </p:cNvPr>
          <p:cNvSpPr>
            <a:spLocks noGrp="1"/>
          </p:cNvSpPr>
          <p:nvPr/>
        </p:nvSpPr>
        <p:spPr>
          <a:xfrm>
            <a:off x="1390650" y="20383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Decode camera MJPEG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4539854-07C8-444B-A4F5-D7F4741C148A}"/>
              </a:ext>
            </a:extLst>
          </p:cNvPr>
          <p:cNvSpPr>
            <a:spLocks noGrp="1"/>
          </p:cNvSpPr>
          <p:nvPr/>
        </p:nvSpPr>
        <p:spPr>
          <a:xfrm>
            <a:off x="1390650" y="24098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CPU + memory bandwidth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C65867E-032C-4ECF-8039-E5CE57A6852B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9F9CFA3-70DA-473C-9A85-B8C76F76B25C}"/>
              </a:ext>
            </a:extLst>
          </p:cNvPr>
          <p:cNvSpPr>
            <a:spLocks noGrp="1"/>
          </p:cNvSpPr>
          <p:nvPr/>
        </p:nvSpPr>
        <p:spPr>
          <a:xfrm>
            <a:off x="1390650" y="30099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Software-encode H.264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49353A-2CB9-4374-AF43-BD429585750F}"/>
              </a:ext>
            </a:extLst>
          </p:cNvPr>
          <p:cNvSpPr>
            <a:spLocks noGrp="1"/>
          </p:cNvSpPr>
          <p:nvPr/>
        </p:nvSpPr>
        <p:spPr>
          <a:xfrm>
            <a:off x="1390650" y="338137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CPU + heat + latency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86DA9AA-EA3B-4772-ABD9-FD0486DFBAAD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3B59D26-2D69-400A-B1C1-C3084AFD8D63}"/>
              </a:ext>
            </a:extLst>
          </p:cNvPr>
          <p:cNvSpPr>
            <a:spLocks noGrp="1"/>
          </p:cNvSpPr>
          <p:nvPr/>
        </p:nvSpPr>
        <p:spPr>
          <a:xfrm>
            <a:off x="1390650" y="39814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Packetize and encrypt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DE0070F-B615-4EC9-91AB-A261A74CD519}"/>
              </a:ext>
            </a:extLst>
          </p:cNvPr>
          <p:cNvSpPr>
            <a:spLocks noGrp="1"/>
          </p:cNvSpPr>
          <p:nvPr/>
        </p:nvSpPr>
        <p:spPr>
          <a:xfrm>
            <a:off x="1390650" y="43529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Additional real-time work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5F56F71-0190-450A-B06D-B1F915365E3C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744200" cy="990600"/>
          </a:xfrm>
          <a:prstGeom prst="roundRect">
            <a:avLst>
              <a:gd name="adj" fmla="val 13462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2878158-841C-4652-9FDE-20E28EE0FEDC}"/>
              </a:ext>
            </a:extLst>
          </p:cNvPr>
          <p:cNvSpPr>
            <a:spLocks noGrp="1"/>
          </p:cNvSpPr>
          <p:nvPr/>
        </p:nvSpPr>
        <p:spPr>
          <a:xfrm>
            <a:off x="933450" y="5257800"/>
            <a:ext cx="2438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LOW-LATENCY SETTINGS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65BCFBD-AA24-4F08-9B9A-B06822027F0E}"/>
              </a:ext>
            </a:extLst>
          </p:cNvPr>
          <p:cNvSpPr>
            <a:spLocks noGrp="1"/>
          </p:cNvSpPr>
          <p:nvPr/>
        </p:nvSpPr>
        <p:spPr>
          <a:xfrm>
            <a:off x="3429000" y="5200650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superfast   zerolatency   no B-frames   small VBV buffer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6888A22-376B-4F4B-A893-DDDB3AB80AE3}"/>
              </a:ext>
            </a:extLst>
          </p:cNvPr>
          <p:cNvSpPr>
            <a:spLocks noGrp="1"/>
          </p:cNvSpPr>
          <p:nvPr/>
        </p:nvSpPr>
        <p:spPr>
          <a:xfrm>
            <a:off x="3276600" y="5657850"/>
            <a:ext cx="7791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External FFmpeg improved deployment isolation; CPU encoding stayed on the Pi.</a:t>
            </a:r>
          </a:p>
        </p:txBody>
      </p:sp>
    </p:spTree>
    <p:extLst>
      <p:ext uri="{BB962C8B-B14F-4D97-AF65-F5344CB8AC3E}">
        <p14:creationId xmlns:p14="http://schemas.microsoft.com/office/powerpoint/2010/main" val="1717942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8DFDA8C8-F355-49B1-9AC6-3CA960EDE9D0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8E2A48-4511-40E4-BD5C-38FF131858A1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Electrical Input to the Raspberry Pi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569A0E-4967-4B24-A732-C70FA494F69D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0A0514-0159-455A-A39C-90E3356C6E50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44671C-A169-498D-A9BB-BC187D5339B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32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AUTHOR-REPORTED OBSERVATION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46558CF-A41C-4FC3-B83F-37623E7E03A3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20955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Motor demands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high current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03EA668-B313-4191-8786-5388D2B4D9C2}"/>
              </a:ext>
            </a:extLst>
          </p:cNvPr>
          <p:cNvSpPr>
            <a:spLocks noGrp="1"/>
          </p:cNvSpPr>
          <p:nvPr/>
        </p:nvSpPr>
        <p:spPr>
          <a:xfrm>
            <a:off x="3390900" y="2171700"/>
            <a:ext cx="2095500" cy="952500"/>
          </a:xfrm>
          <a:prstGeom prst="roundRect">
            <a:avLst>
              <a:gd name="adj" fmla="val 14000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Supply voltage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dips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88E0C5D-A3B6-4E89-9F14-9685AEFF96AF}"/>
              </a:ext>
            </a:extLst>
          </p:cNvPr>
          <p:cNvSpPr>
            <a:spLocks noGrp="1"/>
          </p:cNvSpPr>
          <p:nvPr/>
        </p:nvSpPr>
        <p:spPr>
          <a:xfrm>
            <a:off x="6057900" y="2171700"/>
            <a:ext cx="2286000" cy="952500"/>
          </a:xfrm>
          <a:prstGeom prst="roundRect">
            <a:avLst>
              <a:gd name="adj" fmla="val 14000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Raspberry Pi</a:t>
            </a:r>
          </a:p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disconnects briefly</a:t>
            </a:r>
          </a:p>
        </p:txBody>
      </p:sp>
      <p:cxnSp>
        <p:nvCxnSpPr>
          <p:cNvPr id="28" name="Conector recto de flecha 27"/>
          <p:cNvCxnSpPr>
            <a:stCxn id="6" idx="3"/>
            <a:endCxn id="7" idx="1"/>
          </p:cNvCxnSpPr>
          <p:nvPr/>
        </p:nvCxnSpPr>
        <p:spPr>
          <a:xfrm>
            <a:off x="2819400" y="2647950"/>
            <a:ext cx="5715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29" name="Conector recto de flecha 28"/>
          <p:cNvCxnSpPr>
            <a:stCxn id="7" idx="3"/>
            <a:endCxn id="8" idx="1"/>
          </p:cNvCxnSpPr>
          <p:nvPr/>
        </p:nvCxnSpPr>
        <p:spPr>
          <a:xfrm>
            <a:off x="5486400" y="2647950"/>
            <a:ext cx="5715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0615159-F99D-4C5D-BC31-A0C79C2DA635}"/>
              </a:ext>
            </a:extLst>
          </p:cNvPr>
          <p:cNvSpPr>
            <a:spLocks noGrp="1"/>
          </p:cNvSpPr>
          <p:nvPr/>
        </p:nvSpPr>
        <p:spPr>
          <a:xfrm>
            <a:off x="8839200" y="1676400"/>
            <a:ext cx="2419350" cy="24193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58250" y="1732657"/>
            <a:ext cx="2381250" cy="2306836"/>
          </a:xfrm>
          <a:prstGeom prst="roundRect">
            <a:avLst>
              <a:gd name="adj" fmla="val 3200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B2B28BD-763C-4D8D-B9F1-426C94348056}"/>
              </a:ext>
            </a:extLst>
          </p:cNvPr>
          <p:cNvSpPr>
            <a:spLocks noGrp="1"/>
          </p:cNvSpPr>
          <p:nvPr/>
        </p:nvSpPr>
        <p:spPr>
          <a:xfrm>
            <a:off x="9010650" y="417195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NiMH supply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C86A77B-6CBD-42B6-B034-7241FD91FCB1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5537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589F36-6A91-4E78-9359-363836C58CF6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2724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PROTECTED POWER DESIGN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E2CF15-F669-45E1-9F2E-27B878F5CA14}"/>
              </a:ext>
            </a:extLst>
          </p:cNvPr>
          <p:cNvSpPr>
            <a:spLocks noGrp="1"/>
          </p:cNvSpPr>
          <p:nvPr/>
        </p:nvSpPr>
        <p:spPr>
          <a:xfrm>
            <a:off x="3790950" y="48577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Separate fused branch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F073C2-6AB0-4618-A236-6B8B38B3DE7B}"/>
              </a:ext>
            </a:extLst>
          </p:cNvPr>
          <p:cNvSpPr>
            <a:spLocks noGrp="1"/>
          </p:cNvSpPr>
          <p:nvPr/>
        </p:nvSpPr>
        <p:spPr>
          <a:xfrm>
            <a:off x="5943600" y="4857750"/>
            <a:ext cx="2457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DC-DC regulation + decoupling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AE9619B-1060-4933-8B7C-8002B1D95397}"/>
              </a:ext>
            </a:extLst>
          </p:cNvPr>
          <p:cNvSpPr>
            <a:spLocks noGrp="1"/>
          </p:cNvSpPr>
          <p:nvPr/>
        </p:nvSpPr>
        <p:spPr>
          <a:xfrm>
            <a:off x="8572500" y="485775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Transient suppression + grounding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ED62EE-685E-45B9-B710-D3157B114E08}"/>
              </a:ext>
            </a:extLst>
          </p:cNvPr>
          <p:cNvSpPr>
            <a:spLocks noGrp="1"/>
          </p:cNvSpPr>
          <p:nvPr/>
        </p:nvSpPr>
        <p:spPr>
          <a:xfrm>
            <a:off x="3162300" y="5543550"/>
            <a:ext cx="7620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0034"/>
                </a:solidFill>
                <a:latin typeface="Arial"/>
                <a:ea typeface="Arial"/>
                <a:cs typeface="Arial"/>
              </a:rPr>
              <a:t>Add brownout monitoring and verify worst-case motor-stall current before field tests.</a:t>
            </a:r>
          </a:p>
        </p:txBody>
      </p:sp>
    </p:spTree>
    <p:extLst>
      <p:ext uri="{BB962C8B-B14F-4D97-AF65-F5344CB8AC3E}">
        <p14:creationId xmlns:p14="http://schemas.microsoft.com/office/powerpoint/2010/main" val="951510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DF14BC3-DD77-4479-BEB8-1555D52A990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ISSUES AND ITERATIONS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A3B72B3-2732-4C99-BBAE-6DD749B62F0C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Prototype Result and Limitations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FEAC81-86EB-4746-941D-A908E6B5A741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499673-964C-4F40-8080-D33A93895115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803295-5083-4F2D-8418-B368819B6683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645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340 ms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8A73A8-B5CF-455C-ABBF-48B5F1EA2825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ONE OBSERVATION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E5E204-0883-42B0-942D-7ECDB9CC6E4F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323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Glass-to-glass under the tested 4G configuration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C0FAFD9-DA1B-406A-AA08-3750FCA608ED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3143250" cy="1066800"/>
          </a:xfrm>
          <a:prstGeom prst="roundRect">
            <a:avLst>
              <a:gd name="adj" fmla="val 10714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CB33469-7907-471C-A565-FB32BCC3C79E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D7E4280-321B-477B-9255-A2D557BBB31E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5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&lt; 400 ms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D67A95-20C0-4D9F-B091-9A725668D3CA}"/>
              </a:ext>
            </a:extLst>
          </p:cNvPr>
          <p:cNvSpPr>
            <a:spLocks noGrp="1"/>
          </p:cNvSpPr>
          <p:nvPr/>
        </p:nvSpPr>
        <p:spPr>
          <a:xfrm>
            <a:off x="4324350" y="1543050"/>
            <a:ext cx="7124700" cy="447675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45224" y="1562100"/>
            <a:ext cx="7082952" cy="4438650"/>
          </a:xfrm>
          <a:prstGeom prst="roundRect">
            <a:avLst>
              <a:gd name="adj" fmla="val 1717"/>
            </a:avLst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8F8B6EE-08B4-4D03-849A-571D74844027}"/>
              </a:ext>
            </a:extLst>
          </p:cNvPr>
          <p:cNvSpPr>
            <a:spLocks noGrp="1"/>
          </p:cNvSpPr>
          <p:nvPr/>
        </p:nvSpPr>
        <p:spPr>
          <a:xfrm>
            <a:off x="5314950" y="5762625"/>
            <a:ext cx="5181600" cy="209550"/>
          </a:xfrm>
          <a:prstGeom prst="roundRect">
            <a:avLst>
              <a:gd name="adj" fmla="val 27273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47625" tIns="28575" rIns="47625" bIns="2857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1788024617068 − 1788024616728 = 340 ms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D311266-5698-4FF5-8A33-B42F04387995}"/>
              </a:ext>
            </a:extLst>
          </p:cNvPr>
          <p:cNvSpPr>
            <a:spLocks noGrp="1"/>
          </p:cNvSpPr>
          <p:nvPr/>
        </p:nvSpPr>
        <p:spPr>
          <a:xfrm>
            <a:off x="1276350" y="6153150"/>
            <a:ext cx="9639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Evidence of feasibility, not a statistical guarantee or completed 5G validation</a:t>
            </a:r>
          </a:p>
        </p:txBody>
      </p:sp>
    </p:spTree>
    <p:extLst>
      <p:ext uri="{BB962C8B-B14F-4D97-AF65-F5344CB8AC3E}">
        <p14:creationId xmlns:p14="http://schemas.microsoft.com/office/powerpoint/2010/main" val="1165424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A5BA53C-F909-4AD8-A391-6503A27E6BC7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8AC8F6-E6F0-47CE-B6A6-475C02F1DC97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Complete Remote 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9A8988-0230-4FE0-97B5-22EFA4EFF5FE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B9759A-3422-4424-9246-114E9DE0FE03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8AA099A-B0E1-47C0-812E-8884E48A2DF6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800600" cy="270510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0" y="1750125"/>
            <a:ext cx="4762500" cy="2405249"/>
          </a:xfrm>
          <a:prstGeom prst="roundRect">
            <a:avLst>
              <a:gd name="adj" fmla="val 2857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3F405B1-2FC1-423D-AC63-A86EE1025B41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NEXT PHASE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B7B524-D6DF-45D0-AEC0-E3E250E1AE60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53340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3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Add a verified command loop without changing the completed video-scope claim.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F10589F-5CB2-4C54-8D7D-5CBE462C97E5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A12775D-0E16-448C-85C0-1E4DE519FA1E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periodic gamepad sampling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C05FB1-E8E8-4D43-AFE0-02639CD0A479}"/>
              </a:ext>
            </a:extLst>
          </p:cNvPr>
          <p:cNvSpPr>
            <a:spLocks noGrp="1"/>
          </p:cNvSpPr>
          <p:nvPr/>
        </p:nvSpPr>
        <p:spPr>
          <a:xfrm>
            <a:off x="3409950" y="46291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MESSAGE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9989DC-A5F5-439B-8CAC-F2D9329D74BE}"/>
              </a:ext>
            </a:extLst>
          </p:cNvPr>
          <p:cNvSpPr>
            <a:spLocks noGrp="1"/>
          </p:cNvSpPr>
          <p:nvPr/>
        </p:nvSpPr>
        <p:spPr>
          <a:xfrm>
            <a:off x="3409950" y="49149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version + sequence + timestamp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4A48D3-8EA5-4358-BAB9-31A9CE5D85F7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90A21E0-2CC8-4592-88B6-1B87324267D7}"/>
              </a:ext>
            </a:extLst>
          </p:cNvPr>
          <p:cNvSpPr>
            <a:spLocks noGrp="1"/>
          </p:cNvSpPr>
          <p:nvPr/>
        </p:nvSpPr>
        <p:spPr>
          <a:xfrm>
            <a:off x="6096000" y="49149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range and staleness checks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67459AF-0949-40BD-8CD9-99DFCF8793EB}"/>
              </a:ext>
            </a:extLst>
          </p:cNvPr>
          <p:cNvSpPr>
            <a:spLocks noGrp="1"/>
          </p:cNvSpPr>
          <p:nvPr/>
        </p:nvSpPr>
        <p:spPr>
          <a:xfrm>
            <a:off x="8782050" y="46291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ACTUATION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CDD076-8215-4CA0-AFA4-60E3D13728CE}"/>
              </a:ext>
            </a:extLst>
          </p:cNvPr>
          <p:cNvSpPr>
            <a:spLocks noGrp="1"/>
          </p:cNvSpPr>
          <p:nvPr/>
        </p:nvSpPr>
        <p:spPr>
          <a:xfrm>
            <a:off x="8782050" y="49149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steering and throttle PWM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082C0C5-BE6A-454B-8F45-606C0B0B0A62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668000" cy="514350"/>
          </a:xfrm>
          <a:prstGeom prst="roundRect">
            <a:avLst>
              <a:gd name="adj" fmla="val 16667"/>
            </a:avLst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2A495B-FD06-4A52-B171-215955188DD5}"/>
              </a:ext>
            </a:extLst>
          </p:cNvPr>
          <p:cNvSpPr>
            <a:spLocks noGrp="1"/>
          </p:cNvSpPr>
          <p:nvPr/>
        </p:nvSpPr>
        <p:spPr>
          <a:xfrm>
            <a:off x="971550" y="5781675"/>
            <a:ext cx="10172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 safe to neutral on timeout, invalid data, channel loss, or emergency stop.</a:t>
            </a:r>
          </a:p>
        </p:txBody>
      </p:sp>
    </p:spTree>
    <p:extLst>
      <p:ext uri="{BB962C8B-B14F-4D97-AF65-F5344CB8AC3E}">
        <p14:creationId xmlns:p14="http://schemas.microsoft.com/office/powerpoint/2010/main" val="404464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68739AD7-C74B-4A4A-B57E-984CECA0921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AC394B-8B02-49A1-92D9-E5274943C81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Hardware and Direct H.264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5D7A1B3-95AA-4CCC-88E2-6FAF2E22B2FC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DF064EC-4430-4823-982E-DE76D2E5521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C66FED-BA24-4602-8548-13AF5A3FC553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50A97BB-0899-436F-8845-617DC727CB2E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158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C920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MJPEG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4A69880-7383-4B12-8F22-0FAE4912E00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1581150" cy="800100"/>
          </a:xfrm>
          <a:prstGeom prst="roundRect">
            <a:avLst>
              <a:gd name="adj" fmla="val 16667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MJPEG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AA7DCAF-E351-4F8F-ADEA-4F5C868FC5D4}"/>
              </a:ext>
            </a:extLst>
          </p:cNvPr>
          <p:cNvSpPr>
            <a:spLocks noGrp="1"/>
          </p:cNvSpPr>
          <p:nvPr/>
        </p:nvSpPr>
        <p:spPr>
          <a:xfrm>
            <a:off x="4591050" y="2171700"/>
            <a:ext cx="1581150" cy="800100"/>
          </a:xfrm>
          <a:prstGeom prst="roundRect">
            <a:avLst>
              <a:gd name="adj" fmla="val 1666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algn="ctr">
              <a:lnSpc>
                <a:spcPct val="104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libx264</a:t>
            </a:r>
          </a:p>
        </p:txBody>
      </p:sp>
      <p:cxnSp>
        <p:nvCxnSpPr>
          <p:cNvPr id="28" name="Conector recto de flecha 27"/>
          <p:cNvCxnSpPr>
            <a:stCxn id="6" idx="3"/>
            <a:endCxn id="7" idx="1"/>
          </p:cNvCxnSpPr>
          <p:nvPr/>
        </p:nvCxnSpPr>
        <p:spPr>
          <a:xfrm>
            <a:off x="2286000" y="2571750"/>
            <a:ext cx="3619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29" name="Conector recto de flecha 28"/>
          <p:cNvCxnSpPr>
            <a:stCxn id="7" idx="3"/>
            <a:endCxn id="8" idx="1"/>
          </p:cNvCxnSpPr>
          <p:nvPr/>
        </p:nvCxnSpPr>
        <p:spPr>
          <a:xfrm>
            <a:off x="4229100" y="2571750"/>
            <a:ext cx="36195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773672-9662-405A-ACED-0366CCEDBA05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6DB713F-4746-4BF0-9674-03C4C71F93D0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2286000" cy="876300"/>
          </a:xfrm>
          <a:prstGeom prst="roundRect">
            <a:avLst>
              <a:gd name="adj" fmla="val 1521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Camera or SoC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 output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06C77E3-AE69-4695-9BEC-4D9EBB038131}"/>
              </a:ext>
            </a:extLst>
          </p:cNvPr>
          <p:cNvSpPr>
            <a:spLocks noGrp="1"/>
          </p:cNvSpPr>
          <p:nvPr/>
        </p:nvSpPr>
        <p:spPr>
          <a:xfrm>
            <a:off x="3638550" y="4191000"/>
            <a:ext cx="2286000" cy="876300"/>
          </a:xfrm>
          <a:prstGeom prst="roundRect">
            <a:avLst>
              <a:gd name="adj" fmla="val 15217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Packet adaptation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cxnSp>
        <p:nvCxnSpPr>
          <p:cNvPr id="33" name="Conector recto de flecha 32"/>
          <p:cNvCxnSpPr>
            <a:stCxn id="12" idx="3"/>
            <a:endCxn id="13" idx="1"/>
          </p:cNvCxnSpPr>
          <p:nvPr/>
        </p:nvCxnSpPr>
        <p:spPr>
          <a:xfrm>
            <a:off x="2990850" y="4629150"/>
            <a:ext cx="6477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0E641D8-5CE4-456C-B665-8FF5696ABB47}"/>
              </a:ext>
            </a:extLst>
          </p:cNvPr>
          <p:cNvSpPr>
            <a:spLocks noGrp="1"/>
          </p:cNvSpPr>
          <p:nvPr/>
        </p:nvSpPr>
        <p:spPr>
          <a:xfrm>
            <a:off x="7505700" y="1733550"/>
            <a:ext cx="2133600" cy="23622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7721" y="1752600"/>
            <a:ext cx="2089558" cy="2324100"/>
          </a:xfrm>
          <a:prstGeom prst="roundRect">
            <a:avLst>
              <a:gd name="adj" fmla="val 3636"/>
            </a:avLst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DAB0CE5-8CBF-45C1-9569-613D15D98C03}"/>
              </a:ext>
            </a:extLst>
          </p:cNvPr>
          <p:cNvSpPr>
            <a:spLocks noGrp="1"/>
          </p:cNvSpPr>
          <p:nvPr/>
        </p:nvSpPr>
        <p:spPr>
          <a:xfrm>
            <a:off x="6858000" y="4343400"/>
            <a:ext cx="4191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21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Remove two expensive stages where hardware permits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76D4B58-3021-4B05-BD94-9386B73D2009}"/>
              </a:ext>
            </a:extLst>
          </p:cNvPr>
          <p:cNvSpPr>
            <a:spLocks noGrp="1"/>
          </p:cNvSpPr>
          <p:nvPr/>
        </p:nvSpPr>
        <p:spPr>
          <a:xfrm>
            <a:off x="6762750" y="5124450"/>
            <a:ext cx="447675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852D933-AEA6-440B-96FB-ADDDBA6C63DB}"/>
              </a:ext>
            </a:extLst>
          </p:cNvPr>
          <p:cNvSpPr>
            <a:spLocks noGrp="1"/>
          </p:cNvSpPr>
          <p:nvPr/>
        </p:nvSpPr>
        <p:spPr>
          <a:xfrm>
            <a:off x="7010400" y="5295900"/>
            <a:ext cx="39814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Validate profile, SPS/PPS, GOP, bitrate, buffering, CPU load, and measured latency.</a:t>
            </a:r>
          </a:p>
        </p:txBody>
      </p:sp>
    </p:spTree>
    <p:extLst>
      <p:ext uri="{BB962C8B-B14F-4D97-AF65-F5344CB8AC3E}">
        <p14:creationId xmlns:p14="http://schemas.microsoft.com/office/powerpoint/2010/main" val="1065121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EEDC26C-2FC7-479B-87E4-15B64003E78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4C9EAB-B1CC-4DB4-8D94-3F1054F229C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Network Resilience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2438D9-E613-4BD5-A346-7B7C47E5C198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7E906A2-7A66-449B-B35F-8C68D9E58001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0C6A9F-5D5B-4FF7-9435-0D81EA1B41D2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PLANNED TEST MATRIX</a:t>
            </a:r>
          </a:p>
        </p:txBody>
      </p:sp>
      <p:graphicFrame>
        <p:nvGraphicFramePr>
          <p:cNvPr id="18" name="Tabla 17"/>
          <p:cNvGraphicFramePr/>
          <p:nvPr/>
        </p:nvGraphicFramePr>
        <p:xfrm>
          <a:off x="609600" y="1885950"/>
          <a:ext cx="10972800" cy="2857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path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4G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5G NSA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5G SA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510034"/>
                          </a:solidFill>
                          <a:latin typeface="Arial"/>
                          <a:ea typeface="Arial"/>
                          <a:cs typeface="Arial"/>
                        </a:rPr>
                        <a:t>IPv4 direct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510034"/>
                          </a:solidFill>
                          <a:latin typeface="Arial"/>
                          <a:ea typeface="Arial"/>
                          <a:cs typeface="Arial"/>
                        </a:rPr>
                        <a:t>IPv6 direct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510034"/>
                          </a:solidFill>
                          <a:latin typeface="Arial"/>
                          <a:ea typeface="Arial"/>
                          <a:cs typeface="Arial"/>
                        </a:rPr>
                        <a:t>TURN relay</a:t>
                      </a:r>
                    </a:p>
                  </a:txBody>
                  <a:tcPr anchor="ctr">
                    <a:solidFill>
                      <a:srgbClr val="F5ED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6F686D"/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C37F475-E982-4DFE-951A-F8534B598A84}"/>
              </a:ext>
            </a:extLst>
          </p:cNvPr>
          <p:cNvSpPr>
            <a:spLocks noGrp="1"/>
          </p:cNvSpPr>
          <p:nvPr/>
        </p:nvSpPr>
        <p:spPr>
          <a:xfrm>
            <a:off x="628650" y="51054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RECORD FOR EVERY RUN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038D738-99E3-48CC-A06A-F9AA6CD456CA}"/>
              </a:ext>
            </a:extLst>
          </p:cNvPr>
          <p:cNvSpPr>
            <a:spLocks noGrp="1"/>
          </p:cNvSpPr>
          <p:nvPr/>
        </p:nvSpPr>
        <p:spPr>
          <a:xfrm>
            <a:off x="628650" y="5467350"/>
            <a:ext cx="194310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connection success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D0329AA-A55D-4E21-9787-D48B786CE8D1}"/>
              </a:ext>
            </a:extLst>
          </p:cNvPr>
          <p:cNvSpPr>
            <a:spLocks noGrp="1"/>
          </p:cNvSpPr>
          <p:nvPr/>
        </p:nvSpPr>
        <p:spPr>
          <a:xfrm>
            <a:off x="2762250" y="5467350"/>
            <a:ext cx="1943100" cy="438150"/>
          </a:xfrm>
          <a:prstGeom prst="roundRect">
            <a:avLst>
              <a:gd name="adj" fmla="val 19565"/>
            </a:avLst>
          </a:prstGeom>
          <a:solidFill>
            <a:srgbClr val="F5EDF2"/>
          </a:solidFill>
          <a:ln w="9525">
            <a:solidFill>
              <a:srgbClr val="E7E3E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latency distribution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441B412-B240-4C14-8FDC-66C3BBAB19DD}"/>
              </a:ext>
            </a:extLst>
          </p:cNvPr>
          <p:cNvSpPr>
            <a:spLocks noGrp="1"/>
          </p:cNvSpPr>
          <p:nvPr/>
        </p:nvSpPr>
        <p:spPr>
          <a:xfrm>
            <a:off x="4895850" y="5467350"/>
            <a:ext cx="194310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jitter + loss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7D75C5E-0108-4D1D-9859-40C184D6C6FF}"/>
              </a:ext>
            </a:extLst>
          </p:cNvPr>
          <p:cNvSpPr>
            <a:spLocks noGrp="1"/>
          </p:cNvSpPr>
          <p:nvPr/>
        </p:nvSpPr>
        <p:spPr>
          <a:xfrm>
            <a:off x="7029450" y="5467350"/>
            <a:ext cx="194310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mobility stability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8D97A82-1B99-4CF5-9305-DED6353F4D38}"/>
              </a:ext>
            </a:extLst>
          </p:cNvPr>
          <p:cNvSpPr>
            <a:spLocks noGrp="1"/>
          </p:cNvSpPr>
          <p:nvPr/>
        </p:nvSpPr>
        <p:spPr>
          <a:xfrm>
            <a:off x="9163050" y="5467350"/>
            <a:ext cx="1943100" cy="43815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uplink consistency</a:t>
            </a:r>
          </a:p>
        </p:txBody>
      </p:sp>
    </p:spTree>
    <p:extLst>
      <p:ext uri="{BB962C8B-B14F-4D97-AF65-F5344CB8AC3E}">
        <p14:creationId xmlns:p14="http://schemas.microsoft.com/office/powerpoint/2010/main" val="1761271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29C035B-F9D2-4BBB-906E-D74FC932840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1BCBEC-AA32-407B-9B14-2AD5E47B3227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Protected Electrical Design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AD5373-2F49-41D7-B98F-82F04F34851B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12CD36D-EC19-4D7B-818A-C4FB17EC4CD6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680CAD-05C5-410D-8639-AF430B7DE157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HARDWARE TRACK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2E87159-490C-42D5-9175-3A158CC834BA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52400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7406072-30FE-4678-A900-240BF18765B9}"/>
              </a:ext>
            </a:extLst>
          </p:cNvPr>
          <p:cNvSpPr>
            <a:spLocks noGrp="1"/>
          </p:cNvSpPr>
          <p:nvPr/>
        </p:nvSpPr>
        <p:spPr>
          <a:xfrm>
            <a:off x="2781300" y="2209800"/>
            <a:ext cx="2095500" cy="971550"/>
          </a:xfrm>
          <a:prstGeom prst="roundRect">
            <a:avLst>
              <a:gd name="adj" fmla="val 13725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Fuse + transient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protection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4E35B38-6F8B-44AA-A0A5-16448776B4AC}"/>
              </a:ext>
            </a:extLst>
          </p:cNvPr>
          <p:cNvSpPr>
            <a:spLocks noGrp="1"/>
          </p:cNvSpPr>
          <p:nvPr/>
        </p:nvSpPr>
        <p:spPr>
          <a:xfrm>
            <a:off x="5372100" y="2209800"/>
            <a:ext cx="2095500" cy="971550"/>
          </a:xfrm>
          <a:prstGeom prst="roundRect">
            <a:avLst>
              <a:gd name="adj" fmla="val 13725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Dedicated DC-DC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regulator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9A2CBE1-4B2D-4933-B7A2-3F9C73C0690B}"/>
              </a:ext>
            </a:extLst>
          </p:cNvPr>
          <p:cNvSpPr>
            <a:spLocks noGrp="1"/>
          </p:cNvSpPr>
          <p:nvPr/>
        </p:nvSpPr>
        <p:spPr>
          <a:xfrm>
            <a:off x="7962900" y="2305050"/>
            <a:ext cx="167640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6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Raspberry Pi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79DBC03-1998-4CDC-BCC7-E27E8245F34D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524000" cy="609600"/>
          </a:xfrm>
          <a:prstGeom prst="roundRect">
            <a:avLst>
              <a:gd name="adj" fmla="val 21875"/>
            </a:avLst>
          </a:prstGeom>
          <a:solidFill>
            <a:srgbClr val="E7E3E5"/>
          </a:solidFill>
          <a:ln w="19050">
            <a:solidFill>
              <a:srgbClr val="A69FA3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Motor branch</a:t>
            </a:r>
          </a:p>
        </p:txBody>
      </p:sp>
      <p:cxnSp>
        <p:nvCxnSpPr>
          <p:cNvPr id="31" name="Conector recto de flecha 30"/>
          <p:cNvCxnSpPr>
            <a:stCxn id="6" idx="3"/>
            <a:endCxn id="7" idx="1"/>
          </p:cNvCxnSpPr>
          <p:nvPr/>
        </p:nvCxnSpPr>
        <p:spPr>
          <a:xfrm>
            <a:off x="2286000" y="2695575"/>
            <a:ext cx="49530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32" name="Conector recto de flecha 31"/>
          <p:cNvCxnSpPr>
            <a:stCxn id="7" idx="3"/>
            <a:endCxn id="8" idx="1"/>
          </p:cNvCxnSpPr>
          <p:nvPr/>
        </p:nvCxnSpPr>
        <p:spPr>
          <a:xfrm>
            <a:off x="4876800" y="2695575"/>
            <a:ext cx="4953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33" name="Conector recto de flecha 32"/>
          <p:cNvCxnSpPr>
            <a:stCxn id="8" idx="3"/>
            <a:endCxn id="9" idx="1"/>
          </p:cNvCxnSpPr>
          <p:nvPr/>
        </p:nvCxnSpPr>
        <p:spPr>
          <a:xfrm>
            <a:off x="7467600" y="2695575"/>
            <a:ext cx="49530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34" name="Conector recto de flecha 33"/>
          <p:cNvCxnSpPr>
            <a:stCxn id="6" idx="2"/>
            <a:endCxn id="10" idx="0"/>
          </p:cNvCxnSpPr>
          <p:nvPr/>
        </p:nvCxnSpPr>
        <p:spPr>
          <a:xfrm>
            <a:off x="1524000" y="3086100"/>
            <a:ext cx="0" cy="24765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</a:ln>
        </p:spPr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5BD98F7-6CE7-41CE-86B8-EA82AEF89404}"/>
              </a:ext>
            </a:extLst>
          </p:cNvPr>
          <p:cNvSpPr>
            <a:spLocks noGrp="1"/>
          </p:cNvSpPr>
          <p:nvPr/>
        </p:nvSpPr>
        <p:spPr>
          <a:xfrm>
            <a:off x="2724150" y="3448050"/>
            <a:ext cx="84010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Separate noisy motor current from the compute rail; add decoupling, strain relief, and brownout logging.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6813F73-681A-4BE6-A7F4-97CC7A9AF147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0972800" cy="1581150"/>
          </a:xfrm>
          <a:prstGeom prst="roundRect">
            <a:avLst>
              <a:gd name="adj" fmla="val 8434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86ADD4-6421-43A0-A4C5-6C8294112BA8}"/>
              </a:ext>
            </a:extLst>
          </p:cNvPr>
          <p:cNvSpPr>
            <a:spLocks noGrp="1"/>
          </p:cNvSpPr>
          <p:nvPr/>
        </p:nvSpPr>
        <p:spPr>
          <a:xfrm>
            <a:off x="838200" y="4476750"/>
            <a:ext cx="2819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SEPARATE PROTOCOL TRACK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5F2FD32-62BC-4FC4-806D-11605B27A197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25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Complete WHIP / WHEP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D192A5-F267-4F72-B1DC-8CE96BD0AF7F}"/>
              </a:ext>
            </a:extLst>
          </p:cNvPr>
          <p:cNvSpPr>
            <a:spLocks noGrp="1"/>
          </p:cNvSpPr>
          <p:nvPr/>
        </p:nvSpPr>
        <p:spPr>
          <a:xfrm>
            <a:off x="4343400" y="4629150"/>
            <a:ext cx="69151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Implement session resources, Location, PATCH, DELETE, HTTPS, and authorization if a central media-server architecture becomes a requirement.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8A7593-7E8C-482F-8350-0A733CC99768}"/>
              </a:ext>
            </a:extLst>
          </p:cNvPr>
          <p:cNvSpPr>
            <a:spLocks noGrp="1"/>
          </p:cNvSpPr>
          <p:nvPr/>
        </p:nvSpPr>
        <p:spPr>
          <a:xfrm>
            <a:off x="4343400" y="5467350"/>
            <a:ext cx="6915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This protocol track changes the media architecture and must be evaluated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3721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C2514451-8A36-4804-8F64-D4D75929D9C0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D52B5E-5609-4B1D-A16C-4B08F5E3B207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ESP32-P4 Integrated Rust Platform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8595FF-BF9A-444A-B3CC-76916D84815F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B63652C-8B44-4254-AE94-00EF00C7307A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20405B-9A19-4E89-8A06-55176DC06A78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CANDIDATE PLATFORM, NOT IMPLEMENTED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ACCE06-2353-4C10-842E-6E107126FD53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676400" cy="85725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MIPI-CSI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camera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5AEFA47-2B18-4431-B939-E5105D88C3F4}"/>
              </a:ext>
            </a:extLst>
          </p:cNvPr>
          <p:cNvSpPr>
            <a:spLocks noGrp="1"/>
          </p:cNvSpPr>
          <p:nvPr/>
        </p:nvSpPr>
        <p:spPr>
          <a:xfrm>
            <a:off x="2914650" y="2305050"/>
            <a:ext cx="2000250" cy="1047750"/>
          </a:xfrm>
          <a:prstGeom prst="roundRect">
            <a:avLst>
              <a:gd name="adj" fmla="val 12727"/>
            </a:avLst>
          </a:prstGeom>
          <a:solidFill>
            <a:srgbClr val="830051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ISP +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H.264 encoder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9FA3AB5-455F-4AF1-9214-ED30410D5C56}"/>
              </a:ext>
            </a:extLst>
          </p:cNvPr>
          <p:cNvSpPr>
            <a:spLocks noGrp="1"/>
          </p:cNvSpPr>
          <p:nvPr/>
        </p:nvSpPr>
        <p:spPr>
          <a:xfrm>
            <a:off x="5391150" y="2209800"/>
            <a:ext cx="2286000" cy="1238250"/>
          </a:xfrm>
          <a:prstGeom prst="roundRect">
            <a:avLst>
              <a:gd name="adj" fmla="val 10769"/>
            </a:avLst>
          </a:prstGeom>
          <a:solidFill>
            <a:srgbClr val="F5EDF2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Rust application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media + safety state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CC33D2B-90E2-48F2-B78A-ACBBD77C3392}"/>
              </a:ext>
            </a:extLst>
          </p:cNvPr>
          <p:cNvSpPr>
            <a:spLocks noGrp="1"/>
          </p:cNvSpPr>
          <p:nvPr/>
        </p:nvSpPr>
        <p:spPr>
          <a:xfrm>
            <a:off x="8153400" y="2305050"/>
            <a:ext cx="247650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830051"/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Ethernet or</a:t>
            </a:r>
          </a:p>
          <a:p>
            <a:pPr algn="ctr">
              <a:lnSpc>
                <a:spcPct val="104000"/>
              </a:lnSpc>
              <a:buNone/>
              <a:defRPr sz="15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external radio / modem</a:t>
            </a:r>
          </a:p>
        </p:txBody>
      </p:sp>
      <p:cxnSp>
        <p:nvCxnSpPr>
          <p:cNvPr id="28" name="Conector recto de flecha 27"/>
          <p:cNvCxnSpPr>
            <a:stCxn id="6" idx="3"/>
            <a:endCxn id="7" idx="1"/>
          </p:cNvCxnSpPr>
          <p:nvPr/>
        </p:nvCxnSpPr>
        <p:spPr>
          <a:xfrm>
            <a:off x="2438400" y="2828925"/>
            <a:ext cx="476250" cy="0"/>
          </a:xfrm>
          <a:prstGeom prst="straightConnector1">
            <a:avLst/>
          </a:prstGeom>
          <a:ln w="19050">
            <a:solidFill>
              <a:srgbClr val="A69FA3"/>
            </a:solidFill>
            <a:prstDash val="solid"/>
            <a:tailEnd type="triangle" w="sm" len="sm"/>
          </a:ln>
        </p:spPr>
      </p:cxnSp>
      <p:cxnSp>
        <p:nvCxnSpPr>
          <p:cNvPr id="29" name="Conector recto de flecha 28"/>
          <p:cNvCxnSpPr>
            <a:stCxn id="7" idx="3"/>
            <a:endCxn id="8" idx="1"/>
          </p:cNvCxnSpPr>
          <p:nvPr/>
        </p:nvCxnSpPr>
        <p:spPr>
          <a:xfrm>
            <a:off x="4914900" y="2828925"/>
            <a:ext cx="47625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cxnSp>
        <p:nvCxnSpPr>
          <p:cNvPr id="30" name="Conector recto de flecha 29"/>
          <p:cNvCxnSpPr>
            <a:stCxn id="8" idx="3"/>
            <a:endCxn id="9" idx="1"/>
          </p:cNvCxnSpPr>
          <p:nvPr/>
        </p:nvCxnSpPr>
        <p:spPr>
          <a:xfrm>
            <a:off x="7677150" y="2828925"/>
            <a:ext cx="476250" cy="0"/>
          </a:xfrm>
          <a:prstGeom prst="straightConnector1">
            <a:avLst/>
          </a:prstGeom>
          <a:ln w="19050">
            <a:solidFill>
              <a:srgbClr val="830051"/>
            </a:solidFill>
            <a:prstDash val="solid"/>
            <a:tailEnd type="triangle" w="sm" len="sm"/>
          </a:ln>
        </p:spPr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F29FD8A-4288-4618-8A22-157196FE25FA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0858500" cy="179070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CDFE75D-2DD3-4A40-A487-4082F4413711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2362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WHY INVESTIGATE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3378E4-28FA-4741-BA9D-23F8421740F4}"/>
              </a:ext>
            </a:extLst>
          </p:cNvPr>
          <p:cNvSpPr>
            <a:spLocks noGrp="1"/>
          </p:cNvSpPr>
          <p:nvPr/>
        </p:nvSpPr>
        <p:spPr>
          <a:xfrm>
            <a:off x="895350" y="4514850"/>
            <a:ext cx="285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Dual-core RISC-V</a:t>
            </a:r>
          </a:p>
          <a:p>
            <a:pPr algn="l">
              <a:lnSpc>
                <a:spcPct val="108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Camera + ISP</a:t>
            </a:r>
          </a:p>
          <a:p>
            <a:pPr algn="l">
              <a:lnSpc>
                <a:spcPct val="108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Hardware H.264</a:t>
            </a:r>
          </a:p>
          <a:p>
            <a:pPr algn="l">
              <a:lnSpc>
                <a:spcPct val="108000"/>
              </a:lnSpc>
              <a:buNone/>
              <a:defRPr sz="15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Ethernet MAC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282155D-8D21-4F6B-A286-8948F21B6C3A}"/>
              </a:ext>
            </a:extLst>
          </p:cNvPr>
          <p:cNvSpPr>
            <a:spLocks noGrp="1"/>
          </p:cNvSpPr>
          <p:nvPr/>
        </p:nvSpPr>
        <p:spPr>
          <a:xfrm>
            <a:off x="4476750" y="4133850"/>
            <a:ext cx="2362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OPEN QUESTIONS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F13E665-010D-48AA-B8A5-3FC41545C1C1}"/>
              </a:ext>
            </a:extLst>
          </p:cNvPr>
          <p:cNvSpPr>
            <a:spLocks noGrp="1"/>
          </p:cNvSpPr>
          <p:nvPr/>
        </p:nvSpPr>
        <p:spPr>
          <a:xfrm>
            <a:off x="4476750" y="451485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WebRTC stack and memory budget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Rust driver maturity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Thermal and power envelope</a:t>
            </a:r>
          </a:p>
          <a:p>
            <a:pPr algn="l">
              <a:lnSpc>
                <a:spcPct val="108000"/>
              </a:lnSpc>
              <a:buNone/>
              <a:defRPr sz="1500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5G modem integration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5F98F14-64C1-4F3C-913B-756E2FE5182E}"/>
              </a:ext>
            </a:extLst>
          </p:cNvPr>
          <p:cNvSpPr>
            <a:spLocks noGrp="1"/>
          </p:cNvSpPr>
          <p:nvPr/>
        </p:nvSpPr>
        <p:spPr>
          <a:xfrm>
            <a:off x="1466850" y="5886450"/>
            <a:ext cx="925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Espressif documents H.264 encode up to 1080p30. End-to-end feasibility still requires a prototype.</a:t>
            </a:r>
          </a:p>
        </p:txBody>
      </p:sp>
    </p:spTree>
    <p:extLst>
      <p:ext uri="{BB962C8B-B14F-4D97-AF65-F5344CB8AC3E}">
        <p14:creationId xmlns:p14="http://schemas.microsoft.com/office/powerpoint/2010/main" val="853319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10CE48B-9BFC-4BBF-B895-24F3A52485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28750"/>
          </a:xfrm>
          <a:prstGeom prst="rect">
            <a:avLst/>
          </a:prstGeom>
          <a:solidFill>
            <a:srgbClr val="000000">
              <a:alpha val="620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0D416F-39E1-4B6A-BD82-F3EA394368E2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APPLICATIONS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5494355-39FC-4612-BB4B-48ABF715D67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Autonomous Motorway Driving with Remote Final Approach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5AE33F-3F2C-4F06-A816-E1EEE0D17B8D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000000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37B2D3-9E24-404E-9E15-545D4816465B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truck handles the long motorway segment autonomously. A remote driver takes over for depot entry, loading areas, and other complex final manoeuvres.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4CEA42-9524-463F-B871-F4D801D14D1D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6289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project contributes the low-latency video path. Safe teleoperation also requires redundant control, vehicle safety systems, and operational approval.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DDE27EF-9022-417A-9056-80B5A929B78C}"/>
              </a:ext>
            </a:extLst>
          </p:cNvPr>
          <p:cNvSpPr>
            <a:spLocks noGrp="1"/>
          </p:cNvSpPr>
          <p:nvPr/>
        </p:nvSpPr>
        <p:spPr>
          <a:xfrm>
            <a:off x="9525000" y="6496050"/>
            <a:ext cx="2114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ILLUSTRATION</a:t>
            </a:r>
          </a:p>
        </p:txBody>
      </p:sp>
    </p:spTree>
    <p:extLst>
      <p:ext uri="{BB962C8B-B14F-4D97-AF65-F5344CB8AC3E}">
        <p14:creationId xmlns:p14="http://schemas.microsoft.com/office/powerpoint/2010/main" val="614348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4607529-79C1-45A2-82E2-1718A25ED2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0000">
              <a:alpha val="580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11203A-72ED-4C81-87C9-057255158CA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POTENTIAL APPLICATIONS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A3E752F-69EB-4284-916E-81B5C4E5F20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8572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Teleoperated Heavy Vehicles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4CA4BF-056A-4109-8299-CF59C7D19F79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000000">
              <a:alpha val="720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99DD78-DB96-4215-A956-C0BD1D55845A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CRANES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C76CD3A-173F-45E8-868F-06C319AAABC9}"/>
              </a:ext>
            </a:extLst>
          </p:cNvPr>
          <p:cNvSpPr>
            <a:spLocks noGrp="1"/>
          </p:cNvSpPr>
          <p:nvPr/>
        </p:nvSpPr>
        <p:spPr>
          <a:xfrm>
            <a:off x="552450" y="55816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operators away from suspended loads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66C5AB-1C58-405D-B164-5F94889FDFF1}"/>
              </a:ext>
            </a:extLst>
          </p:cNvPr>
          <p:cNvSpPr>
            <a:spLocks noGrp="1"/>
          </p:cNvSpPr>
          <p:nvPr/>
        </p:nvSpPr>
        <p:spPr>
          <a:xfrm>
            <a:off x="4457700" y="52197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MINING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8D0222C-1FFC-46DA-ABBC-0BD84CB00ED5}"/>
              </a:ext>
            </a:extLst>
          </p:cNvPr>
          <p:cNvSpPr>
            <a:spLocks noGrp="1"/>
          </p:cNvSpPr>
          <p:nvPr/>
        </p:nvSpPr>
        <p:spPr>
          <a:xfrm>
            <a:off x="4457700" y="55816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Operate in dust, heat, and unstable terrain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0E2B92-8031-4D26-8FBF-44E1EB7432BC}"/>
              </a:ext>
            </a:extLst>
          </p:cNvPr>
          <p:cNvSpPr>
            <a:spLocks noGrp="1"/>
          </p:cNvSpPr>
          <p:nvPr/>
        </p:nvSpPr>
        <p:spPr>
          <a:xfrm>
            <a:off x="8362950" y="521970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WORKBOATS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FF1748-97BC-4790-BCF1-FE9AE78A4BFE}"/>
              </a:ext>
            </a:extLst>
          </p:cNvPr>
          <p:cNvSpPr>
            <a:spLocks noGrp="1"/>
          </p:cNvSpPr>
          <p:nvPr/>
        </p:nvSpPr>
        <p:spPr>
          <a:xfrm>
            <a:off x="8362950" y="5581650"/>
            <a:ext cx="333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manoeuvres in hazardous port areas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A9B1748-E8A5-483A-BCBB-1FAFEA0406EC}"/>
              </a:ext>
            </a:extLst>
          </p:cNvPr>
          <p:cNvSpPr>
            <a:spLocks noGrp="1"/>
          </p:cNvSpPr>
          <p:nvPr/>
        </p:nvSpPr>
        <p:spPr>
          <a:xfrm>
            <a:off x="3695700" y="6419850"/>
            <a:ext cx="794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only. Production systems require redundant command paths and task-specific safety engineering.</a:t>
            </a:r>
          </a:p>
        </p:txBody>
      </p:sp>
    </p:spTree>
    <p:extLst>
      <p:ext uri="{BB962C8B-B14F-4D97-AF65-F5344CB8AC3E}">
        <p14:creationId xmlns:p14="http://schemas.microsoft.com/office/powerpoint/2010/main" val="2096516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7D327E33-67C5-4395-AA23-705F7041820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DEMO / VIDEO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7E90A0-597C-49E8-995F-75D2F326944D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Demo Setup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BAE89E8-DE3A-4498-959A-8E4EDACBA4E0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48C60C3-64B3-4E46-8D48-6A830D99E504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DF02DA2-5B6A-47E7-BA77-2D8527C7CEC9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6705600" cy="3581400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rcRect l="51" r="51"/>
          <a:stretch>
            <a:fillRect/>
          </a:stretch>
        </p:blipFill>
        <p:spPr>
          <a:xfrm>
            <a:off x="590550" y="1657350"/>
            <a:ext cx="6667500" cy="3543300"/>
          </a:xfrm>
          <a:prstGeom prst="roundRect">
            <a:avLst>
              <a:gd name="adj" fmla="val 2151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0E4B4F0-943C-43D1-945C-489FAAA3AAF1}"/>
              </a:ext>
            </a:extLst>
          </p:cNvPr>
          <p:cNvSpPr>
            <a:spLocks noGrp="1"/>
          </p:cNvSpPr>
          <p:nvPr/>
        </p:nvSpPr>
        <p:spPr>
          <a:xfrm>
            <a:off x="7753350" y="165735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TWO INPUT PATHS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9BD589-DE7A-423B-B661-7B85E3F30CE5}"/>
              </a:ext>
            </a:extLst>
          </p:cNvPr>
          <p:cNvSpPr>
            <a:spLocks noGrp="1"/>
          </p:cNvSpPr>
          <p:nvPr/>
        </p:nvSpPr>
        <p:spPr>
          <a:xfrm>
            <a:off x="7753350" y="2076450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1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Physical car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63D221F-8C47-43DC-A569-62AA645CDB19}"/>
              </a:ext>
            </a:extLst>
          </p:cNvPr>
          <p:cNvSpPr>
            <a:spLocks noGrp="1"/>
          </p:cNvSpPr>
          <p:nvPr/>
        </p:nvSpPr>
        <p:spPr>
          <a:xfrm>
            <a:off x="7753350" y="2457450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Raspberry Pi + C920 + mobile link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CD6EF109-EC45-4B26-89F7-91E9ED30071F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238500" cy="0"/>
          </a:xfrm>
          <a:prstGeom prst="line">
            <a:avLst/>
          </a:prstGeom>
          <a:noFill/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29A87B-5FD7-4243-A0CF-2A77336DA5BF}"/>
              </a:ext>
            </a:extLst>
          </p:cNvPr>
          <p:cNvSpPr>
            <a:spLocks noGrp="1"/>
          </p:cNvSpPr>
          <p:nvPr/>
        </p:nvSpPr>
        <p:spPr>
          <a:xfrm>
            <a:off x="7753350" y="3333750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100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Browser simulator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7EAAB7-41F0-48A3-B69A-1E3752975A13}"/>
              </a:ext>
            </a:extLst>
          </p:cNvPr>
          <p:cNvSpPr>
            <a:spLocks noGrp="1"/>
          </p:cNvSpPr>
          <p:nvPr/>
        </p:nvSpPr>
        <p:spPr>
          <a:xfrm>
            <a:off x="7753350" y="3714750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Countdown video captured as a WebRTC track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3E5C0C8-EF02-4E7B-8260-370F55ED2159}"/>
              </a:ext>
            </a:extLst>
          </p:cNvPr>
          <p:cNvSpPr>
            <a:spLocks noGrp="1"/>
          </p:cNvSpPr>
          <p:nvPr/>
        </p:nvSpPr>
        <p:spPr>
          <a:xfrm>
            <a:off x="590550" y="5543550"/>
            <a:ext cx="10744200" cy="590550"/>
          </a:xfrm>
          <a:prstGeom prst="roundRect">
            <a:avLst>
              <a:gd name="adj" fmla="val 16129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AEC851-9FA2-4C56-87CA-216CCD830040}"/>
              </a:ext>
            </a:extLst>
          </p:cNvPr>
          <p:cNvSpPr>
            <a:spLocks noGrp="1"/>
          </p:cNvSpPr>
          <p:nvPr/>
        </p:nvSpPr>
        <p:spPr>
          <a:xfrm>
            <a:off x="819150" y="56959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Audience checklist: SignalR, SDP offer/answer, ICE candidate type, connection state, live video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0E81C59-B980-4994-9D06-7718D0904B05}"/>
              </a:ext>
            </a:extLst>
          </p:cNvPr>
          <p:cNvSpPr>
            <a:spLocks noGrp="1"/>
          </p:cNvSpPr>
          <p:nvPr/>
        </p:nvSpPr>
        <p:spPr>
          <a:xfrm>
            <a:off x="1562100" y="5219700"/>
            <a:ext cx="4724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The selector lists prototype entries; it is not a production fleet registry.</a:t>
            </a:r>
          </a:p>
        </p:txBody>
      </p:sp>
    </p:spTree>
    <p:extLst>
      <p:ext uri="{BB962C8B-B14F-4D97-AF65-F5344CB8AC3E}">
        <p14:creationId xmlns:p14="http://schemas.microsoft.com/office/powerpoint/2010/main" val="996704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C1F6566-7FAF-43D8-B437-5E48C9672EC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DEMO / VIDEO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C06D5A-408D-4A07-B223-C07D60BD48D4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Live Demo Sequence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2FE53EF-E845-4E1A-8E5A-88B6DD0E0675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25B9F2-F082-447E-887E-69E33C6DA048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5F5E854-C8F1-49DA-A8F7-DA3CBB31B480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0E020F-7867-4BC2-9253-3729F885B8FD}"/>
              </a:ext>
            </a:extLst>
          </p:cNvPr>
          <p:cNvSpPr>
            <a:spLocks noGrp="1"/>
          </p:cNvSpPr>
          <p:nvPr/>
        </p:nvSpPr>
        <p:spPr>
          <a:xfrm>
            <a:off x="1352550" y="16573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Start server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D5FE07-8503-40C1-8241-164490F8E46E}"/>
              </a:ext>
            </a:extLst>
          </p:cNvPr>
          <p:cNvSpPr>
            <a:spLocks noGrp="1"/>
          </p:cNvSpPr>
          <p:nvPr/>
        </p:nvSpPr>
        <p:spPr>
          <a:xfrm>
            <a:off x="1352550" y="208597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Open the selector page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42C8493-9B9A-4FB9-93A5-3A35D0AB9F0D}"/>
              </a:ext>
            </a:extLst>
          </p:cNvPr>
          <p:cNvSpPr>
            <a:spLocks noGrp="1"/>
          </p:cNvSpPr>
          <p:nvPr/>
        </p:nvSpPr>
        <p:spPr>
          <a:xfrm>
            <a:off x="4457700" y="1657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1A803A-38C1-4E0D-AA62-16FFD4373ED8}"/>
              </a:ext>
            </a:extLst>
          </p:cNvPr>
          <p:cNvSpPr>
            <a:spLocks noGrp="1"/>
          </p:cNvSpPr>
          <p:nvPr/>
        </p:nvSpPr>
        <p:spPr>
          <a:xfrm>
            <a:off x="5162550" y="16573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Start device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E507E6-73A1-42D9-96AB-63989FF0A8BE}"/>
              </a:ext>
            </a:extLst>
          </p:cNvPr>
          <p:cNvSpPr>
            <a:spLocks noGrp="1"/>
          </p:cNvSpPr>
          <p:nvPr/>
        </p:nvSpPr>
        <p:spPr>
          <a:xfrm>
            <a:off x="5162550" y="208597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Use the car or simulator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778B74F-4A68-464D-BE69-F889CE327143}"/>
              </a:ext>
            </a:extLst>
          </p:cNvPr>
          <p:cNvSpPr>
            <a:spLocks noGrp="1"/>
          </p:cNvSpPr>
          <p:nvPr/>
        </p:nvSpPr>
        <p:spPr>
          <a:xfrm>
            <a:off x="8267700" y="16573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1F277E-6A54-4CAA-BB9C-D084609D9722}"/>
              </a:ext>
            </a:extLst>
          </p:cNvPr>
          <p:cNvSpPr>
            <a:spLocks noGrp="1"/>
          </p:cNvSpPr>
          <p:nvPr/>
        </p:nvSpPr>
        <p:spPr>
          <a:xfrm>
            <a:off x="8972550" y="165735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Open viewer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BFB7B23-6A6A-4004-A241-84B50F819FB4}"/>
              </a:ext>
            </a:extLst>
          </p:cNvPr>
          <p:cNvSpPr>
            <a:spLocks noGrp="1"/>
          </p:cNvSpPr>
          <p:nvPr/>
        </p:nvSpPr>
        <p:spPr>
          <a:xfrm>
            <a:off x="8972550" y="208597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Viewer join triggers the offer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3B7AB45-2B6F-4C25-80CD-58FF36D49324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30EAAFC-5BB6-442B-BD5B-3398EA4526C0}"/>
              </a:ext>
            </a:extLst>
          </p:cNvPr>
          <p:cNvSpPr>
            <a:spLocks noGrp="1"/>
          </p:cNvSpPr>
          <p:nvPr/>
        </p:nvSpPr>
        <p:spPr>
          <a:xfrm>
            <a:off x="1352550" y="346710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Exchange SDP + ICE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213219E-D324-4816-8C77-06F45DB2F9F2}"/>
              </a:ext>
            </a:extLst>
          </p:cNvPr>
          <p:cNvSpPr>
            <a:spLocks noGrp="1"/>
          </p:cNvSpPr>
          <p:nvPr/>
        </p:nvSpPr>
        <p:spPr>
          <a:xfrm>
            <a:off x="1352550" y="389572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SignalR carries both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E9BACCA-47E1-45EE-AB96-3215FBD397AC}"/>
              </a:ext>
            </a:extLst>
          </p:cNvPr>
          <p:cNvSpPr>
            <a:spLocks noGrp="1"/>
          </p:cNvSpPr>
          <p:nvPr/>
        </p:nvSpPr>
        <p:spPr>
          <a:xfrm>
            <a:off x="4457700" y="34671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4A10371-A3A4-429E-8B4A-9E99FFB65E4C}"/>
              </a:ext>
            </a:extLst>
          </p:cNvPr>
          <p:cNvSpPr>
            <a:spLocks noGrp="1"/>
          </p:cNvSpPr>
          <p:nvPr/>
        </p:nvSpPr>
        <p:spPr>
          <a:xfrm>
            <a:off x="5162550" y="346710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Inspect selected path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8D0CB8-D3ED-4A07-8882-18BA5FAF1BD5}"/>
              </a:ext>
            </a:extLst>
          </p:cNvPr>
          <p:cNvSpPr>
            <a:spLocks noGrp="1"/>
          </p:cNvSpPr>
          <p:nvPr/>
        </p:nvSpPr>
        <p:spPr>
          <a:xfrm>
            <a:off x="5162550" y="389572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host, srflx, or relay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7A24E0A-AE63-4A7F-868F-2FEE60D1D9E9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5059A3C-7EC1-44F1-836E-8DD1A07E7920}"/>
              </a:ext>
            </a:extLst>
          </p:cNvPr>
          <p:cNvSpPr>
            <a:spLocks noGrp="1"/>
          </p:cNvSpPr>
          <p:nvPr/>
        </p:nvSpPr>
        <p:spPr>
          <a:xfrm>
            <a:off x="8972550" y="3467100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Show live video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0D51A75-2087-4824-BCB5-FCAD5F62EE1D}"/>
              </a:ext>
            </a:extLst>
          </p:cNvPr>
          <p:cNvSpPr>
            <a:spLocks noGrp="1"/>
          </p:cNvSpPr>
          <p:nvPr/>
        </p:nvSpPr>
        <p:spPr>
          <a:xfrm>
            <a:off x="8972550" y="3895725"/>
            <a:ext cx="2781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86D"/>
                </a:solidFill>
                <a:latin typeface="Arial"/>
                <a:ea typeface="Arial"/>
                <a:cs typeface="Arial"/>
              </a:rPr>
              <a:t>Demonstrate the latency target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E23BA1B-4095-4B67-BC5B-7ACAF1E7F9ED}"/>
              </a:ext>
            </a:extLst>
          </p:cNvPr>
          <p:cNvSpPr>
            <a:spLocks noGrp="1"/>
          </p:cNvSpPr>
          <p:nvPr/>
        </p:nvSpPr>
        <p:spPr>
          <a:xfrm>
            <a:off x="647700" y="5467350"/>
            <a:ext cx="10896600" cy="647700"/>
          </a:xfrm>
          <a:prstGeom prst="roundRect">
            <a:avLst>
              <a:gd name="adj" fmla="val 14706"/>
            </a:avLst>
          </a:prstGeom>
          <a:solidFill>
            <a:srgbClr val="F5EDF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C00920E-46DD-4441-BAA8-DA2817A40AC0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Demo ordering detail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EEB818D-208E-4375-8A43-8604CA6472A3}"/>
              </a:ext>
            </a:extLst>
          </p:cNvPr>
          <p:cNvSpPr>
            <a:spLocks noGrp="1"/>
          </p:cNvSpPr>
          <p:nvPr/>
        </p:nvSpPr>
        <p:spPr>
          <a:xfrm>
            <a:off x="3105150" y="5591175"/>
            <a:ext cx="81724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417"/>
                </a:solidFill>
                <a:latin typeface="Arial"/>
                <a:ea typeface="Arial"/>
                <a:cs typeface="Arial"/>
              </a:rPr>
              <a:t>The real device creates an offer when it receives ClientJoined. Start it before opening or reloading the viewer page.</a:t>
            </a:r>
          </a:p>
        </p:txBody>
      </p:sp>
    </p:spTree>
    <p:extLst>
      <p:ext uri="{BB962C8B-B14F-4D97-AF65-F5344CB8AC3E}">
        <p14:creationId xmlns:p14="http://schemas.microsoft.com/office/powerpoint/2010/main" val="1065186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9D6B75E-0FF6-4830-871D-C5AC8A7AE25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83005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30051"/>
                </a:solidFill>
                <a:latin typeface="Arial"/>
                <a:ea typeface="Arial"/>
                <a:cs typeface="Arial"/>
              </a:rPr>
              <a:t>DEMO / VIDEO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4A9D71-E416-4C6F-BA8A-8A94336F9292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375" b="1">
                <a:solidFill>
                  <a:srgbClr val="17141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1417"/>
                </a:solidFill>
                <a:latin typeface="Arial"/>
                <a:ea typeface="Arial"/>
                <a:cs typeface="Arial"/>
              </a:rPr>
              <a:t>Fallback Video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285E20-A81C-4A83-843D-9C9E7863E57C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11125200" cy="28575"/>
          </a:xfrm>
          <a:prstGeom prst="rect">
            <a:avLst/>
          </a:prstGeom>
          <a:solidFill>
            <a:srgbClr val="83005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DF4E9C-DC01-4A6B-A7A5-6EE93A2C685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8001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1">
                <a:solidFill>
                  <a:srgbClr val="6F68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8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6BC364A-FB21-4252-8EE4-469F4DB4D45B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10629900" cy="4552950"/>
          </a:xfrm>
          <a:prstGeom prst="roundRect">
            <a:avLst>
              <a:gd name="adj" fmla="val 2510"/>
            </a:avLst>
          </a:prstGeom>
          <a:solidFill>
            <a:srgbClr val="171417"/>
          </a:solidFill>
          <a:ln w="28575">
            <a:solidFill>
              <a:srgbClr val="83005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rcRect t="13235" b="13235"/>
          <a:stretch>
            <a:fillRect/>
          </a:stretch>
        </p:blipFill>
        <p:spPr>
          <a:xfrm>
            <a:off x="914400" y="1714500"/>
            <a:ext cx="10363200" cy="4286250"/>
          </a:xfrm>
          <a:prstGeom prst="roundRect">
            <a:avLst>
              <a:gd name="adj" fmla="val 1778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4646A5D-3F95-4337-8E56-7AD8C094170B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10363200" cy="723900"/>
          </a:xfrm>
          <a:prstGeom prst="rect">
            <a:avLst/>
          </a:prstGeom>
          <a:solidFill>
            <a:srgbClr val="000000">
              <a:alpha val="720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7A17FF-B04A-4345-A0F6-57C61C0F4F7C}"/>
              </a:ext>
            </a:extLst>
          </p:cNvPr>
          <p:cNvSpPr>
            <a:spLocks noGrp="1"/>
          </p:cNvSpPr>
          <p:nvPr/>
        </p:nvSpPr>
        <p:spPr>
          <a:xfrm>
            <a:off x="1200150" y="189547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PHYSICAL-CAR RECORDING PLACEHOLDER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3B99A8F-710E-4F6E-A159-5B4014F5E2EB}"/>
              </a:ext>
            </a:extLst>
          </p:cNvPr>
          <p:cNvSpPr>
            <a:spLocks noGrp="1"/>
          </p:cNvSpPr>
          <p:nvPr/>
        </p:nvSpPr>
        <p:spPr>
          <a:xfrm>
            <a:off x="1200150" y="54483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830051">
              <a:alpha val="92000"/>
            </a:srgbClr>
          </a:solidFill>
          <a:ln w="0">
            <a:noFill/>
          </a:ln>
        </p:spPr>
        <p:txBody>
          <a:bodyPr wrap="square" lIns="133350" tIns="38100" rIns="133350" bIns="3810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with a 45–60 second RC-car demonstration before the defense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DC7D46-FA70-4BF6-B152-A53088101CD3}"/>
              </a:ext>
            </a:extLst>
          </p:cNvPr>
          <p:cNvSpPr>
            <a:spLocks noGrp="1"/>
          </p:cNvSpPr>
          <p:nvPr/>
        </p:nvSpPr>
        <p:spPr>
          <a:xfrm>
            <a:off x="9544050" y="1876425"/>
            <a:ext cx="14859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SIMULATOR ASSET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8B408C-9BAC-4EF4-9B21-7D47BD88E662}"/>
              </a:ext>
            </a:extLst>
          </p:cNvPr>
          <p:cNvSpPr>
            <a:spLocks noGrp="1"/>
          </p:cNvSpPr>
          <p:nvPr/>
        </p:nvSpPr>
        <p:spPr>
          <a:xfrm>
            <a:off x="2057400" y="6238875"/>
            <a:ext cx="807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1">
                <a:solidFill>
                  <a:srgbClr val="5100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10034"/>
                </a:solidFill>
                <a:latin typeface="Arial"/>
                <a:ea typeface="Arial"/>
                <a:cs typeface="Arial"/>
              </a:rPr>
              <a:t>The committed countdown video supports a technical fallback only. It is not physical-car evidence.</a:t>
            </a:r>
          </a:p>
        </p:txBody>
      </p:sp>
    </p:spTree>
    <p:extLst>
      <p:ext uri="{BB962C8B-B14F-4D97-AF65-F5344CB8AC3E}">
        <p14:creationId xmlns:p14="http://schemas.microsoft.com/office/powerpoint/2010/main" val="1751672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0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F017C0D0-1742-4312-AFCF-E7243330BC9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514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TAKEAWAYS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F45ACA-1768-4857-8428-574058CADBC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429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WebRTC can meet the prototype latency target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5E33A8C-ED95-429C-A3B0-0BB6D356D628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23825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823ED0F-3394-490D-89B2-9828B0BA63A3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52197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>
            <a:noAutofit/>
          </a:bodyPr>
          <a:lstStyle/>
          <a:p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4G run measured approximately 340 ms glass-to-glass.</a:t>
            </a:r>
          </a:p>
          <a:p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NAT traversal and software encoding drove the main engineering iterations.</a:t>
            </a:r>
          </a:p>
          <a:p>
            <a:pPr marL="279400" indent="-1397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 H.264, broader network testing, and production relay capacity are the next priorities.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FAD5FF-1A86-4F7E-9FB8-A06DF91A4F7A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400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9A91C1F-B23A-4843-9D6F-203C534A82C8}"/>
              </a:ext>
            </a:extLst>
          </p:cNvPr>
          <p:cNvSpPr>
            <a:spLocks noGrp="1"/>
          </p:cNvSpPr>
          <p:nvPr/>
        </p:nvSpPr>
        <p:spPr>
          <a:xfrm>
            <a:off x="6419850" y="666750"/>
            <a:ext cx="5219700" cy="4248150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E7E3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rcRect l="16223" r="16223"/>
          <a:stretch>
            <a:fillRect/>
          </a:stretch>
        </p:blipFill>
        <p:spPr>
          <a:xfrm>
            <a:off x="6438900" y="685800"/>
            <a:ext cx="5181600" cy="4210050"/>
          </a:xfrm>
          <a:prstGeom prst="roundRect">
            <a:avLst>
              <a:gd name="adj" fmla="val 1810"/>
            </a:avLst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5DF0C26-A832-446D-BE1D-E2D0C51EF5D9}"/>
              </a:ext>
            </a:extLst>
          </p:cNvPr>
          <p:cNvSpPr>
            <a:spLocks noGrp="1"/>
          </p:cNvSpPr>
          <p:nvPr/>
        </p:nvSpPr>
        <p:spPr>
          <a:xfrm>
            <a:off x="7772400" y="50482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Physical prototype stream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48650" y="5770046"/>
            <a:ext cx="3143250" cy="709059"/>
          </a:xfrm>
          <a:prstGeom prst="roundRect">
            <a:avLst>
              <a:gd name="adj" fmla="val 10256"/>
            </a:avLst>
          </a:prstGeom>
        </p:spPr>
      </p:pic>
    </p:spTree>
    <p:extLst>
      <p:ext uri="{BB962C8B-B14F-4D97-AF65-F5344CB8AC3E}">
        <p14:creationId xmlns:p14="http://schemas.microsoft.com/office/powerpoint/2010/main" val="6365409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6478f47-69e8-4291-a44a-cc65aad15a8f}" enabled="1" method="Standard" siteId="{96c20d9e-b612-4c42-b402-9b9bc895edd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5190</Words>
  <Application>Microsoft Office PowerPoint</Application>
  <DocSecurity>0</DocSecurity>
  <PresentationFormat>Panorámica</PresentationFormat>
  <Paragraphs>826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6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Raul Hidalgo</cp:lastModifiedBy>
  <cp:revision>1</cp:revision>
  <dcterms:created xsi:type="dcterms:W3CDTF">2026-09-05T18:56:25Z</dcterms:created>
  <dcterms:modified xsi:type="dcterms:W3CDTF">2026-09-06T14:11:53Z</dcterms:modified>
</cp:coreProperties>
</file>