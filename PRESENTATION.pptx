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4"/>
  </p:notesMasterIdLst>
  <p:sldIdLst>
    <p:sldId id="256" r:id="rId2"/>
    <p:sldId id="257" r:id="rId3"/>
    <p:sldId id="258" r:id="rId4"/>
    <p:sldId id="259" r:id="rId5"/>
    <p:sldId id="292" r:id="rId6"/>
    <p:sldId id="260" r:id="rId7"/>
    <p:sldId id="261" r:id="rId8"/>
    <p:sldId id="262" r:id="rId9"/>
    <p:sldId id="263" r:id="rId10"/>
    <p:sldId id="264" r:id="rId11"/>
    <p:sldId id="265" r:id="rId12"/>
    <p:sldId id="266" r:id="rId13"/>
    <p:sldId id="293" r:id="rId14"/>
    <p:sldId id="267" r:id="rId15"/>
    <p:sldId id="268" r:id="rId16"/>
    <p:sldId id="270" r:id="rId17"/>
    <p:sldId id="269" r:id="rId18"/>
    <p:sldId id="288" r:id="rId19"/>
    <p:sldId id="271" r:id="rId20"/>
    <p:sldId id="272" r:id="rId21"/>
    <p:sldId id="289" r:id="rId22"/>
    <p:sldId id="290" r:id="rId23"/>
    <p:sldId id="273" r:id="rId24"/>
    <p:sldId id="274" r:id="rId25"/>
    <p:sldId id="291" r:id="rId26"/>
    <p:sldId id="275" r:id="rId27"/>
    <p:sldId id="297" r:id="rId28"/>
    <p:sldId id="276" r:id="rId29"/>
    <p:sldId id="294" r:id="rId30"/>
    <p:sldId id="277" r:id="rId31"/>
    <p:sldId id="278" r:id="rId32"/>
    <p:sldId id="279" r:id="rId33"/>
    <p:sldId id="280" r:id="rId34"/>
    <p:sldId id="281" r:id="rId35"/>
    <p:sldId id="295" r:id="rId36"/>
    <p:sldId id="282" r:id="rId37"/>
    <p:sldId id="283" r:id="rId38"/>
    <p:sldId id="296" r:id="rId39"/>
    <p:sldId id="284" r:id="rId40"/>
    <p:sldId id="285" r:id="rId41"/>
    <p:sldId id="286" r:id="rId42"/>
    <p:sldId id="287" r:id="rId43"/>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Theory</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Issues and Iterations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experience contrasted the advertised libcamera route with direct V4L2 capture in the working prototype. The final hardware was a Logitech C920 USB webcam. This distinction concerns the project hardware and FFmpeg integration, not a claim that libcamera is universally unsuitable.</a:t>
            </a:r>
          </a:p>
          <a:p>
            <a:r>
              <a:t>Sources: user clarification; Raspberry Pi, Camera software documentation, https://www.raspberrypi.com/documentation/computers/camera_software.html (accessed 7 September 2026); Raspberry Pi, Bullseye camera system, https://www.raspberrypi.com/news/bullseye-camera-system/; project PLAN.md and src/ScarletRadioControl.Device/Options/FfmpegArgumentTemplate.cs; original presentation, Final Media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 18; PLAN.md, Camera integration approaches; repository commit 4b357dd, PLAN.md (FFmpeg 8.1 and FFmpeg.AutoGen 8.1.0 compatibility and Raspberry Pi distribution package constraint); commit 4b357dd, src/ScarletRadioControl.Device/Video/CameraVideoSource.cs (FFmpegInit.Initialise, FFmpegCameraSource and OnVideoSourceEncodedSample).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slides 18-20; PLAN.md:119-143; current src/ScarletRadioControl.Device/Services/CameraVideoSource.cs (IPv6 loopback RTP receiver, process supervision, restart, RTP parsing and H.264 depacketization); TFM.docx, Camera-to-WebRTC Video Pipeline and Runtime Resilience. External FFmpeg addresses native-library deployment fragility. Software encoding remains on the Raspberry 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r>
              <a:t>Logitech originally advertised the C920 with H.264 video encoding. Logitech later explained that it removed in-camera encoding resources from C920 and related webcam models.</a:t>
            </a:r>
          </a:p>
          <a:p>
            <a:r>
              <a:t>The advertised capability therefore does not describe newer hardware revisions. The project camera supplies MJPEG, and the repository configures FFmpeg to decode it and encode H.264 with libx264.</a:t>
            </a:r>
          </a:p>
          <a:p>
            <a:r>
              <a:t>Software encoding adds CPU work, heat and encoding latency on the Raspberry Pi. No measured CPU percentage or encoding-only latency is claimed.</a:t>
            </a:r>
          </a:p>
          <a:p>
            <a:r>
              <a:t>The external FFmpeg process improves deployment isolation but leaves software encoding on the Raspberry Pi.</a:t>
            </a:r>
          </a:p>
          <a:p>
            <a:r>
              <a:t>Sources:</a:t>
            </a:r>
          </a:p>
          <a:p>
            <a:r>
              <a:t>Logitech, Logitech Webcams and H.264 Encoding: https://support.logi.com/hc/en-gb/articles/40102104890647-Logitech-Webcams-and-H-264-Encoding</a:t>
            </a:r>
          </a:p>
          <a:p>
            <a:r>
              <a:t>Logitech, 2012 C920 announcement: https://news.logitech.com/press-releases/news-details/2012/Logitech-Unveils-Full-HD-Webcam-for-1080p-Video-Calling/default.aspx</a:t>
            </a:r>
          </a:p>
          <a:p>
            <a:r>
              <a:t>Repository: PLAN.md, appsettings.json and CameraVideoSource.cs.</a:t>
            </a:r>
          </a:p>
          <a:p>
            <a:r>
              <a:t>TFM.docx, pp. 29-30 and 36-39.</a:t>
            </a:r>
          </a:p>
          <a:p>
            <a:r>
              <a:t>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solution is pending implementation. The current prototype still captures MJPEG and uses libx264 to encode H.264 in software.</a:t>
            </a:r>
          </a:p>
          <a:p>
            <a:r>
              <a:t>Select and verify a webcam whose exact hardware revision exposes an onboard H.264 stream. No replacement camera has been selected or validated for this slide.</a:t>
            </a:r>
          </a:p>
          <a:p>
            <a:r>
              <a:t>Adapt capture to receive browser-compatible H.264 and feed the encoded video into the existing RTP and WebRTC pipeline. Confirm profile, SPS/PPS, packetization, bitrate and keyframe behavior during integration.</a:t>
            </a:r>
          </a:p>
          <a:p>
            <a:r>
              <a:t>The expected benefit is removing MJPEG decoding and software H.264 encoding from the Raspberry Pi. CPU savings and end-to-end latency remain to be measured.</a:t>
            </a:r>
          </a:p>
          <a:p>
            <a:r>
              <a:t>Sources: existing presentation slide Hardware and Direct H.264; repository PLAN.md, appsettings.json and CameraVideoSource.cs; requested implementation status.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author reports brief Raspberry Pi disconnections when the RC car demands high current. A supply-voltage dip is a suspected mechanism, not a measured brownout diagnosis.</a:t>
            </a:r>
          </a:p>
          <a:p>
            <a:r>
              <a:t>The prototype uses a NiMH battery and an existing small DC-DC regulator. Electrical protection and validation are proposed future work on the following slide.</a:t>
            </a:r>
          </a:p>
          <a:p>
            <a:r>
              <a:t>Sources: PLAN.md, author observation on electrical input; TFM.docx, Power Supply System and Protected Electrical Design. No measured voltage waveform or completed protection validation is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implemented temporary solution uses a Xiaomi 33W power bank to supply the Raspberry Pi. The aim is to separate its power source from the motor current demand described on the preceding problem slide.</a:t>
            </a:r>
          </a:p>
          <a:p>
            <a:r>
              <a:t>The user confirmed the power bank and temporary status on 8 September 2026. No exact model, battery capacity, output profile, operating duration or measured improvement was provided. The 33W label identifies the user-described product; it is not a measurement of Raspberry Pi power consumption.</a:t>
            </a:r>
          </a:p>
          <a:p>
            <a:r>
              <a:t>The permanent protected electrical design remains future work, as described in TFM.docx under Protected Electrical Design and in the corresponding Future Work slide. It is separate from the temporary power bank setup.</a:t>
            </a:r>
          </a:p>
          <a:p>
            <a:r>
              <a:t>Image source: Xiaomi official product page, https://www.mi.com/global/product/xiaomi-33w-power-bank-10000-integrated-cable/</a:t>
            </a:r>
          </a:p>
          <a:p>
            <a:r>
              <a:t>Original image: https://i02.appmifile.com/mi-com-product/fly-birds/xiaomi-33w-power-bank-10000-integrated-cable/pc/e3920e7dc32c0b681d251394550f7f70.jpg</a:t>
            </a:r>
          </a:p>
          <a:p>
            <a:r>
              <a:t>The photograph is a product reference for the Xiaomi 33W Power Bank 10000 (Integrated Cable), not a photograph of the prototype. The user did not specify capacity or colour. No added model specification is a claim about the installed unit.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Future Work</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30 seconds</a:t>
            </a:r>
          </a:p>
          <a:p>
            <a:endParaRPr lang="en-GB"/>
          </a:p>
          <a:p>
            <a:r>
              <a:rPr lang="en-GB"/>
              <a:t>ESP32-P4 is a long-term consolidation candidate because it combines RISC-V cores, camera interfaces, an image pipeline, hardware H.264, and Ethernet.</a:t>
            </a:r>
          </a:p>
          <a:p>
            <a:r>
              <a:rPr lang="en-GB"/>
              <a:t>It has no integrated 5G radio, so a modem or network companion remains necessary. Rust HAL support exists, but peripheral maturity and a practical WebRTC stack still need validation.</a:t>
            </a:r>
          </a:p>
          <a:p>
            <a:endParaRPr lang="en-GB"/>
          </a:p>
          <a:p>
            <a:r>
              <a:rPr lang="en-GB"/>
              <a:t>Sources:</a:t>
            </a:r>
          </a:p>
          <a:p>
            <a:r>
              <a:rPr lang="en-GB"/>
              <a:t>- TFM.docx, p. 39.</a:t>
            </a:r>
          </a:p>
          <a:p>
            <a:r>
              <a:rPr lang="en-GB"/>
              <a:t>- Espressif ESP32-P4 datasheet: https://documentation.espressif.com/esp32-p4_datasheet_en.html</a:t>
            </a:r>
          </a:p>
          <a:p>
            <a:r>
              <a:rPr lang="en-GB"/>
              <a:t>- Espressif product overview: https://www.espressif.com/en/node/7617</a:t>
            </a:r>
          </a:p>
          <a:p>
            <a:r>
              <a:rPr lang="en-GB"/>
              <a:t>- esp-hal: https://github.com/esp-rs/esp-hal</a:t>
            </a:r>
          </a:p>
          <a:p>
            <a:r>
              <a:rPr lang="en-GB"/>
              <a:t>Image source: Espressif Systems, ESP32-P4 announcement. https://www.espressif.com/en/news/ESP32-P4</a:t>
            </a:r>
          </a:p>
          <a:p>
            <a:r>
              <a:rPr lang="en-GB"/>
              <a:t>Image: https://www.espressif.com/sites/default/files/MicrosoftTeams-image%20%2816%29.png</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Potential Aplications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 Video</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006612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slide36-serveto.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slide37-photo-1.png"/><Relationship Id="rId5" Type="http://schemas.openxmlformats.org/officeDocument/2006/relationships/image" Target="../media/slide37-photo-2.png"/><Relationship Id="rId6" Type="http://schemas.openxmlformats.org/officeDocument/2006/relationships/image" Target="../media/slide37-photo-3.png"/></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E3D74CF7-519A-49EC-90B5-C5D6B3ED2585}"/>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Theory</a:t>
            </a:r>
          </a:p>
        </p:txBody>
      </p:sp>
      <p:sp>
        <p:nvSpPr>
          <p:cNvPr id="3" name="Rectángulo 2">
            <a:extLst>
              <a:ext uri="{FF2B5EF4-FFF2-40B4-BE49-F238E27FC236}">
                <a16:creationId xmlns:a16="http://schemas.microsoft.com/office/drawing/2014/main" id="{3B6837E8-75CC-400F-893D-84CDCECE82C4}"/>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49759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07</a:t>
            </a:r>
            <a:endParaRPr sz="1125" b="1">
              <a:solidFill>
                <a:srgbClr val="6F686D"/>
              </a:solidFill>
              <a:latin typeface="Arial"/>
              <a:ea typeface="Arial"/>
              <a:cs typeface="Arial"/>
            </a:endParaRP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08</a:t>
            </a:r>
            <a:endParaRPr sz="1125" b="1">
              <a:solidFill>
                <a:srgbClr val="6F686D"/>
              </a:solidFill>
              <a:latin typeface="Arial"/>
              <a:ea typeface="Arial"/>
              <a:cs typeface="Arial"/>
            </a:endParaRP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lnSpcReduction="20000"/>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fontScale="92500"/>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09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11</a:t>
            </a:r>
            <a:endParaRPr sz="1125" b="1">
              <a:solidFill>
                <a:srgbClr val="6F686D"/>
              </a:solidFill>
              <a:latin typeface="Arial"/>
              <a:ea typeface="Arial"/>
              <a:cs typeface="Arial"/>
            </a:endParaRP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12</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3F9CECB-13C6-436F-8CCF-DE854985E5F3}"/>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Issues and Iterations</a:t>
            </a:r>
          </a:p>
        </p:txBody>
      </p:sp>
      <p:sp>
        <p:nvSpPr>
          <p:cNvPr id="3" name="Rectángulo 2">
            <a:extLst>
              <a:ext uri="{FF2B5EF4-FFF2-40B4-BE49-F238E27FC236}">
                <a16:creationId xmlns:a16="http://schemas.microsoft.com/office/drawing/2014/main" id="{A87A1E2A-CAA0-46AE-A133-AF40FF2AA099}"/>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45570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15</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16</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17</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18</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tIns="0" rIns="0" bIns="0" anchor="t"/>
          <a:lstStyle/>
          <a:p>
            <a:pPr marL="0" indent="0" algn="l">
              <a:lnSpc>
                <a:spcPct val="108000"/>
              </a:lnSpc>
              <a:buNone/>
            </a:pPr>
            <a:r>
              <a:rPr lang="en-US" sz="3375" b="1" dirty="0">
                <a:solidFill>
                  <a:srgbClr val="171417"/>
                </a:solidFill>
                <a:latin typeface="Arial"/>
              </a:rPr>
              <a:t>Solution: WHIP and WHEP</a:t>
            </a:r>
            <a:endParaRPr lang="en-US" sz="3375">
              <a:latin typeface="Arial"/>
            </a:endParaRPr>
          </a:p>
        </p:txBody>
      </p:sp>
      <p:sp>
        <p:nvSpPr>
          <p:cNvPr id="2"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19</a:t>
            </a:r>
            <a:endParaRPr sz="1125" b="1">
              <a:solidFill>
                <a:srgbClr val="6F686D"/>
              </a:solidFill>
              <a:latin typeface="Arial"/>
              <a:ea typeface="Arial"/>
              <a:cs typeface="Arial"/>
            </a:endParaRP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tIns="0" rIns="0" bIns="0" anchor="t"/>
          <a:lstStyle/>
          <a:p>
            <a:pPr marL="0" indent="0" algn="l">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Ingestion Protocol</a:t>
            </a:r>
            <a:endParaRPr lang="en-US" sz="1725">
              <a:latin typeface="Arial"/>
            </a:endParaRPr>
          </a:p>
          <a:p>
            <a:pPr marL="0" indent="0" algn="l">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Egress Protocol</a:t>
            </a:r>
            <a:endParaRPr lang="en-US" sz="1725">
              <a:latin typeface="Arial"/>
            </a:endParaRPr>
          </a:p>
          <a:p>
            <a:pPr marL="0" indent="0" algn="l">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tIns="0" rIns="0" bIns="0" anchor="t"/>
          <a:lstStyle/>
          <a:p>
            <a:pPr marL="0" indent="0" algn="l">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Create a session</a:t>
            </a:r>
            <a:endParaRPr lang="en-US" sz="1650">
              <a:latin typeface="Arial"/>
            </a:endParaRPr>
          </a:p>
          <a:p>
            <a:pPr marL="0" indent="0" algn="l">
              <a:lnSpc>
                <a:spcPct val="108000"/>
              </a:lnSpc>
              <a:buNone/>
            </a:pPr>
            <a:r>
              <a:rPr lang="en-US" sz="1650" b="0" dirty="0">
                <a:solidFill>
                  <a:srgbClr val="171417"/>
                </a:solidFill>
                <a:latin typeface="Arial"/>
              </a:rPr>
              <a:t>Exchange SDP and receive</a:t>
            </a:r>
            <a:endParaRPr lang="en-US" sz="1650">
              <a:latin typeface="Arial"/>
            </a:endParaRPr>
          </a:p>
          <a:p>
            <a:pPr marL="0" indent="0" algn="l">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Update ICE</a:t>
            </a:r>
            <a:endParaRPr lang="en-US" sz="1650">
              <a:latin typeface="Arial"/>
            </a:endParaRPr>
          </a:p>
          <a:p>
            <a:pPr marL="0" indent="0" algn="l">
              <a:lnSpc>
                <a:spcPct val="108000"/>
              </a:lnSpc>
              <a:buNone/>
            </a:pPr>
            <a:r>
              <a:rPr lang="en-US" sz="1650" b="0" dirty="0">
                <a:solidFill>
                  <a:srgbClr val="171417"/>
                </a:solidFill>
                <a:latin typeface="Arial"/>
              </a:rPr>
              <a:t>Send candidates or restart ICE,</a:t>
            </a:r>
            <a:endParaRPr lang="en-US" sz="1650">
              <a:latin typeface="Arial"/>
            </a:endParaRPr>
          </a:p>
          <a:p>
            <a:pPr marL="0" indent="0" algn="l">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End the session</a:t>
            </a:r>
            <a:endParaRPr lang="en-US" sz="1650">
              <a:latin typeface="Arial"/>
            </a:endParaRPr>
          </a:p>
          <a:p>
            <a:pPr marL="0" indent="0" algn="l">
              <a:lnSpc>
                <a:spcPct val="108000"/>
              </a:lnSpc>
              <a:buNone/>
            </a:pPr>
            <a:r>
              <a:rPr lang="en-US" sz="1650" b="0" dirty="0">
                <a:solidFill>
                  <a:srgbClr val="171417"/>
                </a:solidFill>
                <a:latin typeface="Arial"/>
              </a:rPr>
              <a:t>Release the session</a:t>
            </a:r>
            <a:endParaRPr lang="en-US" sz="1650">
              <a:latin typeface="Arial"/>
            </a:endParaRPr>
          </a:p>
          <a:p>
            <a:pPr marL="0" indent="0" algn="l">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tIns="0" rIns="0" bIns="0" anchor="t"/>
          <a:lstStyle/>
          <a:p>
            <a:pPr marL="0" indent="0" algn="l">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tIns="0" rIns="0" bIns="0" anchor="t"/>
          <a:lstStyle/>
          <a:p>
            <a:pPr marL="0" indent="0" algn="l">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marL="0" indent="0" algn="l">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097807-70C9-4DCD-8962-211A764A3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9AF854C-A4AB-4F7E-95E9-75ABF86DE75D}"/>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Libcamera</a:t>
            </a:r>
          </a:p>
        </p:txBody>
      </p:sp>
      <p:sp>
        <p:nvSpPr>
          <p:cNvPr id="3" name="Rectángulo 2">
            <a:extLst>
              <a:ext uri="{FF2B5EF4-FFF2-40B4-BE49-F238E27FC236}">
                <a16:creationId xmlns:a16="http://schemas.microsoft.com/office/drawing/2014/main" id="{F8BD6D83-3F77-43EF-A702-C4C6BF23591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594AB0-1A5D-4B34-8602-3D31D0F7F949}"/>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20</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dirty="0" err="1">
                <a:solidFill>
                  <a:srgbClr val="6F686D"/>
                </a:solidFill>
                <a:latin typeface="Arial"/>
                <a:ea typeface="Arial"/>
                <a:cs typeface="Arial"/>
              </a:rPr>
              <a:t>libcamera</a:t>
            </a:r>
            <a:r>
              <a:rPr sz="1800" b="0" dirty="0">
                <a:solidFill>
                  <a:srgbClr val="6F686D"/>
                </a:solidFill>
                <a:latin typeface="Arial"/>
                <a:ea typeface="Arial"/>
                <a:cs typeface="Arial"/>
              </a:rPr>
              <a:t> is the advertised route.</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route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Raspberry Pi promotes libcamera as the modern</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camera stack, especially for its camera modules.</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Practical reality</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Logitech C920 is a USB camera.</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working FFmpeg integration uses V4L2 directly.</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Working capture path</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opens the V4L2 device and captures MJPEG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for H.264 encoding and WebRTC delivery.</a:t>
            </a:r>
          </a:p>
        </p:txBody>
      </p:sp>
    </p:spTree>
    <p:extLst>
      <p:ext uri="{BB962C8B-B14F-4D97-AF65-F5344CB8AC3E}">
        <p14:creationId xmlns:p14="http://schemas.microsoft.com/office/powerpoint/2010/main" val="166502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BF4B398B-D2F2-44F9-9653-791D1E3F393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4917A8-5FF5-4E83-92E1-5E4E159DBA5E}"/>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Ffmpeg Shared</a:t>
            </a:r>
          </a:p>
        </p:txBody>
      </p:sp>
      <p:sp>
        <p:nvSpPr>
          <p:cNvPr id="3" name="Rectángulo 2">
            <a:extLst>
              <a:ext uri="{FF2B5EF4-FFF2-40B4-BE49-F238E27FC236}">
                <a16:creationId xmlns:a16="http://schemas.microsoft.com/office/drawing/2014/main" id="{149D3802-1E8A-434F-8786-63DB326ADD3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953A9CE-3F8A-4A0E-8AEF-66CF9EF1E1D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21</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Direct integration tied the .NET application to compatible native FFmpeg libraries.</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First implementation</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SIPSorceryMedia.FFmpeg handled camera capture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encoding inside the .NET process.</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Encoded-sample callbacks</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application received encoded video samples directly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through in-process callbacks.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Version compatibility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8.1 native libraries had to match</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FFmpeg.AutoGen bindings.</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Raspberry Pi deployment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Deployment required a compatible shared-library build</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beyond the older distribution packages.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Native library versions became a deployment constraint.</a:t>
            </a:r>
          </a:p>
        </p:txBody>
      </p:sp>
    </p:spTree>
    <p:extLst>
      <p:ext uri="{BB962C8B-B14F-4D97-AF65-F5344CB8AC3E}">
        <p14:creationId xmlns:p14="http://schemas.microsoft.com/office/powerpoint/2010/main" val="16650202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89B90E-ACA5-498C-9C61-9EC31C49FB4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67B26396-97DA-41A0-8BC2-C1EF15713831}"/>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Ffmpeg RTP</a:t>
            </a:r>
          </a:p>
        </p:txBody>
      </p:sp>
      <p:sp>
        <p:nvSpPr>
          <p:cNvPr id="3" name="Rectángulo 2">
            <a:extLst>
              <a:ext uri="{FF2B5EF4-FFF2-40B4-BE49-F238E27FC236}">
                <a16:creationId xmlns:a16="http://schemas.microsoft.com/office/drawing/2014/main" id="{75FD5AC4-56AB-4483-9F6F-C4310F11A576}"/>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8A376B6-3A7D-48FD-B289-4590AF58435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22</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A supervised FFmpeg executable sends encoded H.264 over local RTP.</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Separate process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captures and encodes the camera stream.</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.NET starts and supervises the executable.</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Local RTP transport</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sends RTP over IPv6 loopback.</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.NET receiver rebuilds H.264 access units.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WebRTC delivery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 repacketizes the encoded video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sends it to the browser through WebRTC / SRTP.</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Deployment benefit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executable replaces shared-library bindings.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can restart while the local receiver stays active.</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Software H.264 encoding still consumes CPU on the Raspberry Pi.</a:t>
            </a:r>
          </a:p>
        </p:txBody>
      </p:sp>
    </p:spTree>
    <p:extLst>
      <p:ext uri="{BB962C8B-B14F-4D97-AF65-F5344CB8AC3E}">
        <p14:creationId xmlns:p14="http://schemas.microsoft.com/office/powerpoint/2010/main" val="1665020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Problem: CPU Encoding</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24</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CPU ENCODING COST</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238500" y="5200650"/>
            <a:ext cx="7715250" cy="36195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More CPU load, heat and encoding latency</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38500" y="5657850"/>
            <a:ext cx="7810500" cy="26670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Low-latency settings reduce buffering, but encoding still runs on the CPU.</a:t>
            </a:r>
          </a:p>
        </p:txBody>
      </p:sp>
      <p:sp>
        <p:nvSpPr>
          <p:cNvPr id="100" name="CPU encoding text 100"/>
          <p:cNvSpPr>
            <a:spLocks noGrp="1"/>
          </p:cNvSpPr>
          <p:nvPr/>
        </p:nvSpPr>
        <p:spPr>
          <a:xfrm>
            <a:off x="685800" y="17145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H.264 support</a:t>
            </a:r>
          </a:p>
        </p:txBody>
      </p:sp>
      <p:sp>
        <p:nvSpPr>
          <p:cNvPr id="101" name="CPU encoding text 101"/>
          <p:cNvSpPr>
            <a:spLocks noGrp="1"/>
          </p:cNvSpPr>
          <p:nvPr/>
        </p:nvSpPr>
        <p:spPr>
          <a:xfrm>
            <a:off x="685800" y="2133600"/>
            <a:ext cx="6591300" cy="809625"/>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Logitech advertised the C920 as H.264-ready.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Newer revisions removed the in-camera encoder.</a:t>
            </a:r>
          </a:p>
        </p:txBody>
      </p:sp>
      <p:sp>
        <p:nvSpPr>
          <p:cNvPr id="102" name="CPU encoding text 102"/>
          <p:cNvSpPr>
            <a:spLocks noGrp="1"/>
          </p:cNvSpPr>
          <p:nvPr/>
        </p:nvSpPr>
        <p:spPr>
          <a:xfrm>
            <a:off x="685800" y="3276600"/>
            <a:ext cx="6572250" cy="4000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Re-encoding on the Raspberry Pi</a:t>
            </a:r>
          </a:p>
        </p:txBody>
      </p:sp>
      <p:sp>
        <p:nvSpPr>
          <p:cNvPr id="103" name="CPU encoding text 103"/>
          <p:cNvSpPr>
            <a:spLocks noGrp="1"/>
          </p:cNvSpPr>
          <p:nvPr/>
        </p:nvSpPr>
        <p:spPr>
          <a:xfrm>
            <a:off x="685800" y="3695700"/>
            <a:ext cx="6591300" cy="106680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Our camera supplies MJPEG. The Raspberry Pi</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must decode it and re-encode to H.264 using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FFmpeg/libx264 for our WebRTC stream.</a:t>
            </a:r>
          </a:p>
        </p:txBody>
      </p:sp>
    </p:spTree>
    <p:extLst>
      <p:ext uri="{BB962C8B-B14F-4D97-AF65-F5344CB8AC3E}">
        <p14:creationId xmlns:p14="http://schemas.microsoft.com/office/powerpoint/2010/main" val="17179426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D6E54195-700E-4987-97B1-9F6B39CA5C29}"/>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FB4C0CE-1C00-49FD-A428-2187462683F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WebCam with H264</a:t>
            </a:r>
          </a:p>
        </p:txBody>
      </p:sp>
      <p:sp>
        <p:nvSpPr>
          <p:cNvPr id="3" name="Rectángulo 2">
            <a:extLst>
              <a:ext uri="{FF2B5EF4-FFF2-40B4-BE49-F238E27FC236}">
                <a16:creationId xmlns:a16="http://schemas.microsoft.com/office/drawing/2014/main" id="{1A22150B-823A-40F8-AF42-E5E95B70EFF7}"/>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39F9313-55C5-4DDF-8023-4ADF4908E6E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25</a:t>
            </a:r>
            <a:endParaRPr sz="1125" b="1">
              <a:solidFill>
                <a:srgbClr val="6F686D"/>
              </a:solidFill>
              <a:latin typeface="Arial"/>
              <a:ea typeface="Arial"/>
              <a:cs typeface="Arial"/>
            </a:endParaRP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1">
                <a:solidFill>
                  <a:srgbClr val="830051"/>
                </a:solidFill>
                <a:latin typeface="Arial"/>
                <a:ea typeface="Arial"/>
                <a:cs typeface="Arial"/>
              </a:defRPr>
            </a:pPr>
            <a:r>
              <a:rPr sz="1800" b="1" dirty="0" err="1">
                <a:solidFill>
                  <a:srgbClr val="830051"/>
                </a:solidFill>
                <a:latin typeface="Arial"/>
                <a:ea typeface="Arial"/>
                <a:cs typeface="Arial"/>
              </a:rPr>
              <a:t>PENDING IMPLEMENTATION</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Proposed hardware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a webcam with a verified onboard H.264 encoder.</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Check H.264 output on the exact hardware revision.</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Planned media path</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Capture browser-compatible H.264 directly and feed it</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into the existing RTP and WebRTC pipeline.</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Expected benefit</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Skip MJPEG decoding and software H.264 encoding.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Measure CPU savings and latency after integration.</a:t>
            </a:r>
          </a:p>
        </p:txBody>
      </p:sp>
    </p:spTree>
    <p:extLst>
      <p:ext uri="{BB962C8B-B14F-4D97-AF65-F5344CB8AC3E}">
        <p14:creationId xmlns:p14="http://schemas.microsoft.com/office/powerpoint/2010/main" val="6740365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26</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695575"/>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695575"/>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Suspected</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voltage dip</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695575"/>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3171825"/>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3171825"/>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00" name="Power supply text 100">
            <a:extLst>
              <a:ext uri="{FF2B5EF4-FFF2-40B4-BE49-F238E27FC236}">
                <a16:creationId xmlns:a16="http://schemas.microsoft.com/office/drawing/2014/main" id="{B1ED62EE-685E-45B9-B710-D3157B114E08}"/>
              </a:ext>
            </a:extLst>
          </p:cNvPr>
          <p:cNvSpPr>
            <a:spLocks noGrp="1"/>
          </p:cNvSpPr>
          <p:nvPr/>
        </p:nvSpPr>
        <p:spPr>
          <a:xfrm>
            <a:off x="723900" y="3962400"/>
            <a:ext cx="7620000" cy="381000"/>
          </a:xfrm>
          <a:prstGeom prst="rect">
            <a:avLst/>
          </a:prstGeom>
          <a:noFill/>
          <a:ln w="0">
            <a:noFill/>
          </a:ln>
        </p:spPr>
        <p:txBody>
          <a:bodyPr wrap="square" lIns="0" tIns="0" rIns="0" bIns="0" anchor="t">
            <a:noAutofit/>
          </a:bodyPr>
          <a:lstStyle/>
          <a:p>
            <a:pPr algn="l">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Effect on video</a:t>
            </a:r>
          </a:p>
        </p:txBody>
      </p:sp>
      <p:sp>
        <p:nvSpPr>
          <p:cNvPr id="101" name="Power supply text 101">
            <a:extLst>
              <a:ext uri="{FF2B5EF4-FFF2-40B4-BE49-F238E27FC236}">
                <a16:creationId xmlns:a16="http://schemas.microsoft.com/office/drawing/2014/main" id="{B1ED62EE-685E-45B9-B710-D3157B114E08}"/>
              </a:ext>
            </a:extLst>
          </p:cNvPr>
          <p:cNvSpPr>
            <a:spLocks noGrp="1"/>
          </p:cNvSpPr>
          <p:nvPr/>
        </p:nvSpPr>
        <p:spPr>
          <a:xfrm>
            <a:off x="723900" y="4391025"/>
            <a:ext cx="7620000" cy="7048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Brief Raspberry Pi disconnections</a:t>
            </a:r>
          </a:p>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interrupt the live stream.</a:t>
            </a:r>
          </a:p>
        </p:txBody>
      </p:sp>
      <p:sp>
        <p:nvSpPr>
          <p:cNvPr id="102" name="Power supply text 102">
            <a:extLst>
              <a:ext uri="{FF2B5EF4-FFF2-40B4-BE49-F238E27FC236}">
                <a16:creationId xmlns:a16="http://schemas.microsoft.com/office/drawing/2014/main" id="{B1ED62EE-685E-45B9-B710-D3157B114E08}"/>
              </a:ext>
            </a:extLst>
          </p:cNvPr>
          <p:cNvSpPr>
            <a:spLocks noGrp="1"/>
          </p:cNvSpPr>
          <p:nvPr/>
        </p:nvSpPr>
        <p:spPr>
          <a:xfrm>
            <a:off x="723900" y="5476875"/>
            <a:ext cx="10572750" cy="6096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The prototype already has a small DC-DC regulator.</a:t>
            </a:r>
          </a:p>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Supply voltage during motor load still needs measurement.</a:t>
            </a:r>
          </a:p>
        </p:txBody>
      </p:sp>
    </p:spTree>
    <p:extLst>
      <p:ext uri="{BB962C8B-B14F-4D97-AF65-F5344CB8AC3E}">
        <p14:creationId xmlns:p14="http://schemas.microsoft.com/office/powerpoint/2010/main" val="9515104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CE9DE16E-B253-4103-83EB-B9115FB5637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92D0E2D-1215-4528-9D77-23FA60334437}"/>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Temporary Solution: Xiaomi 33W Power Bank</a:t>
            </a:r>
          </a:p>
        </p:txBody>
      </p:sp>
      <p:sp>
        <p:nvSpPr>
          <p:cNvPr id="3" name="Rectángulo 2">
            <a:extLst>
              <a:ext uri="{FF2B5EF4-FFF2-40B4-BE49-F238E27FC236}">
                <a16:creationId xmlns:a16="http://schemas.microsoft.com/office/drawing/2014/main" id="{B29AFFE6-5C8B-4317-8C7C-AC6327146B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B278C8B-3503-4A80-8235-862E248E90F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27</a:t>
            </a:r>
          </a:p>
        </p:txBody>
      </p:sp>
      <p:sp>
        <p:nvSpPr>
          <p:cNvPr id="101" name="Power supply text 101"/>
          <p:cNvSpPr>
            <a:spLocks noGrp="1"/>
          </p:cNvSpPr>
          <p:nvPr/>
        </p:nvSpPr>
        <p:spPr>
          <a:xfrm>
            <a:off x="723900" y="238125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Power source</a:t>
            </a:r>
          </a:p>
        </p:txBody>
      </p:sp>
      <p:sp>
        <p:nvSpPr>
          <p:cNvPr id="102" name="Power supply text 102"/>
          <p:cNvSpPr>
            <a:spLocks noGrp="1"/>
          </p:cNvSpPr>
          <p:nvPr/>
        </p:nvSpPr>
        <p:spPr>
          <a:xfrm>
            <a:off x="723900" y="280035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Raspberry Pi uses a Xiaomi 33W power bank.</a:t>
            </a:r>
          </a:p>
        </p:txBody>
      </p:sp>
      <p:sp>
        <p:nvSpPr>
          <p:cNvPr id="103" name="Power supply text 103"/>
          <p:cNvSpPr>
            <a:spLocks noGrp="1"/>
          </p:cNvSpPr>
          <p:nvPr/>
        </p:nvSpPr>
        <p:spPr>
          <a:xfrm>
            <a:off x="723900" y="3571875"/>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Reason for the change</a:t>
            </a:r>
          </a:p>
        </p:txBody>
      </p:sp>
      <p:sp>
        <p:nvSpPr>
          <p:cNvPr id="104" name="Power supply text 104"/>
          <p:cNvSpPr>
            <a:spLocks noGrp="1"/>
          </p:cNvSpPr>
          <p:nvPr/>
        </p:nvSpPr>
        <p:spPr>
          <a:xfrm>
            <a:off x="723900" y="3990975"/>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Separate its power supply from the motor’s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high current demand.</a:t>
            </a:r>
          </a:p>
        </p:txBody>
      </p:sp>
      <p:sp>
        <p:nvSpPr>
          <p:cNvPr id="105" name="Power supply text 105"/>
          <p:cNvSpPr>
            <a:spLocks noGrp="1"/>
          </p:cNvSpPr>
          <p:nvPr/>
        </p:nvSpPr>
        <p:spPr>
          <a:xfrm>
            <a:off x="723900" y="4762500"/>
            <a:ext cx="6477000" cy="3619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Temporary workaround</a:t>
            </a:r>
          </a:p>
        </p:txBody>
      </p:sp>
      <p:sp>
        <p:nvSpPr>
          <p:cNvPr id="106" name="Power supply text 106"/>
          <p:cNvSpPr>
            <a:spLocks noGrp="1"/>
          </p:cNvSpPr>
          <p:nvPr/>
        </p:nvSpPr>
        <p:spPr>
          <a:xfrm>
            <a:off x="723900" y="5181600"/>
            <a:ext cx="6477000" cy="6667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Use the power bank for the prototype.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 permanent protected supply remains future work.</a:t>
            </a:r>
          </a:p>
        </p:txBody>
      </p:sp>
      <p:pic>
        <p:nvPicPr>
          <p:cNvPr id="200" name="Xiaomi 33W power bank product image" descr="Official Xiaomi product reference image showing tan and blue Xiaomi 33W Power Bank 10000 units. Exact prototype model and colour were not specified."/>
          <p:cNvPicPr>
            <a:picLocks noChangeAspect="1"/>
          </p:cNvPicPr>
          <p:nvPr/>
        </p:nvPicPr>
        <p:blipFill>
          <a:blip r:embed="rId3"/>
          <a:srcRect l="6000" t="6500" r="49000" b="5000"/>
          <a:stretch/>
        </p:blipFill>
        <p:spPr>
          <a:xfrm>
            <a:off x="7620000" y="2028825"/>
            <a:ext cx="3810000" cy="3952875"/>
          </a:xfrm>
          <a:prstGeom prst="rect">
            <a:avLst/>
          </a:prstGeom>
        </p:spPr>
      </p:pic>
      <p:sp>
        <p:nvSpPr>
          <p:cNvPr id="201" name="Product image caption"/>
          <p:cNvSpPr>
            <a:spLocks noGrp="1"/>
          </p:cNvSpPr>
          <p:nvPr/>
        </p:nvSpPr>
        <p:spPr>
          <a:xfrm>
            <a:off x="7620000" y="6076950"/>
            <a:ext cx="3810000" cy="228600"/>
          </a:xfrm>
          <a:prstGeom prst="rect">
            <a:avLst/>
          </a:prstGeom>
          <a:noFill/>
          <a:ln w="0">
            <a:noFill/>
          </a:ln>
        </p:spPr>
        <p:txBody>
          <a:bodyPr wrap="square" lIns="0" tIns="0" rIns="0" bIns="0" anchor="t">
            <a:noAutofit/>
          </a:bodyPr>
          <a:lstStyle/>
          <a:p>
            <a:pPr algn="ctr">
              <a:lnSpc>
                <a:spcPct val="106000"/>
              </a:lnSpc>
              <a:buNone/>
              <a:defRPr sz="1200" b="0">
                <a:solidFill>
                  <a:srgbClr val="6F686D"/>
                </a:solidFill>
                <a:latin typeface="Arial"/>
                <a:ea typeface="Arial"/>
                <a:cs typeface="Arial"/>
              </a:defRPr>
            </a:pPr>
            <a:r>
              <a:rPr sz="1200" b="0">
                <a:solidFill>
                  <a:srgbClr val="6F686D"/>
                </a:solidFill>
                <a:latin typeface="Arial"/>
                <a:ea typeface="Arial"/>
                <a:cs typeface="Arial"/>
              </a:rPr>
              <a:t>Xiaomi product image</a:t>
            </a:r>
          </a:p>
        </p:txBody>
      </p:sp>
    </p:spTree>
    <p:extLst>
      <p:ext uri="{BB962C8B-B14F-4D97-AF65-F5344CB8AC3E}">
        <p14:creationId xmlns:p14="http://schemas.microsoft.com/office/powerpoint/2010/main" val="31689794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28</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Tree>
    <p:extLst>
      <p:ext uri="{BB962C8B-B14F-4D97-AF65-F5344CB8AC3E}">
        <p14:creationId xmlns:p14="http://schemas.microsoft.com/office/powerpoint/2010/main" val="11654244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3E7A7356-5D72-41ED-8B09-642C144217EA}"/>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Future Work</a:t>
            </a:r>
          </a:p>
        </p:txBody>
      </p:sp>
      <p:sp>
        <p:nvSpPr>
          <p:cNvPr id="3" name="Rectángulo 2">
            <a:extLst>
              <a:ext uri="{FF2B5EF4-FFF2-40B4-BE49-F238E27FC236}">
                <a16:creationId xmlns:a16="http://schemas.microsoft.com/office/drawing/2014/main" id="{D650C7E7-DB9E-4697-842B-65DF66D2E84F}"/>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1863635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31</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a:solidFill>
                  <a:srgbClr val="171417"/>
                </a:solidFill>
                <a:latin typeface="Arial"/>
                <a:ea typeface="Arial"/>
                <a:cs typeface="Arial"/>
              </a:rPr>
              <a:t>IPv6 SIM Card and USB Dongle</a:t>
            </a:r>
            <a:endParaRPr sz="3375" b="1">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32</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SIM AND DONGLE SEARCH CRITERIA</a:t>
            </a:r>
            <a:endParaRPr sz="1200" b="1">
              <a:solidFill>
                <a:srgbClr val="830051"/>
              </a:solidFill>
              <a:latin typeface="Arial"/>
              <a:ea typeface="Arial"/>
              <a:cs typeface="Arial"/>
            </a:endParaRPr>
          </a:p>
        </p:txBody>
      </p:sp>
      <p:graphicFrame>
        <p:nvGraphicFramePr>
          <p:cNvPr id="18" name="Tabla 17"/>
          <p:cNvGraphicFramePr/>
          <p:nvPr>
            <p:extLst>
              <p:ext uri="{D42A27DB-BD31-4B8C-83A1-F6EECF244321}">
                <p14:modId xmlns:p14="http://schemas.microsoft.com/office/powerpoint/2010/main" val="314023793"/>
              </p:ext>
            </p:extLst>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lang="en-GB" sz="1600" b="1">
                          <a:solidFill>
                            <a:srgbClr val="FFFFFF"/>
                          </a:solidFill>
                          <a:latin typeface="Arial"/>
                          <a:ea typeface="Arial"/>
                          <a:cs typeface="Arial"/>
                        </a:rPr>
                        <a:t>Component</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Requirement</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Verification</a:t>
                      </a:r>
                      <a:endParaRPr sz="1600" b="1">
                        <a:solidFill>
                          <a:srgbClr val="FFFFFF"/>
                        </a:solidFill>
                        <a:latin typeface="Arial"/>
                        <a:ea typeface="Arial"/>
                        <a:cs typeface="Arial"/>
                      </a:endParaRPr>
                    </a:p>
                  </a:txBody>
                  <a:tcPr anchor="ctr">
                    <a:solidFill>
                      <a:srgbClr val="830051"/>
                    </a:solidFill>
                  </a:tcPr>
                </a:tc>
                <a:tc>
                  <a:txBody>
                    <a:bodyPr/>
                    <a:lstStyle/>
                    <a:p>
                      <a:pPr algn="ctr">
                        <a:buNone/>
                      </a:pPr>
                      <a:r>
                        <a:rPr lang="en-GB" sz="1600" b="1">
                          <a:solidFill>
                            <a:srgbClr val="FFFFFF"/>
                          </a:solidFill>
                          <a:latin typeface="Arial"/>
                          <a:ea typeface="Arial"/>
                          <a:cs typeface="Arial"/>
                        </a:rPr>
                        <a:t>Status</a:t>
                      </a:r>
                      <a:endParaRPr sz="1600" b="1">
                        <a:solidFill>
                          <a:srgbClr val="FFFFFF"/>
                        </a:solidFill>
                        <a:latin typeface="Arial"/>
                        <a:ea typeface="Arial"/>
                        <a:cs typeface="Arial"/>
                      </a:endParaRP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lang="en-GB" sz="1600" b="1">
                          <a:solidFill>
                            <a:srgbClr val="510034"/>
                          </a:solidFill>
                          <a:latin typeface="Arial"/>
                          <a:ea typeface="Arial"/>
                          <a:cs typeface="Arial"/>
                        </a:rPr>
                        <a:t>SIM / data plan</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IPv6-enabled APN</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Confirm with carrier</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source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lang="en-GB" sz="1600" b="1">
                          <a:solidFill>
                            <a:srgbClr val="510034"/>
                          </a:solidFill>
                          <a:latin typeface="Arial"/>
                          <a:ea typeface="Arial"/>
                          <a:cs typeface="Arial"/>
                        </a:rPr>
                        <a:t>USB dongle</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IPv6 + Linux support</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Test on Raspberry Pi</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source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lang="en-GB" sz="1600" b="1">
                          <a:solidFill>
                            <a:srgbClr val="510034"/>
                          </a:solidFill>
                          <a:latin typeface="Arial"/>
                          <a:ea typeface="Arial"/>
                          <a:cs typeface="Arial"/>
                        </a:rPr>
                        <a:t>SIM + dongle</a:t>
                      </a:r>
                      <a:endParaRPr sz="1600" b="1">
                        <a:solidFill>
                          <a:srgbClr val="510034"/>
                        </a:solidFill>
                        <a:latin typeface="Arial"/>
                        <a:ea typeface="Arial"/>
                        <a:cs typeface="Arial"/>
                      </a:endParaRPr>
                    </a:p>
                  </a:txBody>
                  <a:tcPr anchor="ctr">
                    <a:solidFill>
                      <a:srgbClr val="F5EDF2"/>
                    </a:solidFill>
                  </a:tcPr>
                </a:tc>
                <a:tc>
                  <a:txBody>
                    <a:bodyPr/>
                    <a:lstStyle/>
                    <a:p>
                      <a:pPr algn="ctr">
                        <a:buNone/>
                      </a:pPr>
                      <a:r>
                        <a:rPr lang="en-GB" sz="1600" b="0">
                          <a:solidFill>
                            <a:srgbClr val="6F686D"/>
                          </a:solidFill>
                          <a:latin typeface="Arial"/>
                          <a:ea typeface="Arial"/>
                          <a:cs typeface="Arial"/>
                        </a:rPr>
                        <a:t>Direct IPv6 connection</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Test remote access</a:t>
                      </a:r>
                      <a:endParaRPr sz="1600" b="0">
                        <a:solidFill>
                          <a:srgbClr val="6F686D"/>
                        </a:solidFill>
                        <a:latin typeface="Arial"/>
                        <a:ea typeface="Arial"/>
                        <a:cs typeface="Arial"/>
                      </a:endParaRPr>
                    </a:p>
                  </a:txBody>
                  <a:tcPr anchor="ctr">
                    <a:solidFill>
                      <a:srgbClr val="FFFFFF"/>
                    </a:solidFill>
                  </a:tcPr>
                </a:tc>
                <a:tc>
                  <a:txBody>
                    <a:bodyPr/>
                    <a:lstStyle/>
                    <a:p>
                      <a:pPr algn="ctr">
                        <a:buNone/>
                      </a:pPr>
                      <a:r>
                        <a:rPr lang="en-GB" sz="1600" b="0">
                          <a:solidFill>
                            <a:srgbClr val="6F686D"/>
                          </a:solidFill>
                          <a:latin typeface="Arial"/>
                          <a:ea typeface="Arial"/>
                          <a:cs typeface="Arial"/>
                        </a:rPr>
                        <a:t>To validate</a:t>
                      </a:r>
                      <a:endParaRPr sz="1600" b="0">
                        <a:solidFill>
                          <a:srgbClr val="6F686D"/>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lang="en-GB" sz="1200" b="1">
                <a:solidFill>
                  <a:srgbClr val="6F686D"/>
                </a:solidFill>
                <a:latin typeface="Arial"/>
                <a:ea typeface="Arial"/>
                <a:cs typeface="Arial"/>
              </a:rPr>
              <a:t>VALIDATE BEFORE SELECTION</a:t>
            </a:r>
            <a:endParaRPr sz="1200" b="1">
              <a:solidFill>
                <a:srgbClr val="6F686D"/>
              </a:solidFill>
              <a:latin typeface="Arial"/>
              <a:ea typeface="Arial"/>
              <a:cs typeface="Arial"/>
            </a:endParaRP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IPv6 address</a:t>
            </a:r>
            <a:endParaRPr sz="1425" b="1">
              <a:solidFill>
                <a:srgbClr val="171417"/>
              </a:solidFill>
              <a:latin typeface="Arial"/>
              <a:ea typeface="Arial"/>
              <a:cs typeface="Arial"/>
            </a:endParaRP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lang="en-GB" sz="1425" b="1">
                <a:solidFill>
                  <a:srgbClr val="510034"/>
                </a:solidFill>
                <a:latin typeface="Arial"/>
                <a:ea typeface="Arial"/>
                <a:cs typeface="Arial"/>
              </a:rPr>
              <a:t>APN support</a:t>
            </a:r>
            <a:endParaRPr sz="1425" b="1">
              <a:solidFill>
                <a:srgbClr val="510034"/>
              </a:solidFill>
              <a:latin typeface="Arial"/>
              <a:ea typeface="Arial"/>
              <a:cs typeface="Arial"/>
            </a:endParaRP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Linux drivers</a:t>
            </a:r>
            <a:endParaRPr sz="1425" b="1">
              <a:solidFill>
                <a:srgbClr val="171417"/>
              </a:solidFill>
              <a:latin typeface="Arial"/>
              <a:ea typeface="Arial"/>
              <a:cs typeface="Arial"/>
            </a:endParaRP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remote access</a:t>
            </a:r>
            <a:endParaRPr sz="1425" b="1">
              <a:solidFill>
                <a:srgbClr val="171417"/>
              </a:solidFill>
              <a:latin typeface="Arial"/>
              <a:ea typeface="Arial"/>
              <a:cs typeface="Arial"/>
            </a:endParaRP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lang="en-GB" sz="1425" b="1">
                <a:solidFill>
                  <a:srgbClr val="171417"/>
                </a:solidFill>
                <a:latin typeface="Arial"/>
                <a:ea typeface="Arial"/>
                <a:cs typeface="Arial"/>
              </a:rPr>
              <a:t>stable uplink</a:t>
            </a:r>
            <a:endParaRPr sz="1425" b="1">
              <a:solidFill>
                <a:srgbClr val="171417"/>
              </a:solidFill>
              <a:latin typeface="Arial"/>
              <a:ea typeface="Arial"/>
              <a:cs typeface="Arial"/>
            </a:endParaRPr>
          </a:p>
        </p:txBody>
      </p:sp>
    </p:spTree>
    <p:extLst>
      <p:ext uri="{BB962C8B-B14F-4D97-AF65-F5344CB8AC3E}">
        <p14:creationId xmlns:p14="http://schemas.microsoft.com/office/powerpoint/2010/main" val="17612719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a:solidFill>
                  <a:srgbClr val="171417"/>
                </a:solidFill>
                <a:latin typeface="Arial"/>
                <a:ea typeface="Arial"/>
                <a:cs typeface="Arial"/>
              </a:rPr>
              <a:t>Electrical Wiring and Voltage Stability</a:t>
            </a:r>
            <a:endParaRPr sz="3375" b="1">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33</a:t>
            </a:r>
            <a:endParaRPr sz="1125" b="1">
              <a:solidFill>
                <a:srgbClr val="6F686D"/>
              </a:solidFill>
              <a:latin typeface="Arial"/>
              <a:ea typeface="Arial"/>
              <a:cs typeface="Arial"/>
            </a:endParaRP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POWER WIRING</a:t>
            </a:r>
            <a:endParaRPr sz="1200" b="1">
              <a:solidFill>
                <a:srgbClr val="830051"/>
              </a:solidFill>
              <a:latin typeface="Arial"/>
              <a:ea typeface="Arial"/>
              <a:cs typeface="Arial"/>
            </a:endParaRP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lang="en-GB" sz="1500" b="1">
                <a:solidFill>
                  <a:srgbClr val="510034"/>
                </a:solidFill>
                <a:latin typeface="Arial"/>
                <a:ea typeface="Arial"/>
                <a:cs typeface="Arial"/>
              </a:rPr>
              <a:t>Separate motor and compute power branches. Use short, adequately sized wires and secure connectors.</a:t>
            </a:r>
            <a:endParaRPr sz="1500" b="1">
              <a:solidFill>
                <a:srgbClr val="510034"/>
              </a:solidFill>
              <a:latin typeface="Arial"/>
              <a:ea typeface="Arial"/>
              <a:cs typeface="Arial"/>
            </a:endParaRP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lang="en-GB" sz="1200" b="1">
                <a:solidFill>
                  <a:srgbClr val="830051"/>
                </a:solidFill>
                <a:latin typeface="Arial"/>
                <a:ea typeface="Arial"/>
                <a:cs typeface="Arial"/>
              </a:rPr>
              <a:t>VOLTAGE DROP PREVENTION</a:t>
            </a:r>
            <a:endParaRPr sz="1200" b="1">
              <a:solidFill>
                <a:srgbClr val="830051"/>
              </a:solidFill>
              <a:latin typeface="Arial"/>
              <a:ea typeface="Arial"/>
              <a:cs typeface="Arial"/>
            </a:endParaRP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lang="en-GB" sz="2250" b="1">
                <a:solidFill>
                  <a:srgbClr val="171417"/>
                </a:solidFill>
                <a:latin typeface="Arial"/>
                <a:ea typeface="Arial"/>
                <a:cs typeface="Arial"/>
              </a:rPr>
              <a:t>Stable power supply</a:t>
            </a:r>
            <a:endParaRPr sz="2250" b="1">
              <a:solidFill>
                <a:srgbClr val="171417"/>
              </a:solidFill>
              <a:latin typeface="Arial"/>
              <a:ea typeface="Arial"/>
              <a:cs typeface="Arial"/>
            </a:endParaRP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lang="en-GB" sz="1650" b="0">
                <a:solidFill>
                  <a:srgbClr val="171417"/>
                </a:solidFill>
                <a:latin typeface="Arial"/>
                <a:ea typeface="Arial"/>
                <a:cs typeface="Arial"/>
              </a:rPr>
              <a:t>Improve cable sizing and connections. Add local decoupling at the Raspberry Pi and check DC-DC capacity during motor startup.</a:t>
            </a:r>
            <a:endParaRPr sz="1650" b="0">
              <a:solidFill>
                <a:srgbClr val="171417"/>
              </a:solidFill>
              <a:latin typeface="Arial"/>
              <a:ea typeface="Arial"/>
              <a:cs typeface="Arial"/>
            </a:endParaRP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lang="en-GB" sz="1350" b="1">
                <a:solidFill>
                  <a:srgbClr val="510034"/>
                </a:solidFill>
                <a:latin typeface="Arial"/>
                <a:ea typeface="Arial"/>
                <a:cs typeface="Arial"/>
              </a:rPr>
              <a:t>Measure supply voltage under load and log brownouts to verify the wiring changes.</a:t>
            </a:r>
            <a:endParaRPr sz="1350" b="1">
              <a:solidFill>
                <a:srgbClr val="510034"/>
              </a:solidFill>
              <a:latin typeface="Arial"/>
              <a:ea typeface="Arial"/>
              <a:cs typeface="Arial"/>
            </a:endParaRPr>
          </a:p>
        </p:txBody>
      </p:sp>
    </p:spTree>
    <p:extLst>
      <p:ext uri="{BB962C8B-B14F-4D97-AF65-F5344CB8AC3E}">
        <p14:creationId xmlns:p14="http://schemas.microsoft.com/office/powerpoint/2010/main" val="372192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34</a:t>
            </a:r>
            <a:endParaRPr sz="1125" b="1">
              <a:solidFill>
                <a:srgbClr val="6F686D"/>
              </a:solidFill>
              <a:latin typeface="Arial"/>
              <a:ea typeface="Arial"/>
              <a:cs typeface="Arial"/>
            </a:endParaRPr>
          </a:p>
        </p:txBody>
      </p: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pic>
        <p:nvPicPr>
          <p:cNvPr id="10" name="Imagen 9" descr="Official Espressif ESP32-P4 promotional illustration">
            <a:extLst>
              <a:ext uri="{FF2B5EF4-FFF2-40B4-BE49-F238E27FC236}">
                <a16:creationId xmlns:a16="http://schemas.microsoft.com/office/drawing/2014/main" id="{40887A9F-7302-EC15-3DAC-ED73E67D10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 y="1422400"/>
            <a:ext cx="4445000" cy="2333625"/>
          </a:xfrm>
          <a:prstGeom prst="rect">
            <a:avLst/>
          </a:prstGeom>
        </p:spPr>
      </p:pic>
      <p:sp>
        <p:nvSpPr>
          <p:cNvPr id="11" name="CuadroTexto 10">
            <a:extLst>
              <a:ext uri="{FF2B5EF4-FFF2-40B4-BE49-F238E27FC236}">
                <a16:creationId xmlns:a16="http://schemas.microsoft.com/office/drawing/2014/main" id="{E219855C-1E52-EFF2-9D2D-D145810E83E3}"/>
              </a:ext>
            </a:extLst>
          </p:cNvPr>
          <p:cNvSpPr txBox="1"/>
          <p:nvPr/>
        </p:nvSpPr>
        <p:spPr>
          <a:xfrm>
            <a:off x="6159500" y="1587500"/>
            <a:ext cx="4699000" cy="1800493"/>
          </a:xfrm>
          <a:prstGeom prst="rect">
            <a:avLst/>
          </a:prstGeom>
          <a:noFill/>
        </p:spPr>
        <p:txBody>
          <a:bodyPr vert="horz" rtlCol="0">
            <a:spAutoFit/>
          </a:bodyPr>
          <a:lstStyle/>
          <a:p>
            <a:pPr>
              <a:spcAft>
                <a:spcPts val="1200"/>
              </a:spcAft>
            </a:pPr>
            <a:r>
              <a:rPr lang="en-GB" sz="2400" b="1">
                <a:latin typeface="Arial" panose="020B0604020202020204" pitchFamily="34" charset="0"/>
              </a:rPr>
              <a:t>ESP32-P4</a:t>
            </a:r>
          </a:p>
          <a:p>
            <a:pPr>
              <a:spcAft>
                <a:spcPts val="1200"/>
              </a:spcAft>
            </a:pPr>
            <a:r>
              <a:rPr lang="en-GB" sz="1900">
                <a:latin typeface="Arial" panose="020B0604020202020204" pitchFamily="34" charset="0"/>
              </a:rPr>
              <a:t>Camera input and H.264 encoding</a:t>
            </a:r>
          </a:p>
          <a:p>
            <a:pPr>
              <a:spcAft>
                <a:spcPts val="1200"/>
              </a:spcAft>
            </a:pPr>
            <a:r>
              <a:rPr lang="en-GB" sz="1900">
                <a:latin typeface="Arial" panose="020B0604020202020204" pitchFamily="34" charset="0"/>
              </a:rPr>
              <a:t>Rust application and safety logic</a:t>
            </a:r>
          </a:p>
          <a:p>
            <a:pPr>
              <a:spcAft>
                <a:spcPts val="1200"/>
              </a:spcAft>
            </a:pPr>
            <a:r>
              <a:rPr lang="en-GB" sz="1900">
                <a:latin typeface="Arial" panose="020B0604020202020204" pitchFamily="34" charset="0"/>
              </a:rPr>
              <a:t>Ethernet or an external modem</a:t>
            </a:r>
          </a:p>
        </p:txBody>
      </p:sp>
    </p:spTree>
    <p:extLst>
      <p:ext uri="{BB962C8B-B14F-4D97-AF65-F5344CB8AC3E}">
        <p14:creationId xmlns:p14="http://schemas.microsoft.com/office/powerpoint/2010/main" val="8533198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A46B80B7-611E-4531-A3DF-340030B4DDC6}"/>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Potential Aplications</a:t>
            </a:r>
          </a:p>
        </p:txBody>
      </p:sp>
      <p:sp>
        <p:nvSpPr>
          <p:cNvPr id="3" name="Rectángulo 2">
            <a:extLst>
              <a:ext uri="{FF2B5EF4-FFF2-40B4-BE49-F238E27FC236}">
                <a16:creationId xmlns:a16="http://schemas.microsoft.com/office/drawing/2014/main" id="{6BF7D17D-DB6F-4CAB-B12D-4BD15E1078B2}"/>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4285285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Crane operator photo"/>
          <p:cNvPicPr>
            <a:picLocks noChangeAspect="1"/>
          </p:cNvPicPr>
          <p:nvPr/>
        </p:nvPicPr>
        <p:blipFill>
          <a:blip r:embed="rId4"/>
          <a:stretch>
            <a:fillRect/>
          </a:stretch>
        </p:blipFill>
        <p:spPr>
          <a:xfrm>
            <a:off x="171450" y="2193726"/>
            <a:ext cx="3714750" cy="2089547"/>
          </a:xfrm>
          <a:prstGeom prst="rect">
            <a:avLst/>
          </a:prstGeom>
        </p:spPr>
      </p:pic>
      <p:pic>
        <p:nvPicPr>
          <p:cNvPr id="14" name="Mining truck photo"/>
          <p:cNvPicPr>
            <a:picLocks noChangeAspect="1"/>
          </p:cNvPicPr>
          <p:nvPr/>
        </p:nvPicPr>
        <p:blipFill>
          <a:blip r:embed="rId5"/>
          <a:stretch>
            <a:fillRect/>
          </a:stretch>
        </p:blipFill>
        <p:spPr>
          <a:xfrm>
            <a:off x="4235450" y="2174379"/>
            <a:ext cx="3714750" cy="2128242"/>
          </a:xfrm>
          <a:prstGeom prst="rect">
            <a:avLst/>
          </a:prstGeom>
        </p:spPr>
      </p:pic>
      <p:pic>
        <p:nvPicPr>
          <p:cNvPr id="15" name="Workboat photo"/>
          <p:cNvPicPr>
            <a:picLocks noChangeAspect="1"/>
          </p:cNvPicPr>
          <p:nvPr/>
        </p:nvPicPr>
        <p:blipFill>
          <a:blip r:embed="rId6"/>
          <a:stretch>
            <a:fillRect/>
          </a:stretch>
        </p:blipFill>
        <p:spPr>
          <a:xfrm>
            <a:off x="8442326" y="1524000"/>
            <a:ext cx="3429000" cy="3429000"/>
          </a:xfrm>
          <a:prstGeom prst="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9D79B0A8-B680-4985-979C-360D458218E2}"/>
              </a:ext>
            </a:extLst>
          </p:cNvPr>
          <p:cNvSpPr>
            <a:spLocks noGrp="1"/>
          </p:cNvSpPr>
          <p:nvPr/>
        </p:nvSpPr>
        <p:spPr>
          <a:xfrm>
            <a:off x="762000" y="2914650"/>
            <a:ext cx="8763000" cy="85725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Demo / Video</a:t>
            </a:r>
          </a:p>
        </p:txBody>
      </p:sp>
      <p:sp>
        <p:nvSpPr>
          <p:cNvPr id="3" name="Rectángulo 2">
            <a:extLst>
              <a:ext uri="{FF2B5EF4-FFF2-40B4-BE49-F238E27FC236}">
                <a16:creationId xmlns:a16="http://schemas.microsoft.com/office/drawing/2014/main" id="{C5EC0C37-72F4-4793-94FF-5E1844FC6C5D}"/>
              </a:ext>
            </a:extLst>
          </p:cNvPr>
          <p:cNvSpPr>
            <a:spLocks noGrp="1"/>
          </p:cNvSpPr>
          <p:nvPr/>
        </p:nvSpPr>
        <p:spPr>
          <a:xfrm>
            <a:off x="762000" y="3905250"/>
            <a:ext cx="1619250" cy="476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20854652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39</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40</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lang="en-GB" sz="1125" b="1">
                <a:solidFill>
                  <a:srgbClr val="6F686D"/>
                </a:solidFill>
                <a:latin typeface="Arial"/>
                <a:ea typeface="Arial"/>
                <a:cs typeface="Arial"/>
              </a:rPr>
              <a:t>41</a:t>
            </a:r>
            <a:endParaRPr sz="1125" b="1">
              <a:solidFill>
                <a:srgbClr val="6F686D"/>
              </a:solidFill>
              <a:latin typeface="Arial"/>
              <a:ea typeface="Arial"/>
              <a:cs typeface="Arial"/>
            </a:endParaRP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18</TotalTime>
  <Words>6926</Words>
  <Application>Microsoft Office PowerPoint</Application>
  <DocSecurity>0</DocSecurity>
  <PresentationFormat>Panorámica</PresentationFormat>
  <Paragraphs>879</Paragraphs>
  <Slides>42</Slides>
  <Notes>42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42</vt:i4>
      </vt:variant>
    </vt:vector>
  </HeadingPairs>
  <TitlesOfParts>
    <vt:vector size="46"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13</cp:revision>
  <dcterms:created xsi:type="dcterms:W3CDTF">2026-09-06T22:45:51Z</dcterms:created>
  <dcterms:modified xsi:type="dcterms:W3CDTF">2026-09-08T07:25:53Z</dcterms:modified>
</cp:coreProperties>
</file>