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slides/slide36.xml" ContentType="application/vnd.openxmlformats-officedocument.presentationml.slide+xml"/>
  <Override PartName="/ppt/notesSlides/notesSlide36.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 id="269" r:id="rId16"/>
    <p:sldId id="288" r:id="rId17"/>
    <p:sldId id="271" r:id="rId18"/>
    <p:sldId id="272" r:id="rId19"/>
    <p:sldId id="289" r:id="rId20"/>
    <p:sldId id="290" r:id="rId21"/>
    <p:sldId id="273" r:id="rId22"/>
    <p:sldId id="274" r:id="rId23"/>
    <p:sldId id="291" r:id="rId42"/>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 Id="rId42"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Introduce the project as a video-path study built around a physical RC-car prototype.</a:t>
            </a:r>
          </a:p>
          <a:p>
            <a:r>
              <a:t>State the central design choice: the application server coordinates peers but does not carry video.</a:t>
            </a:r>
          </a:p>
          <a:p>
            <a:endParaRPr/>
          </a:p>
          <a:p>
            <a:r>
              <a:t>Sources:</a:t>
            </a:r>
          </a:p>
          <a:p>
            <a:r>
              <a:t>- TFM.docx, cover and pp. 7–9.</a:t>
            </a:r>
          </a:p>
          <a:p>
            <a:r>
              <a:t>- UdL brand: https://www.imatge.udl.cat/ca/marca/color-corporatiu/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Read the question once, then separate the intended 5G context from the network used for the prototype measurement.</a:t>
            </a:r>
          </a:p>
          <a:p>
            <a:r>
              <a:t>Do not imply that the thesis validated 5G behavior. The tested mobile link used a Huawei 4G dongle.</a:t>
            </a:r>
          </a:p>
          <a:p>
            <a:endParaRPr/>
          </a:p>
          <a:p>
            <a:r>
              <a:t>Sources:</a:t>
            </a:r>
          </a:p>
          <a:p>
            <a:r>
              <a:t>- TFM.docx, pp. 7–9, 13, 36–37.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 seconds</a:t>
            </a:r>
          </a:p>
          <a:p>
            <a:endParaRPr/>
          </a:p>
          <a:p>
            <a:r>
              <a:t>Use the exact scope statement because later slides discuss control only as future work.</a:t>
            </a:r>
          </a:p>
          <a:p>
            <a:r>
              <a:t>The repository contains unused DataChannel scaffolding, but it does not implement vehicle control.</a:t>
            </a:r>
          </a:p>
          <a:p>
            <a:endParaRPr/>
          </a:p>
          <a:p>
            <a:r>
              <a:t>Sources:</a:t>
            </a:r>
          </a:p>
          <a:p>
            <a:r>
              <a:t>- PLAN.md, Project Scope.</a:t>
            </a:r>
          </a:p>
          <a:p>
            <a:r>
              <a:t>- TFM.docx, pp. 8–9 and 37.</a:t>
            </a:r>
          </a:p>
          <a:p>
            <a:r>
              <a:t>- Repository: useRtcPeerConnection.tsx and WebRtcSessionManager.cs; DataChannels are created but unused.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Preview the five main sections in this exact order.</a:t>
            </a:r>
          </a:p>
          <a:p>
            <a:r>
              <a:t>The timings leave about one minute for transitions inside the thirty-minute defense.</a:t>
            </a:r>
          </a:p>
          <a:p>
            <a:endParaRPr/>
          </a:p>
          <a:p>
            <a:r>
              <a:t>Sources:</a:t>
            </a:r>
          </a:p>
          <a:p>
            <a:r>
              <a:t>- PLAN.md, Slide Structure and Visual and Source Treatment.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Present WebRTC as a system rather than a single wire protocol.</a:t>
            </a:r>
          </a:p>
          <a:p>
            <a:r>
              <a:t>The browser API manages peer state. The IETF protocols provide connectivity, secure media transport, and feedback.</a:t>
            </a:r>
          </a:p>
          <a:p>
            <a:r>
              <a:t>SignalR is an application choice for signaling because WebRTC deliberately leaves that transport open.</a:t>
            </a:r>
          </a:p>
          <a:p>
            <a:endParaRPr/>
          </a:p>
          <a:p>
            <a:r>
              <a:t>Sources:</a:t>
            </a:r>
          </a:p>
          <a:p>
            <a:r>
              <a:t>- RFC 8825: https://www.rfc-editor.org/rfc/rfc8825.html</a:t>
            </a:r>
          </a:p>
          <a:p>
            <a:r>
              <a:t>- W3C WebRTC: https://www.w3.org/TR/webrtc/</a:t>
            </a:r>
          </a:p>
          <a:p>
            <a:r>
              <a:t>- RFC 9429 JSEP: https://www.rfc-editor.org/rfc/rfc9429.html</a:t>
            </a:r>
          </a:p>
          <a:p>
            <a:r>
              <a:t>- TFM.docx, p. 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Walk from capture at the top to UDP and IP at the bottom.</a:t>
            </a:r>
          </a:p>
          <a:p>
            <a:r>
              <a:t>RTP and RTCP carry media and feedback. WebRTC protects them as SRTP and SRTCP.</a:t>
            </a:r>
          </a:p>
          <a:p>
            <a:r>
              <a:t>DTLS-SRTP derives media keys on the selected ICE path. DataChannel is part of the standard but outside this project's implemented scope.</a:t>
            </a:r>
          </a:p>
          <a:p>
            <a:endParaRPr/>
          </a:p>
          <a:p>
            <a:r>
              <a:t>Sources:</a:t>
            </a:r>
          </a:p>
          <a:p>
            <a:r>
              <a:t>- RFC 8835: https://www.rfc-editor.org/rfc/rfc8835.html</a:t>
            </a:r>
          </a:p>
          <a:p>
            <a:r>
              <a:t>- RFC 8834: https://www.rfc-editor.org/rfc/rfc8834.html</a:t>
            </a:r>
          </a:p>
          <a:p>
            <a:r>
              <a:t>- RFC 3711: https://www.rfc-editor.org/rfc/rfc3711.html</a:t>
            </a:r>
          </a:p>
          <a:p>
            <a:r>
              <a:t>- RFC 5764: https://www.rfc-editor.org/rfc/rfc5764.html</a:t>
            </a:r>
          </a:p>
          <a:p>
            <a:r>
              <a:t>- TFM.docx, pp. 22–23.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STUN lookup: each peer asks a STUN server for its public mapped IP address and port. STUN does not carry the media stream.</a:t>
            </a:r>
          </a:p>
          <a:p>
            <a:r>
              <a:t>Direct path: ICE checks candidate pairs and prefers a working direct connection.</a:t>
            </a:r>
          </a:p>
          <a:p>
            <a:r>
              <a:t>TURN fallback: when no direct candidate pair succeeds, the peers use an authenticated allocation on the Metered TURN service and media crosses the relay.</a:t>
            </a:r>
          </a:p>
          <a:p>
            <a:r>
              <a:t>Project sources: WebRtcHub.cs lines 10–16 and 24–35; WebRtcSessionManager.cs lines 33–69 and 78; Control.tsx around line 128.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65 seconds</a:t>
            </a:r>
          </a:p>
          <a:p>
            <a:endParaRPr/>
          </a:p>
          <a:p>
            <a:r>
              <a:t>The Raspberry Pi creates the offer after a browser joins. SignalR forwards that offer to the selected browser.</a:t>
            </a:r>
          </a:p>
          <a:p>
            <a:r>
              <a:t>The browser applies the offer, creates the answer, and returns it through the hub.</a:t>
            </a:r>
          </a:p>
          <a:p>
            <a:r>
              <a:t>SDP carries the parameters needed to agree on media and establish ICE and DTLS. The application server does not become a media endpoint.</a:t>
            </a:r>
          </a:p>
          <a:p>
            <a:endParaRPr/>
          </a:p>
          <a:p>
            <a:r>
              <a:t>The SDP excerpt on the slide uses illustrative values adapted from RFC 9429. The fingerprint is shortened for readability.</a:t>
            </a:r>
          </a:p>
          <a:p>
            <a:endParaRPr/>
          </a:p>
          <a:p>
            <a:r>
              <a:t>Sources:</a:t>
            </a:r>
          </a:p>
          <a:p>
            <a:r>
              <a:t>- RFC 8866 SDP: https://www.rfc-editor.org/rfc/rfc8866.html</a:t>
            </a:r>
          </a:p>
          <a:p>
            <a:r>
              <a:t>- RFC 9429 JSEP: https://www.rfc-editor.org/rfc/rfc9429.html</a:t>
            </a:r>
          </a:p>
          <a:p>
            <a:r>
              <a:t>- TFM.docx, pp. 21, 33–34.</a:t>
            </a:r>
          </a:p>
          <a:p>
            <a:r>
              <a:t>- Repository: WebRtcSessionManager.cs, WebRtcSignalingBackgroundService.cs, Control.tsx.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Present SDP first for explanatory clarity, then note that gathering can already be in progress while the descriptions are created.</a:t>
            </a:r>
          </a:p>
          <a:p>
            <a:r>
              <a:t>Trickle ICE sends candidates incrementally. Each side forms pairs, runs STUN checks, ranks viable paths, and nominates the selected pair.</a:t>
            </a:r>
          </a:p>
          <a:p>
            <a:r>
              <a:t>Peer-reflexive candidates can appear during checks even when they were not gathered beforehand.</a:t>
            </a:r>
          </a:p>
          <a:p>
            <a:endParaRPr/>
          </a:p>
          <a:p>
            <a:r>
              <a:t>Sources:</a:t>
            </a:r>
          </a:p>
          <a:p>
            <a:r>
              <a:t>- RFC 8445: https://www.rfc-editor.org/rfc/rfc8445.html</a:t>
            </a:r>
          </a:p>
          <a:p>
            <a:r>
              <a:t>- RFC 8838: https://www.rfc-editor.org/rfc/rfc8838.html</a:t>
            </a:r>
          </a:p>
          <a:p>
            <a:r>
              <a:t>- W3C ICE events: https://www.w3.org/TR/webrtc/#rtcpeerconnectioniceevent</a:t>
            </a:r>
          </a:p>
          <a:p>
            <a:r>
              <a:t>- TFM.docx, p.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65 seconds
VP8 and H.264 Constrained Baseline are the WebRTC video interoperability baselines. VP9, AV1 and H.265 require capability checks and a negotiated fallback.
The network callout uses a 1.5 Mb/s video target for an illustrative 720p30 low-latency stream. About 2 Mb/s sustained uplink adds packet and control overhead plus roughly 25% operating headroom. It is a planning estimate, not a codec minimum.
Relative data use is qualitative. Real bitrate depends on content, encoder implementation, resolution, frame rate, quality target and latency settings. Lower bitrate can reduce mobile-data and TURN-relay traffic, while newer codecs can require more compute or dedicated hardware.
Sources:
- RFC 7742 sections 5–6: https://www.rfc-editor.org/rfc/rfc7742.html#section-5
- Chromium WebRTC 720p singlecast defaults: https://chromium.googlesource.com/external/webrtc/+/refs/heads/master/rtc_base/experiments/encoder_info_settings.cc#47
- Google VP9 live encoding settings: https://developers.google.com/media/vp9/settings
- Alliance for Open Media, Meta AV1 case study: https://aomedia.org/av1-adoption-showcase/meta-story/
- ITU-T HEVC overview: https://www.itu.int/en/ITU-T/studygroups/2017-2020/16/Pages/video/jctvc.aspx
- TFM.docx, pp. 23–24.
- Repository reference: appsettings.json video settings.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WHIP covers unidirectional ingest from a publisher to a media server. WHEP covers egress from a media server to a viewer.</a:t>
            </a:r>
          </a:p>
          <a:p>
            <a:r>
              <a:t>Combining them normally creates two server-terminated WebRTC sessions, so the media server sits in the video path.</a:t>
            </a:r>
          </a:p>
          <a:p>
            <a:r>
              <a:t>WHIP is a Standards Track RFC. WHEP is still an active Internet-Draft, revision 04, on the date of this defense.</a:t>
            </a:r>
          </a:p>
          <a:p>
            <a:endParaRPr/>
          </a:p>
          <a:p>
            <a:r>
              <a:t>Sources:</a:t>
            </a:r>
          </a:p>
          <a:p>
            <a:r>
              <a:t>- RFC 9725: https://www.rfc-editor.org/rfc/rfc9725.html</a:t>
            </a:r>
          </a:p>
          <a:p>
            <a:r>
              <a:t>- WHEP draft-04: https://www.ietf.org/archive/id/draft-ietf-wish-whep-04.html</a:t>
            </a:r>
          </a:p>
          <a:p>
            <a:r>
              <a:t>- WHEP status: https://datatracker.ietf.org/doc/draft-ietf-wish-whep/</a:t>
            </a:r>
          </a:p>
          <a:p>
            <a:r>
              <a:t>- TFM.docx, pp. 24–25.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The first design already separated signaling from media. ASP.NET and SignalR coordinated the two peers, while WebRTC was expected to carry video directly.</a:t>
            </a:r>
          </a:p>
          <a:p>
            <a:r>
              <a:t>The early configuration contained Google STUN only. TURN was explicitly absent.</a:t>
            </a:r>
          </a:p>
          <a:p>
            <a:endParaRPr/>
          </a:p>
          <a:p>
            <a:r>
              <a:t>Sources:</a:t>
            </a:r>
          </a:p>
          <a:p>
            <a:r>
              <a:t>- Repository history: commit 5b2433a, 14 February 2026; commit 6bc9041, 19 February 2026.</a:t>
            </a:r>
          </a:p>
          <a:p>
            <a:r>
              <a:t>- TFM.docx, pp. 16–19.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SignalR can still connect because both peers open outbound connections to the coordination server. The media path is separate: the camera and browser must establish a usable route between themselves.</a:t>
            </a:r>
          </a:p>
          <a:p>
            <a:r>
              <a:t>Both endpoints may use private IPv4. The mobile side can add hotspot NAT and carrier-grade NAT, while the browser network may add another NAT or firewall. STUN reports the IP address and UDP port observed by the STUN server, but that mapping may change for another destination and filtering may reject the peer's UDP.</a:t>
            </a:r>
          </a:p>
          <a:p>
            <a:r>
              <a:t>ICE therefore tests candidate pairs. If no direct pair succeeds, signaling still works but direct WebRTC media cannot start. This motivates the TURN relay on the next slide.</a:t>
            </a:r>
          </a:p>
          <a:p>
            <a:endParaRPr/>
          </a:p>
          <a:p>
            <a:r>
              <a:t>Sources:</a:t>
            </a:r>
          </a:p>
          <a:p>
            <a:r>
              <a:t>- RFC 8489: https://www.rfc-editor.org/rfc/rfc8489.html</a:t>
            </a:r>
          </a:p>
          <a:p>
            <a:r>
              <a:t>- RFC 8445: https://www.rfc-editor.org/rfc/rfc8445.html</a:t>
            </a:r>
          </a:p>
          <a:p>
            <a:r>
              <a:t>- RFC 4787: https://www.rfc-editor.org/rfc/rfc4787.html</a:t>
            </a:r>
          </a:p>
          <a:p>
            <a:r>
              <a:t>- TFM.docx, pp. 21–22 and 36–38.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IPv6 could remove the mobile carrier-grade IPv4 translation layer, so ICE should test it alongside IPv4 and TURN.</a:t>
            </a:r>
          </a:p>
          <a:p>
            <a:r>
              <a:t>IPv6 does not bypass endpoint firewalls and is not automatically faster.</a:t>
            </a:r>
          </a:p>
          <a:p>
            <a:r>
              <a:t>The current repository uses IPv6 loopback only between FFmpeg and .NET. No end-to-end public IPv6 test has been recorded.</a:t>
            </a:r>
          </a:p>
          <a:p>
            <a:endParaRPr/>
          </a:p>
          <a:p>
            <a:r>
              <a:t>Sources:</a:t>
            </a:r>
          </a:p>
          <a:p>
            <a:r>
              <a:t>- TFM.docx, pp. 36 and 38.</a:t>
            </a:r>
          </a:p>
          <a:p>
            <a:r>
              <a:t>- Repository: CameraVideoSource.cs line 158 uses IPv6Loopback for local RTP only.</a:t>
            </a:r>
          </a:p>
          <a:p>
            <a:r>
              <a:t>- RFC 8445: https://www.rfc-editor.org/rfc/rfc8445.html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TURN allocates a public relay IP address and port. The client initiates traffic to the TURN server, creating a NAT mapping and filter state that permit return traffic from that server. After permission setup, TURN forwards media between the peer and the client using this established path. If both peers need a relay, each can use a TURN allocation. ICE checks candidate pairs and selects a working path. STUN address discovery alone cannot guarantee direct reachability with restrictive NAT mappings or filtering. TURN still requires an allowed network path to its server. Source: https://www.rfc-editor.org/rfc/rfc8656.html (Sections 1 and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lIns="0" tIns="0" rIns="0" bIns="0" anchor="t">
            <a:noAutofit/>
          </a:bodyPr>
          <a:lstStyle/>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These are signaling design responsibilities, not claims of currently broken behavior. “Perfect” here means robust application signaling, rather than only the WebRTC perfect-negotiation pattern.</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WebRTC leaves signaling transport to the application. The project uses SignalR to route SDP and ICE between device and browser. Fixed device/viewer roles make offer ownership explicit. Both peers buffer ICE until remote SDP exists. Transport reconnection, WebRTC recovery, and session cleanup require separate handling.</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Project evidence: src/ScarletRadioControl.Web/Hubs/WebRtcHub.cs; src/ScarletRadioControl.Device/Services/WebRtcSessionManager.cs; src/ScarletRadioControl.Device/BackgroundServices/WebRtcSignalingBackgroundService.cs; src/ScarletRadioControl.Web.Frontend/src/pages/device/Control.tsx; PLAN.md.</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WHIP and WHEP informed the roles and session-lifecycle model. The next slide explains the project’s SignalR concept mapping, which is not full HTTP WHIP/WHEP compliance.</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References: https://webrtc.org/getting-started/peer-connections ; https://www.rfc-editor.org/rfc/rfc9725.html ; https://datatracker.ietf.org/doc/draft-ietf-wish-whep/</a:t>
            </a:r>
          </a:p>
        </p:txBody>
      </p:sp>
      <p:sp>
        <p:nvSpPr>
          <p:cNvPr id="4" name="Slide Number Placeholder 3"/>
          <p:cNvSpPr>
            <a:spLocks noGrp="1"/>
          </p:cNvSpPr>
          <p:nvPr>
            <p:ph type="sldNum" idx="5"/>
          </p:nvPr>
        </p:nvSpPr>
        <p:spPr/>
        <p:txBody>
          <a:bodyPr wrap="square" lIns="0" tIns="0" rIns="0" bIns="0" anchor="t">
            <a:noAutofit/>
          </a:bodyPr>
          <a:lstStyle/>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16</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r>
              <a:t>WHIP and WHEP supplied a concrete signaling model for the full rework. WHIP defines ingestion: a publisher sends WebRTC media to a streaming service. WHEP defines egress: a viewer receives WebRTC media from a streaming service. Their role model separates publishing from playback.</a:t>
            </a:r>
          </a:p>
          <a:p>
            <a:r>
              <a:t>The shared HTTP lifecycle makes each media session an explicit resource. In the common setup flow, POST exchanges SDP and returns the session URL in the Location header. PATCH carries trickle ICE candidates or ICE restarts when supported. DELETE terminates the session and releases its resources. Media itself travels over WebRTC.</a:t>
            </a:r>
          </a:p>
          <a:p>
            <a:r>
              <a:t>WHEP draft-04 additionally supports a server counter-offer, with the client sending an SDP answer using PATCH. Therefore POST is the session-creation entry point and PATCH is not exclusively for ICE in every WHEP flow.</a:t>
            </a:r>
          </a:p>
          <a:p>
            <a:r>
              <a:t>These clear roles, ordered negotiation and lifecycle concepts strongly inspired the complete application signaling rework across the device, hub and browser. The project adapts the ideas through SignalR. It does not claim WHIP/WHEP wire-protocol compliance or a completed HTTP endpoint implementation.</a:t>
            </a:r>
          </a:p>
          <a:p>
            <a:r>
              <a:t>WHIP is RFC 9725. WHEP is draft-ietf-wish-whep-04, a work in progress, checked 7 September 2026.</a:t>
            </a:r>
          </a:p>
          <a:p>
            <a:r>
              <a:t>Sources:</a:t>
            </a:r>
          </a:p>
          <a:p>
            <a:r>
              <a:t>WHIP, RFC 9725: https://www.rfc-editor.org/rfc/rfc9725.html</a:t>
            </a:r>
          </a:p>
          <a:p>
            <a:r>
              <a:t>WHEP, draft-ietf-wish-whep-04: https://datatracker.ietf.org/doc/html/draft-ietf-wish-whep-04</a:t>
            </a:r>
          </a:p>
          <a:p>
            <a:r>
              <a:t>Repository history: 248f094 (WHEP reference), 529de9a and 72b7dd1 (endpoint prototypes), 87bc7cc (device routes), 643142b (ICE configuration returned from SignalR join methods).</a:t>
            </a:r>
          </a:p>
          <a:p>
            <a:r>
              <a:t>Implementation: src/ScarletRadioControl.Web/Hubs/WebRtcHub.cs; src/ScarletRadioControl.Device/Services/WebRtcSessionManager.cs; browser WebRTC lifecycle code.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project experience contrasted the advertised libcamera route with direct V4L2 capture in the working prototype. The final hardware was a Logitech C920 USB webcam. This distinction concerns the project hardware and FFmpeg integration, not a claim that libcamera is universally unsuitable.</a:t>
            </a:r>
          </a:p>
          <a:p>
            <a:r>
              <a:t>Sources: user clarification; Raspberry Pi, Camera software documentation, https://www.raspberrypi.com/documentation/computers/camera_software.html (accessed 7 September 2026); Raspberry Pi, Bullseye camera system, https://www.raspberrypi.com/news/bullseye-camera-system/; project PLAN.md and src/ScarletRadioControl.Device/Options/FfmpegArgumentTemplate.cs; original presentation, Final Media Pipeline.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original PRESENTATION.pptx, slide 18; PLAN.md, Camera integration approaches; repository commit 4b357dd, PLAN.md (FFmpeg 8.1 and FFmpeg.AutoGen 8.1.0 compatibility and Raspberry Pi distribution package constraint); commit 4b357dd, src/ScarletRadioControl.Device/Video/CameraVideoSource.cs (FFmpegInit.Initialise, FFmpegCameraSource and OnVideoSourceEncodedSample).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original PRESENTATION.pptx, slides 18-20; PLAN.md:119-143; current src/ScarletRadioControl.Device/Services/CameraVideoSource.cs (IPv6 loopback RTP receiver, process supervision, restart, RTP parsing and H.264 depacketization); TFM.docx, Camera-to-WebRTC Video Pipeline and Runtime Resilience. External FFmpeg addresses native-library deployment fragility. Software encoding remains on the Raspberry Pi.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80 seconds</a:t>
            </a:r>
          </a:p>
          <a:p>
            <a:endParaRPr/>
          </a:p>
          <a:p>
            <a:r>
              <a:t>Follow the pipeline from the C920 to the browser. FFmpeg receives MJPEG through V4L2, decodes it, and software-encodes H.264 Constrained Baseline.</a:t>
            </a:r>
          </a:p>
          <a:p>
            <a:r>
              <a:t>FFmpeg emits RTP on IPv6 loopback. .NET parses RTP, depacketizes H.264, assembles Annex-B access units, and caches SPS and PPS.</a:t>
            </a:r>
          </a:p>
          <a:p>
            <a:r>
              <a:t>SIPSorcery repacketizes the encoded access unit into the negotiated WebRTC stream and owns SRTP and the peer connection.</a:t>
            </a:r>
          </a:p>
          <a:p>
            <a:r>
              <a:t>The .NET layer avoids a second decode and encode, but FFmpeg still performs the MJPEG decode and software H.264 encode.</a:t>
            </a:r>
          </a:p>
          <a:p>
            <a:endParaRPr/>
          </a:p>
          <a:p>
            <a:r>
              <a:t>Sources:</a:t>
            </a:r>
          </a:p>
          <a:p>
            <a:r>
              <a:t>- TFM.docx, pp. 29–30 and 36.</a:t>
            </a:r>
          </a:p>
          <a:p>
            <a:r>
              <a:t>- Repository: appsettings.json; CameraVideoSource.cs lines 152–188, 359–493; WebRtcSessionManager.cs lines 99–101 and 247–264.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r>
              <a:t>Logitech originally advertised the C920 with H.264 video encoding. Logitech later explained that it removed in-camera encoding resources from C920 and related webcam models.</a:t>
            </a:r>
          </a:p>
          <a:p>
            <a:r>
              <a:t>The advertised capability therefore does not describe newer hardware revisions. The project camera supplies MJPEG, and the repository configures FFmpeg to decode it and encode H.264 with libx264.</a:t>
            </a:r>
          </a:p>
          <a:p>
            <a:r>
              <a:t>Software encoding adds CPU work, heat and encoding latency on the Raspberry Pi. No measured CPU percentage or encoding-only latency is claimed.</a:t>
            </a:r>
          </a:p>
          <a:p>
            <a:r>
              <a:t>The external FFmpeg process improves deployment isolation but leaves software encoding on the Raspberry Pi.</a:t>
            </a:r>
          </a:p>
          <a:p>
            <a:r>
              <a:t>Sources:</a:t>
            </a:r>
          </a:p>
          <a:p>
            <a:r>
              <a:t>Logitech, Logitech Webcams and H.264 Encoding: https://support.logi.com/hc/en-gb/articles/40102104890647-Logitech-Webcams-and-H-264-Encoding</a:t>
            </a:r>
          </a:p>
          <a:p>
            <a:r>
              <a:t>Logitech, 2012 C920 announcement: https://news.logitech.com/press-releases/news-details/2012/Logitech-Unveils-Full-HD-Webcam-for-1080p-Video-Calling/default.aspx</a:t>
            </a:r>
          </a:p>
          <a:p>
            <a:r>
              <a:t>Repository: PLAN.md, appsettings.json and CameraVideoSource.cs.</a:t>
            </a:r>
          </a:p>
          <a:p>
            <a:r>
              <a:t>TFM.docx, pp. 29-30 and 36-39.</a:t>
            </a:r>
          </a:p>
          <a:p>
            <a:r>
              <a:t>Image: TFM.docx Figure 3, Raspberry Pi 5 product image.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When the car demands too much current, the Raspberry Pi disconnects momentarily. Treat this as an author-reported observation because the thesis does not document a measured incident trace.</a:t>
            </a:r>
          </a:p>
          <a:p>
            <a:r>
              <a:t>The thesis does support the mechanism and mitigation: motor-stall peaks, supply monitoring, a fused branch, transient protection, decoupling, and careful grounding.</a:t>
            </a:r>
          </a:p>
          <a:p>
            <a:endParaRPr/>
          </a:p>
          <a:p>
            <a:r>
              <a:t>Sources:</a:t>
            </a:r>
          </a:p>
          <a:p>
            <a:r>
              <a:t>- PLAN.md, Issues with electrical input to the RPI.</a:t>
            </a:r>
          </a:p>
          <a:p>
            <a:r>
              <a:t>- TFM.docx, pp. 13 and 39.</a:t>
            </a:r>
          </a:p>
          <a:p>
            <a:r>
              <a:t>- Image: TFM.docx Figure 6, NiMH battery.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75 seconds</a:t>
            </a:r>
          </a:p>
          <a:p>
            <a:endParaRPr/>
          </a:p>
          <a:p>
            <a:r>
              <a:t>The measurement compares the visible time reference with the received browser image. The two Unix timestamps differ by exactly 340 milliseconds.</a:t>
            </a:r>
          </a:p>
          <a:p>
            <a:r>
              <a:t>The browser status line shows a relay local candidate in this captured run, so the observed path appears TURN-relayed.</a:t>
            </a:r>
          </a:p>
          <a:p>
            <a:r>
              <a:t>Treat this as one 4G observation that supports feasibility. It does not establish a latency distribution, a guarantee, or 5G validation.</a:t>
            </a:r>
          </a:p>
          <a:p>
            <a:endParaRPr/>
          </a:p>
          <a:p>
            <a:r>
              <a:t>Sources:</a:t>
            </a:r>
          </a:p>
          <a:p>
            <a:r>
              <a:t>- TFM.docx, pp. 8–9 and 36; Figure 10.</a:t>
            </a:r>
          </a:p>
          <a:p>
            <a:r>
              <a:t>- Resum-TFG-TFM-Raul-Hidalgo-Caballero.docx.pdf, p.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Vehicle control belongs to the next phase, not the completed project scope.</a:t>
            </a:r>
          </a:p>
          <a:p>
            <a:r>
              <a:t>A production command loop needs explicit sequencing, timestamps, validation, actuation, and a neutral fail-safe whenever communication or input becomes unsafe.</a:t>
            </a:r>
          </a:p>
          <a:p>
            <a:endParaRPr/>
          </a:p>
          <a:p>
            <a:r>
              <a:t>Sources:</a:t>
            </a:r>
          </a:p>
          <a:p>
            <a:r>
              <a:t>- TFM.docx, pp. 37–38.</a:t>
            </a:r>
          </a:p>
          <a:p>
            <a:r>
              <a:t>- Image: TFM.docx Figure 2, 3D chassis design.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The best next optimization is direct H.264 from the camera or a hardware encoder, removing MJPEG decode and software libx264 where possible.</a:t>
            </a:r>
          </a:p>
          <a:p>
            <a:r>
              <a:t>Direct output still needs validation. The profile, parameter sets, packetization, GOP, buffering, and measured latency must match the WebRTC path.</a:t>
            </a:r>
          </a:p>
          <a:p>
            <a:endParaRPr/>
          </a:p>
          <a:p>
            <a:r>
              <a:t>Sources:</a:t>
            </a:r>
          </a:p>
          <a:p>
            <a:r>
              <a:t>- TFM.docx, pp. 38–39.</a:t>
            </a:r>
          </a:p>
          <a:p>
            <a:r>
              <a:t>- Image: TFM.docx Figure 4, Logitech HD Pro C920.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Run a controlled matrix rather than another single demonstration. Compare IPv4 direct, IPv6 direct, and TURN relay across realistic mobile network modes.</a:t>
            </a:r>
          </a:p>
          <a:p>
            <a:r>
              <a:t>Record distributions and stability, not only a best-case latency number. Include NAT type, mobility, loss, and uplink consistency.</a:t>
            </a:r>
          </a:p>
          <a:p>
            <a:endParaRPr/>
          </a:p>
          <a:p>
            <a:r>
              <a:t>Sources:</a:t>
            </a:r>
          </a:p>
          <a:p>
            <a:r>
              <a:t>- TFM.docx, pp. 38 and 40.</a:t>
            </a:r>
          </a:p>
          <a:p>
            <a:r>
              <a:t>- RFC 8445: https://www.rfc-editor.org/rfc/rfc8445.html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The hardware priority is a protected and measurable power tree that isolates motor transients from the Raspberry Pi rail.</a:t>
            </a:r>
          </a:p>
          <a:p>
            <a:r>
              <a:t>The plan also calls for complete WHIP and WHEP. That is a separate protocol track because true compliance requires HTTP session resources and a central media server that terminates WebRTC.</a:t>
            </a:r>
          </a:p>
          <a:p>
            <a:endParaRPr/>
          </a:p>
          <a:p>
            <a:r>
              <a:t>Sources:</a:t>
            </a:r>
          </a:p>
          <a:p>
            <a:r>
              <a:t>- TFM.docx, p. 39.</a:t>
            </a:r>
          </a:p>
          <a:p>
            <a:r>
              <a:t>- RFC 9725: https://www.rfc-editor.org/rfc/rfc9725.html</a:t>
            </a:r>
          </a:p>
          <a:p>
            <a:r>
              <a:t>- WHEP draft-04: https://www.ietf.org/archive/id/draft-ietf-wish-whep-04.html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ESP32-P4 is a long-term consolidation candidate because it combines RISC-V cores, camera interfaces, an image pipeline, hardware H.264, and Ethernet.</a:t>
            </a:r>
          </a:p>
          <a:p>
            <a:r>
              <a:t>It has no integrated 5G radio, so a modem or network companion remains necessary. Rust HAL support exists, but peripheral maturity and a practical WebRTC stack still need validation.</a:t>
            </a:r>
          </a:p>
          <a:p>
            <a:endParaRPr/>
          </a:p>
          <a:p>
            <a:r>
              <a:t>Sources:</a:t>
            </a:r>
          </a:p>
          <a:p>
            <a:r>
              <a:t>- TFM.docx, p. 39.</a:t>
            </a:r>
          </a:p>
          <a:p>
            <a:r>
              <a:t>- Espressif ESP32-P4 datasheet: https://documentation.espressif.com/esp32-p4_datasheet_en.html</a:t>
            </a:r>
          </a:p>
          <a:p>
            <a:r>
              <a:t>- Espressif product overview: https://www.espressif.com/en/node/7617</a:t>
            </a:r>
          </a:p>
          <a:p>
            <a:r>
              <a:t>- esp-hal: https://github.com/esp-rs/esp-hal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Use this as an application concept, not as a tested system.</a:t>
            </a:r>
          </a:p>
          <a:p>
            <a:r>
              <a:t>The motorway segment can run autonomously, while a remote operator handles the final approach where context and interaction are harder to automate.</a:t>
            </a:r>
          </a:p>
          <a:p>
            <a:r>
              <a:t>Low-latency video is one dependency. Production teleoperation needs redundant control, a safety case, secure operations, and regulatory approval.</a:t>
            </a:r>
          </a:p>
          <a:p>
            <a:endParaRPr/>
          </a:p>
          <a:p>
            <a:r>
              <a:t>Sources:</a:t>
            </a:r>
          </a:p>
          <a:p>
            <a:r>
              <a:t>- Application example specified in PLAN.md.</a:t>
            </a:r>
          </a:p>
          <a:p>
            <a:r>
              <a:t>- Concept illustration generated for this presentation with OpenAI ImageGen; it is not project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Cranes, mining equipment, and workboats share the value proposition of moving people away from hazardous work zones.</a:t>
            </a:r>
          </a:p>
          <a:p>
            <a:r>
              <a:t>The video link must remain usable under motion, vibration, coverage changes, and harsh radio conditions.</a:t>
            </a:r>
          </a:p>
          <a:p>
            <a:r>
              <a:t>The prototype addresses only the video-path question. Each domain needs its own redundant control and safety design.</a:t>
            </a:r>
          </a:p>
          <a:p>
            <a:endParaRPr/>
          </a:p>
          <a:p>
            <a:r>
              <a:t>Sources:</a:t>
            </a:r>
          </a:p>
          <a:p>
            <a:r>
              <a:t>- Application examples specified in PLAN.md.</a:t>
            </a:r>
          </a:p>
          <a:p>
            <a:r>
              <a:t>- Concept illustration generated for this presentation with OpenAI ImageGen; it is not project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40 seconds</a:t>
            </a:r>
          </a:p>
          <a:p>
            <a:endParaRPr/>
          </a:p>
          <a:p>
            <a:r>
              <a:t>Show the physical device path first when available. Keep the browser simulator ready as the technical fallback.</a:t>
            </a:r>
          </a:p>
          <a:p>
            <a:r>
              <a:t>Ask the audience to watch signaling state, the offer and answer, candidate types, connection state, and the video itself.</a:t>
            </a:r>
          </a:p>
          <a:p>
            <a:r>
              <a:t>The device selector uses hard-coded prototype entries and should not be described as live fleet discovery.</a:t>
            </a:r>
          </a:p>
          <a:p>
            <a:endParaRPr/>
          </a:p>
          <a:p>
            <a:r>
              <a:t>Sources:</a:t>
            </a:r>
          </a:p>
          <a:p>
            <a:r>
              <a:t>- TFM.docx, p. 32; Figure 9.</a:t>
            </a:r>
          </a:p>
          <a:p>
            <a:r>
              <a:t>- Repository: Index.tsx, Control.tsx, ControlTest.tsx.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Start the central server and selector page. Then connect the device or start the simulator before opening the viewer route.</a:t>
            </a:r>
          </a:p>
          <a:p>
            <a:r>
              <a:t>The viewer join event triggers the device offer. SignalR transports the SDP and Trickle ICE candidates.</a:t>
            </a:r>
          </a:p>
          <a:p>
            <a:r>
              <a:t>Show the candidate types and connected state, then the live video and latency demonstration.</a:t>
            </a:r>
          </a:p>
          <a:p>
            <a:r>
              <a:t>Do not demonstrate vehicle control as completed project scope.</a:t>
            </a:r>
          </a:p>
          <a:p>
            <a:endParaRPr/>
          </a:p>
          <a:p>
            <a:r>
              <a:t>Sources:</a:t>
            </a:r>
          </a:p>
          <a:p>
            <a:r>
              <a:t>- Repository: WebRtcSignalingBackgroundService.cs lines 25–32; WebRtcHub.cs; Control.tsx.</a:t>
            </a:r>
          </a:p>
          <a:p>
            <a:r>
              <a:t>- PLAN.md, Live Demo Sequence.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 seconds</a:t>
            </a:r>
          </a:p>
          <a:p>
            <a:endParaRPr/>
          </a:p>
          <a:p>
            <a:r>
              <a:t>This slide reserves the required 16:9 media frame for a real RC-car recording.</a:t>
            </a:r>
          </a:p>
          <a:p>
            <a:r>
              <a:t>No physical-car video file exists in the repository. The countdown is a 66.94-second simulator asset and can demonstrate the signaling and media path only.</a:t>
            </a:r>
          </a:p>
          <a:p>
            <a:r>
              <a:t>Keep the placeholder label until real footage is inserted.</a:t>
            </a:r>
          </a:p>
          <a:p>
            <a:endParaRPr/>
          </a:p>
          <a:p>
            <a:r>
              <a:t>Sources:</a:t>
            </a:r>
          </a:p>
          <a:p>
            <a:r>
              <a:t>- Repository: src/ScarletRadioControl.Web.Frontend/src/assets/countdown.mp4 and ControlTest.tsx.</a:t>
            </a:r>
          </a:p>
          <a:p>
            <a:r>
              <a:t>- PLAN.md, Fallback Video.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40 seconds plus questions</a:t>
            </a:r>
          </a:p>
          <a:p>
            <a:endParaRPr/>
          </a:p>
          <a:p>
            <a:r>
              <a:t>Close with the evidence: the prototype demonstrates feasibility under one tested 4G configuration.</a:t>
            </a:r>
          </a:p>
          <a:p>
            <a:r>
              <a:t>The most consequential engineering work involved NAT traversal and the software media pipeline.</a:t>
            </a:r>
          </a:p>
          <a:p>
            <a:r>
              <a:t>Name the next priorities, then invite questions.</a:t>
            </a:r>
          </a:p>
          <a:p>
            <a:endParaRPr/>
          </a:p>
          <a:p>
            <a:r>
              <a:t>Sources:</a:t>
            </a:r>
          </a:p>
          <a:p>
            <a:r>
              <a:t>- TFM.docx, pp. 36–40; Figure 11.</a:t>
            </a:r>
          </a:p>
          <a:p>
            <a:r>
              <a:t>- PLAN.md, Final Takeaways and Questions.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solution is pending implementation. The current prototype still captures MJPEG and uses libx264 to encode H.264 in software.</a:t>
            </a:r>
          </a:p>
          <a:p>
            <a:r>
              <a:t>Select and verify a webcam whose exact hardware revision exposes an onboard H.264 stream. No replacement camera has been selected or validated for this slide.</a:t>
            </a:r>
          </a:p>
          <a:p>
            <a:r>
              <a:t>Adapt capture to receive browser-compatible H.264 and feed the encoded video into the existing RTP and WebRTC pipeline. Confirm profile, SPS/PPS, packetization, bitrate and keyframe behavior during integration.</a:t>
            </a:r>
          </a:p>
          <a:p>
            <a:r>
              <a:t>The expected benefit is removing MJPEG decoding and software H.264 encoding from the Raspberry Pi. CPU savings and end-to-end latency remain to be measured.</a:t>
            </a:r>
          </a:p>
          <a:p>
            <a:r>
              <a:t>Sources: existing presentation slide Hardware and Direct H.264; repository PLAN.md, appsettings.json and CameraVideoSource.cs; requested implementation status.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5DD91C85-8193-4CE4-8F4B-8C4E4393CA07}"/>
              </a:ext>
            </a:extLst>
          </p:cNvPr>
          <p:cNvSpPr>
            <a:spLocks noGrp="1"/>
          </p:cNvSpPr>
          <p:nvPr/>
        </p:nvSpPr>
        <p:spPr>
          <a:xfrm>
            <a:off x="742950" y="1638300"/>
            <a:ext cx="8763000" cy="171450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WebRTC in a</a:t>
            </a:r>
          </a:p>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Radio-Controlled Car via 5G</a:t>
            </a:r>
          </a:p>
        </p:txBody>
      </p:sp>
      <p:sp>
        <p:nvSpPr>
          <p:cNvPr id="3" name="Rectángulo 2">
            <a:extLst>
              <a:ext uri="{FF2B5EF4-FFF2-40B4-BE49-F238E27FC236}">
                <a16:creationId xmlns:a16="http://schemas.microsoft.com/office/drawing/2014/main" id="{B9BDE524-BF06-4B5B-BDA7-AB0644749E8F}"/>
              </a:ext>
            </a:extLst>
          </p:cNvPr>
          <p:cNvSpPr>
            <a:spLocks noGrp="1"/>
          </p:cNvSpPr>
          <p:nvPr/>
        </p:nvSpPr>
        <p:spPr>
          <a:xfrm>
            <a:off x="762000" y="3667125"/>
            <a:ext cx="1619250" cy="47625"/>
          </a:xfrm>
          <a:prstGeom prst="rect">
            <a:avLst/>
          </a:prstGeom>
          <a:solidFill>
            <a:srgbClr val="FFFFFF"/>
          </a:solidFill>
          <a:ln w="0">
            <a:noFill/>
          </a:ln>
        </p:spPr>
        <p:txBody>
          <a:bodyPr/>
          <a:lstStyle/>
          <a:p>
            <a:endParaRPr/>
          </a:p>
        </p:txBody>
      </p:sp>
      <p:sp>
        <p:nvSpPr>
          <p:cNvPr id="4" name="Rectángulo 3">
            <a:extLst>
              <a:ext uri="{FF2B5EF4-FFF2-40B4-BE49-F238E27FC236}">
                <a16:creationId xmlns:a16="http://schemas.microsoft.com/office/drawing/2014/main" id="{5111D563-39E4-4ABB-8C7D-DFE2AAD4093F}"/>
              </a:ext>
            </a:extLst>
          </p:cNvPr>
          <p:cNvSpPr>
            <a:spLocks noGrp="1"/>
          </p:cNvSpPr>
          <p:nvPr/>
        </p:nvSpPr>
        <p:spPr>
          <a:xfrm>
            <a:off x="762000" y="4019550"/>
            <a:ext cx="4953000" cy="381000"/>
          </a:xfrm>
          <a:prstGeom prst="rect">
            <a:avLst/>
          </a:prstGeom>
          <a:noFill/>
          <a:ln w="0">
            <a:noFill/>
          </a:ln>
        </p:spPr>
        <p:txBody>
          <a:bodyPr wrap="square" lIns="0" tIns="0" rIns="0" bIns="0" anchor="t">
            <a:noAutofit/>
          </a:bodyPr>
          <a:lstStyle/>
          <a:p>
            <a:pPr algn="l">
              <a:lnSpc>
                <a:spcPct val="104000"/>
              </a:lnSpc>
              <a:buNone/>
              <a:defRPr sz="2100" b="1">
                <a:solidFill>
                  <a:srgbClr val="FFFFFF"/>
                </a:solidFill>
                <a:latin typeface="Arial"/>
                <a:ea typeface="Arial"/>
                <a:cs typeface="Arial"/>
              </a:defRPr>
            </a:pPr>
            <a:r>
              <a:rPr sz="2100" b="1">
                <a:solidFill>
                  <a:srgbClr val="FFFFFF"/>
                </a:solidFill>
                <a:latin typeface="Arial"/>
                <a:ea typeface="Arial"/>
                <a:cs typeface="Arial"/>
              </a:rPr>
              <a:t>Raul Hidalgo Caballero</a:t>
            </a:r>
          </a:p>
        </p:txBody>
      </p:sp>
      <p:sp>
        <p:nvSpPr>
          <p:cNvPr id="5" name="Rectángulo 4">
            <a:extLst>
              <a:ext uri="{FF2B5EF4-FFF2-40B4-BE49-F238E27FC236}">
                <a16:creationId xmlns:a16="http://schemas.microsoft.com/office/drawing/2014/main" id="{848DEB04-A3BD-4FAA-AA37-0B01C7B83495}"/>
              </a:ext>
            </a:extLst>
          </p:cNvPr>
          <p:cNvSpPr>
            <a:spLocks noGrp="1"/>
          </p:cNvSpPr>
          <p:nvPr/>
        </p:nvSpPr>
        <p:spPr>
          <a:xfrm>
            <a:off x="762000" y="4495800"/>
            <a:ext cx="5619750" cy="781050"/>
          </a:xfrm>
          <a:prstGeom prst="rect">
            <a:avLst/>
          </a:prstGeom>
          <a:noFill/>
          <a:ln w="0">
            <a:noFill/>
          </a:ln>
        </p:spPr>
        <p:txBody>
          <a:bodyPr wrap="square" lIns="0" tIns="0" rIns="0" bIns="0" anchor="t">
            <a:noAutofit/>
          </a:bodyPr>
          <a:lstStyle/>
          <a:p>
            <a:pPr algn="l">
              <a:lnSpc>
                <a:spcPct val="118000"/>
              </a:lnSpc>
              <a:buNone/>
              <a:defRPr sz="1725" b="0">
                <a:solidFill>
                  <a:srgbClr val="FFFFFF"/>
                </a:solidFill>
                <a:latin typeface="Arial"/>
                <a:ea typeface="Arial"/>
                <a:cs typeface="Arial"/>
              </a:defRPr>
            </a:pPr>
            <a:r>
              <a:rPr sz="1725" b="0">
                <a:solidFill>
                  <a:srgbClr val="FFFFFF"/>
                </a:solidFill>
                <a:latin typeface="Arial"/>
                <a:ea typeface="Arial"/>
                <a:cs typeface="Arial"/>
              </a:rPr>
              <a:t>Master in Computer Engineering</a:t>
            </a:r>
          </a:p>
          <a:p>
            <a:pPr algn="l">
              <a:lnSpc>
                <a:spcPct val="118000"/>
              </a:lnSpc>
              <a:buNone/>
              <a:defRPr sz="1725" b="0">
                <a:solidFill>
                  <a:srgbClr val="FFFFFF"/>
                </a:solidFill>
                <a:latin typeface="Arial"/>
                <a:ea typeface="Arial"/>
                <a:cs typeface="Arial"/>
              </a:defRPr>
            </a:pPr>
            <a:r>
              <a:rPr sz="1725" b="0">
                <a:solidFill>
                  <a:srgbClr val="FFFFFF"/>
                </a:solidFill>
                <a:latin typeface="Arial"/>
                <a:ea typeface="Arial"/>
                <a:cs typeface="Arial"/>
              </a:rPr>
              <a:t>Director: David Sarrat González</a:t>
            </a:r>
          </a:p>
        </p:txBody>
      </p:sp>
      <p:sp>
        <p:nvSpPr>
          <p:cNvPr id="6" name="Rectángulo 5">
            <a:extLst>
              <a:ext uri="{FF2B5EF4-FFF2-40B4-BE49-F238E27FC236}">
                <a16:creationId xmlns:a16="http://schemas.microsoft.com/office/drawing/2014/main" id="{24962708-0396-45C6-A701-6995AE03B1FB}"/>
              </a:ext>
            </a:extLst>
          </p:cNvPr>
          <p:cNvSpPr>
            <a:spLocks noGrp="1"/>
          </p:cNvSpPr>
          <p:nvPr/>
        </p:nvSpPr>
        <p:spPr>
          <a:xfrm>
            <a:off x="762000" y="6000750"/>
            <a:ext cx="5715000" cy="266700"/>
          </a:xfrm>
          <a:prstGeom prst="rect">
            <a:avLst/>
          </a:prstGeom>
          <a:noFill/>
          <a:ln w="0">
            <a:noFill/>
          </a:ln>
        </p:spPr>
        <p:txBody>
          <a:bodyPr wrap="square" lIns="0" tIns="0" rIns="0" bIns="0" anchor="t">
            <a:noAutofit/>
          </a:bodyPr>
          <a:lstStyle/>
          <a:p>
            <a:pPr algn="l">
              <a:lnSpc>
                <a:spcPct val="104000"/>
              </a:lnSpc>
              <a:buNone/>
              <a:defRPr sz="1425" b="0">
                <a:solidFill>
                  <a:srgbClr val="FFFFFF"/>
                </a:solidFill>
                <a:latin typeface="Arial"/>
                <a:ea typeface="Arial"/>
                <a:cs typeface="Arial"/>
              </a:defRPr>
            </a:pPr>
            <a:r>
              <a:rPr sz="1425" b="0">
                <a:solidFill>
                  <a:srgbClr val="FFFFFF"/>
                </a:solidFill>
                <a:latin typeface="Arial"/>
                <a:ea typeface="Arial"/>
                <a:cs typeface="Arial"/>
              </a:rPr>
              <a:t>University of Lleida, September 2026</a:t>
            </a:r>
          </a:p>
        </p:txBody>
      </p:sp>
    </p:spTree>
    <p:extLst>
      <p:ext uri="{BB962C8B-B14F-4D97-AF65-F5344CB8AC3E}">
        <p14:creationId xmlns:p14="http://schemas.microsoft.com/office/powerpoint/2010/main" val="5342745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A967CFAC-3748-4C5E-81EF-F794E5D0902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8E320026-1DD5-4213-873D-83F7B27C997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Research Question</a:t>
            </a:r>
          </a:p>
        </p:txBody>
      </p:sp>
      <p:sp>
        <p:nvSpPr>
          <p:cNvPr id="3" name="Rectángulo 2">
            <a:extLst>
              <a:ext uri="{FF2B5EF4-FFF2-40B4-BE49-F238E27FC236}">
                <a16:creationId xmlns:a16="http://schemas.microsoft.com/office/drawing/2014/main" id="{60250609-784C-4D33-98B8-962C725BEDD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B6D42AAF-4189-44D0-953B-45EB488C195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02</a:t>
            </a:r>
          </a:p>
        </p:txBody>
      </p:sp>
      <p:sp>
        <p:nvSpPr>
          <p:cNvPr id="5" name="Rectángulo 4">
            <a:extLst>
              <a:ext uri="{FF2B5EF4-FFF2-40B4-BE49-F238E27FC236}">
                <a16:creationId xmlns:a16="http://schemas.microsoft.com/office/drawing/2014/main" id="{BD7596CA-7DA9-4B4B-99D5-D69F0E402F42}"/>
              </a:ext>
            </a:extLst>
          </p:cNvPr>
          <p:cNvSpPr>
            <a:spLocks noGrp="1"/>
          </p:cNvSpPr>
          <p:nvPr/>
        </p:nvSpPr>
        <p:spPr>
          <a:xfrm>
            <a:off x="704850" y="1638300"/>
            <a:ext cx="10763250" cy="1285875"/>
          </a:xfrm>
          <a:prstGeom prst="rect">
            <a:avLst/>
          </a:prstGeom>
          <a:noFill/>
          <a:ln w="0">
            <a:noFill/>
          </a:ln>
        </p:spPr>
        <p:txBody>
          <a:bodyPr wrap="square" lIns="0" tIns="0" rIns="0" bIns="0" anchor="t">
            <a:noAutofit/>
          </a:bodyPr>
          <a:lstStyle/>
          <a:p>
            <a:pPr algn="l">
              <a:lnSpc>
                <a:spcPct val="103000"/>
              </a:lnSpc>
              <a:buNone/>
              <a:defRPr sz="2550" b="1">
                <a:solidFill>
                  <a:srgbClr val="171417"/>
                </a:solidFill>
                <a:latin typeface="Arial"/>
                <a:ea typeface="Arial"/>
                <a:cs typeface="Arial"/>
              </a:defRPr>
            </a:pPr>
            <a:r>
              <a:rPr sz="2550" b="1">
                <a:solidFill>
                  <a:srgbClr val="171417"/>
                </a:solidFill>
                <a:latin typeface="Arial"/>
                <a:ea typeface="Arial"/>
                <a:cs typeface="Arial"/>
              </a:rPr>
              <a:t>Can an RC car deliver live video to a remote browser with less than 400ms glass-to-glass latency?</a:t>
            </a:r>
          </a:p>
        </p:txBody>
      </p:sp>
      <p:sp>
        <p:nvSpPr>
          <p:cNvPr id="6" name="Rectángulo 5">
            <a:extLst>
              <a:ext uri="{FF2B5EF4-FFF2-40B4-BE49-F238E27FC236}">
                <a16:creationId xmlns:a16="http://schemas.microsoft.com/office/drawing/2014/main" id="{DB0E93C2-85CE-4599-B8E7-C13DE0B22960}"/>
              </a:ext>
            </a:extLst>
          </p:cNvPr>
          <p:cNvSpPr>
            <a:spLocks noGrp="1"/>
          </p:cNvSpPr>
          <p:nvPr/>
        </p:nvSpPr>
        <p:spPr>
          <a:xfrm>
            <a:off x="742950" y="3352800"/>
            <a:ext cx="3238500" cy="914400"/>
          </a:xfrm>
          <a:prstGeom prst="rect">
            <a:avLst/>
          </a:prstGeom>
          <a:noFill/>
          <a:ln w="0">
            <a:noFill/>
          </a:ln>
        </p:spPr>
        <p:txBody>
          <a:bodyPr wrap="square" lIns="0" tIns="0" rIns="0" bIns="0" anchor="t">
            <a:noAutofit/>
          </a:bodyPr>
          <a:lstStyle/>
          <a:p>
            <a:pPr algn="l">
              <a:lnSpc>
                <a:spcPct val="104000"/>
              </a:lnSpc>
              <a:buNone/>
              <a:defRPr sz="5850" b="1">
                <a:solidFill>
                  <a:srgbClr val="830051"/>
                </a:solidFill>
                <a:latin typeface="Arial"/>
                <a:ea typeface="Arial"/>
                <a:cs typeface="Arial"/>
              </a:defRPr>
            </a:pPr>
            <a:r>
              <a:rPr sz="5850" b="1">
                <a:solidFill>
                  <a:srgbClr val="830051"/>
                </a:solidFill>
                <a:latin typeface="Arial"/>
                <a:ea typeface="Arial"/>
                <a:cs typeface="Arial"/>
              </a:rPr>
              <a:t>&lt; 400 ms</a:t>
            </a:r>
          </a:p>
        </p:txBody>
      </p:sp>
      <p:sp>
        <p:nvSpPr>
          <p:cNvPr id="7" name="Rectángulo 6">
            <a:extLst>
              <a:ext uri="{FF2B5EF4-FFF2-40B4-BE49-F238E27FC236}">
                <a16:creationId xmlns:a16="http://schemas.microsoft.com/office/drawing/2014/main" id="{B506A4EB-5BE2-466F-91FF-860DB0645C4E}"/>
              </a:ext>
            </a:extLst>
          </p:cNvPr>
          <p:cNvSpPr>
            <a:spLocks noGrp="1"/>
          </p:cNvSpPr>
          <p:nvPr/>
        </p:nvSpPr>
        <p:spPr>
          <a:xfrm>
            <a:off x="781050" y="4248150"/>
            <a:ext cx="3143250" cy="266700"/>
          </a:xfrm>
          <a:prstGeom prst="rect">
            <a:avLst/>
          </a:prstGeom>
          <a:noFill/>
          <a:ln w="0">
            <a:noFill/>
          </a:ln>
        </p:spPr>
        <p:txBody>
          <a:bodyPr wrap="square" lIns="0" tIns="0" rIns="0" bIns="0" anchor="t">
            <a:noAutofit/>
          </a:bodyPr>
          <a:lstStyle/>
          <a:p>
            <a:pPr algn="l">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LATENCY TARGET</a:t>
            </a:r>
          </a:p>
        </p:txBody>
      </p:sp>
      <p:sp>
        <p:nvSpPr>
          <p:cNvPr id="8" name="Conector recto 7">
            <a:extLst>
              <a:ext uri="{FF2B5EF4-FFF2-40B4-BE49-F238E27FC236}">
                <a16:creationId xmlns:a16="http://schemas.microsoft.com/office/drawing/2014/main" id="{1FABD687-2F26-4BA9-ADC6-D115F3DD550C}"/>
              </a:ext>
            </a:extLst>
          </p:cNvPr>
          <p:cNvSpPr>
            <a:spLocks noGrp="1"/>
          </p:cNvSpPr>
          <p:nvPr/>
        </p:nvSpPr>
        <p:spPr>
          <a:xfrm>
            <a:off x="4400550" y="3276600"/>
            <a:ext cx="0" cy="2095500"/>
          </a:xfrm>
          <a:prstGeom prst="line">
            <a:avLst/>
          </a:prstGeom>
          <a:noFill/>
          <a:ln w="19050">
            <a:solidFill>
              <a:srgbClr val="E7E3E5"/>
            </a:solidFill>
            <a:prstDash val="solid"/>
          </a:ln>
        </p:spPr>
        <p:txBody>
          <a:bodyPr/>
          <a:lstStyle/>
          <a:p>
            <a:endParaRPr/>
          </a:p>
        </p:txBody>
      </p:sp>
      <p:sp>
        <p:nvSpPr>
          <p:cNvPr id="9" name="Rectángulo 8">
            <a:extLst>
              <a:ext uri="{FF2B5EF4-FFF2-40B4-BE49-F238E27FC236}">
                <a16:creationId xmlns:a16="http://schemas.microsoft.com/office/drawing/2014/main" id="{FDED4708-9C33-4E35-A29F-2EA0D52E81B3}"/>
              </a:ext>
            </a:extLst>
          </p:cNvPr>
          <p:cNvSpPr>
            <a:spLocks noGrp="1"/>
          </p:cNvSpPr>
          <p:nvPr/>
        </p:nvSpPr>
        <p:spPr>
          <a:xfrm>
            <a:off x="4953000" y="3381375"/>
            <a:ext cx="1571625" cy="666750"/>
          </a:xfrm>
          <a:prstGeom prst="rect">
            <a:avLst/>
          </a:prstGeom>
          <a:noFill/>
          <a:ln w="0">
            <a:noFill/>
          </a:ln>
        </p:spPr>
        <p:txBody>
          <a:bodyPr wrap="square" lIns="0" tIns="0" rIns="0" bIns="0" anchor="t">
            <a:noAutofit/>
          </a:bodyPr>
          <a:lstStyle/>
          <a:p>
            <a:pPr algn="l">
              <a:lnSpc>
                <a:spcPct val="104000"/>
              </a:lnSpc>
              <a:buNone/>
              <a:defRPr sz="4125" b="1">
                <a:solidFill>
                  <a:srgbClr val="830051"/>
                </a:solidFill>
                <a:latin typeface="Arial"/>
                <a:ea typeface="Arial"/>
                <a:cs typeface="Arial"/>
              </a:defRPr>
            </a:pPr>
            <a:r>
              <a:rPr sz="4125" b="1">
                <a:solidFill>
                  <a:srgbClr val="830051"/>
                </a:solidFill>
                <a:latin typeface="Arial"/>
                <a:ea typeface="Arial"/>
                <a:cs typeface="Arial"/>
              </a:rPr>
              <a:t>5G</a:t>
            </a:r>
          </a:p>
        </p:txBody>
      </p:sp>
      <p:sp>
        <p:nvSpPr>
          <p:cNvPr id="10" name="Rectángulo 9">
            <a:extLst>
              <a:ext uri="{FF2B5EF4-FFF2-40B4-BE49-F238E27FC236}">
                <a16:creationId xmlns:a16="http://schemas.microsoft.com/office/drawing/2014/main" id="{1226FE50-325E-4A73-BD99-4EF91BC251D5}"/>
              </a:ext>
            </a:extLst>
          </p:cNvPr>
          <p:cNvSpPr>
            <a:spLocks noGrp="1"/>
          </p:cNvSpPr>
          <p:nvPr/>
        </p:nvSpPr>
        <p:spPr>
          <a:xfrm>
            <a:off x="4953000" y="4095750"/>
            <a:ext cx="2571750" cy="57150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Intended deployment context</a:t>
            </a:r>
          </a:p>
        </p:txBody>
      </p:sp>
      <p:sp>
        <p:nvSpPr>
          <p:cNvPr id="11" name="Rectángulo 10">
            <a:extLst>
              <a:ext uri="{FF2B5EF4-FFF2-40B4-BE49-F238E27FC236}">
                <a16:creationId xmlns:a16="http://schemas.microsoft.com/office/drawing/2014/main" id="{65D5B5A6-D81D-4E96-9E89-F856A87246A4}"/>
              </a:ext>
            </a:extLst>
          </p:cNvPr>
          <p:cNvSpPr>
            <a:spLocks noGrp="1"/>
          </p:cNvSpPr>
          <p:nvPr/>
        </p:nvSpPr>
        <p:spPr>
          <a:xfrm>
            <a:off x="8134350" y="3381375"/>
            <a:ext cx="1571625" cy="666750"/>
          </a:xfrm>
          <a:prstGeom prst="rect">
            <a:avLst/>
          </a:prstGeom>
          <a:noFill/>
          <a:ln w="0">
            <a:noFill/>
          </a:ln>
        </p:spPr>
        <p:txBody>
          <a:bodyPr wrap="square" lIns="0" tIns="0" rIns="0" bIns="0" anchor="t">
            <a:noAutofit/>
          </a:bodyPr>
          <a:lstStyle/>
          <a:p>
            <a:pPr algn="l">
              <a:lnSpc>
                <a:spcPct val="104000"/>
              </a:lnSpc>
              <a:buNone/>
              <a:defRPr sz="4125" b="1">
                <a:solidFill>
                  <a:srgbClr val="6F686D"/>
                </a:solidFill>
                <a:latin typeface="Arial"/>
                <a:ea typeface="Arial"/>
                <a:cs typeface="Arial"/>
              </a:defRPr>
            </a:pPr>
            <a:r>
              <a:rPr sz="4125" b="1">
                <a:solidFill>
                  <a:srgbClr val="6F686D"/>
                </a:solidFill>
                <a:latin typeface="Arial"/>
                <a:ea typeface="Arial"/>
                <a:cs typeface="Arial"/>
              </a:rPr>
              <a:t>4G</a:t>
            </a:r>
          </a:p>
        </p:txBody>
      </p:sp>
      <p:sp>
        <p:nvSpPr>
          <p:cNvPr id="12" name="Rectángulo 11">
            <a:extLst>
              <a:ext uri="{FF2B5EF4-FFF2-40B4-BE49-F238E27FC236}">
                <a16:creationId xmlns:a16="http://schemas.microsoft.com/office/drawing/2014/main" id="{3F0F12FB-2E11-4BF0-83C5-DAF41AB69C06}"/>
              </a:ext>
            </a:extLst>
          </p:cNvPr>
          <p:cNvSpPr>
            <a:spLocks noGrp="1"/>
          </p:cNvSpPr>
          <p:nvPr/>
        </p:nvSpPr>
        <p:spPr>
          <a:xfrm>
            <a:off x="8134350" y="4095750"/>
            <a:ext cx="2952750" cy="66675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Prototype validation actually performed</a:t>
            </a:r>
          </a:p>
        </p:txBody>
      </p:sp>
      <p:sp>
        <p:nvSpPr>
          <p:cNvPr id="13" name="Rectángulo: esquinas redondeadas 12">
            <a:extLst>
              <a:ext uri="{FF2B5EF4-FFF2-40B4-BE49-F238E27FC236}">
                <a16:creationId xmlns:a16="http://schemas.microsoft.com/office/drawing/2014/main" id="{8B71EA44-2047-420D-9365-CAC58B0008C3}"/>
              </a:ext>
            </a:extLst>
          </p:cNvPr>
          <p:cNvSpPr>
            <a:spLocks noGrp="1"/>
          </p:cNvSpPr>
          <p:nvPr/>
        </p:nvSpPr>
        <p:spPr>
          <a:xfrm>
            <a:off x="4953000" y="4952999"/>
            <a:ext cx="6134100" cy="714375"/>
          </a:xfrm>
          <a:prstGeom prst="roundRect">
            <a:avLst>
              <a:gd name="adj" fmla="val 17241"/>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F7DE5AAF-847D-4AB9-BB90-A3A200CDA510}"/>
              </a:ext>
            </a:extLst>
          </p:cNvPr>
          <p:cNvSpPr>
            <a:spLocks noGrp="1"/>
          </p:cNvSpPr>
          <p:nvPr/>
        </p:nvSpPr>
        <p:spPr>
          <a:xfrm>
            <a:off x="5162550" y="5086350"/>
            <a:ext cx="5810250" cy="285750"/>
          </a:xfrm>
          <a:prstGeom prst="rect">
            <a:avLst/>
          </a:prstGeom>
          <a:noFill/>
          <a:ln w="0">
            <a:noFill/>
          </a:ln>
        </p:spPr>
        <p:txBody>
          <a:bodyPr wrap="square" lIns="0" tIns="0" rIns="0" bIns="0" anchor="t">
            <a:noAutofit/>
          </a:bodyPr>
          <a:lstStyle/>
          <a:p>
            <a:pPr algn="l">
              <a:lnSpc>
                <a:spcPct val="104000"/>
              </a:lnSpc>
              <a:buNone/>
              <a:defRPr sz="1650" b="1">
                <a:solidFill>
                  <a:srgbClr val="510034"/>
                </a:solidFill>
                <a:latin typeface="Arial"/>
                <a:ea typeface="Arial"/>
                <a:cs typeface="Arial"/>
              </a:defRPr>
            </a:pPr>
            <a:r>
              <a:rPr sz="1650" b="1">
                <a:solidFill>
                  <a:srgbClr val="510034"/>
                </a:solidFill>
                <a:latin typeface="Arial"/>
                <a:ea typeface="Arial"/>
                <a:cs typeface="Arial"/>
              </a:rPr>
              <a:t>The presentation keeps the target and the evidence separate.</a:t>
            </a:r>
          </a:p>
        </p:txBody>
      </p:sp>
    </p:spTree>
    <p:extLst>
      <p:ext uri="{BB962C8B-B14F-4D97-AF65-F5344CB8AC3E}">
        <p14:creationId xmlns:p14="http://schemas.microsoft.com/office/powerpoint/2010/main" val="4147757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4" name="Rectángulo 13">
            <a:extLst>
              <a:ext uri="{FF2B5EF4-FFF2-40B4-BE49-F238E27FC236}">
                <a16:creationId xmlns:a16="http://schemas.microsoft.com/office/drawing/2014/main" id="{FB649AAD-E651-4E73-BDD5-7B7B764B784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97A32840-3461-4C44-8108-726D7414FF1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Project Scope</a:t>
            </a:r>
          </a:p>
        </p:txBody>
      </p:sp>
      <p:sp>
        <p:nvSpPr>
          <p:cNvPr id="3" name="Rectángulo 2">
            <a:extLst>
              <a:ext uri="{FF2B5EF4-FFF2-40B4-BE49-F238E27FC236}">
                <a16:creationId xmlns:a16="http://schemas.microsoft.com/office/drawing/2014/main" id="{E6161FF3-70B0-481F-8F1F-A64F0FD0FBC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A132085F-5903-4C75-998C-43273A609C8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03</a:t>
            </a:r>
          </a:p>
        </p:txBody>
      </p:sp>
      <p:sp>
        <p:nvSpPr>
          <p:cNvPr id="5" name="Rectángulo: esquinas redondeadas 4">
            <a:extLst>
              <a:ext uri="{FF2B5EF4-FFF2-40B4-BE49-F238E27FC236}">
                <a16:creationId xmlns:a16="http://schemas.microsoft.com/office/drawing/2014/main" id="{FC0A6230-CFB7-488B-9A58-EAB887426101}"/>
              </a:ext>
            </a:extLst>
          </p:cNvPr>
          <p:cNvSpPr>
            <a:spLocks noGrp="1"/>
          </p:cNvSpPr>
          <p:nvPr/>
        </p:nvSpPr>
        <p:spPr>
          <a:xfrm>
            <a:off x="685800" y="1619250"/>
            <a:ext cx="10820400" cy="1905000"/>
          </a:xfrm>
          <a:prstGeom prst="roundRect">
            <a:avLst>
              <a:gd name="adj" fmla="val 8000"/>
            </a:avLst>
          </a:prstGeom>
          <a:solidFill>
            <a:srgbClr val="F5EDF2"/>
          </a:solidFill>
          <a:ln w="9525">
            <a:solidFill>
              <a:srgbClr val="EAD8E3"/>
            </a:solidFill>
            <a:prstDash val="solid"/>
          </a:ln>
        </p:spPr>
        <p:txBody>
          <a:bodyPr/>
          <a:lstStyle/>
          <a:p>
            <a:endParaRPr/>
          </a:p>
        </p:txBody>
      </p:sp>
      <p:sp>
        <p:nvSpPr>
          <p:cNvPr id="6" name="Rectángulo 5">
            <a:extLst>
              <a:ext uri="{FF2B5EF4-FFF2-40B4-BE49-F238E27FC236}">
                <a16:creationId xmlns:a16="http://schemas.microsoft.com/office/drawing/2014/main" id="{389C2DD8-2AEA-4B96-8894-5AF97FFBA621}"/>
              </a:ext>
            </a:extLst>
          </p:cNvPr>
          <p:cNvSpPr>
            <a:spLocks noGrp="1"/>
          </p:cNvSpPr>
          <p:nvPr/>
        </p:nvSpPr>
        <p:spPr>
          <a:xfrm>
            <a:off x="933450" y="1676400"/>
            <a:ext cx="514350" cy="666750"/>
          </a:xfrm>
          <a:prstGeom prst="rect">
            <a:avLst/>
          </a:prstGeom>
          <a:noFill/>
          <a:ln w="0">
            <a:noFill/>
          </a:ln>
        </p:spPr>
        <p:txBody>
          <a:bodyPr wrap="square" lIns="0" tIns="0" rIns="0" bIns="0" anchor="t">
            <a:noAutofit/>
          </a:bodyPr>
          <a:lstStyle/>
          <a:p>
            <a:pPr algn="l">
              <a:lnSpc>
                <a:spcPct val="104000"/>
              </a:lnSpc>
              <a:buNone/>
              <a:defRPr sz="5250" b="1">
                <a:solidFill>
                  <a:srgbClr val="830051"/>
                </a:solidFill>
                <a:latin typeface="Arial"/>
                <a:ea typeface="Arial"/>
                <a:cs typeface="Arial"/>
              </a:defRPr>
            </a:pPr>
            <a:r>
              <a:rPr sz="5250" b="1">
                <a:solidFill>
                  <a:srgbClr val="830051"/>
                </a:solidFill>
                <a:latin typeface="Arial"/>
                <a:ea typeface="Arial"/>
                <a:cs typeface="Arial"/>
              </a:rPr>
              <a:t>“</a:t>
            </a:r>
          </a:p>
        </p:txBody>
      </p:sp>
      <p:sp>
        <p:nvSpPr>
          <p:cNvPr id="7" name="Rectángulo 6">
            <a:extLst>
              <a:ext uri="{FF2B5EF4-FFF2-40B4-BE49-F238E27FC236}">
                <a16:creationId xmlns:a16="http://schemas.microsoft.com/office/drawing/2014/main" id="{D8B8D0BE-016D-485A-9AB5-F7219A055CFB}"/>
              </a:ext>
            </a:extLst>
          </p:cNvPr>
          <p:cNvSpPr>
            <a:spLocks noGrp="1"/>
          </p:cNvSpPr>
          <p:nvPr/>
        </p:nvSpPr>
        <p:spPr>
          <a:xfrm>
            <a:off x="1466850" y="1924050"/>
            <a:ext cx="9525000" cy="1257300"/>
          </a:xfrm>
          <a:prstGeom prst="rect">
            <a:avLst/>
          </a:prstGeom>
          <a:noFill/>
          <a:ln w="0">
            <a:noFill/>
          </a:ln>
        </p:spPr>
        <p:txBody>
          <a:bodyPr wrap="square" lIns="0" tIns="0" rIns="0" bIns="0" anchor="t">
            <a:noAutofit/>
          </a:bodyPr>
          <a:lstStyle/>
          <a:p>
            <a:pPr algn="l">
              <a:lnSpc>
                <a:spcPct val="108000"/>
              </a:lnSpc>
              <a:buNone/>
              <a:defRPr sz="2175" b="1">
                <a:solidFill>
                  <a:srgbClr val="171417"/>
                </a:solidFill>
                <a:latin typeface="Arial"/>
                <a:ea typeface="Arial"/>
                <a:cs typeface="Arial"/>
              </a:defRPr>
            </a:pPr>
            <a:r>
              <a:rPr sz="2175" b="1">
                <a:solidFill>
                  <a:srgbClr val="171417"/>
                </a:solidFill>
                <a:latin typeface="Arial"/>
                <a:ea typeface="Arial"/>
                <a:cs typeface="Arial"/>
              </a:rPr>
              <a:t>The project scope is to establish a low-latency video connection between an RC car and a remote web browser, targeting a glass-to-glass latency below 400 ms. Data transport and vehicle control are not included.</a:t>
            </a:r>
          </a:p>
        </p:txBody>
      </p:sp>
      <p:sp>
        <p:nvSpPr>
          <p:cNvPr id="8" name="Rectángulo: esquinas redondeadas 7">
            <a:extLst>
              <a:ext uri="{FF2B5EF4-FFF2-40B4-BE49-F238E27FC236}">
                <a16:creationId xmlns:a16="http://schemas.microsoft.com/office/drawing/2014/main" id="{460590FA-78CC-41D7-AABE-518EE2C842A3}"/>
              </a:ext>
            </a:extLst>
          </p:cNvPr>
          <p:cNvSpPr>
            <a:spLocks noGrp="1"/>
          </p:cNvSpPr>
          <p:nvPr/>
        </p:nvSpPr>
        <p:spPr>
          <a:xfrm>
            <a:off x="685800" y="4000500"/>
            <a:ext cx="5257800" cy="1504950"/>
          </a:xfrm>
          <a:prstGeom prst="roundRect">
            <a:avLst>
              <a:gd name="adj" fmla="val 8861"/>
            </a:avLst>
          </a:prstGeom>
          <a:solidFill>
            <a:srgbClr val="830051"/>
          </a:solidFill>
          <a:ln w="0">
            <a:noFill/>
          </a:ln>
        </p:spPr>
        <p:txBody>
          <a:bodyPr/>
          <a:lstStyle/>
          <a:p>
            <a:endParaRPr/>
          </a:p>
        </p:txBody>
      </p:sp>
      <p:sp>
        <p:nvSpPr>
          <p:cNvPr id="9" name="Rectángulo 8">
            <a:extLst>
              <a:ext uri="{FF2B5EF4-FFF2-40B4-BE49-F238E27FC236}">
                <a16:creationId xmlns:a16="http://schemas.microsoft.com/office/drawing/2014/main" id="{FD31A760-5ECD-4B88-ABDE-FF33D6E251F3}"/>
              </a:ext>
            </a:extLst>
          </p:cNvPr>
          <p:cNvSpPr>
            <a:spLocks noGrp="1"/>
          </p:cNvSpPr>
          <p:nvPr/>
        </p:nvSpPr>
        <p:spPr>
          <a:xfrm>
            <a:off x="952500" y="4276725"/>
            <a:ext cx="4762500" cy="342900"/>
          </a:xfrm>
          <a:prstGeom prst="rect">
            <a:avLst/>
          </a:prstGeom>
          <a:noFill/>
          <a:ln w="0">
            <a:noFill/>
          </a:ln>
        </p:spPr>
        <p:txBody>
          <a:bodyPr wrap="square" lIns="0" tIns="0" rIns="0" bIns="0" anchor="t">
            <a:noAutofit/>
          </a:bodyPr>
          <a:lstStyle/>
          <a:p>
            <a:pPr algn="ctr">
              <a:lnSpc>
                <a:spcPct val="104000"/>
              </a:lnSpc>
              <a:buNone/>
              <a:defRPr sz="2325" b="1">
                <a:solidFill>
                  <a:srgbClr val="FFFFFF"/>
                </a:solidFill>
                <a:latin typeface="Arial"/>
                <a:ea typeface="Arial"/>
                <a:cs typeface="Arial"/>
              </a:defRPr>
            </a:pPr>
            <a:r>
              <a:rPr sz="2325" b="1">
                <a:solidFill>
                  <a:srgbClr val="FFFFFF"/>
                </a:solidFill>
                <a:latin typeface="Arial"/>
                <a:ea typeface="Arial"/>
                <a:cs typeface="Arial"/>
              </a:rPr>
              <a:t>VIDEO INCLUDED</a:t>
            </a:r>
          </a:p>
        </p:txBody>
      </p:sp>
      <p:sp>
        <p:nvSpPr>
          <p:cNvPr id="10" name="Rectángulo 9">
            <a:extLst>
              <a:ext uri="{FF2B5EF4-FFF2-40B4-BE49-F238E27FC236}">
                <a16:creationId xmlns:a16="http://schemas.microsoft.com/office/drawing/2014/main" id="{41672A1C-4CFA-4D44-A0C0-C26FE0D68CA5}"/>
              </a:ext>
            </a:extLst>
          </p:cNvPr>
          <p:cNvSpPr>
            <a:spLocks noGrp="1"/>
          </p:cNvSpPr>
          <p:nvPr/>
        </p:nvSpPr>
        <p:spPr>
          <a:xfrm>
            <a:off x="1066800" y="4800600"/>
            <a:ext cx="4533900" cy="457200"/>
          </a:xfrm>
          <a:prstGeom prst="rect">
            <a:avLst/>
          </a:prstGeom>
          <a:noFill/>
          <a:ln w="0">
            <a:noFill/>
          </a:ln>
        </p:spPr>
        <p:txBody>
          <a:bodyPr wrap="square" lIns="0" tIns="0" rIns="0" bIns="0" anchor="t">
            <a:noAutofit/>
          </a:bodyPr>
          <a:lstStyle/>
          <a:p>
            <a:pPr algn="ctr">
              <a:lnSpc>
                <a:spcPct val="104000"/>
              </a:lnSpc>
              <a:buNone/>
              <a:defRPr sz="1650" b="0">
                <a:solidFill>
                  <a:srgbClr val="FFFFFF"/>
                </a:solidFill>
                <a:latin typeface="Arial"/>
                <a:ea typeface="Arial"/>
                <a:cs typeface="Arial"/>
              </a:defRPr>
            </a:pPr>
            <a:r>
              <a:rPr sz="1650" b="0">
                <a:solidFill>
                  <a:srgbClr val="FFFFFF"/>
                </a:solidFill>
                <a:latin typeface="Arial"/>
                <a:ea typeface="Arial"/>
                <a:cs typeface="Arial"/>
              </a:rPr>
              <a:t>Capture, encode, negotiate, transport, play</a:t>
            </a:r>
          </a:p>
        </p:txBody>
      </p:sp>
      <p:sp>
        <p:nvSpPr>
          <p:cNvPr id="11" name="Rectángulo: esquinas redondeadas 10">
            <a:extLst>
              <a:ext uri="{FF2B5EF4-FFF2-40B4-BE49-F238E27FC236}">
                <a16:creationId xmlns:a16="http://schemas.microsoft.com/office/drawing/2014/main" id="{9EAC06DE-0996-4E81-9B95-518CF2739960}"/>
              </a:ext>
            </a:extLst>
          </p:cNvPr>
          <p:cNvSpPr>
            <a:spLocks noGrp="1"/>
          </p:cNvSpPr>
          <p:nvPr/>
        </p:nvSpPr>
        <p:spPr>
          <a:xfrm>
            <a:off x="6248400" y="4000500"/>
            <a:ext cx="5257800" cy="1504950"/>
          </a:xfrm>
          <a:prstGeom prst="roundRect">
            <a:avLst>
              <a:gd name="adj" fmla="val 8861"/>
            </a:avLst>
          </a:prstGeom>
          <a:solidFill>
            <a:srgbClr val="E7E3E5"/>
          </a:solidFill>
          <a:ln w="0">
            <a:noFill/>
          </a:ln>
        </p:spPr>
        <p:txBody>
          <a:bodyPr/>
          <a:lstStyle/>
          <a:p>
            <a:endParaRPr/>
          </a:p>
        </p:txBody>
      </p:sp>
      <p:sp>
        <p:nvSpPr>
          <p:cNvPr id="12" name="Rectángulo 11">
            <a:extLst>
              <a:ext uri="{FF2B5EF4-FFF2-40B4-BE49-F238E27FC236}">
                <a16:creationId xmlns:a16="http://schemas.microsoft.com/office/drawing/2014/main" id="{033BFCD7-C24E-4DA2-BF32-D56FC91305BE}"/>
              </a:ext>
            </a:extLst>
          </p:cNvPr>
          <p:cNvSpPr>
            <a:spLocks noGrp="1"/>
          </p:cNvSpPr>
          <p:nvPr/>
        </p:nvSpPr>
        <p:spPr>
          <a:xfrm>
            <a:off x="6515100" y="4276725"/>
            <a:ext cx="4762500" cy="342900"/>
          </a:xfrm>
          <a:prstGeom prst="rect">
            <a:avLst/>
          </a:prstGeom>
          <a:noFill/>
          <a:ln w="0">
            <a:noFill/>
          </a:ln>
        </p:spPr>
        <p:txBody>
          <a:bodyPr wrap="square" lIns="0" tIns="0" rIns="0" bIns="0" anchor="t">
            <a:noAutofit/>
          </a:bodyPr>
          <a:lstStyle/>
          <a:p>
            <a:pPr algn="ctr">
              <a:lnSpc>
                <a:spcPct val="104000"/>
              </a:lnSpc>
              <a:buNone/>
              <a:defRPr sz="2325" b="1">
                <a:solidFill>
                  <a:srgbClr val="6F686D"/>
                </a:solidFill>
                <a:latin typeface="Arial"/>
                <a:ea typeface="Arial"/>
                <a:cs typeface="Arial"/>
              </a:defRPr>
            </a:pPr>
            <a:r>
              <a:rPr sz="2325" b="1">
                <a:solidFill>
                  <a:srgbClr val="6F686D"/>
                </a:solidFill>
                <a:latin typeface="Arial"/>
                <a:ea typeface="Arial"/>
                <a:cs typeface="Arial"/>
              </a:rPr>
              <a:t>DATA / CONTROL EXCLUDED</a:t>
            </a:r>
          </a:p>
        </p:txBody>
      </p:sp>
      <p:sp>
        <p:nvSpPr>
          <p:cNvPr id="13" name="Rectángulo 12">
            <a:extLst>
              <a:ext uri="{FF2B5EF4-FFF2-40B4-BE49-F238E27FC236}">
                <a16:creationId xmlns:a16="http://schemas.microsoft.com/office/drawing/2014/main" id="{8B3D8A7D-13B8-4232-AB9A-AF0443F9A369}"/>
              </a:ext>
            </a:extLst>
          </p:cNvPr>
          <p:cNvSpPr>
            <a:spLocks noGrp="1"/>
          </p:cNvSpPr>
          <p:nvPr/>
        </p:nvSpPr>
        <p:spPr>
          <a:xfrm>
            <a:off x="6629400" y="4800600"/>
            <a:ext cx="4533900" cy="457200"/>
          </a:xfrm>
          <a:prstGeom prst="rect">
            <a:avLst/>
          </a:prstGeom>
          <a:noFill/>
          <a:ln w="0">
            <a:noFill/>
          </a:ln>
        </p:spPr>
        <p:txBody>
          <a:bodyPr wrap="square" lIns="0" tIns="0" rIns="0" bIns="0" anchor="t">
            <a:noAutofit/>
          </a:bodyPr>
          <a:lstStyle/>
          <a:p>
            <a:pPr algn="ctr">
              <a:lnSpc>
                <a:spcPct val="104000"/>
              </a:lnSpc>
              <a:buNone/>
              <a:defRPr sz="1650" b="0">
                <a:solidFill>
                  <a:srgbClr val="171417"/>
                </a:solidFill>
                <a:latin typeface="Arial"/>
                <a:ea typeface="Arial"/>
                <a:cs typeface="Arial"/>
              </a:defRPr>
            </a:pPr>
            <a:r>
              <a:rPr sz="1650" b="0">
                <a:solidFill>
                  <a:srgbClr val="171417"/>
                </a:solidFill>
                <a:latin typeface="Arial"/>
                <a:ea typeface="Arial"/>
                <a:cs typeface="Arial"/>
              </a:rPr>
              <a:t>No command loop, actuation, or safety controller</a:t>
            </a:r>
          </a:p>
        </p:txBody>
      </p:sp>
    </p:spTree>
    <p:extLst>
      <p:ext uri="{BB962C8B-B14F-4D97-AF65-F5344CB8AC3E}">
        <p14:creationId xmlns:p14="http://schemas.microsoft.com/office/powerpoint/2010/main" val="905707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5" name="Rectángulo 24">
            <a:extLst>
              <a:ext uri="{FF2B5EF4-FFF2-40B4-BE49-F238E27FC236}">
                <a16:creationId xmlns:a16="http://schemas.microsoft.com/office/drawing/2014/main" id="{27BFAC66-E8CE-44A2-9666-26913D270E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7D4667DB-23FF-481B-834B-CF665EA246E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Presentation Roadmap</a:t>
            </a:r>
          </a:p>
        </p:txBody>
      </p:sp>
      <p:sp>
        <p:nvSpPr>
          <p:cNvPr id="3" name="Rectángulo 2">
            <a:extLst>
              <a:ext uri="{FF2B5EF4-FFF2-40B4-BE49-F238E27FC236}">
                <a16:creationId xmlns:a16="http://schemas.microsoft.com/office/drawing/2014/main" id="{6A6422EB-687B-4528-BB05-4FFAE7DCD1C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1A0F9CC-C9E6-4BD5-B35A-5E4FF3E18ABE}"/>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04</a:t>
            </a:r>
          </a:p>
        </p:txBody>
      </p:sp>
      <p:sp>
        <p:nvSpPr>
          <p:cNvPr id="5" name="Rectángulo 4">
            <a:extLst>
              <a:ext uri="{FF2B5EF4-FFF2-40B4-BE49-F238E27FC236}">
                <a16:creationId xmlns:a16="http://schemas.microsoft.com/office/drawing/2014/main" id="{0E7F3641-89F9-4E16-B076-F410729B50EC}"/>
              </a:ext>
            </a:extLst>
          </p:cNvPr>
          <p:cNvSpPr>
            <a:spLocks noGrp="1"/>
          </p:cNvSpPr>
          <p:nvPr/>
        </p:nvSpPr>
        <p:spPr>
          <a:xfrm>
            <a:off x="819150" y="16192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01</a:t>
            </a:r>
          </a:p>
        </p:txBody>
      </p:sp>
      <p:sp>
        <p:nvSpPr>
          <p:cNvPr id="6" name="Rectángulo 5">
            <a:extLst>
              <a:ext uri="{FF2B5EF4-FFF2-40B4-BE49-F238E27FC236}">
                <a16:creationId xmlns:a16="http://schemas.microsoft.com/office/drawing/2014/main" id="{C8A6AC05-476B-4D77-AE4E-2ABBCCA14AF4}"/>
              </a:ext>
            </a:extLst>
          </p:cNvPr>
          <p:cNvSpPr>
            <a:spLocks noGrp="1"/>
          </p:cNvSpPr>
          <p:nvPr/>
        </p:nvSpPr>
        <p:spPr>
          <a:xfrm>
            <a:off x="1809750" y="16192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Theory</a:t>
            </a:r>
          </a:p>
        </p:txBody>
      </p:sp>
      <p:sp>
        <p:nvSpPr>
          <p:cNvPr id="7" name="Rectángulo 6">
            <a:extLst>
              <a:ext uri="{FF2B5EF4-FFF2-40B4-BE49-F238E27FC236}">
                <a16:creationId xmlns:a16="http://schemas.microsoft.com/office/drawing/2014/main" id="{51AA48F4-457A-4082-ABE5-EFB2FE2D63AA}"/>
              </a:ext>
            </a:extLst>
          </p:cNvPr>
          <p:cNvSpPr>
            <a:spLocks noGrp="1"/>
          </p:cNvSpPr>
          <p:nvPr/>
        </p:nvSpPr>
        <p:spPr>
          <a:xfrm>
            <a:off x="9620250" y="16192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9 min</a:t>
            </a:r>
          </a:p>
        </p:txBody>
      </p:sp>
      <p:sp>
        <p:nvSpPr>
          <p:cNvPr id="8" name="Conector recto 7">
            <a:extLst>
              <a:ext uri="{FF2B5EF4-FFF2-40B4-BE49-F238E27FC236}">
                <a16:creationId xmlns:a16="http://schemas.microsoft.com/office/drawing/2014/main" id="{8B320632-4BB3-47C0-9023-059846EECD9B}"/>
              </a:ext>
            </a:extLst>
          </p:cNvPr>
          <p:cNvSpPr>
            <a:spLocks noGrp="1"/>
          </p:cNvSpPr>
          <p:nvPr/>
        </p:nvSpPr>
        <p:spPr>
          <a:xfrm>
            <a:off x="1809750" y="2266950"/>
            <a:ext cx="9334500" cy="0"/>
          </a:xfrm>
          <a:prstGeom prst="line">
            <a:avLst/>
          </a:prstGeom>
          <a:noFill/>
          <a:ln w="9525">
            <a:solidFill>
              <a:srgbClr val="E7E3E5"/>
            </a:solidFill>
            <a:prstDash val="solid"/>
          </a:ln>
        </p:spPr>
        <p:txBody>
          <a:bodyPr/>
          <a:lstStyle/>
          <a:p>
            <a:endParaRPr/>
          </a:p>
        </p:txBody>
      </p:sp>
      <p:sp>
        <p:nvSpPr>
          <p:cNvPr id="9" name="Rectángulo 8">
            <a:extLst>
              <a:ext uri="{FF2B5EF4-FFF2-40B4-BE49-F238E27FC236}">
                <a16:creationId xmlns:a16="http://schemas.microsoft.com/office/drawing/2014/main" id="{3ED84672-ECEE-4CAE-8589-EA583D66F8E0}"/>
              </a:ext>
            </a:extLst>
          </p:cNvPr>
          <p:cNvSpPr>
            <a:spLocks noGrp="1"/>
          </p:cNvSpPr>
          <p:nvPr/>
        </p:nvSpPr>
        <p:spPr>
          <a:xfrm>
            <a:off x="819150" y="24574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02</a:t>
            </a:r>
          </a:p>
        </p:txBody>
      </p:sp>
      <p:sp>
        <p:nvSpPr>
          <p:cNvPr id="10" name="Rectángulo 9">
            <a:extLst>
              <a:ext uri="{FF2B5EF4-FFF2-40B4-BE49-F238E27FC236}">
                <a16:creationId xmlns:a16="http://schemas.microsoft.com/office/drawing/2014/main" id="{E1491D71-4DFC-4E2F-B88D-692E0536634A}"/>
              </a:ext>
            </a:extLst>
          </p:cNvPr>
          <p:cNvSpPr>
            <a:spLocks noGrp="1"/>
          </p:cNvSpPr>
          <p:nvPr/>
        </p:nvSpPr>
        <p:spPr>
          <a:xfrm>
            <a:off x="1809750" y="24574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Issues and Iterations</a:t>
            </a:r>
          </a:p>
        </p:txBody>
      </p:sp>
      <p:sp>
        <p:nvSpPr>
          <p:cNvPr id="11" name="Rectángulo 10">
            <a:extLst>
              <a:ext uri="{FF2B5EF4-FFF2-40B4-BE49-F238E27FC236}">
                <a16:creationId xmlns:a16="http://schemas.microsoft.com/office/drawing/2014/main" id="{E98B3011-AB9F-4609-AE08-E3EB43AC8522}"/>
              </a:ext>
            </a:extLst>
          </p:cNvPr>
          <p:cNvSpPr>
            <a:spLocks noGrp="1"/>
          </p:cNvSpPr>
          <p:nvPr/>
        </p:nvSpPr>
        <p:spPr>
          <a:xfrm>
            <a:off x="9620250" y="24574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10 min</a:t>
            </a:r>
          </a:p>
        </p:txBody>
      </p:sp>
      <p:sp>
        <p:nvSpPr>
          <p:cNvPr id="12" name="Conector recto 11">
            <a:extLst>
              <a:ext uri="{FF2B5EF4-FFF2-40B4-BE49-F238E27FC236}">
                <a16:creationId xmlns:a16="http://schemas.microsoft.com/office/drawing/2014/main" id="{5D926995-28B6-432A-B232-3B816906B6CF}"/>
              </a:ext>
            </a:extLst>
          </p:cNvPr>
          <p:cNvSpPr>
            <a:spLocks noGrp="1"/>
          </p:cNvSpPr>
          <p:nvPr/>
        </p:nvSpPr>
        <p:spPr>
          <a:xfrm>
            <a:off x="1809750" y="3105150"/>
            <a:ext cx="9334500" cy="0"/>
          </a:xfrm>
          <a:prstGeom prst="line">
            <a:avLst/>
          </a:prstGeom>
          <a:noFill/>
          <a:ln w="9525">
            <a:solidFill>
              <a:srgbClr val="E7E3E5"/>
            </a:solidFill>
            <a:prstDash val="solid"/>
          </a:ln>
        </p:spPr>
        <p:txBody>
          <a:bodyPr/>
          <a:lstStyle/>
          <a:p>
            <a:endParaRPr/>
          </a:p>
        </p:txBody>
      </p:sp>
      <p:sp>
        <p:nvSpPr>
          <p:cNvPr id="13" name="Rectángulo 12">
            <a:extLst>
              <a:ext uri="{FF2B5EF4-FFF2-40B4-BE49-F238E27FC236}">
                <a16:creationId xmlns:a16="http://schemas.microsoft.com/office/drawing/2014/main" id="{B38520B6-99B5-4B3D-95AB-FD44A97F6671}"/>
              </a:ext>
            </a:extLst>
          </p:cNvPr>
          <p:cNvSpPr>
            <a:spLocks noGrp="1"/>
          </p:cNvSpPr>
          <p:nvPr/>
        </p:nvSpPr>
        <p:spPr>
          <a:xfrm>
            <a:off x="819150" y="32956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03</a:t>
            </a:r>
          </a:p>
        </p:txBody>
      </p:sp>
      <p:sp>
        <p:nvSpPr>
          <p:cNvPr id="14" name="Rectángulo 13">
            <a:extLst>
              <a:ext uri="{FF2B5EF4-FFF2-40B4-BE49-F238E27FC236}">
                <a16:creationId xmlns:a16="http://schemas.microsoft.com/office/drawing/2014/main" id="{61DCE652-D8B7-4766-A5B4-FF92C6C0AAB0}"/>
              </a:ext>
            </a:extLst>
          </p:cNvPr>
          <p:cNvSpPr>
            <a:spLocks noGrp="1"/>
          </p:cNvSpPr>
          <p:nvPr/>
        </p:nvSpPr>
        <p:spPr>
          <a:xfrm>
            <a:off x="1809750" y="32956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Future Work</a:t>
            </a:r>
          </a:p>
        </p:txBody>
      </p:sp>
      <p:sp>
        <p:nvSpPr>
          <p:cNvPr id="15" name="Rectángulo 14">
            <a:extLst>
              <a:ext uri="{FF2B5EF4-FFF2-40B4-BE49-F238E27FC236}">
                <a16:creationId xmlns:a16="http://schemas.microsoft.com/office/drawing/2014/main" id="{B3F237E8-5A4E-462D-A12A-38EBABD58893}"/>
              </a:ext>
            </a:extLst>
          </p:cNvPr>
          <p:cNvSpPr>
            <a:spLocks noGrp="1"/>
          </p:cNvSpPr>
          <p:nvPr/>
        </p:nvSpPr>
        <p:spPr>
          <a:xfrm>
            <a:off x="9620250" y="32956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3 min</a:t>
            </a:r>
          </a:p>
        </p:txBody>
      </p:sp>
      <p:sp>
        <p:nvSpPr>
          <p:cNvPr id="16" name="Conector recto 15">
            <a:extLst>
              <a:ext uri="{FF2B5EF4-FFF2-40B4-BE49-F238E27FC236}">
                <a16:creationId xmlns:a16="http://schemas.microsoft.com/office/drawing/2014/main" id="{57AA6B4C-4760-4DE1-AA87-125179468521}"/>
              </a:ext>
            </a:extLst>
          </p:cNvPr>
          <p:cNvSpPr>
            <a:spLocks noGrp="1"/>
          </p:cNvSpPr>
          <p:nvPr/>
        </p:nvSpPr>
        <p:spPr>
          <a:xfrm>
            <a:off x="1809750" y="3943350"/>
            <a:ext cx="9334500" cy="0"/>
          </a:xfrm>
          <a:prstGeom prst="line">
            <a:avLst/>
          </a:prstGeom>
          <a:noFill/>
          <a:ln w="9525">
            <a:solidFill>
              <a:srgbClr val="E7E3E5"/>
            </a:solidFill>
            <a:prstDash val="solid"/>
          </a:ln>
        </p:spPr>
        <p:txBody>
          <a:bodyPr/>
          <a:lstStyle/>
          <a:p>
            <a:endParaRPr/>
          </a:p>
        </p:txBody>
      </p:sp>
      <p:sp>
        <p:nvSpPr>
          <p:cNvPr id="17" name="Rectángulo 16">
            <a:extLst>
              <a:ext uri="{FF2B5EF4-FFF2-40B4-BE49-F238E27FC236}">
                <a16:creationId xmlns:a16="http://schemas.microsoft.com/office/drawing/2014/main" id="{AB686026-BBA4-4375-A981-23B762421BD6}"/>
              </a:ext>
            </a:extLst>
          </p:cNvPr>
          <p:cNvSpPr>
            <a:spLocks noGrp="1"/>
          </p:cNvSpPr>
          <p:nvPr/>
        </p:nvSpPr>
        <p:spPr>
          <a:xfrm>
            <a:off x="819150" y="41338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04</a:t>
            </a:r>
          </a:p>
        </p:txBody>
      </p:sp>
      <p:sp>
        <p:nvSpPr>
          <p:cNvPr id="18" name="Rectángulo 17">
            <a:extLst>
              <a:ext uri="{FF2B5EF4-FFF2-40B4-BE49-F238E27FC236}">
                <a16:creationId xmlns:a16="http://schemas.microsoft.com/office/drawing/2014/main" id="{50F88402-640C-4D41-9257-7EE0ABA905AB}"/>
              </a:ext>
            </a:extLst>
          </p:cNvPr>
          <p:cNvSpPr>
            <a:spLocks noGrp="1"/>
          </p:cNvSpPr>
          <p:nvPr/>
        </p:nvSpPr>
        <p:spPr>
          <a:xfrm>
            <a:off x="1809750" y="41338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Potential Applications</a:t>
            </a:r>
          </a:p>
        </p:txBody>
      </p:sp>
      <p:sp>
        <p:nvSpPr>
          <p:cNvPr id="19" name="Rectángulo 18">
            <a:extLst>
              <a:ext uri="{FF2B5EF4-FFF2-40B4-BE49-F238E27FC236}">
                <a16:creationId xmlns:a16="http://schemas.microsoft.com/office/drawing/2014/main" id="{D7B1D3DA-CE1D-4A84-8CEF-AAB9316A4CFE}"/>
              </a:ext>
            </a:extLst>
          </p:cNvPr>
          <p:cNvSpPr>
            <a:spLocks noGrp="1"/>
          </p:cNvSpPr>
          <p:nvPr/>
        </p:nvSpPr>
        <p:spPr>
          <a:xfrm>
            <a:off x="9620250" y="41338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2 min</a:t>
            </a:r>
          </a:p>
        </p:txBody>
      </p:sp>
      <p:sp>
        <p:nvSpPr>
          <p:cNvPr id="20" name="Conector recto 19">
            <a:extLst>
              <a:ext uri="{FF2B5EF4-FFF2-40B4-BE49-F238E27FC236}">
                <a16:creationId xmlns:a16="http://schemas.microsoft.com/office/drawing/2014/main" id="{7F7C94FC-F09F-4FAA-A4BD-2620417666C5}"/>
              </a:ext>
            </a:extLst>
          </p:cNvPr>
          <p:cNvSpPr>
            <a:spLocks noGrp="1"/>
          </p:cNvSpPr>
          <p:nvPr/>
        </p:nvSpPr>
        <p:spPr>
          <a:xfrm>
            <a:off x="1809750" y="4781550"/>
            <a:ext cx="9334500" cy="0"/>
          </a:xfrm>
          <a:prstGeom prst="line">
            <a:avLst/>
          </a:prstGeom>
          <a:noFill/>
          <a:ln w="9525">
            <a:solidFill>
              <a:srgbClr val="E7E3E5"/>
            </a:solidFill>
            <a:prstDash val="solid"/>
          </a:ln>
        </p:spPr>
        <p:txBody>
          <a:bodyPr/>
          <a:lstStyle/>
          <a:p>
            <a:endParaRPr/>
          </a:p>
        </p:txBody>
      </p:sp>
      <p:sp>
        <p:nvSpPr>
          <p:cNvPr id="21" name="Rectángulo 20">
            <a:extLst>
              <a:ext uri="{FF2B5EF4-FFF2-40B4-BE49-F238E27FC236}">
                <a16:creationId xmlns:a16="http://schemas.microsoft.com/office/drawing/2014/main" id="{A5841880-53B8-4BBB-AA7D-0883C63B6EE2}"/>
              </a:ext>
            </a:extLst>
          </p:cNvPr>
          <p:cNvSpPr>
            <a:spLocks noGrp="1"/>
          </p:cNvSpPr>
          <p:nvPr/>
        </p:nvSpPr>
        <p:spPr>
          <a:xfrm>
            <a:off x="819150" y="49720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05</a:t>
            </a:r>
          </a:p>
        </p:txBody>
      </p:sp>
      <p:sp>
        <p:nvSpPr>
          <p:cNvPr id="22" name="Rectángulo 21">
            <a:extLst>
              <a:ext uri="{FF2B5EF4-FFF2-40B4-BE49-F238E27FC236}">
                <a16:creationId xmlns:a16="http://schemas.microsoft.com/office/drawing/2014/main" id="{D30FB81F-433C-404D-9BB2-ADE828B77833}"/>
              </a:ext>
            </a:extLst>
          </p:cNvPr>
          <p:cNvSpPr>
            <a:spLocks noGrp="1"/>
          </p:cNvSpPr>
          <p:nvPr/>
        </p:nvSpPr>
        <p:spPr>
          <a:xfrm>
            <a:off x="1809750" y="49720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Demo / Video</a:t>
            </a:r>
          </a:p>
        </p:txBody>
      </p:sp>
      <p:sp>
        <p:nvSpPr>
          <p:cNvPr id="23" name="Rectángulo 22">
            <a:extLst>
              <a:ext uri="{FF2B5EF4-FFF2-40B4-BE49-F238E27FC236}">
                <a16:creationId xmlns:a16="http://schemas.microsoft.com/office/drawing/2014/main" id="{502B3D2A-7C42-4C3E-8106-C860F83F02A0}"/>
              </a:ext>
            </a:extLst>
          </p:cNvPr>
          <p:cNvSpPr>
            <a:spLocks noGrp="1"/>
          </p:cNvSpPr>
          <p:nvPr/>
        </p:nvSpPr>
        <p:spPr>
          <a:xfrm>
            <a:off x="9620250" y="49720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3 min</a:t>
            </a:r>
          </a:p>
        </p:txBody>
      </p:sp>
    </p:spTree>
    <p:extLst>
      <p:ext uri="{BB962C8B-B14F-4D97-AF65-F5344CB8AC3E}">
        <p14:creationId xmlns:p14="http://schemas.microsoft.com/office/powerpoint/2010/main" val="8075543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048CDC69-1409-43D8-9607-D7A772AAA0A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28F580DE-C4F8-4096-AABD-EE39396A031F}"/>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WebRTC as a Whole</a:t>
            </a:r>
          </a:p>
        </p:txBody>
      </p:sp>
      <p:sp>
        <p:nvSpPr>
          <p:cNvPr id="3" name="Rectángulo 2">
            <a:extLst>
              <a:ext uri="{FF2B5EF4-FFF2-40B4-BE49-F238E27FC236}">
                <a16:creationId xmlns:a16="http://schemas.microsoft.com/office/drawing/2014/main" id="{E44ABD69-38EF-4E90-8C3A-E4C4A0A4D375}"/>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7AE13239-B39C-4AE8-8471-1EE347C831E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05</a:t>
            </a:r>
          </a:p>
        </p:txBody>
      </p:sp>
      <p:sp>
        <p:nvSpPr>
          <p:cNvPr id="5" name="Rectángulo: esquinas redondeadas 4">
            <a:extLst>
              <a:ext uri="{FF2B5EF4-FFF2-40B4-BE49-F238E27FC236}">
                <a16:creationId xmlns:a16="http://schemas.microsoft.com/office/drawing/2014/main" id="{0BEEE678-19EF-40ED-8FAB-869D4C1CB78E}"/>
              </a:ext>
            </a:extLst>
          </p:cNvPr>
          <p:cNvSpPr>
            <a:spLocks noGrp="1"/>
          </p:cNvSpPr>
          <p:nvPr/>
        </p:nvSpPr>
        <p:spPr>
          <a:xfrm>
            <a:off x="4476750" y="2705100"/>
            <a:ext cx="3238500" cy="1047750"/>
          </a:xfrm>
          <a:prstGeom prst="roundRect">
            <a:avLst>
              <a:gd name="adj" fmla="val 12727"/>
            </a:avLst>
          </a:prstGeom>
          <a:solidFill>
            <a:srgbClr val="830051"/>
          </a:solidFill>
          <a:ln w="0">
            <a:noFill/>
          </a:ln>
        </p:spPr>
        <p:txBody>
          <a:bodyPr wrap="square" lIns="114300" tIns="76200" rIns="114300" bIns="76200" anchor="ctr">
            <a:noAutofit/>
          </a:bodyPr>
          <a:lstStyle/>
          <a:p>
            <a:pPr algn="ctr">
              <a:lnSpc>
                <a:spcPct val="104000"/>
              </a:lnSpc>
              <a:buNone/>
              <a:defRPr sz="2325" b="1">
                <a:solidFill>
                  <a:srgbClr val="FFFFFF"/>
                </a:solidFill>
                <a:latin typeface="Arial"/>
                <a:ea typeface="Arial"/>
                <a:cs typeface="Arial"/>
              </a:defRPr>
            </a:pPr>
            <a:r>
              <a:rPr sz="2325" b="1">
                <a:solidFill>
                  <a:srgbClr val="FFFFFF"/>
                </a:solidFill>
                <a:latin typeface="Arial"/>
                <a:ea typeface="Arial"/>
                <a:cs typeface="Arial"/>
              </a:rPr>
              <a:t>RTCPeerConnection</a:t>
            </a:r>
          </a:p>
        </p:txBody>
      </p:sp>
      <p:sp>
        <p:nvSpPr>
          <p:cNvPr id="6" name="Rectángulo: esquinas redondeadas 5">
            <a:extLst>
              <a:ext uri="{FF2B5EF4-FFF2-40B4-BE49-F238E27FC236}">
                <a16:creationId xmlns:a16="http://schemas.microsoft.com/office/drawing/2014/main" id="{E5CC65C0-7AB3-4E1D-AF31-CEDB19C17C85}"/>
              </a:ext>
            </a:extLst>
          </p:cNvPr>
          <p:cNvSpPr>
            <a:spLocks noGrp="1"/>
          </p:cNvSpPr>
          <p:nvPr/>
        </p:nvSpPr>
        <p:spPr>
          <a:xfrm>
            <a:off x="781050" y="17716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Browser and native APIs</a:t>
            </a:r>
          </a:p>
        </p:txBody>
      </p:sp>
      <p:cxnSp>
        <p:nvCxnSpPr>
          <p:cNvPr id="25" name="Conector recto de flecha 24"/>
          <p:cNvCxnSpPr>
            <a:stCxn id="6" idx="3"/>
            <a:endCxn id="5" idx="1"/>
          </p:cNvCxnSpPr>
          <p:nvPr/>
        </p:nvCxnSpPr>
        <p:spPr>
          <a:xfrm>
            <a:off x="3638550" y="2143125"/>
            <a:ext cx="838200" cy="1085850"/>
          </a:xfrm>
          <a:prstGeom prst="straightConnector1">
            <a:avLst/>
          </a:prstGeom>
          <a:ln w="19050">
            <a:solidFill>
              <a:srgbClr val="A69FA3"/>
            </a:solidFill>
            <a:prstDash val="solid"/>
          </a:ln>
        </p:spPr>
      </p:cxnSp>
      <p:sp>
        <p:nvSpPr>
          <p:cNvPr id="8" name="Rectángulo: esquinas redondeadas 7">
            <a:extLst>
              <a:ext uri="{FF2B5EF4-FFF2-40B4-BE49-F238E27FC236}">
                <a16:creationId xmlns:a16="http://schemas.microsoft.com/office/drawing/2014/main" id="{FF0DCEB5-A124-43C2-B5DA-C85E112ECA88}"/>
              </a:ext>
            </a:extLst>
          </p:cNvPr>
          <p:cNvSpPr>
            <a:spLocks noGrp="1"/>
          </p:cNvSpPr>
          <p:nvPr/>
        </p:nvSpPr>
        <p:spPr>
          <a:xfrm>
            <a:off x="781050" y="41719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Application-defined signaling</a:t>
            </a:r>
          </a:p>
        </p:txBody>
      </p:sp>
      <p:cxnSp>
        <p:nvCxnSpPr>
          <p:cNvPr id="27" name="Conector recto de flecha 26"/>
          <p:cNvCxnSpPr>
            <a:stCxn id="8" idx="3"/>
            <a:endCxn id="5" idx="1"/>
          </p:cNvCxnSpPr>
          <p:nvPr/>
        </p:nvCxnSpPr>
        <p:spPr>
          <a:xfrm flipV="1">
            <a:off x="3638550" y="3228975"/>
            <a:ext cx="838200" cy="1314450"/>
          </a:xfrm>
          <a:prstGeom prst="straightConnector1">
            <a:avLst/>
          </a:prstGeom>
          <a:ln w="19050">
            <a:solidFill>
              <a:srgbClr val="A69FA3"/>
            </a:solidFill>
            <a:prstDash val="solid"/>
          </a:ln>
        </p:spPr>
      </p:cxnSp>
      <p:sp>
        <p:nvSpPr>
          <p:cNvPr id="10" name="Rectángulo: esquinas redondeadas 9">
            <a:extLst>
              <a:ext uri="{FF2B5EF4-FFF2-40B4-BE49-F238E27FC236}">
                <a16:creationId xmlns:a16="http://schemas.microsoft.com/office/drawing/2014/main" id="{84622E93-17B0-401E-8234-D4A9D09CAAE6}"/>
              </a:ext>
            </a:extLst>
          </p:cNvPr>
          <p:cNvSpPr>
            <a:spLocks noGrp="1"/>
          </p:cNvSpPr>
          <p:nvPr/>
        </p:nvSpPr>
        <p:spPr>
          <a:xfrm>
            <a:off x="8543925" y="17716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ICE connectivity</a:t>
            </a:r>
          </a:p>
        </p:txBody>
      </p:sp>
      <p:cxnSp>
        <p:nvCxnSpPr>
          <p:cNvPr id="29" name="Conector recto de flecha 28"/>
          <p:cNvCxnSpPr>
            <a:stCxn id="10" idx="1"/>
            <a:endCxn id="5" idx="3"/>
          </p:cNvCxnSpPr>
          <p:nvPr/>
        </p:nvCxnSpPr>
        <p:spPr>
          <a:xfrm flipH="1">
            <a:off x="7715250" y="2143125"/>
            <a:ext cx="828675" cy="1085850"/>
          </a:xfrm>
          <a:prstGeom prst="straightConnector1">
            <a:avLst/>
          </a:prstGeom>
          <a:ln w="19050">
            <a:solidFill>
              <a:srgbClr val="A69FA3"/>
            </a:solidFill>
            <a:prstDash val="solid"/>
          </a:ln>
        </p:spPr>
      </p:cxnSp>
      <p:sp>
        <p:nvSpPr>
          <p:cNvPr id="12" name="Rectángulo: esquinas redondeadas 11">
            <a:extLst>
              <a:ext uri="{FF2B5EF4-FFF2-40B4-BE49-F238E27FC236}">
                <a16:creationId xmlns:a16="http://schemas.microsoft.com/office/drawing/2014/main" id="{4C85FE71-DF2E-455E-BDBD-33A1A28E969D}"/>
              </a:ext>
            </a:extLst>
          </p:cNvPr>
          <p:cNvSpPr>
            <a:spLocks noGrp="1"/>
          </p:cNvSpPr>
          <p:nvPr/>
        </p:nvSpPr>
        <p:spPr>
          <a:xfrm>
            <a:off x="8543925" y="41719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DTLS-SRTP encryption</a:t>
            </a:r>
          </a:p>
        </p:txBody>
      </p:sp>
      <p:cxnSp>
        <p:nvCxnSpPr>
          <p:cNvPr id="31" name="Conector recto de flecha 30"/>
          <p:cNvCxnSpPr>
            <a:stCxn id="12" idx="1"/>
            <a:endCxn id="5" idx="3"/>
          </p:cNvCxnSpPr>
          <p:nvPr/>
        </p:nvCxnSpPr>
        <p:spPr>
          <a:xfrm flipH="1" flipV="1">
            <a:off x="7715250" y="3228975"/>
            <a:ext cx="828675" cy="1314450"/>
          </a:xfrm>
          <a:prstGeom prst="straightConnector1">
            <a:avLst/>
          </a:prstGeom>
          <a:ln w="19050">
            <a:solidFill>
              <a:srgbClr val="A69FA3"/>
            </a:solidFill>
            <a:prstDash val="solid"/>
          </a:ln>
        </p:spPr>
      </p:cxnSp>
      <p:sp>
        <p:nvSpPr>
          <p:cNvPr id="14" name="Rectángulo: esquinas redondeadas 13">
            <a:extLst>
              <a:ext uri="{FF2B5EF4-FFF2-40B4-BE49-F238E27FC236}">
                <a16:creationId xmlns:a16="http://schemas.microsoft.com/office/drawing/2014/main" id="{B3B60421-D5E0-4710-AEB5-BDF7ACD32F43}"/>
              </a:ext>
            </a:extLst>
          </p:cNvPr>
          <p:cNvSpPr>
            <a:spLocks noGrp="1"/>
          </p:cNvSpPr>
          <p:nvPr/>
        </p:nvSpPr>
        <p:spPr>
          <a:xfrm>
            <a:off x="4476750" y="1485900"/>
            <a:ext cx="3238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Real-time media</a:t>
            </a:r>
          </a:p>
        </p:txBody>
      </p:sp>
      <p:cxnSp>
        <p:nvCxnSpPr>
          <p:cNvPr id="33" name="Conector recto de flecha 32"/>
          <p:cNvCxnSpPr>
            <a:stCxn id="14" idx="2"/>
            <a:endCxn id="5" idx="0"/>
          </p:cNvCxnSpPr>
          <p:nvPr/>
        </p:nvCxnSpPr>
        <p:spPr>
          <a:xfrm>
            <a:off x="6096000" y="2228850"/>
            <a:ext cx="0" cy="476250"/>
          </a:xfrm>
          <a:prstGeom prst="straightConnector1">
            <a:avLst/>
          </a:prstGeom>
          <a:ln w="19050">
            <a:solidFill>
              <a:srgbClr val="A69FA3"/>
            </a:solidFill>
            <a:prstDash val="solid"/>
          </a:ln>
        </p:spPr>
      </p:cxnSp>
      <p:sp>
        <p:nvSpPr>
          <p:cNvPr id="16" name="Rectángulo: esquinas redondeadas 15">
            <a:extLst>
              <a:ext uri="{FF2B5EF4-FFF2-40B4-BE49-F238E27FC236}">
                <a16:creationId xmlns:a16="http://schemas.microsoft.com/office/drawing/2014/main" id="{56E6217E-F468-4A2C-917D-216B8EC58672}"/>
              </a:ext>
            </a:extLst>
          </p:cNvPr>
          <p:cNvSpPr>
            <a:spLocks noGrp="1"/>
          </p:cNvSpPr>
          <p:nvPr/>
        </p:nvSpPr>
        <p:spPr>
          <a:xfrm>
            <a:off x="4476750" y="4400550"/>
            <a:ext cx="3238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Congestion control</a:t>
            </a:r>
          </a:p>
        </p:txBody>
      </p:sp>
      <p:cxnSp>
        <p:nvCxnSpPr>
          <p:cNvPr id="35" name="Conector recto de flecha 34"/>
          <p:cNvCxnSpPr>
            <a:stCxn id="16" idx="0"/>
            <a:endCxn id="5" idx="2"/>
          </p:cNvCxnSpPr>
          <p:nvPr/>
        </p:nvCxnSpPr>
        <p:spPr>
          <a:xfrm flipV="1">
            <a:off x="6096000" y="3752850"/>
            <a:ext cx="0" cy="647700"/>
          </a:xfrm>
          <a:prstGeom prst="straightConnector1">
            <a:avLst/>
          </a:prstGeom>
          <a:ln w="19050">
            <a:solidFill>
              <a:srgbClr val="A69FA3"/>
            </a:solidFill>
            <a:prstDash val="solid"/>
          </a:ln>
        </p:spPr>
      </p:cxnSp>
      <p:sp>
        <p:nvSpPr>
          <p:cNvPr id="18" name="Rectángulo 17">
            <a:extLst>
              <a:ext uri="{FF2B5EF4-FFF2-40B4-BE49-F238E27FC236}">
                <a16:creationId xmlns:a16="http://schemas.microsoft.com/office/drawing/2014/main" id="{223DC108-6F33-487C-8F7E-BB1BFE97CD91}"/>
              </a:ext>
            </a:extLst>
          </p:cNvPr>
          <p:cNvSpPr>
            <a:spLocks noGrp="1"/>
          </p:cNvSpPr>
          <p:nvPr/>
        </p:nvSpPr>
        <p:spPr>
          <a:xfrm>
            <a:off x="1333500" y="5619750"/>
            <a:ext cx="9525000" cy="552450"/>
          </a:xfrm>
          <a:prstGeom prst="rect">
            <a:avLst/>
          </a:prstGeom>
          <a:noFill/>
          <a:ln w="0">
            <a:noFill/>
          </a:ln>
        </p:spPr>
        <p:txBody>
          <a:bodyPr wrap="square" lIns="0" tIns="0" rIns="0" bIns="0" anchor="t">
            <a:noAutofit/>
          </a:bodyPr>
          <a:lstStyle/>
          <a:p>
            <a:pPr algn="ctr">
              <a:lnSpc>
                <a:spcPct val="104000"/>
              </a:lnSpc>
              <a:buNone/>
              <a:defRPr sz="1725" b="1">
                <a:solidFill>
                  <a:srgbClr val="510034"/>
                </a:solidFill>
                <a:latin typeface="Arial"/>
                <a:ea typeface="Arial"/>
                <a:cs typeface="Arial"/>
              </a:defRPr>
            </a:pPr>
            <a:r>
              <a:rPr sz="1725" b="1">
                <a:solidFill>
                  <a:srgbClr val="510034"/>
                </a:solidFill>
                <a:latin typeface="Arial"/>
                <a:ea typeface="Arial"/>
                <a:cs typeface="Arial"/>
              </a:rPr>
              <a:t>WebRTC combines APIs and protocols. It does not prescribe how the application carries signaling messages.</a:t>
            </a:r>
          </a:p>
        </p:txBody>
      </p:sp>
    </p:spTree>
    <p:extLst>
      <p:ext uri="{BB962C8B-B14F-4D97-AF65-F5344CB8AC3E}">
        <p14:creationId xmlns:p14="http://schemas.microsoft.com/office/powerpoint/2010/main" val="1122588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7" name="Rectángulo 16">
            <a:extLst>
              <a:ext uri="{FF2B5EF4-FFF2-40B4-BE49-F238E27FC236}">
                <a16:creationId xmlns:a16="http://schemas.microsoft.com/office/drawing/2014/main" id="{D07F735B-634D-43FB-B2F9-DBD86FA79AE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085F9A2B-8B5A-4D01-A7C9-6998F896249A}"/>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The WebRTC Protocol Stack</a:t>
            </a:r>
          </a:p>
        </p:txBody>
      </p:sp>
      <p:sp>
        <p:nvSpPr>
          <p:cNvPr id="3" name="Rectángulo 2">
            <a:extLst>
              <a:ext uri="{FF2B5EF4-FFF2-40B4-BE49-F238E27FC236}">
                <a16:creationId xmlns:a16="http://schemas.microsoft.com/office/drawing/2014/main" id="{49827970-C07D-4CF0-A8B3-9AF33F1DDD7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EF21B09-9351-4CFB-9184-F53ED495B2F2}"/>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06</a:t>
            </a:r>
          </a:p>
        </p:txBody>
      </p:sp>
      <p:pic>
        <p:nvPicPr>
          <p:cNvPr id="21" name="Imagen 17"/>
          <p:cNvPicPr>
            <a:picLocks noChangeAspect="1"/>
          </p:cNvPicPr>
          <p:nvPr/>
        </p:nvPicPr>
        <p:blipFill>
          <a:blip r:embed="rId3"/>
          <a:stretch>
            <a:fillRect/>
          </a:stretch>
        </p:blipFill>
        <p:spPr>
          <a:xfrm>
            <a:off x="1811958" y="1860803"/>
            <a:ext cx="8811846" cy="4295775"/>
          </a:xfrm>
          <a:prstGeom prst="rect">
            <a:avLst/>
          </a:prstGeom>
        </p:spPr>
      </p:pic>
    </p:spTree>
    <p:extLst>
      <p:ext uri="{BB962C8B-B14F-4D97-AF65-F5344CB8AC3E}">
        <p14:creationId xmlns:p14="http://schemas.microsoft.com/office/powerpoint/2010/main" val="3425882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D06610C-6871-4F0F-A248-6A458BDF9A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B83B3475-957D-4337-958E-59DB2A938EEF}"/>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STUN Discovery and TURN Relay</a:t>
            </a:r>
          </a:p>
        </p:txBody>
      </p:sp>
      <p:sp>
        <p:nvSpPr>
          <p:cNvPr id="3" name="Rectángulo 2">
            <a:extLst>
              <a:ext uri="{FF2B5EF4-FFF2-40B4-BE49-F238E27FC236}">
                <a16:creationId xmlns:a16="http://schemas.microsoft.com/office/drawing/2014/main" id="{49C664C0-4CD9-483C-A8C8-B7A998E20760}"/>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E055462-4D07-4EFC-A1E5-256E5DCC664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07</a:t>
            </a:r>
          </a:p>
        </p:txBody>
      </p:sp>
      <p:sp>
        <p:nvSpPr>
          <p:cNvPr id="70000" name="raspberry-pi-card">
            <a:extLst>
              <a:ext uri="{FF2B5EF4-FFF2-40B4-BE49-F238E27FC236}">
                <a16:creationId xmlns:a16="http://schemas.microsoft.com/office/drawing/2014/main" id="{421CFBDD-0D05-41DC-AC4F-636EB521177E}"/>
              </a:ext>
            </a:extLst>
          </p:cNvPr>
          <p:cNvSpPr>
            <a:spLocks noGrp="1"/>
          </p:cNvSpPr>
          <p:nvPr/>
        </p:nvSpPr>
        <p:spPr>
          <a:xfrm>
            <a:off x="666750" y="3105150"/>
            <a:ext cx="2476500" cy="1009650"/>
          </a:xfrm>
          <a:prstGeom prst="roundRect">
            <a:avLst>
              <a:gd name="adj" fmla="val 16981"/>
            </a:avLst>
          </a:prstGeom>
          <a:solidFill>
            <a:srgbClr val="FFFFFF"/>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100" name="raspberry-pi-icon">
            <a:extLst>
              <a:ext uri="{FF2B5EF4-FFF2-40B4-BE49-F238E27FC236}">
                <a16:creationId xmlns:a16="http://schemas.microsoft.com/office/drawing/2014/main" id="{6FDB1B7C-2969-4284-BE05-727FD784901B}"/>
              </a:ext>
            </a:extLst>
          </p:cNvPr>
          <p:cNvSpPr>
            <a:spLocks noGrp="1"/>
          </p:cNvSpPr>
          <p:nvPr/>
        </p:nvSpPr>
        <p:spPr>
          <a:xfrm>
            <a:off x="857250" y="3343275"/>
            <a:ext cx="533400" cy="533400"/>
          </a:xfrm>
          <a:prstGeom prst="ellipse">
            <a:avLst/>
          </a:prstGeom>
          <a:solidFill>
            <a:srgbClr val="F5EDF2"/>
          </a:solidFill>
          <a:ln w="14288">
            <a:solidFill>
              <a:srgbClr val="830051"/>
            </a:solidFill>
            <a:prstDash val="solid"/>
          </a:ln>
        </p:spPr>
        <p:txBody>
          <a:bodyPr lIns="0" tIns="0" rIns="0" bIns="0" anchor="ctr">
            <a:normAutofit/>
          </a:bodyPr>
          <a:lstStyle/>
          <a:p>
            <a:pPr algn="ctr">
              <a:buNone/>
              <a:defRPr sz="1275" b="1">
                <a:solidFill>
                  <a:srgbClr val="830051"/>
                </a:solidFill>
                <a:latin typeface="Arial"/>
                <a:ea typeface="Arial"/>
                <a:cs typeface="Arial"/>
              </a:defRPr>
            </a:pPr>
            <a:r>
              <a:rPr sz="1275" b="1">
                <a:solidFill>
                  <a:srgbClr val="830051"/>
                </a:solidFill>
                <a:latin typeface="Arial"/>
                <a:ea typeface="Arial"/>
                <a:cs typeface="Arial"/>
              </a:rPr>
              <a:t>Pi</a:t>
            </a:r>
          </a:p>
        </p:txBody>
      </p:sp>
      <p:sp>
        <p:nvSpPr>
          <p:cNvPr id="70200" name="raspberry-pi-title">
            <a:extLst>
              <a:ext uri="{FF2B5EF4-FFF2-40B4-BE49-F238E27FC236}">
                <a16:creationId xmlns:a16="http://schemas.microsoft.com/office/drawing/2014/main" id="{0B38E4A8-7471-4E98-8984-E396F6BE6266}"/>
              </a:ext>
            </a:extLst>
          </p:cNvPr>
          <p:cNvSpPr>
            <a:spLocks noGrp="1"/>
          </p:cNvSpPr>
          <p:nvPr/>
        </p:nvSpPr>
        <p:spPr>
          <a:xfrm>
            <a:off x="1543050" y="3333750"/>
            <a:ext cx="1409700" cy="285750"/>
          </a:xfrm>
          <a:prstGeom prst="rect">
            <a:avLst/>
          </a:prstGeom>
          <a:noFill/>
          <a:ln w="0">
            <a:noFill/>
            <a:prstDash val="solid"/>
          </a:ln>
        </p:spPr>
        <p:txBody>
          <a:bodyPr lIns="0" tIns="0" rIns="0" bIns="0" anchor="ctr">
            <a:normAutofit/>
          </a:bodyPr>
          <a:lstStyle/>
          <a:p>
            <a:pPr algn="l">
              <a:buNone/>
              <a:defRPr sz="1650" b="1">
                <a:solidFill>
                  <a:srgbClr val="171417"/>
                </a:solidFill>
                <a:latin typeface="Arial"/>
                <a:ea typeface="Arial"/>
                <a:cs typeface="Arial"/>
              </a:defRPr>
            </a:pPr>
            <a:r>
              <a:rPr sz="1650" b="1">
                <a:solidFill>
                  <a:srgbClr val="171417"/>
                </a:solidFill>
                <a:latin typeface="Arial"/>
                <a:ea typeface="Arial"/>
                <a:cs typeface="Arial"/>
              </a:rPr>
              <a:t>Raspberry Pi</a:t>
            </a:r>
          </a:p>
        </p:txBody>
      </p:sp>
      <p:sp>
        <p:nvSpPr>
          <p:cNvPr id="70300" name="raspberry-pi-subtitle">
            <a:extLst>
              <a:ext uri="{FF2B5EF4-FFF2-40B4-BE49-F238E27FC236}">
                <a16:creationId xmlns:a16="http://schemas.microsoft.com/office/drawing/2014/main" id="{AC9DA8CC-BAC7-4740-8921-B270FFCC4BFF}"/>
              </a:ext>
            </a:extLst>
          </p:cNvPr>
          <p:cNvSpPr>
            <a:spLocks noGrp="1"/>
          </p:cNvSpPr>
          <p:nvPr/>
        </p:nvSpPr>
        <p:spPr>
          <a:xfrm>
            <a:off x="1543050" y="3629025"/>
            <a:ext cx="1409700" cy="266700"/>
          </a:xfrm>
          <a:prstGeom prst="rect">
            <a:avLst/>
          </a:prstGeom>
          <a:noFill/>
          <a:ln w="0">
            <a:noFill/>
            <a:prstDash val="solid"/>
          </a:ln>
        </p:spPr>
        <p:txBody>
          <a:bodyPr lIns="0" tIns="0" rIns="0" bIns="0" anchor="ctr">
            <a:normAutofit/>
          </a:bodyPr>
          <a:lstStyle/>
          <a:p>
            <a:pPr algn="l">
              <a:buNone/>
              <a:defRPr sz="1125">
                <a:solidFill>
                  <a:srgbClr val="6F686D"/>
                </a:solidFill>
                <a:latin typeface="Arial"/>
                <a:ea typeface="Arial"/>
                <a:cs typeface="Arial"/>
              </a:defRPr>
            </a:pPr>
            <a:r>
              <a:rPr sz="1125">
                <a:solidFill>
                  <a:srgbClr val="6F686D"/>
                </a:solidFill>
                <a:latin typeface="Arial"/>
                <a:ea typeface="Arial"/>
                <a:cs typeface="Arial"/>
              </a:rPr>
              <a:t>WebRTC peer</a:t>
            </a:r>
          </a:p>
        </p:txBody>
      </p:sp>
      <p:sp>
        <p:nvSpPr>
          <p:cNvPr id="70400" name="remote-browser-card">
            <a:extLst>
              <a:ext uri="{FF2B5EF4-FFF2-40B4-BE49-F238E27FC236}">
                <a16:creationId xmlns:a16="http://schemas.microsoft.com/office/drawing/2014/main" id="{1AAED6EF-F33F-4688-81F4-23CFFFEA39FE}"/>
              </a:ext>
            </a:extLst>
          </p:cNvPr>
          <p:cNvSpPr>
            <a:spLocks noGrp="1"/>
          </p:cNvSpPr>
          <p:nvPr/>
        </p:nvSpPr>
        <p:spPr>
          <a:xfrm>
            <a:off x="9048750" y="3105150"/>
            <a:ext cx="2476500" cy="1009650"/>
          </a:xfrm>
          <a:prstGeom prst="roundRect">
            <a:avLst>
              <a:gd name="adj" fmla="val 16981"/>
            </a:avLst>
          </a:prstGeom>
          <a:solidFill>
            <a:srgbClr val="FFFFFF"/>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500" name="remote-browser-icon">
            <a:extLst>
              <a:ext uri="{FF2B5EF4-FFF2-40B4-BE49-F238E27FC236}">
                <a16:creationId xmlns:a16="http://schemas.microsoft.com/office/drawing/2014/main" id="{8EF7393A-24EB-4FC5-A863-7436EAE82EAD}"/>
              </a:ext>
            </a:extLst>
          </p:cNvPr>
          <p:cNvSpPr>
            <a:spLocks noGrp="1"/>
          </p:cNvSpPr>
          <p:nvPr/>
        </p:nvSpPr>
        <p:spPr>
          <a:xfrm>
            <a:off x="9239250" y="3343275"/>
            <a:ext cx="533400" cy="533400"/>
          </a:xfrm>
          <a:prstGeom prst="ellipse">
            <a:avLst/>
          </a:prstGeom>
          <a:solidFill>
            <a:srgbClr val="F5EDF2"/>
          </a:solidFill>
          <a:ln w="14288">
            <a:solidFill>
              <a:srgbClr val="830051"/>
            </a:solidFill>
            <a:prstDash val="solid"/>
          </a:ln>
        </p:spPr>
        <p:txBody>
          <a:bodyPr lIns="0" tIns="0" rIns="0" bIns="0" anchor="ctr">
            <a:normAutofit/>
          </a:bodyPr>
          <a:lstStyle/>
          <a:p>
            <a:pPr algn="ctr">
              <a:buNone/>
              <a:defRPr sz="975" b="1">
                <a:solidFill>
                  <a:srgbClr val="830051"/>
                </a:solidFill>
                <a:latin typeface="Arial"/>
                <a:ea typeface="Arial"/>
                <a:cs typeface="Arial"/>
              </a:defRPr>
            </a:pPr>
            <a:r>
              <a:rPr sz="975" b="1">
                <a:solidFill>
                  <a:srgbClr val="830051"/>
                </a:solidFill>
                <a:latin typeface="Arial"/>
                <a:ea typeface="Arial"/>
                <a:cs typeface="Arial"/>
              </a:rPr>
              <a:t>WEB</a:t>
            </a:r>
          </a:p>
        </p:txBody>
      </p:sp>
      <p:sp>
        <p:nvSpPr>
          <p:cNvPr id="70600" name="remote-browser-title">
            <a:extLst>
              <a:ext uri="{FF2B5EF4-FFF2-40B4-BE49-F238E27FC236}">
                <a16:creationId xmlns:a16="http://schemas.microsoft.com/office/drawing/2014/main" id="{989FE0F0-6AFE-45FC-9C49-9454569C8A3A}"/>
              </a:ext>
            </a:extLst>
          </p:cNvPr>
          <p:cNvSpPr>
            <a:spLocks noGrp="1"/>
          </p:cNvSpPr>
          <p:nvPr/>
        </p:nvSpPr>
        <p:spPr>
          <a:xfrm>
            <a:off x="9925050" y="3333750"/>
            <a:ext cx="1409700" cy="285750"/>
          </a:xfrm>
          <a:prstGeom prst="rect">
            <a:avLst/>
          </a:prstGeom>
          <a:noFill/>
          <a:ln w="0">
            <a:noFill/>
            <a:prstDash val="solid"/>
          </a:ln>
        </p:spPr>
        <p:txBody>
          <a:bodyPr lIns="0" tIns="0" rIns="0" bIns="0" anchor="ctr">
            <a:normAutofit fontScale="85852"/>
          </a:bodyPr>
          <a:lstStyle/>
          <a:p>
            <a:pPr algn="l">
              <a:buNone/>
              <a:defRPr sz="1650" b="1">
                <a:solidFill>
                  <a:srgbClr val="171417"/>
                </a:solidFill>
                <a:latin typeface="Arial"/>
                <a:ea typeface="Arial"/>
                <a:cs typeface="Arial"/>
              </a:defRPr>
            </a:pPr>
            <a:r>
              <a:rPr sz="1650" b="1">
                <a:solidFill>
                  <a:srgbClr val="171417"/>
                </a:solidFill>
                <a:latin typeface="Arial"/>
                <a:ea typeface="Arial"/>
                <a:cs typeface="Arial"/>
              </a:rPr>
              <a:t>Remote browser</a:t>
            </a:r>
          </a:p>
        </p:txBody>
      </p:sp>
      <p:sp>
        <p:nvSpPr>
          <p:cNvPr id="70700" name="remote-browser-subtitle">
            <a:extLst>
              <a:ext uri="{FF2B5EF4-FFF2-40B4-BE49-F238E27FC236}">
                <a16:creationId xmlns:a16="http://schemas.microsoft.com/office/drawing/2014/main" id="{9DB8A013-F365-46B4-8147-8BB58DBD8319}"/>
              </a:ext>
            </a:extLst>
          </p:cNvPr>
          <p:cNvSpPr>
            <a:spLocks noGrp="1"/>
          </p:cNvSpPr>
          <p:nvPr/>
        </p:nvSpPr>
        <p:spPr>
          <a:xfrm>
            <a:off x="9925050" y="3629025"/>
            <a:ext cx="1409700" cy="266700"/>
          </a:xfrm>
          <a:prstGeom prst="rect">
            <a:avLst/>
          </a:prstGeom>
          <a:noFill/>
          <a:ln w="0">
            <a:noFill/>
            <a:prstDash val="solid"/>
          </a:ln>
        </p:spPr>
        <p:txBody>
          <a:bodyPr lIns="0" tIns="0" rIns="0" bIns="0" anchor="ctr">
            <a:normAutofit/>
          </a:bodyPr>
          <a:lstStyle/>
          <a:p>
            <a:pPr algn="l">
              <a:buNone/>
              <a:defRPr sz="1125">
                <a:solidFill>
                  <a:srgbClr val="6F686D"/>
                </a:solidFill>
                <a:latin typeface="Arial"/>
                <a:ea typeface="Arial"/>
                <a:cs typeface="Arial"/>
              </a:defRPr>
            </a:pPr>
            <a:r>
              <a:rPr sz="1125">
                <a:solidFill>
                  <a:srgbClr val="6F686D"/>
                </a:solidFill>
                <a:latin typeface="Arial"/>
                <a:ea typeface="Arial"/>
                <a:cs typeface="Arial"/>
              </a:rPr>
              <a:t>WebRTC peer</a:t>
            </a:r>
          </a:p>
        </p:txBody>
      </p:sp>
      <p:sp>
        <p:nvSpPr>
          <p:cNvPr id="70800" name="stun-public-ip-lookup-card">
            <a:extLst>
              <a:ext uri="{FF2B5EF4-FFF2-40B4-BE49-F238E27FC236}">
                <a16:creationId xmlns:a16="http://schemas.microsoft.com/office/drawing/2014/main" id="{112A70A3-223F-4636-8FB9-EB145DE555C4}"/>
              </a:ext>
            </a:extLst>
          </p:cNvPr>
          <p:cNvSpPr>
            <a:spLocks noGrp="1"/>
          </p:cNvSpPr>
          <p:nvPr/>
        </p:nvSpPr>
        <p:spPr>
          <a:xfrm>
            <a:off x="4000500" y="1581150"/>
            <a:ext cx="4191000" cy="1200150"/>
          </a:xfrm>
          <a:prstGeom prst="roundRect">
            <a:avLst>
              <a:gd name="adj" fmla="val 14286"/>
            </a:avLst>
          </a:prstGeom>
          <a:solidFill>
            <a:srgbClr val="F5EDF2"/>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900" name="stun-lookup-only-badge">
            <a:extLst>
              <a:ext uri="{FF2B5EF4-FFF2-40B4-BE49-F238E27FC236}">
                <a16:creationId xmlns:a16="http://schemas.microsoft.com/office/drawing/2014/main" id="{AD0DF06B-ED7E-41EA-B673-4E5B44D66C8A}"/>
              </a:ext>
            </a:extLst>
          </p:cNvPr>
          <p:cNvSpPr>
            <a:spLocks noGrp="1"/>
          </p:cNvSpPr>
          <p:nvPr/>
        </p:nvSpPr>
        <p:spPr>
          <a:xfrm>
            <a:off x="4257675" y="1752600"/>
            <a:ext cx="1162050" cy="238125"/>
          </a:xfrm>
          <a:prstGeom prst="roundRect">
            <a:avLst>
              <a:gd name="adj" fmla="val 48000"/>
            </a:avLst>
          </a:prstGeom>
          <a:solidFill>
            <a:srgbClr val="FFFFFF"/>
          </a:solidFill>
          <a:ln w="9525">
            <a:solidFill>
              <a:srgbClr val="E7E3E5"/>
            </a:solidFill>
            <a:prstDash val="solid"/>
          </a:ln>
        </p:spPr>
        <p:txBody>
          <a:bodyPr lIns="0" tIns="0" rIns="0" bIns="0" anchor="ctr">
            <a:normAutofit/>
          </a:bodyPr>
          <a:lstStyle/>
          <a:p>
            <a:pPr algn="ctr">
              <a:buNone/>
              <a:defRPr sz="975" b="1">
                <a:solidFill>
                  <a:srgbClr val="830051"/>
                </a:solidFill>
                <a:latin typeface="Arial"/>
                <a:ea typeface="Arial"/>
                <a:cs typeface="Arial"/>
              </a:defRPr>
            </a:pPr>
            <a:r>
              <a:rPr sz="975" b="1">
                <a:solidFill>
                  <a:srgbClr val="830051"/>
                </a:solidFill>
                <a:latin typeface="Arial"/>
                <a:ea typeface="Arial"/>
                <a:cs typeface="Arial"/>
              </a:rPr>
              <a:t>LOOKUP ONLY</a:t>
            </a:r>
          </a:p>
        </p:txBody>
      </p:sp>
      <p:sp>
        <p:nvSpPr>
          <p:cNvPr id="71000" name="stun-title">
            <a:extLst>
              <a:ext uri="{FF2B5EF4-FFF2-40B4-BE49-F238E27FC236}">
                <a16:creationId xmlns:a16="http://schemas.microsoft.com/office/drawing/2014/main" id="{E0CD24DB-6DC5-4B76-A630-C89559EEE6FC}"/>
              </a:ext>
            </a:extLst>
          </p:cNvPr>
          <p:cNvSpPr>
            <a:spLocks noGrp="1"/>
          </p:cNvSpPr>
          <p:nvPr/>
        </p:nvSpPr>
        <p:spPr>
          <a:xfrm>
            <a:off x="4257675" y="2076450"/>
            <a:ext cx="1162050" cy="428625"/>
          </a:xfrm>
          <a:prstGeom prst="rect">
            <a:avLst/>
          </a:prstGeom>
          <a:noFill/>
          <a:ln w="0">
            <a:noFill/>
            <a:prstDash val="solid"/>
          </a:ln>
        </p:spPr>
        <p:txBody>
          <a:bodyPr lIns="0" tIns="0" rIns="0" bIns="0" anchor="ctr">
            <a:normAutofit/>
          </a:bodyPr>
          <a:lstStyle/>
          <a:p>
            <a:pPr algn="l">
              <a:buNone/>
              <a:defRPr sz="2400" b="1">
                <a:solidFill>
                  <a:srgbClr val="830051"/>
                </a:solidFill>
                <a:latin typeface="Arial"/>
                <a:ea typeface="Arial"/>
                <a:cs typeface="Arial"/>
              </a:defRPr>
            </a:pPr>
            <a:r>
              <a:rPr sz="2400" b="1">
                <a:solidFill>
                  <a:srgbClr val="830051"/>
                </a:solidFill>
                <a:latin typeface="Arial"/>
                <a:ea typeface="Arial"/>
                <a:cs typeface="Arial"/>
              </a:rPr>
              <a:t>STUN</a:t>
            </a:r>
          </a:p>
        </p:txBody>
      </p:sp>
      <p:sp>
        <p:nvSpPr>
          <p:cNvPr id="71100" name="stun-purpose">
            <a:extLst>
              <a:ext uri="{FF2B5EF4-FFF2-40B4-BE49-F238E27FC236}">
                <a16:creationId xmlns:a16="http://schemas.microsoft.com/office/drawing/2014/main" id="{797D7DF3-1132-4E7B-93F6-445B5F338173}"/>
              </a:ext>
            </a:extLst>
          </p:cNvPr>
          <p:cNvSpPr>
            <a:spLocks noGrp="1"/>
          </p:cNvSpPr>
          <p:nvPr/>
        </p:nvSpPr>
        <p:spPr>
          <a:xfrm>
            <a:off x="5619750" y="1752600"/>
            <a:ext cx="2314575" cy="323850"/>
          </a:xfrm>
          <a:prstGeom prst="rect">
            <a:avLst/>
          </a:prstGeom>
          <a:noFill/>
          <a:ln w="0">
            <a:noFill/>
            <a:prstDash val="solid"/>
          </a:ln>
        </p:spPr>
        <p:txBody>
          <a:bodyPr lIns="0" tIns="0" rIns="0" bIns="0" anchor="ctr">
            <a:normAutofit fontScale="85072"/>
          </a:bodyPr>
          <a:lstStyle/>
          <a:p>
            <a:pPr algn="l">
              <a:buNone/>
              <a:defRPr sz="1500" b="1">
                <a:solidFill>
                  <a:srgbClr val="171417"/>
                </a:solidFill>
                <a:latin typeface="Arial"/>
                <a:ea typeface="Arial"/>
                <a:cs typeface="Arial"/>
              </a:defRPr>
            </a:pPr>
            <a:r>
              <a:rPr sz="1500" b="1">
                <a:solidFill>
                  <a:srgbClr val="171417"/>
                </a:solidFill>
                <a:latin typeface="Arial"/>
                <a:ea typeface="Arial"/>
                <a:cs typeface="Arial"/>
              </a:rPr>
              <a:t>Returns the public IP and port</a:t>
            </a:r>
          </a:p>
        </p:txBody>
      </p:sp>
      <p:sp>
        <p:nvSpPr>
          <p:cNvPr id="71200" name="stun-no-media">
            <a:extLst>
              <a:ext uri="{FF2B5EF4-FFF2-40B4-BE49-F238E27FC236}">
                <a16:creationId xmlns:a16="http://schemas.microsoft.com/office/drawing/2014/main" id="{5020213E-65F5-48DD-AF3E-D3BDDC9609CA}"/>
              </a:ext>
            </a:extLst>
          </p:cNvPr>
          <p:cNvSpPr>
            <a:spLocks noGrp="1"/>
          </p:cNvSpPr>
          <p:nvPr/>
        </p:nvSpPr>
        <p:spPr>
          <a:xfrm>
            <a:off x="5619750" y="2171700"/>
            <a:ext cx="2314575" cy="304800"/>
          </a:xfrm>
          <a:prstGeom prst="rect">
            <a:avLst/>
          </a:prstGeom>
          <a:noFill/>
          <a:ln w="0">
            <a:noFill/>
            <a:prstDash val="solid"/>
          </a:ln>
        </p:spPr>
        <p:txBody>
          <a:bodyPr lIns="0" tIns="0" rIns="0" bIns="0" anchor="ctr">
            <a:normAutofit fontScale="92022"/>
          </a:bodyPr>
          <a:lstStyle/>
          <a:p>
            <a:pPr algn="l">
              <a:buNone/>
              <a:defRPr sz="1200" b="1">
                <a:solidFill>
                  <a:srgbClr val="830051"/>
                </a:solidFill>
                <a:latin typeface="Arial"/>
                <a:ea typeface="Arial"/>
                <a:cs typeface="Arial"/>
              </a:defRPr>
            </a:pPr>
            <a:r>
              <a:rPr sz="1200" b="1">
                <a:solidFill>
                  <a:srgbClr val="830051"/>
                </a:solidFill>
                <a:latin typeface="Arial"/>
                <a:ea typeface="Arial"/>
                <a:cs typeface="Arial"/>
              </a:rPr>
              <a:t>Media never passes through STUN</a:t>
            </a:r>
          </a:p>
        </p:txBody>
      </p:sp>
      <p:sp>
        <p:nvSpPr>
          <p:cNvPr id="71300" name="turn-media-relay-card">
            <a:extLst>
              <a:ext uri="{FF2B5EF4-FFF2-40B4-BE49-F238E27FC236}">
                <a16:creationId xmlns:a16="http://schemas.microsoft.com/office/drawing/2014/main" id="{E6A97A5D-0A33-4E35-85E9-617BBB5D1585}"/>
              </a:ext>
            </a:extLst>
          </p:cNvPr>
          <p:cNvSpPr>
            <a:spLocks noGrp="1"/>
          </p:cNvSpPr>
          <p:nvPr/>
        </p:nvSpPr>
        <p:spPr>
          <a:xfrm>
            <a:off x="4000500" y="4514850"/>
            <a:ext cx="4191000" cy="1219200"/>
          </a:xfrm>
          <a:prstGeom prst="roundRect">
            <a:avLst>
              <a:gd name="adj" fmla="val 14063"/>
            </a:avLst>
          </a:prstGeom>
          <a:solidFill>
            <a:srgbClr val="510034"/>
          </a:solidFill>
          <a:ln w="9525">
            <a:solidFill>
              <a:srgbClr val="510034"/>
            </a:solidFill>
            <a:prstDash val="solid"/>
          </a:ln>
        </p:spPr>
        <p:style>
          <a:lnRef idx="0">
            <a:scrgbClr r="0" g="0" b="0"/>
          </a:lnRef>
          <a:fillRef idx="0">
            <a:scrgbClr r="0" g="0" b="0"/>
          </a:fillRef>
          <a:effectRef idx="6">
            <a:scrgbClr r="0" g="0" b="0"/>
          </a:effectRef>
          <a:fontRef idx="major"/>
        </p:style>
        <p:txBody>
          <a:bodyPr/>
          <a:lstStyle/>
          <a:p>
            <a:endParaRPr/>
          </a:p>
        </p:txBody>
      </p:sp>
      <p:sp>
        <p:nvSpPr>
          <p:cNvPr id="71400" name="turn-relay-badge">
            <a:extLst>
              <a:ext uri="{FF2B5EF4-FFF2-40B4-BE49-F238E27FC236}">
                <a16:creationId xmlns:a16="http://schemas.microsoft.com/office/drawing/2014/main" id="{96C3EE49-9A67-4A9E-8F67-191722319B6C}"/>
              </a:ext>
            </a:extLst>
          </p:cNvPr>
          <p:cNvSpPr>
            <a:spLocks noGrp="1"/>
          </p:cNvSpPr>
          <p:nvPr/>
        </p:nvSpPr>
        <p:spPr>
          <a:xfrm>
            <a:off x="4257675" y="4695825"/>
            <a:ext cx="914400" cy="238125"/>
          </a:xfrm>
          <a:prstGeom prst="roundRect">
            <a:avLst>
              <a:gd name="adj" fmla="val 48000"/>
            </a:avLst>
          </a:prstGeom>
          <a:solidFill>
            <a:srgbClr val="E97132"/>
          </a:solidFill>
          <a:ln w="9525">
            <a:solidFill>
              <a:srgbClr val="E97132"/>
            </a:solidFill>
            <a:prstDash val="solid"/>
          </a:ln>
        </p:spPr>
        <p:txBody>
          <a:bodyPr lIns="0" tIns="0" rIns="0" bIns="0" anchor="ctr">
            <a:normAutofit/>
          </a:bodyPr>
          <a:lstStyle/>
          <a:p>
            <a:pPr algn="ctr">
              <a:buNone/>
              <a:defRPr sz="975" b="1">
                <a:solidFill>
                  <a:srgbClr val="FFFFFF"/>
                </a:solidFill>
                <a:latin typeface="Arial"/>
                <a:ea typeface="Arial"/>
                <a:cs typeface="Arial"/>
              </a:defRPr>
            </a:pPr>
            <a:r>
              <a:rPr sz="975" b="1">
                <a:solidFill>
                  <a:srgbClr val="FFFFFF"/>
                </a:solidFill>
                <a:latin typeface="Arial"/>
                <a:ea typeface="Arial"/>
                <a:cs typeface="Arial"/>
              </a:rPr>
              <a:t>RELAY</a:t>
            </a:r>
          </a:p>
        </p:txBody>
      </p:sp>
      <p:sp>
        <p:nvSpPr>
          <p:cNvPr id="71500" name="turn-title">
            <a:extLst>
              <a:ext uri="{FF2B5EF4-FFF2-40B4-BE49-F238E27FC236}">
                <a16:creationId xmlns:a16="http://schemas.microsoft.com/office/drawing/2014/main" id="{8D38E62C-585D-4D6E-ABBE-77375046FACE}"/>
              </a:ext>
            </a:extLst>
          </p:cNvPr>
          <p:cNvSpPr>
            <a:spLocks noGrp="1"/>
          </p:cNvSpPr>
          <p:nvPr/>
        </p:nvSpPr>
        <p:spPr>
          <a:xfrm>
            <a:off x="4257675" y="5010150"/>
            <a:ext cx="1162050" cy="428625"/>
          </a:xfrm>
          <a:prstGeom prst="rect">
            <a:avLst/>
          </a:prstGeom>
          <a:noFill/>
          <a:ln w="0">
            <a:noFill/>
            <a:prstDash val="solid"/>
          </a:ln>
        </p:spPr>
        <p:txBody>
          <a:bodyPr lIns="0" tIns="0" rIns="0" bIns="0" anchor="ctr">
            <a:normAutofit/>
          </a:bodyPr>
          <a:lstStyle/>
          <a:p>
            <a:pPr algn="l">
              <a:buNone/>
              <a:defRPr sz="2400" b="1">
                <a:solidFill>
                  <a:srgbClr val="FFFFFF"/>
                </a:solidFill>
                <a:latin typeface="Arial"/>
                <a:ea typeface="Arial"/>
                <a:cs typeface="Arial"/>
              </a:defRPr>
            </a:pPr>
            <a:r>
              <a:rPr sz="2400" b="1">
                <a:solidFill>
                  <a:srgbClr val="FFFFFF"/>
                </a:solidFill>
                <a:latin typeface="Arial"/>
                <a:ea typeface="Arial"/>
                <a:cs typeface="Arial"/>
              </a:rPr>
              <a:t>TURN</a:t>
            </a:r>
          </a:p>
        </p:txBody>
      </p:sp>
      <p:sp>
        <p:nvSpPr>
          <p:cNvPr id="71600" name="turn-purpose">
            <a:extLst>
              <a:ext uri="{FF2B5EF4-FFF2-40B4-BE49-F238E27FC236}">
                <a16:creationId xmlns:a16="http://schemas.microsoft.com/office/drawing/2014/main" id="{4312D52D-C8F0-4FE1-B7B8-E47E3EEA6D9B}"/>
              </a:ext>
            </a:extLst>
          </p:cNvPr>
          <p:cNvSpPr>
            <a:spLocks noGrp="1"/>
          </p:cNvSpPr>
          <p:nvPr/>
        </p:nvSpPr>
        <p:spPr>
          <a:xfrm>
            <a:off x="5619750" y="4695825"/>
            <a:ext cx="2314575" cy="457200"/>
          </a:xfrm>
          <a:prstGeom prst="rect">
            <a:avLst/>
          </a:prstGeom>
          <a:noFill/>
          <a:ln w="0">
            <a:noFill/>
            <a:prstDash val="solid"/>
          </a:ln>
        </p:spPr>
        <p:txBody>
          <a:bodyPr lIns="0" tIns="0" rIns="0" bIns="0" anchor="ctr">
            <a:normAutofit/>
          </a:bodyPr>
          <a:lstStyle/>
          <a:p>
            <a:pPr algn="l">
              <a:buNone/>
              <a:defRPr sz="1500" b="1">
                <a:solidFill>
                  <a:srgbClr val="FFFFFF"/>
                </a:solidFill>
                <a:latin typeface="Arial"/>
                <a:ea typeface="Arial"/>
                <a:cs typeface="Arial"/>
              </a:defRPr>
            </a:pPr>
            <a:r>
              <a:rPr sz="1500" b="1">
                <a:solidFill>
                  <a:srgbClr val="FFFFFF"/>
                </a:solidFill>
                <a:latin typeface="Arial"/>
                <a:ea typeface="Arial"/>
                <a:cs typeface="Arial"/>
              </a:rPr>
              <a:t>Forwards media when the direct path fails</a:t>
            </a:r>
          </a:p>
        </p:txBody>
      </p:sp>
      <p:sp>
        <p:nvSpPr>
          <p:cNvPr id="71700" name="turn-in-path">
            <a:extLst>
              <a:ext uri="{FF2B5EF4-FFF2-40B4-BE49-F238E27FC236}">
                <a16:creationId xmlns:a16="http://schemas.microsoft.com/office/drawing/2014/main" id="{C999F9B9-88B3-49A7-85D3-1D3472016C5B}"/>
              </a:ext>
            </a:extLst>
          </p:cNvPr>
          <p:cNvSpPr>
            <a:spLocks noGrp="1"/>
          </p:cNvSpPr>
          <p:nvPr/>
        </p:nvSpPr>
        <p:spPr>
          <a:xfrm>
            <a:off x="5619750" y="5248275"/>
            <a:ext cx="2314575" cy="266700"/>
          </a:xfrm>
          <a:prstGeom prst="rect">
            <a:avLst/>
          </a:prstGeom>
          <a:noFill/>
          <a:ln w="0">
            <a:noFill/>
            <a:prstDash val="solid"/>
          </a:ln>
        </p:spPr>
        <p:txBody>
          <a:bodyPr lIns="0" tIns="0" rIns="0" bIns="0" anchor="ctr">
            <a:normAutofit/>
          </a:bodyPr>
          <a:lstStyle/>
          <a:p>
            <a:pPr algn="l">
              <a:buNone/>
              <a:defRPr sz="1200">
                <a:solidFill>
                  <a:srgbClr val="FFFFFF"/>
                </a:solidFill>
                <a:latin typeface="Arial"/>
                <a:ea typeface="Arial"/>
                <a:cs typeface="Arial"/>
              </a:defRPr>
            </a:pPr>
            <a:r>
              <a:rPr sz="1200">
                <a:solidFill>
                  <a:srgbClr val="FFFFFF"/>
                </a:solidFill>
                <a:latin typeface="Arial"/>
                <a:ea typeface="Arial"/>
                <a:cs typeface="Arial"/>
              </a:rPr>
              <a:t>Traffic enters and leaves the relay</a:t>
            </a:r>
          </a:p>
        </p:txBody>
      </p:sp>
      <p:cxnSp>
        <p:nvCxnSpPr>
          <p:cNvPr id="71701" name="stun-request-response-left"/>
          <p:cNvCxnSpPr>
            <a:stCxn id="70000" idx="0"/>
            <a:endCxn id="70800" idx="1"/>
          </p:cNvCxnSpPr>
          <p:nvPr/>
        </p:nvCxnSpPr>
        <p:spPr>
          <a:xfrm flipV="1">
            <a:off x="1905000" y="2181225"/>
            <a:ext cx="2095500" cy="923925"/>
          </a:xfrm>
          <a:prstGeom prst="straightConnector1">
            <a:avLst/>
          </a:prstGeom>
          <a:ln w="19050">
            <a:solidFill>
              <a:srgbClr val="A69FA3"/>
            </a:solidFill>
            <a:prstDash val="dash"/>
            <a:headEnd type="arrow" w="sm" len="sm"/>
            <a:tailEnd type="arrow" w="sm" len="sm"/>
          </a:ln>
        </p:spPr>
      </p:cxnSp>
      <p:cxnSp>
        <p:nvCxnSpPr>
          <p:cNvPr id="71702" name="stun-request-response-right"/>
          <p:cNvCxnSpPr>
            <a:stCxn id="70400" idx="0"/>
            <a:endCxn id="70800" idx="3"/>
          </p:cNvCxnSpPr>
          <p:nvPr/>
        </p:nvCxnSpPr>
        <p:spPr>
          <a:xfrm flipH="1" flipV="1">
            <a:off x="8191500" y="2181225"/>
            <a:ext cx="2095500" cy="923925"/>
          </a:xfrm>
          <a:prstGeom prst="straightConnector1">
            <a:avLst/>
          </a:prstGeom>
          <a:ln w="19050">
            <a:solidFill>
              <a:srgbClr val="A69FA3"/>
            </a:solidFill>
            <a:prstDash val="dash"/>
            <a:headEnd type="arrow" w="sm" len="sm"/>
            <a:tailEnd type="arrow" w="sm" len="sm"/>
          </a:ln>
        </p:spPr>
      </p:cxnSp>
      <p:cxnSp>
        <p:nvCxnSpPr>
          <p:cNvPr id="71703" name="direct-media-path"/>
          <p:cNvCxnSpPr>
            <a:stCxn id="70000" idx="3"/>
            <a:endCxn id="70400" idx="1"/>
          </p:cNvCxnSpPr>
          <p:nvPr/>
        </p:nvCxnSpPr>
        <p:spPr>
          <a:xfrm>
            <a:off x="3143250" y="3609975"/>
            <a:ext cx="5905500" cy="0"/>
          </a:xfrm>
          <a:prstGeom prst="straightConnector1">
            <a:avLst/>
          </a:prstGeom>
          <a:ln w="38100">
            <a:solidFill>
              <a:srgbClr val="196B24"/>
            </a:solidFill>
            <a:prstDash val="solid"/>
            <a:tailEnd type="triangle" w="med" len="med"/>
          </a:ln>
        </p:spPr>
      </p:cxnSp>
      <p:sp>
        <p:nvSpPr>
          <p:cNvPr id="72100" name="direct-media-label">
            <a:extLst>
              <a:ext uri="{FF2B5EF4-FFF2-40B4-BE49-F238E27FC236}">
                <a16:creationId xmlns:a16="http://schemas.microsoft.com/office/drawing/2014/main" id="{552CCC5E-F45F-42C4-8D22-C9D7EE68A155}"/>
              </a:ext>
            </a:extLst>
          </p:cNvPr>
          <p:cNvSpPr>
            <a:spLocks noGrp="1"/>
          </p:cNvSpPr>
          <p:nvPr/>
        </p:nvSpPr>
        <p:spPr>
          <a:xfrm>
            <a:off x="4810125" y="3324225"/>
            <a:ext cx="2571750" cy="400050"/>
          </a:xfrm>
          <a:prstGeom prst="roundRect">
            <a:avLst>
              <a:gd name="adj" fmla="val 50000"/>
            </a:avLst>
          </a:prstGeom>
          <a:solidFill>
            <a:srgbClr val="EAF4EC"/>
          </a:solidFill>
          <a:ln w="14288">
            <a:solidFill>
              <a:srgbClr val="196B24"/>
            </a:solidFill>
            <a:prstDash val="solid"/>
          </a:ln>
        </p:spPr>
        <p:txBody>
          <a:bodyPr lIns="76200" tIns="0" rIns="76200" bIns="0" anchor="ctr">
            <a:normAutofit/>
          </a:bodyPr>
          <a:lstStyle/>
          <a:p>
            <a:pPr algn="ctr">
              <a:buNone/>
              <a:defRPr sz="1125" b="1">
                <a:solidFill>
                  <a:srgbClr val="196B24"/>
                </a:solidFill>
                <a:latin typeface="Arial"/>
                <a:ea typeface="Arial"/>
                <a:cs typeface="Arial"/>
              </a:defRPr>
            </a:pPr>
            <a:r>
              <a:rPr sz="1125" b="1">
                <a:solidFill>
                  <a:srgbClr val="196B24"/>
                </a:solidFill>
                <a:latin typeface="Arial"/>
                <a:ea typeface="Arial"/>
                <a:cs typeface="Arial"/>
              </a:rPr>
              <a:t>DIRECT MEDIA WHEN REACHABLE</a:t>
            </a:r>
          </a:p>
        </p:txBody>
      </p:sp>
      <p:cxnSp>
        <p:nvCxnSpPr>
          <p:cNvPr id="72101" name="media-to-turn-relay"/>
          <p:cNvCxnSpPr>
            <a:stCxn id="70000" idx="2"/>
            <a:endCxn id="71300" idx="1"/>
          </p:cNvCxnSpPr>
          <p:nvPr/>
        </p:nvCxnSpPr>
        <p:spPr>
          <a:xfrm>
            <a:off x="1905000" y="4114800"/>
            <a:ext cx="2095500" cy="1009650"/>
          </a:xfrm>
          <a:prstGeom prst="straightConnector1">
            <a:avLst/>
          </a:prstGeom>
          <a:ln w="38100">
            <a:solidFill>
              <a:srgbClr val="E97132"/>
            </a:solidFill>
            <a:prstDash val="solid"/>
            <a:tailEnd type="triangle" w="med" len="med"/>
          </a:ln>
        </p:spPr>
      </p:cxnSp>
      <p:cxnSp>
        <p:nvCxnSpPr>
          <p:cNvPr id="72102" name="media-from-turn-relay"/>
          <p:cNvCxnSpPr>
            <a:stCxn id="71300" idx="3"/>
            <a:endCxn id="70400" idx="2"/>
          </p:cNvCxnSpPr>
          <p:nvPr/>
        </p:nvCxnSpPr>
        <p:spPr>
          <a:xfrm flipV="1">
            <a:off x="8191500" y="4114800"/>
            <a:ext cx="2095500" cy="1009650"/>
          </a:xfrm>
          <a:prstGeom prst="straightConnector1">
            <a:avLst/>
          </a:prstGeom>
          <a:ln w="38100">
            <a:solidFill>
              <a:srgbClr val="E97132"/>
            </a:solidFill>
            <a:prstDash val="solid"/>
            <a:tailEnd type="triangle" w="med" len="med"/>
          </a:ln>
        </p:spPr>
      </p:cxnSp>
      <p:sp>
        <p:nvSpPr>
          <p:cNvPr id="72400" name="turn-fallback-label">
            <a:extLst>
              <a:ext uri="{FF2B5EF4-FFF2-40B4-BE49-F238E27FC236}">
                <a16:creationId xmlns:a16="http://schemas.microsoft.com/office/drawing/2014/main" id="{3A65503E-FA66-4BED-BB0F-C2184A235AA0}"/>
              </a:ext>
            </a:extLst>
          </p:cNvPr>
          <p:cNvSpPr>
            <a:spLocks noGrp="1"/>
          </p:cNvSpPr>
          <p:nvPr/>
        </p:nvSpPr>
        <p:spPr>
          <a:xfrm>
            <a:off x="4714875" y="4114800"/>
            <a:ext cx="2762250" cy="276225"/>
          </a:xfrm>
          <a:prstGeom prst="roundRect">
            <a:avLst>
              <a:gd name="adj" fmla="val 48276"/>
            </a:avLst>
          </a:prstGeom>
          <a:solidFill>
            <a:srgbClr val="FFF0E8"/>
          </a:solidFill>
          <a:ln w="9525">
            <a:solidFill>
              <a:srgbClr val="E97132"/>
            </a:solidFill>
            <a:prstDash val="solid"/>
          </a:ln>
        </p:spPr>
        <p:txBody>
          <a:bodyPr lIns="76200" tIns="0" rIns="76200" bIns="0" anchor="ctr">
            <a:normAutofit/>
          </a:bodyPr>
          <a:lstStyle/>
          <a:p>
            <a:pPr algn="ctr">
              <a:buNone/>
              <a:defRPr sz="1050" b="1">
                <a:solidFill>
                  <a:srgbClr val="E97132"/>
                </a:solidFill>
                <a:latin typeface="Arial"/>
                <a:ea typeface="Arial"/>
                <a:cs typeface="Arial"/>
              </a:defRPr>
            </a:pPr>
            <a:r>
              <a:rPr sz="1050" b="1">
                <a:solidFill>
                  <a:srgbClr val="E97132"/>
                </a:solidFill>
                <a:latin typeface="Arial"/>
                <a:ea typeface="Arial"/>
                <a:cs typeface="Arial"/>
              </a:rPr>
              <a:t>FALLBACK MEDIA THROUGH TURN</a:t>
            </a:r>
          </a:p>
        </p:txBody>
      </p:sp>
      <p:sp>
        <p:nvSpPr>
          <p:cNvPr id="72500" name="stun-turn-takeaway">
            <a:extLst>
              <a:ext uri="{FF2B5EF4-FFF2-40B4-BE49-F238E27FC236}">
                <a16:creationId xmlns:a16="http://schemas.microsoft.com/office/drawing/2014/main" id="{3D7CB19F-F1FB-4E30-A802-8B1D22B6840F}"/>
              </a:ext>
            </a:extLst>
          </p:cNvPr>
          <p:cNvSpPr>
            <a:spLocks noGrp="1"/>
          </p:cNvSpPr>
          <p:nvPr/>
        </p:nvSpPr>
        <p:spPr>
          <a:xfrm>
            <a:off x="1257300" y="5953125"/>
            <a:ext cx="9677400" cy="409575"/>
          </a:xfrm>
          <a:prstGeom prst="roundRect">
            <a:avLst>
              <a:gd name="adj" fmla="val 41860"/>
            </a:avLst>
          </a:prstGeom>
          <a:solidFill>
            <a:srgbClr val="FFFFFF"/>
          </a:solidFill>
          <a:ln w="9525">
            <a:solidFill>
              <a:srgbClr val="E7E3E5"/>
            </a:solidFill>
            <a:prstDash val="solid"/>
          </a:ln>
        </p:spPr>
        <p:txBody>
          <a:bodyPr lIns="171450" tIns="0" rIns="171450" bIns="0" anchor="ctr">
            <a:normAutofit/>
          </a:bodyPr>
          <a:lstStyle/>
          <a:p>
            <a:pPr algn="ctr">
              <a:buNone/>
              <a:defRPr sz="1350">
                <a:solidFill>
                  <a:srgbClr val="171417"/>
                </a:solidFill>
                <a:latin typeface="Arial"/>
                <a:ea typeface="Arial"/>
                <a:cs typeface="Arial"/>
              </a:defRPr>
            </a:pPr>
            <a:r>
              <a:rPr sz="1350" b="1">
                <a:solidFill>
                  <a:srgbClr val="171417"/>
                </a:solidFill>
                <a:latin typeface="Arial"/>
                <a:ea typeface="Arial"/>
                <a:cs typeface="Arial"/>
              </a:rPr>
              <a:t>STUN</a:t>
            </a:r>
            <a:r>
              <a:rPr sz="1350">
                <a:solidFill>
                  <a:srgbClr val="171417"/>
                </a:solidFill>
                <a:latin typeface="Arial"/>
                <a:ea typeface="Arial"/>
                <a:cs typeface="Arial"/>
              </a:rPr>
              <a:t> returns the public IP and port only.  </a:t>
            </a:r>
            <a:r>
              <a:rPr sz="1350" b="1">
                <a:solidFill>
                  <a:srgbClr val="171417"/>
                </a:solidFill>
                <a:latin typeface="Arial"/>
                <a:ea typeface="Arial"/>
                <a:cs typeface="Arial"/>
              </a:rPr>
              <a:t>TURN</a:t>
            </a:r>
            <a:r>
              <a:rPr sz="1350">
                <a:solidFill>
                  <a:srgbClr val="171417"/>
                </a:solidFill>
                <a:latin typeface="Arial"/>
                <a:ea typeface="Arial"/>
                <a:cs typeface="Arial"/>
              </a:rPr>
              <a:t> relays media when no direct path works.</a:t>
            </a:r>
          </a:p>
        </p:txBody>
      </p:sp>
    </p:spTree>
    <p:extLst>
      <p:ext uri="{BB962C8B-B14F-4D97-AF65-F5344CB8AC3E}">
        <p14:creationId xmlns:p14="http://schemas.microsoft.com/office/powerpoint/2010/main" val="1616458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3" name="Rectángulo 22">
            <a:extLst>
              <a:ext uri="{FF2B5EF4-FFF2-40B4-BE49-F238E27FC236}">
                <a16:creationId xmlns:a16="http://schemas.microsoft.com/office/drawing/2014/main" id="{67DF73B5-401A-4D42-A102-65DE49555885}"/>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1A2A5A16-0215-4F66-9818-D88EBEC69C2B}"/>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SDP Offer and Answer</a:t>
            </a:r>
          </a:p>
        </p:txBody>
      </p:sp>
      <p:sp>
        <p:nvSpPr>
          <p:cNvPr id="3" name="Rectángulo 2">
            <a:extLst>
              <a:ext uri="{FF2B5EF4-FFF2-40B4-BE49-F238E27FC236}">
                <a16:creationId xmlns:a16="http://schemas.microsoft.com/office/drawing/2014/main" id="{787E6A14-72B7-45A1-ACAE-DB0584AE79D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D837308-51C9-4DF4-B136-066AFF6E02F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08</a:t>
            </a:r>
          </a:p>
        </p:txBody>
      </p:sp>
      <p:sp>
        <p:nvSpPr>
          <p:cNvPr id="5" name="Rectángulo: esquinas redondeadas 4">
            <a:extLst>
              <a:ext uri="{FF2B5EF4-FFF2-40B4-BE49-F238E27FC236}">
                <a16:creationId xmlns:a16="http://schemas.microsoft.com/office/drawing/2014/main" id="{15770BFC-853B-460B-887A-9B2AA3751602}"/>
              </a:ext>
            </a:extLst>
          </p:cNvPr>
          <p:cNvSpPr>
            <a:spLocks noGrp="1"/>
          </p:cNvSpPr>
          <p:nvPr/>
        </p:nvSpPr>
        <p:spPr>
          <a:xfrm>
            <a:off x="838200" y="1657350"/>
            <a:ext cx="2381250" cy="742950"/>
          </a:xfrm>
          <a:prstGeom prst="roundRect">
            <a:avLst>
              <a:gd name="adj" fmla="val 1794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Raspberry Pi</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OFFERER</a:t>
            </a:r>
          </a:p>
        </p:txBody>
      </p:sp>
      <p:sp>
        <p:nvSpPr>
          <p:cNvPr id="6" name="Rectángulo: esquinas redondeadas 5">
            <a:extLst>
              <a:ext uri="{FF2B5EF4-FFF2-40B4-BE49-F238E27FC236}">
                <a16:creationId xmlns:a16="http://schemas.microsoft.com/office/drawing/2014/main" id="{D24BC62F-084D-4ED3-B09E-0348DC7D326B}"/>
              </a:ext>
            </a:extLst>
          </p:cNvPr>
          <p:cNvSpPr>
            <a:spLocks noGrp="1"/>
          </p:cNvSpPr>
          <p:nvPr/>
        </p:nvSpPr>
        <p:spPr>
          <a:xfrm>
            <a:off x="4905375" y="1657350"/>
            <a:ext cx="2381250" cy="742950"/>
          </a:xfrm>
          <a:prstGeom prst="roundRect">
            <a:avLst>
              <a:gd name="adj" fmla="val 17949"/>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SignalR server</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FORWARDS ONLY</a:t>
            </a:r>
          </a:p>
        </p:txBody>
      </p:sp>
      <p:sp>
        <p:nvSpPr>
          <p:cNvPr id="7" name="Rectángulo: esquinas redondeadas 6">
            <a:extLst>
              <a:ext uri="{FF2B5EF4-FFF2-40B4-BE49-F238E27FC236}">
                <a16:creationId xmlns:a16="http://schemas.microsoft.com/office/drawing/2014/main" id="{E5992359-2E1C-4EB6-B599-2A8307C840A7}"/>
              </a:ext>
            </a:extLst>
          </p:cNvPr>
          <p:cNvSpPr>
            <a:spLocks noGrp="1"/>
          </p:cNvSpPr>
          <p:nvPr/>
        </p:nvSpPr>
        <p:spPr>
          <a:xfrm>
            <a:off x="8972550" y="1657350"/>
            <a:ext cx="2381250" cy="742950"/>
          </a:xfrm>
          <a:prstGeom prst="roundRect">
            <a:avLst>
              <a:gd name="adj" fmla="val 1794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Remote browser</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ANSWERER</a:t>
            </a:r>
          </a:p>
        </p:txBody>
      </p:sp>
      <p:sp>
        <p:nvSpPr>
          <p:cNvPr id="8" name="Conector recto 7">
            <a:extLst>
              <a:ext uri="{FF2B5EF4-FFF2-40B4-BE49-F238E27FC236}">
                <a16:creationId xmlns:a16="http://schemas.microsoft.com/office/drawing/2014/main" id="{99B81101-38B9-4E4D-97A2-481B30E04091}"/>
              </a:ext>
            </a:extLst>
          </p:cNvPr>
          <p:cNvSpPr>
            <a:spLocks noGrp="1"/>
          </p:cNvSpPr>
          <p:nvPr/>
        </p:nvSpPr>
        <p:spPr>
          <a:xfrm>
            <a:off x="2028825" y="2514600"/>
            <a:ext cx="0" cy="1600200"/>
          </a:xfrm>
          <a:prstGeom prst="line">
            <a:avLst/>
          </a:prstGeom>
          <a:noFill/>
          <a:ln w="9525">
            <a:solidFill>
              <a:srgbClr val="A69FA3"/>
            </a:solidFill>
            <a:prstDash val="dash"/>
          </a:ln>
        </p:spPr>
        <p:txBody>
          <a:bodyPr/>
          <a:lstStyle/>
          <a:p>
            <a:endParaRPr/>
          </a:p>
        </p:txBody>
      </p:sp>
      <p:sp>
        <p:nvSpPr>
          <p:cNvPr id="9" name="Conector recto 8">
            <a:extLst>
              <a:ext uri="{FF2B5EF4-FFF2-40B4-BE49-F238E27FC236}">
                <a16:creationId xmlns:a16="http://schemas.microsoft.com/office/drawing/2014/main" id="{2FD2DF9B-5CDC-4675-9EA0-6B8E49687783}"/>
              </a:ext>
            </a:extLst>
          </p:cNvPr>
          <p:cNvSpPr>
            <a:spLocks noGrp="1"/>
          </p:cNvSpPr>
          <p:nvPr/>
        </p:nvSpPr>
        <p:spPr>
          <a:xfrm>
            <a:off x="6096000" y="2514600"/>
            <a:ext cx="0" cy="1600200"/>
          </a:xfrm>
          <a:prstGeom prst="line">
            <a:avLst/>
          </a:prstGeom>
          <a:noFill/>
          <a:ln w="9525">
            <a:solidFill>
              <a:srgbClr val="A69FA3"/>
            </a:solidFill>
            <a:prstDash val="dash"/>
          </a:ln>
        </p:spPr>
        <p:txBody>
          <a:bodyPr/>
          <a:lstStyle/>
          <a:p>
            <a:endParaRPr/>
          </a:p>
        </p:txBody>
      </p:sp>
      <p:sp>
        <p:nvSpPr>
          <p:cNvPr id="10" name="Conector recto 9">
            <a:extLst>
              <a:ext uri="{FF2B5EF4-FFF2-40B4-BE49-F238E27FC236}">
                <a16:creationId xmlns:a16="http://schemas.microsoft.com/office/drawing/2014/main" id="{00B19558-6FE1-4F26-A42C-521220F84CA5}"/>
              </a:ext>
            </a:extLst>
          </p:cNvPr>
          <p:cNvSpPr>
            <a:spLocks noGrp="1"/>
          </p:cNvSpPr>
          <p:nvPr/>
        </p:nvSpPr>
        <p:spPr>
          <a:xfrm>
            <a:off x="10163175" y="2514600"/>
            <a:ext cx="0" cy="1600200"/>
          </a:xfrm>
          <a:prstGeom prst="line">
            <a:avLst/>
          </a:prstGeom>
          <a:noFill/>
          <a:ln w="9525">
            <a:solidFill>
              <a:srgbClr val="A69FA3"/>
            </a:solidFill>
            <a:prstDash val="dash"/>
          </a:ln>
        </p:spPr>
        <p:txBody>
          <a:bodyPr/>
          <a:lstStyle/>
          <a:p>
            <a:endParaRPr/>
          </a:p>
        </p:txBody>
      </p:sp>
      <p:sp>
        <p:nvSpPr>
          <p:cNvPr id="11" name="Flecha: a la derecha 10">
            <a:extLst>
              <a:ext uri="{FF2B5EF4-FFF2-40B4-BE49-F238E27FC236}">
                <a16:creationId xmlns:a16="http://schemas.microsoft.com/office/drawing/2014/main" id="{8777A500-A949-4990-BAEF-102CC8238EC7}"/>
              </a:ext>
            </a:extLst>
          </p:cNvPr>
          <p:cNvSpPr>
            <a:spLocks noGrp="1"/>
          </p:cNvSpPr>
          <p:nvPr/>
        </p:nvSpPr>
        <p:spPr>
          <a:xfrm>
            <a:off x="3238500" y="2724150"/>
            <a:ext cx="5715000" cy="400050"/>
          </a:xfrm>
          <a:prstGeom prst="rightArrow">
            <a:avLst/>
          </a:prstGeom>
          <a:solidFill>
            <a:srgbClr val="830051"/>
          </a:solidFill>
          <a:ln w="0">
            <a:noFill/>
          </a:ln>
        </p:spPr>
        <p:txBody>
          <a:bodyPr wrap="square" lIns="247650" tIns="19050" rIns="247650" bIns="19050" anchor="ctr">
            <a:noAutofit/>
          </a:bodyPr>
          <a:lstStyle/>
          <a:p>
            <a:pPr algn="ctr">
              <a:buNone/>
              <a:defRPr sz="1275" b="1">
                <a:solidFill>
                  <a:srgbClr val="FFFFFF"/>
                </a:solidFill>
                <a:latin typeface="Arial"/>
                <a:ea typeface="Arial"/>
                <a:cs typeface="Arial"/>
              </a:defRPr>
            </a:pPr>
            <a:r>
              <a:rPr sz="1275" b="1">
                <a:solidFill>
                  <a:srgbClr val="FFFFFF"/>
                </a:solidFill>
                <a:latin typeface="Arial"/>
                <a:ea typeface="Arial"/>
                <a:cs typeface="Arial"/>
              </a:rPr>
              <a:t>SDP OFFER VIA SIGNALR</a:t>
            </a:r>
          </a:p>
        </p:txBody>
      </p:sp>
      <p:sp>
        <p:nvSpPr>
          <p:cNvPr id="12" name="Flecha: hacia la izquierda 11">
            <a:extLst>
              <a:ext uri="{FF2B5EF4-FFF2-40B4-BE49-F238E27FC236}">
                <a16:creationId xmlns:a16="http://schemas.microsoft.com/office/drawing/2014/main" id="{F824A59C-3181-4999-9E70-C0F69421CB66}"/>
              </a:ext>
            </a:extLst>
          </p:cNvPr>
          <p:cNvSpPr>
            <a:spLocks noGrp="1"/>
          </p:cNvSpPr>
          <p:nvPr/>
        </p:nvSpPr>
        <p:spPr>
          <a:xfrm>
            <a:off x="3238500" y="3429000"/>
            <a:ext cx="5715000" cy="400050"/>
          </a:xfrm>
          <a:prstGeom prst="leftArrow">
            <a:avLst/>
          </a:prstGeom>
          <a:solidFill>
            <a:srgbClr val="171417"/>
          </a:solidFill>
          <a:ln w="0">
            <a:noFill/>
          </a:ln>
        </p:spPr>
        <p:txBody>
          <a:bodyPr wrap="square" lIns="247650" tIns="19050" rIns="247650" bIns="19050" anchor="ctr">
            <a:noAutofit/>
          </a:bodyPr>
          <a:lstStyle/>
          <a:p>
            <a:pPr algn="ctr">
              <a:buNone/>
              <a:defRPr sz="1275" b="1">
                <a:solidFill>
                  <a:srgbClr val="FFFFFF"/>
                </a:solidFill>
                <a:latin typeface="Arial"/>
                <a:ea typeface="Arial"/>
                <a:cs typeface="Arial"/>
              </a:defRPr>
            </a:pPr>
            <a:r>
              <a:rPr sz="1275" b="1">
                <a:solidFill>
                  <a:srgbClr val="FFFFFF"/>
                </a:solidFill>
                <a:latin typeface="Arial"/>
                <a:ea typeface="Arial"/>
                <a:cs typeface="Arial"/>
              </a:rPr>
              <a:t>SDP ANSWER VIA SIGNALR</a:t>
            </a:r>
          </a:p>
        </p:txBody>
      </p:sp>
      <p:sp>
        <p:nvSpPr>
          <p:cNvPr id="13" name="Rectángulo: esquinas redondeadas 12">
            <a:extLst>
              <a:ext uri="{FF2B5EF4-FFF2-40B4-BE49-F238E27FC236}">
                <a16:creationId xmlns:a16="http://schemas.microsoft.com/office/drawing/2014/main" id="{0A614E90-0E36-4F31-A993-405F31762C1A}"/>
              </a:ext>
            </a:extLst>
          </p:cNvPr>
          <p:cNvSpPr>
            <a:spLocks noGrp="1"/>
          </p:cNvSpPr>
          <p:nvPr/>
        </p:nvSpPr>
        <p:spPr>
          <a:xfrm>
            <a:off x="1619250" y="4114800"/>
            <a:ext cx="8953500" cy="1866900"/>
          </a:xfrm>
          <a:prstGeom prst="roundRect">
            <a:avLst>
              <a:gd name="adj" fmla="val 10345"/>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AAB6AD4F-FC80-4B58-A910-140CECEF067B}"/>
              </a:ext>
            </a:extLst>
          </p:cNvPr>
          <p:cNvSpPr>
            <a:spLocks noGrp="1"/>
          </p:cNvSpPr>
          <p:nvPr/>
        </p:nvSpPr>
        <p:spPr>
          <a:xfrm>
            <a:off x="1809750" y="44196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01</a:t>
            </a:r>
          </a:p>
        </p:txBody>
      </p:sp>
      <p:sp>
        <p:nvSpPr>
          <p:cNvPr id="15" name="Rectángulo 14">
            <a:extLst>
              <a:ext uri="{FF2B5EF4-FFF2-40B4-BE49-F238E27FC236}">
                <a16:creationId xmlns:a16="http://schemas.microsoft.com/office/drawing/2014/main" id="{3CA416B2-5235-4530-95E4-583256C9CFEA}"/>
              </a:ext>
            </a:extLst>
          </p:cNvPr>
          <p:cNvSpPr>
            <a:spLocks noGrp="1"/>
          </p:cNvSpPr>
          <p:nvPr/>
        </p:nvSpPr>
        <p:spPr>
          <a:xfrm>
            <a:off x="2209800" y="44196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media + direction</a:t>
            </a:r>
          </a:p>
        </p:txBody>
      </p:sp>
      <p:sp>
        <p:nvSpPr>
          <p:cNvPr id="16" name="Rectángulo 15">
            <a:extLst>
              <a:ext uri="{FF2B5EF4-FFF2-40B4-BE49-F238E27FC236}">
                <a16:creationId xmlns:a16="http://schemas.microsoft.com/office/drawing/2014/main" id="{DDBE6BA0-E9F8-44FD-9764-A37A7C5652BC}"/>
              </a:ext>
            </a:extLst>
          </p:cNvPr>
          <p:cNvSpPr>
            <a:spLocks noGrp="1"/>
          </p:cNvSpPr>
          <p:nvPr/>
        </p:nvSpPr>
        <p:spPr>
          <a:xfrm>
            <a:off x="1809750" y="47371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02</a:t>
            </a:r>
          </a:p>
        </p:txBody>
      </p:sp>
      <p:sp>
        <p:nvSpPr>
          <p:cNvPr id="17" name="Rectángulo 16">
            <a:extLst>
              <a:ext uri="{FF2B5EF4-FFF2-40B4-BE49-F238E27FC236}">
                <a16:creationId xmlns:a16="http://schemas.microsoft.com/office/drawing/2014/main" id="{3E710C6D-8B26-420D-9023-CCF7B36BE36C}"/>
              </a:ext>
            </a:extLst>
          </p:cNvPr>
          <p:cNvSpPr>
            <a:spLocks noGrp="1"/>
          </p:cNvSpPr>
          <p:nvPr/>
        </p:nvSpPr>
        <p:spPr>
          <a:xfrm>
            <a:off x="2209800" y="47371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codecs + RTP</a:t>
            </a:r>
          </a:p>
        </p:txBody>
      </p:sp>
      <p:sp>
        <p:nvSpPr>
          <p:cNvPr id="18" name="Rectángulo 17">
            <a:extLst>
              <a:ext uri="{FF2B5EF4-FFF2-40B4-BE49-F238E27FC236}">
                <a16:creationId xmlns:a16="http://schemas.microsoft.com/office/drawing/2014/main" id="{B94BC48E-A676-4C4D-BC0B-49B1AE984A1E}"/>
              </a:ext>
            </a:extLst>
          </p:cNvPr>
          <p:cNvSpPr>
            <a:spLocks noGrp="1"/>
          </p:cNvSpPr>
          <p:nvPr/>
        </p:nvSpPr>
        <p:spPr>
          <a:xfrm>
            <a:off x="1809750" y="50546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03</a:t>
            </a:r>
          </a:p>
        </p:txBody>
      </p:sp>
      <p:sp>
        <p:nvSpPr>
          <p:cNvPr id="19" name="Rectángulo 18">
            <a:extLst>
              <a:ext uri="{FF2B5EF4-FFF2-40B4-BE49-F238E27FC236}">
                <a16:creationId xmlns:a16="http://schemas.microsoft.com/office/drawing/2014/main" id="{BA7EFF33-7654-4BEA-9BC2-E464ADC217A2}"/>
              </a:ext>
            </a:extLst>
          </p:cNvPr>
          <p:cNvSpPr>
            <a:spLocks noGrp="1"/>
          </p:cNvSpPr>
          <p:nvPr/>
        </p:nvSpPr>
        <p:spPr>
          <a:xfrm>
            <a:off x="2209800" y="50546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ICE credentials</a:t>
            </a:r>
          </a:p>
        </p:txBody>
      </p:sp>
      <p:sp>
        <p:nvSpPr>
          <p:cNvPr id="20" name="Rectángulo 19">
            <a:extLst>
              <a:ext uri="{FF2B5EF4-FFF2-40B4-BE49-F238E27FC236}">
                <a16:creationId xmlns:a16="http://schemas.microsoft.com/office/drawing/2014/main" id="{43472200-A010-4FB1-B0CF-F0194B2E2E60}"/>
              </a:ext>
            </a:extLst>
          </p:cNvPr>
          <p:cNvSpPr>
            <a:spLocks noGrp="1"/>
          </p:cNvSpPr>
          <p:nvPr/>
        </p:nvSpPr>
        <p:spPr>
          <a:xfrm>
            <a:off x="1809750" y="53721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04</a:t>
            </a:r>
          </a:p>
        </p:txBody>
      </p:sp>
      <p:sp>
        <p:nvSpPr>
          <p:cNvPr id="21" name="Rectángulo 20">
            <a:extLst>
              <a:ext uri="{FF2B5EF4-FFF2-40B4-BE49-F238E27FC236}">
                <a16:creationId xmlns:a16="http://schemas.microsoft.com/office/drawing/2014/main" id="{3821509F-D3E1-4135-BD37-E28F0D5B0E3A}"/>
              </a:ext>
            </a:extLst>
          </p:cNvPr>
          <p:cNvSpPr>
            <a:spLocks noGrp="1"/>
          </p:cNvSpPr>
          <p:nvPr/>
        </p:nvSpPr>
        <p:spPr>
          <a:xfrm>
            <a:off x="2209800" y="53721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DTLS fingerprint</a:t>
            </a:r>
          </a:p>
        </p:txBody>
      </p:sp>
      <p:sp>
        <p:nvSpPr>
          <p:cNvPr id="22" name="Rectángulo 21">
            <a:extLst>
              <a:ext uri="{FF2B5EF4-FFF2-40B4-BE49-F238E27FC236}">
                <a16:creationId xmlns:a16="http://schemas.microsoft.com/office/drawing/2014/main" id="{D772869B-5A9E-4D5F-AF7D-40B9D81FEB7B}"/>
              </a:ext>
            </a:extLst>
          </p:cNvPr>
          <p:cNvSpPr>
            <a:spLocks noGrp="1"/>
          </p:cNvSpPr>
          <p:nvPr/>
        </p:nvSpPr>
        <p:spPr>
          <a:xfrm>
            <a:off x="1600200" y="6076950"/>
            <a:ext cx="8991600" cy="273050"/>
          </a:xfrm>
          <a:prstGeom prst="rect">
            <a:avLst/>
          </a:prstGeom>
          <a:noFill/>
          <a:ln w="0">
            <a:noFill/>
          </a:ln>
        </p:spPr>
        <p:txBody>
          <a:bodyPr wrap="square" lIns="0" tIns="0" rIns="0" bIns="0" anchor="ctr">
            <a:noAutofit/>
          </a:bodyPr>
          <a:lstStyle/>
          <a:p>
            <a:pPr algn="ctr">
              <a:lnSpc>
                <a:spcPct val="104000"/>
              </a:lnSpc>
              <a:buNone/>
              <a:defRPr sz="1650" b="1">
                <a:solidFill>
                  <a:srgbClr val="510034"/>
                </a:solidFill>
                <a:latin typeface="Arial"/>
                <a:ea typeface="Arial"/>
                <a:cs typeface="Arial"/>
              </a:defRPr>
            </a:pPr>
            <a:r>
              <a:rPr sz="1425" b="1">
                <a:solidFill>
                  <a:srgbClr val="510034"/>
                </a:solidFill>
                <a:latin typeface="Arial"/>
                <a:ea typeface="Arial"/>
                <a:cs typeface="Arial"/>
              </a:rPr>
              <a:t>SignalR forwards this SDP text unchanged. WebRTC peers interpret it.</a:t>
            </a:r>
          </a:p>
        </p:txBody>
      </p:sp>
      <p:sp>
        <p:nvSpPr>
          <p:cNvPr id="24" name="SDP content key">
            <a:extLst>
              <a:ext uri="{FF2B5EF4-FFF2-40B4-BE49-F238E27FC236}">
                <a16:creationId xmlns:a16="http://schemas.microsoft.com/office/drawing/2014/main" id="{E8281AD2-C29D-6554-0386-8FC168F5740A}"/>
              </a:ext>
            </a:extLst>
          </p:cNvPr>
          <p:cNvSpPr>
            <a:spLocks noGrp="1"/>
          </p:cNvSpPr>
          <p:nvPr/>
        </p:nvSpPr>
        <p:spPr>
          <a:xfrm>
            <a:off x="1809750" y="4210050"/>
            <a:ext cx="2254250" cy="177800"/>
          </a:xfrm>
          <a:prstGeom prst="rect">
            <a:avLst/>
          </a:prstGeom>
          <a:noFill/>
        </p:spPr>
        <p:txBody>
          <a:bodyPr vert="horz" wrap="none" lIns="0" tIns="0" rIns="0" bIns="0">
            <a:noAutofit/>
          </a:bodyPr>
          <a:lstStyle/>
          <a:p>
            <a:r>
              <a:rPr sz="975" b="1">
                <a:solidFill>
                  <a:srgbClr val="830051"/>
                </a:solidFill>
                <a:latin typeface="Arial"/>
                <a:ea typeface="Arial"/>
                <a:cs typeface="Arial"/>
              </a:rPr>
              <a:t>THE LINES DESCRIBE</a:t>
            </a:r>
          </a:p>
        </p:txBody>
      </p:sp>
      <p:sp>
        <p:nvSpPr>
          <p:cNvPr id="25" name="Illustrative SDP offer background">
            <a:extLst>
              <a:ext uri="{FF2B5EF4-FFF2-40B4-BE49-F238E27FC236}">
                <a16:creationId xmlns:a16="http://schemas.microsoft.com/office/drawing/2014/main" id="{8AE51041-7525-F63B-3808-6D739CACA0D1}"/>
              </a:ext>
            </a:extLst>
          </p:cNvPr>
          <p:cNvSpPr>
            <a:spLocks noGrp="1"/>
          </p:cNvSpPr>
          <p:nvPr/>
        </p:nvSpPr>
        <p:spPr>
          <a:xfrm>
            <a:off x="4210050" y="4229100"/>
            <a:ext cx="6191250" cy="1600200"/>
          </a:xfrm>
          <a:prstGeom prst="roundRect">
            <a:avLst/>
          </a:prstGeom>
          <a:solidFill>
            <a:srgbClr val="171417"/>
          </a:solidFill>
          <a:ln w="19050">
            <a:noFill/>
            <a:prstDash val="solid"/>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6" name="Illustrative SDP offer heading">
            <a:extLst>
              <a:ext uri="{FF2B5EF4-FFF2-40B4-BE49-F238E27FC236}">
                <a16:creationId xmlns:a16="http://schemas.microsoft.com/office/drawing/2014/main" id="{A7F383E4-4138-8193-1F9E-ADEF518FEA2C}"/>
              </a:ext>
            </a:extLst>
          </p:cNvPr>
          <p:cNvSpPr>
            <a:spLocks noGrp="1"/>
          </p:cNvSpPr>
          <p:nvPr/>
        </p:nvSpPr>
        <p:spPr>
          <a:xfrm>
            <a:off x="4419600" y="4337050"/>
            <a:ext cx="5765800" cy="177800"/>
          </a:xfrm>
          <a:prstGeom prst="rect">
            <a:avLst/>
          </a:prstGeom>
          <a:noFill/>
        </p:spPr>
        <p:txBody>
          <a:bodyPr vert="horz" wrap="none" lIns="0" tIns="0" rIns="0" bIns="0">
            <a:noAutofit/>
          </a:bodyPr>
          <a:lstStyle/>
          <a:p>
            <a:r>
              <a:rPr sz="975" b="1">
                <a:solidFill>
                  <a:srgbClr val="E8CDDE"/>
                </a:solidFill>
                <a:latin typeface="Arial"/>
                <a:ea typeface="Arial"/>
                <a:cs typeface="Arial"/>
              </a:rPr>
              <a:t>ILLUSTRATIVE SDP OFFER (ABBREVIATED)</a:t>
            </a:r>
          </a:p>
        </p:txBody>
      </p:sp>
      <p:sp>
        <p:nvSpPr>
          <p:cNvPr id="27" name="Illustrative SDP offer lines">
            <a:extLst>
              <a:ext uri="{FF2B5EF4-FFF2-40B4-BE49-F238E27FC236}">
                <a16:creationId xmlns:a16="http://schemas.microsoft.com/office/drawing/2014/main" id="{8AC11FA4-750C-F7EE-12A7-81A86CB8EE8E}"/>
              </a:ext>
            </a:extLst>
          </p:cNvPr>
          <p:cNvSpPr>
            <a:spLocks noGrp="1"/>
          </p:cNvSpPr>
          <p:nvPr/>
        </p:nvSpPr>
        <p:spPr>
          <a:xfrm>
            <a:off x="4419600" y="4533900"/>
            <a:ext cx="5765800" cy="1193800"/>
          </a:xfrm>
          <a:prstGeom prst="rect">
            <a:avLst/>
          </a:prstGeom>
          <a:noFill/>
        </p:spPr>
        <p:txBody>
          <a:bodyPr vert="horz" wrap="none" lIns="0" tIns="0" rIns="0" bIns="0" anchor="t">
            <a:noAutofit/>
          </a:bodyPr>
          <a:lstStyle/>
          <a:p>
            <a:pPr>
              <a:lnSpc>
                <a:spcPct val="90000"/>
              </a:lnSpc>
              <a:buNone/>
            </a:pPr>
            <a:r>
              <a:rPr sz="950">
                <a:solidFill>
                  <a:srgbClr val="FFFFFF"/>
                </a:solidFill>
                <a:latin typeface="Consolas"/>
                <a:ea typeface="Consolas"/>
                <a:cs typeface="Consolas"/>
              </a:rPr>
              <a:t>v=0</a:t>
            </a:r>
          </a:p>
          <a:p>
            <a:pPr>
              <a:lnSpc>
                <a:spcPct val="90000"/>
              </a:lnSpc>
              <a:buNone/>
            </a:pPr>
            <a:r>
              <a:rPr sz="950">
                <a:solidFill>
                  <a:srgbClr val="FFFFFF"/>
                </a:solidFill>
                <a:latin typeface="Consolas"/>
                <a:ea typeface="Consolas"/>
                <a:cs typeface="Consolas"/>
              </a:rPr>
              <a:t>m=video 9 UDP/TLS/RTP/SAVPF 101</a:t>
            </a:r>
          </a:p>
          <a:p>
            <a:pPr>
              <a:lnSpc>
                <a:spcPct val="90000"/>
              </a:lnSpc>
              <a:buNone/>
            </a:pPr>
            <a:r>
              <a:rPr sz="950">
                <a:solidFill>
                  <a:srgbClr val="FFFFFF"/>
                </a:solidFill>
                <a:latin typeface="Consolas"/>
                <a:ea typeface="Consolas"/>
                <a:cs typeface="Consolas"/>
              </a:rPr>
              <a:t>a=sendonly</a:t>
            </a:r>
          </a:p>
          <a:p>
            <a:pPr>
              <a:lnSpc>
                <a:spcPct val="90000"/>
              </a:lnSpc>
              <a:buNone/>
            </a:pPr>
            <a:r>
              <a:rPr sz="950">
                <a:solidFill>
                  <a:srgbClr val="FFFFFF"/>
                </a:solidFill>
                <a:latin typeface="Consolas"/>
                <a:ea typeface="Consolas"/>
                <a:cs typeface="Consolas"/>
              </a:rPr>
              <a:t>a=rtpmap:101 H264/90000</a:t>
            </a:r>
          </a:p>
          <a:p>
            <a:pPr>
              <a:lnSpc>
                <a:spcPct val="90000"/>
              </a:lnSpc>
              <a:buNone/>
            </a:pPr>
            <a:r>
              <a:rPr sz="950">
                <a:solidFill>
                  <a:srgbClr val="FFFFFF"/>
                </a:solidFill>
                <a:latin typeface="Consolas"/>
                <a:ea typeface="Consolas"/>
                <a:cs typeface="Consolas"/>
              </a:rPr>
              <a:t>a=fmtp:101 packetization-mode=1;profile-level-id=42e01f</a:t>
            </a:r>
          </a:p>
          <a:p>
            <a:pPr>
              <a:lnSpc>
                <a:spcPct val="90000"/>
              </a:lnSpc>
              <a:buNone/>
            </a:pPr>
            <a:r>
              <a:rPr sz="950">
                <a:solidFill>
                  <a:srgbClr val="FFFFFF"/>
                </a:solidFill>
                <a:latin typeface="Consolas"/>
                <a:ea typeface="Consolas"/>
                <a:cs typeface="Consolas"/>
              </a:rPr>
              <a:t>a=ice-ufrag:TpaA</a:t>
            </a:r>
          </a:p>
          <a:p>
            <a:pPr>
              <a:lnSpc>
                <a:spcPct val="90000"/>
              </a:lnSpc>
              <a:buNone/>
            </a:pPr>
            <a:r>
              <a:rPr sz="950">
                <a:solidFill>
                  <a:srgbClr val="FFFFFF"/>
                </a:solidFill>
                <a:latin typeface="Consolas"/>
                <a:ea typeface="Consolas"/>
                <a:cs typeface="Consolas"/>
              </a:rPr>
              <a:t>a=ice-pwd:t2Ouhc67y8JcCaYZxUUTgKw/</a:t>
            </a:r>
          </a:p>
          <a:p>
            <a:pPr>
              <a:lnSpc>
                <a:spcPct val="90000"/>
              </a:lnSpc>
              <a:buNone/>
            </a:pPr>
            <a:r>
              <a:rPr sz="950">
                <a:solidFill>
                  <a:srgbClr val="FFFFFF"/>
                </a:solidFill>
                <a:latin typeface="Consolas"/>
                <a:ea typeface="Consolas"/>
                <a:cs typeface="Consolas"/>
              </a:rPr>
              <a:t>a=fingerprint:sha-256 A2:F3:A5:…:CE:4D</a:t>
            </a:r>
          </a:p>
          <a:p>
            <a:pPr>
              <a:lnSpc>
                <a:spcPct val="90000"/>
              </a:lnSpc>
              <a:buNone/>
            </a:pPr>
            <a:r>
              <a:rPr sz="950">
                <a:solidFill>
                  <a:srgbClr val="FFFFFF"/>
                </a:solidFill>
                <a:latin typeface="Consolas"/>
                <a:ea typeface="Consolas"/>
                <a:cs typeface="Consolas"/>
              </a:rPr>
              <a:t>a=setup:actpass</a:t>
            </a:r>
          </a:p>
        </p:txBody>
      </p:sp>
    </p:spTree>
    <p:extLst>
      <p:ext uri="{BB962C8B-B14F-4D97-AF65-F5344CB8AC3E}">
        <p14:creationId xmlns:p14="http://schemas.microsoft.com/office/powerpoint/2010/main" val="5420972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9" name="Rectángulo 28">
            <a:extLst>
              <a:ext uri="{FF2B5EF4-FFF2-40B4-BE49-F238E27FC236}">
                <a16:creationId xmlns:a16="http://schemas.microsoft.com/office/drawing/2014/main" id="{ADBDDA38-60CC-4674-BDCB-BBAE198471B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8CCC3FAF-CD7E-4C2D-A68B-B26AFF95DC6D}"/>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ICE Candidates After SDP</a:t>
            </a:r>
          </a:p>
        </p:txBody>
      </p:sp>
      <p:sp>
        <p:nvSpPr>
          <p:cNvPr id="3" name="Rectángulo 2">
            <a:extLst>
              <a:ext uri="{FF2B5EF4-FFF2-40B4-BE49-F238E27FC236}">
                <a16:creationId xmlns:a16="http://schemas.microsoft.com/office/drawing/2014/main" id="{ADCBC067-9811-4F96-B066-82CC54781C54}"/>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C3B9DBC-6A8F-4E78-B764-08EE1728ACB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09</a:t>
            </a:r>
          </a:p>
        </p:txBody>
      </p:sp>
      <p:sp>
        <p:nvSpPr>
          <p:cNvPr id="5" name="Rectángulo: esquinas redondeadas 4">
            <a:extLst>
              <a:ext uri="{FF2B5EF4-FFF2-40B4-BE49-F238E27FC236}">
                <a16:creationId xmlns:a16="http://schemas.microsoft.com/office/drawing/2014/main" id="{E2DE8B5C-89E6-4A52-8EE5-DB7A96328A5E}"/>
              </a:ext>
            </a:extLst>
          </p:cNvPr>
          <p:cNvSpPr>
            <a:spLocks noGrp="1"/>
          </p:cNvSpPr>
          <p:nvPr/>
        </p:nvSpPr>
        <p:spPr>
          <a:xfrm>
            <a:off x="14001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1</a:t>
            </a:r>
          </a:p>
        </p:txBody>
      </p:sp>
      <p:sp>
        <p:nvSpPr>
          <p:cNvPr id="6" name="Rectángulo: esquinas redondeadas 5">
            <a:extLst>
              <a:ext uri="{FF2B5EF4-FFF2-40B4-BE49-F238E27FC236}">
                <a16:creationId xmlns:a16="http://schemas.microsoft.com/office/drawing/2014/main" id="{F334A0F3-C2F6-4080-BC61-7FB84B47731C}"/>
              </a:ext>
            </a:extLst>
          </p:cNvPr>
          <p:cNvSpPr>
            <a:spLocks noGrp="1"/>
          </p:cNvSpPr>
          <p:nvPr/>
        </p:nvSpPr>
        <p:spPr>
          <a:xfrm>
            <a:off x="6667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Initial SDP</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offer / answer</a:t>
            </a:r>
          </a:p>
        </p:txBody>
      </p:sp>
      <p:sp>
        <p:nvSpPr>
          <p:cNvPr id="7" name="Rectángulo: esquinas redondeadas 6">
            <a:extLst>
              <a:ext uri="{FF2B5EF4-FFF2-40B4-BE49-F238E27FC236}">
                <a16:creationId xmlns:a16="http://schemas.microsoft.com/office/drawing/2014/main" id="{A516A700-C677-4429-80F8-BC66352C8768}"/>
              </a:ext>
            </a:extLst>
          </p:cNvPr>
          <p:cNvSpPr>
            <a:spLocks noGrp="1"/>
          </p:cNvSpPr>
          <p:nvPr/>
        </p:nvSpPr>
        <p:spPr>
          <a:xfrm>
            <a:off x="36480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2</a:t>
            </a:r>
          </a:p>
        </p:txBody>
      </p:sp>
      <p:sp>
        <p:nvSpPr>
          <p:cNvPr id="8" name="Rectángulo: esquinas redondeadas 7">
            <a:extLst>
              <a:ext uri="{FF2B5EF4-FFF2-40B4-BE49-F238E27FC236}">
                <a16:creationId xmlns:a16="http://schemas.microsoft.com/office/drawing/2014/main" id="{901AE3B4-9934-44EC-91BD-3731B6A3C257}"/>
              </a:ext>
            </a:extLst>
          </p:cNvPr>
          <p:cNvSpPr>
            <a:spLocks noGrp="1"/>
          </p:cNvSpPr>
          <p:nvPr/>
        </p:nvSpPr>
        <p:spPr>
          <a:xfrm>
            <a:off x="29146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Candidates</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trickle</a:t>
            </a:r>
          </a:p>
        </p:txBody>
      </p:sp>
      <p:sp>
        <p:nvSpPr>
          <p:cNvPr id="9" name="Rectángulo: esquinas redondeadas 8">
            <a:extLst>
              <a:ext uri="{FF2B5EF4-FFF2-40B4-BE49-F238E27FC236}">
                <a16:creationId xmlns:a16="http://schemas.microsoft.com/office/drawing/2014/main" id="{302E3994-1D6E-48BD-AE5C-34A6C9EE885C}"/>
              </a:ext>
            </a:extLst>
          </p:cNvPr>
          <p:cNvSpPr>
            <a:spLocks noGrp="1"/>
          </p:cNvSpPr>
          <p:nvPr/>
        </p:nvSpPr>
        <p:spPr>
          <a:xfrm>
            <a:off x="58959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3</a:t>
            </a:r>
          </a:p>
        </p:txBody>
      </p:sp>
      <p:sp>
        <p:nvSpPr>
          <p:cNvPr id="10" name="Rectángulo: esquinas redondeadas 9">
            <a:extLst>
              <a:ext uri="{FF2B5EF4-FFF2-40B4-BE49-F238E27FC236}">
                <a16:creationId xmlns:a16="http://schemas.microsoft.com/office/drawing/2014/main" id="{DA8AD2DA-E777-4571-9C64-BC1BFBA96433}"/>
              </a:ext>
            </a:extLst>
          </p:cNvPr>
          <p:cNvSpPr>
            <a:spLocks noGrp="1"/>
          </p:cNvSpPr>
          <p:nvPr/>
        </p:nvSpPr>
        <p:spPr>
          <a:xfrm>
            <a:off x="51625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Connectivity</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checks</a:t>
            </a:r>
          </a:p>
        </p:txBody>
      </p:sp>
      <p:sp>
        <p:nvSpPr>
          <p:cNvPr id="11" name="Rectángulo: esquinas redondeadas 10">
            <a:extLst>
              <a:ext uri="{FF2B5EF4-FFF2-40B4-BE49-F238E27FC236}">
                <a16:creationId xmlns:a16="http://schemas.microsoft.com/office/drawing/2014/main" id="{A85F5E45-B295-4442-83F8-79C8F9FBF843}"/>
              </a:ext>
            </a:extLst>
          </p:cNvPr>
          <p:cNvSpPr>
            <a:spLocks noGrp="1"/>
          </p:cNvSpPr>
          <p:nvPr/>
        </p:nvSpPr>
        <p:spPr>
          <a:xfrm>
            <a:off x="81438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4</a:t>
            </a:r>
          </a:p>
        </p:txBody>
      </p:sp>
      <p:sp>
        <p:nvSpPr>
          <p:cNvPr id="12" name="Rectángulo: esquinas redondeadas 11">
            <a:extLst>
              <a:ext uri="{FF2B5EF4-FFF2-40B4-BE49-F238E27FC236}">
                <a16:creationId xmlns:a16="http://schemas.microsoft.com/office/drawing/2014/main" id="{0C6783AA-DD81-4FC0-85A1-ECD9917E79C7}"/>
              </a:ext>
            </a:extLst>
          </p:cNvPr>
          <p:cNvSpPr>
            <a:spLocks noGrp="1"/>
          </p:cNvSpPr>
          <p:nvPr/>
        </p:nvSpPr>
        <p:spPr>
          <a:xfrm>
            <a:off x="74104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Pairs ranked</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by priority</a:t>
            </a:r>
          </a:p>
        </p:txBody>
      </p:sp>
      <p:sp>
        <p:nvSpPr>
          <p:cNvPr id="13" name="Rectángulo: esquinas redondeadas 12">
            <a:extLst>
              <a:ext uri="{FF2B5EF4-FFF2-40B4-BE49-F238E27FC236}">
                <a16:creationId xmlns:a16="http://schemas.microsoft.com/office/drawing/2014/main" id="{5B9863BE-E6B7-4AAD-AB94-C9042DD9B716}"/>
              </a:ext>
            </a:extLst>
          </p:cNvPr>
          <p:cNvSpPr>
            <a:spLocks noGrp="1"/>
          </p:cNvSpPr>
          <p:nvPr/>
        </p:nvSpPr>
        <p:spPr>
          <a:xfrm>
            <a:off x="103917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5</a:t>
            </a:r>
          </a:p>
        </p:txBody>
      </p:sp>
      <p:sp>
        <p:nvSpPr>
          <p:cNvPr id="14" name="Rectángulo: esquinas redondeadas 13">
            <a:extLst>
              <a:ext uri="{FF2B5EF4-FFF2-40B4-BE49-F238E27FC236}">
                <a16:creationId xmlns:a16="http://schemas.microsoft.com/office/drawing/2014/main" id="{143CA45F-86F4-4C43-AB65-9A8463D462F5}"/>
              </a:ext>
            </a:extLst>
          </p:cNvPr>
          <p:cNvSpPr>
            <a:spLocks noGrp="1"/>
          </p:cNvSpPr>
          <p:nvPr/>
        </p:nvSpPr>
        <p:spPr>
          <a:xfrm>
            <a:off x="96583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Winning pair</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nominated</a:t>
            </a:r>
          </a:p>
        </p:txBody>
      </p:sp>
      <p:cxnSp>
        <p:nvCxnSpPr>
          <p:cNvPr id="43" name="Conector recto de flecha 42"/>
          <p:cNvCxnSpPr>
            <a:stCxn id="6" idx="3"/>
            <a:endCxn id="8" idx="1"/>
          </p:cNvCxnSpPr>
          <p:nvPr/>
        </p:nvCxnSpPr>
        <p:spPr>
          <a:xfrm>
            <a:off x="2571750" y="2647950"/>
            <a:ext cx="342900" cy="0"/>
          </a:xfrm>
          <a:prstGeom prst="straightConnector1">
            <a:avLst/>
          </a:prstGeom>
          <a:ln w="19050">
            <a:solidFill>
              <a:srgbClr val="A69FA3"/>
            </a:solidFill>
            <a:prstDash val="solid"/>
            <a:tailEnd type="triangle" w="sm" len="sm"/>
          </a:ln>
        </p:spPr>
      </p:cxnSp>
      <p:cxnSp>
        <p:nvCxnSpPr>
          <p:cNvPr id="44" name="Conector recto de flecha 43"/>
          <p:cNvCxnSpPr>
            <a:stCxn id="8" idx="3"/>
            <a:endCxn id="10" idx="1"/>
          </p:cNvCxnSpPr>
          <p:nvPr/>
        </p:nvCxnSpPr>
        <p:spPr>
          <a:xfrm>
            <a:off x="4819650" y="2647950"/>
            <a:ext cx="342900" cy="0"/>
          </a:xfrm>
          <a:prstGeom prst="straightConnector1">
            <a:avLst/>
          </a:prstGeom>
          <a:ln w="19050">
            <a:solidFill>
              <a:srgbClr val="A69FA3"/>
            </a:solidFill>
            <a:prstDash val="solid"/>
            <a:tailEnd type="triangle" w="sm" len="sm"/>
          </a:ln>
        </p:spPr>
      </p:cxnSp>
      <p:cxnSp>
        <p:nvCxnSpPr>
          <p:cNvPr id="45" name="Conector recto de flecha 44"/>
          <p:cNvCxnSpPr>
            <a:stCxn id="10" idx="3"/>
            <a:endCxn id="12" idx="1"/>
          </p:cNvCxnSpPr>
          <p:nvPr/>
        </p:nvCxnSpPr>
        <p:spPr>
          <a:xfrm>
            <a:off x="7067550" y="2647950"/>
            <a:ext cx="342900" cy="0"/>
          </a:xfrm>
          <a:prstGeom prst="straightConnector1">
            <a:avLst/>
          </a:prstGeom>
          <a:ln w="19050">
            <a:solidFill>
              <a:srgbClr val="A69FA3"/>
            </a:solidFill>
            <a:prstDash val="solid"/>
            <a:tailEnd type="triangle" w="sm" len="sm"/>
          </a:ln>
        </p:spPr>
      </p:cxnSp>
      <p:cxnSp>
        <p:nvCxnSpPr>
          <p:cNvPr id="46" name="Conector recto de flecha 45"/>
          <p:cNvCxnSpPr>
            <a:stCxn id="12" idx="3"/>
            <a:endCxn id="14" idx="1"/>
          </p:cNvCxnSpPr>
          <p:nvPr/>
        </p:nvCxnSpPr>
        <p:spPr>
          <a:xfrm>
            <a:off x="9315450" y="2647950"/>
            <a:ext cx="342900" cy="0"/>
          </a:xfrm>
          <a:prstGeom prst="straightConnector1">
            <a:avLst/>
          </a:prstGeom>
          <a:ln w="19050">
            <a:solidFill>
              <a:srgbClr val="A69FA3"/>
            </a:solidFill>
            <a:prstDash val="solid"/>
            <a:tailEnd type="triangle" w="sm" len="sm"/>
          </a:ln>
        </p:spPr>
      </p:cxnSp>
      <p:sp>
        <p:nvSpPr>
          <p:cNvPr id="19" name="Rectángulo: esquinas redondeadas 18">
            <a:extLst>
              <a:ext uri="{FF2B5EF4-FFF2-40B4-BE49-F238E27FC236}">
                <a16:creationId xmlns:a16="http://schemas.microsoft.com/office/drawing/2014/main" id="{9A810608-C409-42AF-9312-D59A400BAF7A}"/>
              </a:ext>
            </a:extLst>
          </p:cNvPr>
          <p:cNvSpPr>
            <a:spLocks noGrp="1"/>
          </p:cNvSpPr>
          <p:nvPr/>
        </p:nvSpPr>
        <p:spPr>
          <a:xfrm>
            <a:off x="666750" y="3600450"/>
            <a:ext cx="10858500" cy="1390650"/>
          </a:xfrm>
          <a:prstGeom prst="roundRect">
            <a:avLst>
              <a:gd name="adj" fmla="val 9589"/>
            </a:avLst>
          </a:prstGeom>
          <a:solidFill>
            <a:srgbClr val="F5EDF2"/>
          </a:solidFill>
          <a:ln w="0">
            <a:noFill/>
          </a:ln>
        </p:spPr>
        <p:txBody>
          <a:bodyPr/>
          <a:lstStyle/>
          <a:p>
            <a:endParaRPr/>
          </a:p>
        </p:txBody>
      </p:sp>
      <p:sp>
        <p:nvSpPr>
          <p:cNvPr id="20" name="Rectángulo 19">
            <a:extLst>
              <a:ext uri="{FF2B5EF4-FFF2-40B4-BE49-F238E27FC236}">
                <a16:creationId xmlns:a16="http://schemas.microsoft.com/office/drawing/2014/main" id="{DC65B9E7-AB55-443C-9BF8-4701A9CDE5B6}"/>
              </a:ext>
            </a:extLst>
          </p:cNvPr>
          <p:cNvSpPr>
            <a:spLocks noGrp="1"/>
          </p:cNvSpPr>
          <p:nvPr/>
        </p:nvSpPr>
        <p:spPr>
          <a:xfrm>
            <a:off x="89535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HOST</a:t>
            </a:r>
          </a:p>
        </p:txBody>
      </p:sp>
      <p:sp>
        <p:nvSpPr>
          <p:cNvPr id="21" name="Rectángulo 20">
            <a:extLst>
              <a:ext uri="{FF2B5EF4-FFF2-40B4-BE49-F238E27FC236}">
                <a16:creationId xmlns:a16="http://schemas.microsoft.com/office/drawing/2014/main" id="{90904D56-6E93-4D7D-9ED3-85C11CFD3546}"/>
              </a:ext>
            </a:extLst>
          </p:cNvPr>
          <p:cNvSpPr>
            <a:spLocks noGrp="1"/>
          </p:cNvSpPr>
          <p:nvPr/>
        </p:nvSpPr>
        <p:spPr>
          <a:xfrm>
            <a:off x="89535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local interface</a:t>
            </a:r>
          </a:p>
        </p:txBody>
      </p:sp>
      <p:sp>
        <p:nvSpPr>
          <p:cNvPr id="22" name="Rectángulo 21">
            <a:extLst>
              <a:ext uri="{FF2B5EF4-FFF2-40B4-BE49-F238E27FC236}">
                <a16:creationId xmlns:a16="http://schemas.microsoft.com/office/drawing/2014/main" id="{3A4F2B47-B32D-491D-940E-BE472FD8F2EC}"/>
              </a:ext>
            </a:extLst>
          </p:cNvPr>
          <p:cNvSpPr>
            <a:spLocks noGrp="1"/>
          </p:cNvSpPr>
          <p:nvPr/>
        </p:nvSpPr>
        <p:spPr>
          <a:xfrm>
            <a:off x="354330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SRFLX</a:t>
            </a:r>
          </a:p>
        </p:txBody>
      </p:sp>
      <p:sp>
        <p:nvSpPr>
          <p:cNvPr id="23" name="Rectángulo 22">
            <a:extLst>
              <a:ext uri="{FF2B5EF4-FFF2-40B4-BE49-F238E27FC236}">
                <a16:creationId xmlns:a16="http://schemas.microsoft.com/office/drawing/2014/main" id="{75162B0F-AD9E-42E7-8C93-8FFCF2CDFB5F}"/>
              </a:ext>
            </a:extLst>
          </p:cNvPr>
          <p:cNvSpPr>
            <a:spLocks noGrp="1"/>
          </p:cNvSpPr>
          <p:nvPr/>
        </p:nvSpPr>
        <p:spPr>
          <a:xfrm>
            <a:off x="354330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mapping learned via STUN</a:t>
            </a:r>
          </a:p>
        </p:txBody>
      </p:sp>
      <p:sp>
        <p:nvSpPr>
          <p:cNvPr id="24" name="Rectángulo 23">
            <a:extLst>
              <a:ext uri="{FF2B5EF4-FFF2-40B4-BE49-F238E27FC236}">
                <a16:creationId xmlns:a16="http://schemas.microsoft.com/office/drawing/2014/main" id="{E775C41F-56AD-46CD-88C5-3E05C875A344}"/>
              </a:ext>
            </a:extLst>
          </p:cNvPr>
          <p:cNvSpPr>
            <a:spLocks noGrp="1"/>
          </p:cNvSpPr>
          <p:nvPr/>
        </p:nvSpPr>
        <p:spPr>
          <a:xfrm>
            <a:off x="619125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PRFLX</a:t>
            </a:r>
          </a:p>
        </p:txBody>
      </p:sp>
      <p:sp>
        <p:nvSpPr>
          <p:cNvPr id="25" name="Rectángulo 24">
            <a:extLst>
              <a:ext uri="{FF2B5EF4-FFF2-40B4-BE49-F238E27FC236}">
                <a16:creationId xmlns:a16="http://schemas.microsoft.com/office/drawing/2014/main" id="{2CAFBE13-90AB-4015-96DB-04AB89908922}"/>
              </a:ext>
            </a:extLst>
          </p:cNvPr>
          <p:cNvSpPr>
            <a:spLocks noGrp="1"/>
          </p:cNvSpPr>
          <p:nvPr/>
        </p:nvSpPr>
        <p:spPr>
          <a:xfrm>
            <a:off x="619125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mapping learned in checks</a:t>
            </a:r>
          </a:p>
        </p:txBody>
      </p:sp>
      <p:sp>
        <p:nvSpPr>
          <p:cNvPr id="26" name="Rectángulo 25">
            <a:extLst>
              <a:ext uri="{FF2B5EF4-FFF2-40B4-BE49-F238E27FC236}">
                <a16:creationId xmlns:a16="http://schemas.microsoft.com/office/drawing/2014/main" id="{CE1DC4EE-90D8-42C0-9C98-A4EE59BCDDD5}"/>
              </a:ext>
            </a:extLst>
          </p:cNvPr>
          <p:cNvSpPr>
            <a:spLocks noGrp="1"/>
          </p:cNvSpPr>
          <p:nvPr/>
        </p:nvSpPr>
        <p:spPr>
          <a:xfrm>
            <a:off x="883920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RELAY</a:t>
            </a:r>
          </a:p>
        </p:txBody>
      </p:sp>
      <p:sp>
        <p:nvSpPr>
          <p:cNvPr id="27" name="Rectángulo 26">
            <a:extLst>
              <a:ext uri="{FF2B5EF4-FFF2-40B4-BE49-F238E27FC236}">
                <a16:creationId xmlns:a16="http://schemas.microsoft.com/office/drawing/2014/main" id="{D5F8412A-622D-4D21-8A84-239F1B131658}"/>
              </a:ext>
            </a:extLst>
          </p:cNvPr>
          <p:cNvSpPr>
            <a:spLocks noGrp="1"/>
          </p:cNvSpPr>
          <p:nvPr/>
        </p:nvSpPr>
        <p:spPr>
          <a:xfrm>
            <a:off x="883920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TURN allocation</a:t>
            </a:r>
          </a:p>
        </p:txBody>
      </p:sp>
      <p:sp>
        <p:nvSpPr>
          <p:cNvPr id="28" name="Rectángulo 27">
            <a:extLst>
              <a:ext uri="{FF2B5EF4-FFF2-40B4-BE49-F238E27FC236}">
                <a16:creationId xmlns:a16="http://schemas.microsoft.com/office/drawing/2014/main" id="{C8278E64-42E0-4851-AE75-19593368754B}"/>
              </a:ext>
            </a:extLst>
          </p:cNvPr>
          <p:cNvSpPr>
            <a:spLocks noGrp="1"/>
          </p:cNvSpPr>
          <p:nvPr/>
        </p:nvSpPr>
        <p:spPr>
          <a:xfrm>
            <a:off x="1181100" y="5391150"/>
            <a:ext cx="9829800" cy="590550"/>
          </a:xfrm>
          <a:prstGeom prst="rect">
            <a:avLst/>
          </a:prstGeom>
          <a:noFill/>
          <a:ln w="0">
            <a:noFill/>
          </a:ln>
        </p:spPr>
        <p:txBody>
          <a:bodyPr wrap="square" lIns="0" tIns="0" rIns="0" bIns="0" anchor="t">
            <a:noAutofit/>
          </a:bodyPr>
          <a:lstStyle/>
          <a:p>
            <a:pPr algn="ctr">
              <a:lnSpc>
                <a:spcPct val="104000"/>
              </a:lnSpc>
              <a:buNone/>
              <a:defRPr sz="1725" b="1">
                <a:solidFill>
                  <a:srgbClr val="510034"/>
                </a:solidFill>
                <a:latin typeface="Arial"/>
                <a:ea typeface="Arial"/>
                <a:cs typeface="Arial"/>
              </a:defRPr>
            </a:pPr>
            <a:r>
              <a:rPr sz="1725" b="1">
                <a:solidFill>
                  <a:srgbClr val="510034"/>
                </a:solidFill>
                <a:latin typeface="Arial"/>
                <a:ea typeface="Arial"/>
                <a:cs typeface="Arial"/>
              </a:rPr>
              <a:t>Gathering and SDP creation can overlap at runtime. Trickle ICE sends candidates as soon as they appear.</a:t>
            </a:r>
          </a:p>
        </p:txBody>
      </p:sp>
    </p:spTree>
    <p:extLst>
      <p:ext uri="{BB962C8B-B14F-4D97-AF65-F5344CB8AC3E}">
        <p14:creationId xmlns:p14="http://schemas.microsoft.com/office/powerpoint/2010/main" val="2924550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 name="Rectángulo 1">
            <a:extLst>
              <a:ext uri="{FF2B5EF4-FFF2-40B4-BE49-F238E27FC236}">
                <a16:creationId xmlns:a16="http://schemas.microsoft.com/office/drawing/2014/main" id="{7B897589-F352-4DAD-AA13-C392E13D9C65}"/>
              </a:ext>
            </a:extLst>
          </p:cNvPr>
          <p:cNvSpPr>
            <a:spLocks noGrp="1"/>
          </p:cNvSpPr>
          <p:nvPr/>
        </p:nvSpPr>
        <p:spPr>
          <a:xfrm>
            <a:off x="533400" y="590550"/>
            <a:ext cx="10477500" cy="552450"/>
          </a:xfrm>
          <a:prstGeom prst="rect">
            <a:avLst/>
          </a:prstGeom>
          <a:noFill/>
          <a:ln w="0">
            <a:noFill/>
          </a:ln>
        </p:spPr>
        <p:txBody>
          <a:bodyPr wrap="square" lIns="0" tIns="0" rIns="0" bIns="0" anchor="t">
            <a:noAutofit/>
          </a:bodyPr>
          <a:lstStyle/>
          <a:p>
            <a:pPr>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WebRTC Video Codec Comparison</a:t>
            </a:r>
          </a:p>
        </p:txBody>
      </p:sp>
      <p:sp>
        <p:nvSpPr>
          <p:cNvPr id="3" name="Rectángulo 2">
            <a:extLst>
              <a:ext uri="{FF2B5EF4-FFF2-40B4-BE49-F238E27FC236}">
                <a16:creationId xmlns:a16="http://schemas.microsoft.com/office/drawing/2014/main" id="{ACF7F739-39A8-4F21-A569-0BB48CA42622}"/>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772A9B1-1612-4D38-AEAF-5CBBA1CE0D8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10</a:t>
            </a:r>
          </a:p>
        </p:txBody>
      </p:sp>
      <p:sp>
        <p:nvSpPr>
          <p:cNvPr id="21" name="CuadroTexto 20">
            <a:extLst>
              <a:ext uri="{FF2B5EF4-FFF2-40B4-BE49-F238E27FC236}">
                <a16:creationId xmlns:a16="http://schemas.microsoft.com/office/drawing/2014/main" id="{7D556C90-7DF9-9C3C-1579-0E343B49309F}"/>
              </a:ext>
            </a:extLst>
          </p:cNvPr>
          <p:cNvSpPr>
            <a:spLocks noGrp="1"/>
          </p:cNvSpPr>
          <p:nvPr/>
        </p:nvSpPr>
        <p:spPr>
          <a:xfrm>
            <a:off x="533400" y="260350"/>
            <a:ext cx="2794000" cy="369332"/>
          </a:xfrm>
          <a:prstGeom prst="rect">
            <a:avLst/>
          </a:prstGeom>
          <a:noFill/>
        </p:spPr>
        <p:txBody>
          <a:bodyPr vert="horz" wrap="square" lIns="0" tIns="0" rIns="0" bIns="0" anchor="t">
            <a:noAutofit/>
          </a:bodyPr>
          <a:lstStyle/>
          <a:p>
            <a:r>
              <a:rPr sz="1200" b="1">
                <a:solidFill>
                  <a:srgbClr val="830051"/>
                </a:solidFill>
                <a:latin typeface="Arial"/>
                <a:ea typeface="Arial"/>
                <a:cs typeface="Arial"/>
              </a:rPr>
              <a:t>THEORY</a:t>
            </a:r>
          </a:p>
        </p:txBody>
      </p:sp>
      <p:graphicFrame>
        <p:nvGraphicFramePr>
          <p:cNvPr id="22" name="Tabla 21"/>
          <p:cNvGraphicFramePr/>
          <p:nvPr/>
        </p:nvGraphicFramePr>
        <p:xfrm>
          <a:off x="685800" y="1574800"/>
          <a:ext cx="10820400" cy="3505200"/>
        </p:xfrm>
        <a:graphic>
          <a:graphicData uri="http://schemas.openxmlformats.org/drawingml/2006/table">
            <a:tbl>
              <a:tblPr firstRow="1" bandRow="1">
                <a:tableStyleId>{5C22544A-7EE6-4342-B048-85BDC9FD1C3A}</a:tableStyleId>
              </a:tblPr>
              <a:tblGrid>
                <a:gridCol w="1422400">
                  <a:extLst>
                    <a:ext uri="{9D8B030D-6E8A-4147-A177-3AD203B41FA5}">
                      <a16:colId xmlns:a16="http://schemas.microsoft.com/office/drawing/2014/main" val="20000"/>
                    </a:ext>
                  </a:extLst>
                </a:gridCol>
                <a:gridCol w="2387600">
                  <a:extLst>
                    <a:ext uri="{9D8B030D-6E8A-4147-A177-3AD203B41FA5}">
                      <a16:colId xmlns:a16="http://schemas.microsoft.com/office/drawing/2014/main" val="20001"/>
                    </a:ext>
                  </a:extLst>
                </a:gridCol>
                <a:gridCol w="1854200">
                  <a:extLst>
                    <a:ext uri="{9D8B030D-6E8A-4147-A177-3AD203B41FA5}">
                      <a16:colId xmlns:a16="http://schemas.microsoft.com/office/drawing/2014/main" val="20002"/>
                    </a:ext>
                  </a:extLst>
                </a:gridCol>
                <a:gridCol w="5156200">
                  <a:extLst>
                    <a:ext uri="{9D8B030D-6E8A-4147-A177-3AD203B41FA5}">
                      <a16:colId xmlns:a16="http://schemas.microsoft.com/office/drawing/2014/main" val="20003"/>
                    </a:ext>
                  </a:extLst>
                </a:gridCol>
              </a:tblGrid>
              <a:tr h="393700">
                <a:tc>
                  <a:txBody>
                    <a:bodyPr/>
                    <a:lstStyle/>
                    <a:p>
                      <a:pPr algn="l">
                        <a:buNone/>
                      </a:pPr>
                      <a:r>
                        <a:rPr sz="1150" b="1">
                          <a:solidFill>
                            <a:srgbClr val="FFFFFF"/>
                          </a:solidFill>
                          <a:latin typeface="Arial"/>
                          <a:ea typeface="Arial"/>
                          <a:cs typeface="Arial"/>
                        </a:rPr>
                        <a:t>CODEC</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WEBRTC SUPPORT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RELATIVE DATA USE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ENCODING AND DEPLOYMENT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extLst>
                  <a:ext uri="{0D108BD9-81ED-4DB2-BD59-A6C34878D82A}">
                    <a16:rowId xmlns:a16="http://schemas.microsoft.com/office/drawing/2014/main" val="10000"/>
                  </a:ext>
                </a:extLst>
              </a:tr>
              <a:tr h="622300">
                <a:tc>
                  <a:txBody>
                    <a:bodyPr/>
                    <a:lstStyle/>
                    <a:p>
                      <a:pPr algn="l">
                        <a:buNone/>
                      </a:pPr>
                      <a:r>
                        <a:rPr sz="1600" b="1">
                          <a:solidFill>
                            <a:srgbClr val="FFFFFF"/>
                          </a:solidFill>
                          <a:latin typeface="Arial"/>
                          <a:ea typeface="Arial"/>
                          <a:cs typeface="Arial"/>
                        </a:rPr>
                        <a:t>VP8</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830051"/>
                    </a:solidFill>
                  </a:tcPr>
                </a:tc>
                <a:tc>
                  <a:txBody>
                    <a:bodyPr/>
                    <a:lstStyle/>
                    <a:p>
                      <a:pPr algn="l">
                        <a:buNone/>
                      </a:pPr>
                      <a:r>
                        <a:rPr sz="1350" b="1">
                          <a:solidFill>
                            <a:srgbClr val="510034"/>
                          </a:solidFill>
                          <a:latin typeface="Arial"/>
                          <a:ea typeface="Arial"/>
                          <a:cs typeface="Arial"/>
                        </a:rPr>
                        <a:t>Required baseline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6F686D"/>
                          </a:solidFill>
                          <a:latin typeface="Arial"/>
                          <a:ea typeface="Arial"/>
                          <a:cs typeface="Arial"/>
                        </a:rPr>
                        <a:t>Medium</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Mature software support
Hardware support varies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1"/>
                  </a:ext>
                </a:extLst>
              </a:tr>
              <a:tr h="622300">
                <a:tc>
                  <a:txBody>
                    <a:bodyPr/>
                    <a:lstStyle/>
                    <a:p>
                      <a:pPr algn="l">
                        <a:buNone/>
                      </a:pPr>
                      <a:r>
                        <a:rPr sz="1600" b="1">
                          <a:solidFill>
                            <a:srgbClr val="FFFFFF"/>
                          </a:solidFill>
                          <a:latin typeface="Arial"/>
                          <a:ea typeface="Arial"/>
                          <a:cs typeface="Arial"/>
                        </a:rPr>
                        <a:t>H.264 CB</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830051"/>
                    </a:solidFill>
                  </a:tcPr>
                </a:tc>
                <a:tc>
                  <a:txBody>
                    <a:bodyPr/>
                    <a:lstStyle/>
                    <a:p>
                      <a:pPr algn="l">
                        <a:buNone/>
                      </a:pPr>
                      <a:r>
                        <a:rPr sz="1350" b="1">
                          <a:solidFill>
                            <a:srgbClr val="510034"/>
                          </a:solidFill>
                          <a:latin typeface="Arial"/>
                          <a:ea typeface="Arial"/>
                          <a:cs typeface="Arial"/>
                        </a:rPr>
                        <a:t>Required baseline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tc>
                  <a:txBody>
                    <a:bodyPr/>
                    <a:lstStyle/>
                    <a:p>
                      <a:pPr algn="ctr">
                        <a:buNone/>
                      </a:pPr>
                      <a:r>
                        <a:rPr sz="1450" b="1">
                          <a:solidFill>
                            <a:srgbClr val="6F686D"/>
                          </a:solidFill>
                          <a:latin typeface="Arial"/>
                          <a:ea typeface="Arial"/>
                          <a:cs typeface="Arial"/>
                        </a:rPr>
                        <a:t>Medium</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tc>
                  <a:txBody>
                    <a:bodyPr/>
                    <a:lstStyle/>
                    <a:p>
                      <a:pPr algn="l">
                        <a:buNone/>
                      </a:pPr>
                      <a:r>
                        <a:rPr sz="1350" b="0">
                          <a:solidFill>
                            <a:srgbClr val="171417"/>
                          </a:solidFill>
                          <a:latin typeface="Arial"/>
                          <a:ea typeface="Arial"/>
                          <a:cs typeface="Arial"/>
                        </a:rPr>
                        <a:t>Broad hardware acceleration
Profile and licensing checks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extLst>
                  <a:ext uri="{0D108BD9-81ED-4DB2-BD59-A6C34878D82A}">
                    <a16:rowId xmlns:a16="http://schemas.microsoft.com/office/drawing/2014/main" val="10002"/>
                  </a:ext>
                </a:extLst>
              </a:tr>
              <a:tr h="622300">
                <a:tc>
                  <a:txBody>
                    <a:bodyPr/>
                    <a:lstStyle/>
                    <a:p>
                      <a:pPr algn="l">
                        <a:buNone/>
                      </a:pPr>
                      <a:r>
                        <a:rPr sz="1600" b="1">
                          <a:solidFill>
                            <a:srgbClr val="171417"/>
                          </a:solidFill>
                          <a:latin typeface="Arial"/>
                          <a:ea typeface="Arial"/>
                          <a:cs typeface="Arial"/>
                        </a:rPr>
                        <a:t>VP9</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Negotiate fallback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830051"/>
                          </a:solidFill>
                          <a:latin typeface="Arial"/>
                          <a:ea typeface="Arial"/>
                          <a:cs typeface="Arial"/>
                        </a:rPr>
                        <a:t>Lower</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Better compression
Hardware support varies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3"/>
                  </a:ext>
                </a:extLst>
              </a:tr>
              <a:tr h="622300">
                <a:tc>
                  <a:txBody>
                    <a:bodyPr/>
                    <a:lstStyle/>
                    <a:p>
                      <a:pPr algn="l">
                        <a:buNone/>
                      </a:pPr>
                      <a:r>
                        <a:rPr sz="1600" b="1">
                          <a:solidFill>
                            <a:srgbClr val="171417"/>
                          </a:solidFill>
                          <a:latin typeface="Arial"/>
                          <a:ea typeface="Arial"/>
                          <a:cs typeface="Arial"/>
                        </a:rPr>
                        <a:t>AV1</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Capability check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tc>
                  <a:txBody>
                    <a:bodyPr/>
                    <a:lstStyle/>
                    <a:p>
                      <a:pPr algn="ctr">
                        <a:buNone/>
                      </a:pPr>
                      <a:r>
                        <a:rPr sz="1450" b="1">
                          <a:solidFill>
                            <a:srgbClr val="830051"/>
                          </a:solidFill>
                          <a:latin typeface="Arial"/>
                          <a:ea typeface="Arial"/>
                          <a:cs typeface="Arial"/>
                        </a:rPr>
                        <a:t>Lowest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tc>
                  <a:txBody>
                    <a:bodyPr/>
                    <a:lstStyle/>
                    <a:p>
                      <a:pPr algn="l">
                        <a:buNone/>
                      </a:pPr>
                      <a:r>
                        <a:rPr sz="1350" b="0">
                          <a:solidFill>
                            <a:srgbClr val="171417"/>
                          </a:solidFill>
                          <a:latin typeface="Arial"/>
                          <a:ea typeface="Arial"/>
                          <a:cs typeface="Arial"/>
                        </a:rPr>
                        <a:t>Best efficiency
Demanding without hardware acceleration</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extLst>
                  <a:ext uri="{0D108BD9-81ED-4DB2-BD59-A6C34878D82A}">
                    <a16:rowId xmlns:a16="http://schemas.microsoft.com/office/drawing/2014/main" val="10004"/>
                  </a:ext>
                </a:extLst>
              </a:tr>
              <a:tr h="622300">
                <a:tc>
                  <a:txBody>
                    <a:bodyPr/>
                    <a:lstStyle/>
                    <a:p>
                      <a:pPr algn="l">
                        <a:buNone/>
                      </a:pPr>
                      <a:r>
                        <a:rPr sz="1600" b="1">
                          <a:solidFill>
                            <a:srgbClr val="171417"/>
                          </a:solidFill>
                          <a:latin typeface="Arial"/>
                          <a:ea typeface="Arial"/>
                          <a:cs typeface="Arial"/>
                        </a:rPr>
                        <a:t>H.265</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Fragmented</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830051"/>
                          </a:solidFill>
                          <a:latin typeface="Arial"/>
                          <a:ea typeface="Arial"/>
                          <a:cs typeface="Arial"/>
                        </a:rPr>
                        <a:t>Low</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Efficient on supported hardware
Browser and licensing risk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5"/>
                  </a:ext>
                </a:extLst>
              </a:tr>
            </a:tbl>
          </a:graphicData>
        </a:graphic>
      </p:graphicFrame>
      <p:sp>
        <p:nvSpPr>
          <p:cNvPr id="28" name="Rectángulo: esquinas redondeadas 27">
            <a:extLst>
              <a:ext uri="{FF2B5EF4-FFF2-40B4-BE49-F238E27FC236}">
                <a16:creationId xmlns:a16="http://schemas.microsoft.com/office/drawing/2014/main" id="{F6580D6F-7F06-EB56-DA6D-66C5FB3EEFEE}"/>
              </a:ext>
            </a:extLst>
          </p:cNvPr>
          <p:cNvSpPr>
            <a:spLocks noGrp="1"/>
          </p:cNvSpPr>
          <p:nvPr/>
        </p:nvSpPr>
        <p:spPr>
          <a:xfrm>
            <a:off x="685800" y="5283200"/>
            <a:ext cx="10820400" cy="749300"/>
          </a:xfrm>
          <a:prstGeom prst="roundRect">
            <a:avLst>
              <a:gd name="adj" fmla="val 12000"/>
            </a:avLst>
          </a:prstGeom>
          <a:solidFill>
            <a:srgbClr val="F5EDF2"/>
          </a:solidFill>
          <a:ln w="19050">
            <a:noFill/>
            <a:prstDash val="solid"/>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9" name="CuadroTexto 28">
            <a:extLst>
              <a:ext uri="{FF2B5EF4-FFF2-40B4-BE49-F238E27FC236}">
                <a16:creationId xmlns:a16="http://schemas.microsoft.com/office/drawing/2014/main" id="{8CE90D78-3006-0692-5190-AAC7132F570C}"/>
              </a:ext>
            </a:extLst>
          </p:cNvPr>
          <p:cNvSpPr>
            <a:spLocks noGrp="1"/>
          </p:cNvSpPr>
          <p:nvPr/>
        </p:nvSpPr>
        <p:spPr>
          <a:xfrm>
            <a:off x="914400" y="5410200"/>
            <a:ext cx="2159000" cy="646331"/>
          </a:xfrm>
          <a:prstGeom prst="rect">
            <a:avLst/>
          </a:prstGeom>
          <a:noFill/>
        </p:spPr>
        <p:txBody>
          <a:bodyPr vert="horz" wrap="square" lIns="0" tIns="0" rIns="0" bIns="0" anchor="ctr">
            <a:noAutofit/>
          </a:bodyPr>
          <a:lstStyle/>
          <a:p>
            <a:r>
              <a:rPr sz="1150" b="1">
                <a:solidFill>
                  <a:srgbClr val="830051"/>
                </a:solidFill>
                <a:latin typeface="Arial"/>
                <a:ea typeface="Arial"/>
                <a:cs typeface="Arial"/>
              </a:rPr>
              <a:t>720p AT 30 FPS
LOW-LATENCY VIDEO</a:t>
            </a:r>
          </a:p>
        </p:txBody>
      </p:sp>
      <p:sp>
        <p:nvSpPr>
          <p:cNvPr id="30" name="CuadroTexto 29">
            <a:extLst>
              <a:ext uri="{FF2B5EF4-FFF2-40B4-BE49-F238E27FC236}">
                <a16:creationId xmlns:a16="http://schemas.microsoft.com/office/drawing/2014/main" id="{99BA6567-3EAC-7BDD-C6B2-2922EA69B02D}"/>
              </a:ext>
            </a:extLst>
          </p:cNvPr>
          <p:cNvSpPr>
            <a:spLocks noGrp="1"/>
          </p:cNvSpPr>
          <p:nvPr/>
        </p:nvSpPr>
        <p:spPr>
          <a:xfrm>
            <a:off x="3530600" y="5372100"/>
            <a:ext cx="2603500" cy="369332"/>
          </a:xfrm>
          <a:prstGeom prst="rect">
            <a:avLst/>
          </a:prstGeom>
          <a:noFill/>
        </p:spPr>
        <p:txBody>
          <a:bodyPr vert="horz" wrap="square" lIns="0" tIns="0" rIns="0" bIns="0" anchor="ctr">
            <a:noAutofit/>
          </a:bodyPr>
          <a:lstStyle/>
          <a:p>
            <a:r>
              <a:rPr sz="2100" b="1">
                <a:solidFill>
                  <a:srgbClr val="171417"/>
                </a:solidFill>
                <a:latin typeface="Arial"/>
                <a:ea typeface="Arial"/>
                <a:cs typeface="Arial"/>
              </a:rPr>
              <a:t>1.5 Mb/s</a:t>
            </a:r>
          </a:p>
        </p:txBody>
      </p:sp>
      <p:sp>
        <p:nvSpPr>
          <p:cNvPr id="31" name="CuadroTexto 30">
            <a:extLst>
              <a:ext uri="{FF2B5EF4-FFF2-40B4-BE49-F238E27FC236}">
                <a16:creationId xmlns:a16="http://schemas.microsoft.com/office/drawing/2014/main" id="{B472BCD9-2F62-B000-2665-347A36C70015}"/>
              </a:ext>
            </a:extLst>
          </p:cNvPr>
          <p:cNvSpPr>
            <a:spLocks noGrp="1"/>
          </p:cNvSpPr>
          <p:nvPr/>
        </p:nvSpPr>
        <p:spPr>
          <a:xfrm>
            <a:off x="3530600" y="5702300"/>
            <a:ext cx="2603500" cy="369332"/>
          </a:xfrm>
          <a:prstGeom prst="rect">
            <a:avLst/>
          </a:prstGeom>
          <a:noFill/>
        </p:spPr>
        <p:txBody>
          <a:bodyPr vert="horz" wrap="square" lIns="0" tIns="0" rIns="0" bIns="0" anchor="ctr">
            <a:noAutofit/>
          </a:bodyPr>
          <a:lstStyle/>
          <a:p>
            <a:r>
              <a:rPr sz="1050">
                <a:solidFill>
                  <a:srgbClr val="6F686D"/>
                </a:solidFill>
                <a:latin typeface="Arial"/>
                <a:ea typeface="Arial"/>
                <a:cs typeface="Arial"/>
              </a:rPr>
              <a:t>video target</a:t>
            </a:r>
          </a:p>
        </p:txBody>
      </p:sp>
      <p:sp>
        <p:nvSpPr>
          <p:cNvPr id="32" name="CuadroTexto 31">
            <a:extLst>
              <a:ext uri="{FF2B5EF4-FFF2-40B4-BE49-F238E27FC236}">
                <a16:creationId xmlns:a16="http://schemas.microsoft.com/office/drawing/2014/main" id="{1962533A-9EB5-6F6D-16EA-49E84881D93F}"/>
              </a:ext>
            </a:extLst>
          </p:cNvPr>
          <p:cNvSpPr>
            <a:spLocks noGrp="1"/>
          </p:cNvSpPr>
          <p:nvPr/>
        </p:nvSpPr>
        <p:spPr>
          <a:xfrm>
            <a:off x="6807200" y="5372100"/>
            <a:ext cx="4191000" cy="369332"/>
          </a:xfrm>
          <a:prstGeom prst="rect">
            <a:avLst/>
          </a:prstGeom>
          <a:noFill/>
        </p:spPr>
        <p:txBody>
          <a:bodyPr vert="horz" wrap="square" lIns="0" tIns="0" rIns="0" bIns="0" anchor="ctr">
            <a:noAutofit/>
          </a:bodyPr>
          <a:lstStyle/>
          <a:p>
            <a:r>
              <a:rPr sz="2100" b="1">
                <a:solidFill>
                  <a:srgbClr val="830051"/>
                </a:solidFill>
                <a:latin typeface="Arial"/>
                <a:ea typeface="Arial"/>
                <a:cs typeface="Arial"/>
              </a:rPr>
              <a:t>about 2 Mb/s</a:t>
            </a:r>
          </a:p>
        </p:txBody>
      </p:sp>
      <p:sp>
        <p:nvSpPr>
          <p:cNvPr id="33" name="CuadroTexto 32">
            <a:extLst>
              <a:ext uri="{FF2B5EF4-FFF2-40B4-BE49-F238E27FC236}">
                <a16:creationId xmlns:a16="http://schemas.microsoft.com/office/drawing/2014/main" id="{A212F3CF-D12D-7E50-FE45-7D400008CB50}"/>
              </a:ext>
            </a:extLst>
          </p:cNvPr>
          <p:cNvSpPr>
            <a:spLocks noGrp="1"/>
          </p:cNvSpPr>
          <p:nvPr/>
        </p:nvSpPr>
        <p:spPr>
          <a:xfrm>
            <a:off x="6807200" y="5702300"/>
            <a:ext cx="4191000" cy="369332"/>
          </a:xfrm>
          <a:prstGeom prst="rect">
            <a:avLst/>
          </a:prstGeom>
          <a:noFill/>
        </p:spPr>
        <p:txBody>
          <a:bodyPr vert="horz" wrap="square" lIns="0" tIns="0" rIns="0" bIns="0" anchor="ctr">
            <a:noAutofit/>
          </a:bodyPr>
          <a:lstStyle/>
          <a:p>
            <a:r>
              <a:rPr sz="1050">
                <a:solidFill>
                  <a:srgbClr val="6F686D"/>
                </a:solidFill>
                <a:latin typeface="Arial"/>
                <a:ea typeface="Arial"/>
                <a:cs typeface="Arial"/>
              </a:rPr>
              <a:t>sustained uplink with headroom</a:t>
            </a:r>
          </a:p>
        </p:txBody>
      </p:sp>
      <p:sp>
        <p:nvSpPr>
          <p:cNvPr id="34" name="Conector recto 33">
            <a:extLst>
              <a:ext uri="{FF2B5EF4-FFF2-40B4-BE49-F238E27FC236}">
                <a16:creationId xmlns:a16="http://schemas.microsoft.com/office/drawing/2014/main" id="{EA0961DF-9936-49D2-BC8D-5C03FCCCAB0A}"/>
              </a:ext>
            </a:extLst>
          </p:cNvPr>
          <p:cNvSpPr>
            <a:spLocks noGrp="1"/>
          </p:cNvSpPr>
          <p:nvPr/>
        </p:nvSpPr>
        <p:spPr>
          <a:xfrm>
            <a:off x="3276600" y="5422900"/>
            <a:ext cx="0" cy="469900"/>
          </a:xfrm>
          <a:prstGeom prst="line">
            <a:avLst/>
          </a:prstGeom>
          <a:ln w="12700">
            <a:solidFill>
              <a:srgbClr val="D7CCD3"/>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35" name="Conector recto 34">
            <a:extLst>
              <a:ext uri="{FF2B5EF4-FFF2-40B4-BE49-F238E27FC236}">
                <a16:creationId xmlns:a16="http://schemas.microsoft.com/office/drawing/2014/main" id="{4CE76D16-1073-4E51-B0A4-AC50D617C926}"/>
              </a:ext>
            </a:extLst>
          </p:cNvPr>
          <p:cNvSpPr>
            <a:spLocks noGrp="1"/>
          </p:cNvSpPr>
          <p:nvPr/>
        </p:nvSpPr>
        <p:spPr>
          <a:xfrm>
            <a:off x="6502400" y="5422900"/>
            <a:ext cx="0" cy="469900"/>
          </a:xfrm>
          <a:prstGeom prst="line">
            <a:avLst/>
          </a:prstGeom>
          <a:ln w="12700">
            <a:solidFill>
              <a:srgbClr val="D7CCD3"/>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Tree>
    <p:extLst>
      <p:ext uri="{BB962C8B-B14F-4D97-AF65-F5344CB8AC3E}">
        <p14:creationId xmlns:p14="http://schemas.microsoft.com/office/powerpoint/2010/main" val="3935726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FEEC6E99-40DC-4E3A-8C1B-FDF6B69E6BB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3C73A95B-CEBE-42F6-8E00-FB64E205C0E6}"/>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WHIP and WHEP</a:t>
            </a:r>
          </a:p>
        </p:txBody>
      </p:sp>
      <p:sp>
        <p:nvSpPr>
          <p:cNvPr id="3" name="Rectángulo 2">
            <a:extLst>
              <a:ext uri="{FF2B5EF4-FFF2-40B4-BE49-F238E27FC236}">
                <a16:creationId xmlns:a16="http://schemas.microsoft.com/office/drawing/2014/main" id="{D1664D82-8A67-42D7-8E82-9327F95846E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6D2E29F-26F7-4D0D-AB67-33CEA17C466D}"/>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11</a:t>
            </a:r>
          </a:p>
        </p:txBody>
      </p:sp>
      <p:sp>
        <p:nvSpPr>
          <p:cNvPr id="5" name="Rectángulo: esquinas redondeadas 4">
            <a:extLst>
              <a:ext uri="{FF2B5EF4-FFF2-40B4-BE49-F238E27FC236}">
                <a16:creationId xmlns:a16="http://schemas.microsoft.com/office/drawing/2014/main" id="{DA1E9A8C-6EBE-4DF7-8FF2-681BFA5C120D}"/>
              </a:ext>
            </a:extLst>
          </p:cNvPr>
          <p:cNvSpPr>
            <a:spLocks noGrp="1"/>
          </p:cNvSpPr>
          <p:nvPr/>
        </p:nvSpPr>
        <p:spPr>
          <a:xfrm>
            <a:off x="666750" y="2324100"/>
            <a:ext cx="2238375"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Publisher / device</a:t>
            </a:r>
          </a:p>
        </p:txBody>
      </p:sp>
      <p:sp>
        <p:nvSpPr>
          <p:cNvPr id="6" name="Rectángulo: esquinas redondeadas 5">
            <a:extLst>
              <a:ext uri="{FF2B5EF4-FFF2-40B4-BE49-F238E27FC236}">
                <a16:creationId xmlns:a16="http://schemas.microsoft.com/office/drawing/2014/main" id="{76ACB176-7671-4D1D-A4B2-2F6183760695}"/>
              </a:ext>
            </a:extLst>
          </p:cNvPr>
          <p:cNvSpPr>
            <a:spLocks noGrp="1"/>
          </p:cNvSpPr>
          <p:nvPr/>
        </p:nvSpPr>
        <p:spPr>
          <a:xfrm>
            <a:off x="4667250" y="2095500"/>
            <a:ext cx="2857500" cy="1409700"/>
          </a:xfrm>
          <a:prstGeom prst="roundRect">
            <a:avLst>
              <a:gd name="adj" fmla="val 945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2100" b="1">
                <a:solidFill>
                  <a:srgbClr val="FFFFFF"/>
                </a:solidFill>
                <a:latin typeface="Arial"/>
                <a:ea typeface="Arial"/>
                <a:cs typeface="Arial"/>
              </a:defRPr>
            </a:pPr>
            <a:r>
              <a:rPr sz="2100" b="1">
                <a:solidFill>
                  <a:srgbClr val="FFFFFF"/>
                </a:solidFill>
                <a:latin typeface="Arial"/>
                <a:ea typeface="Arial"/>
                <a:cs typeface="Arial"/>
              </a:rPr>
              <a:t>Central media server</a:t>
            </a:r>
          </a:p>
        </p:txBody>
      </p:sp>
      <p:sp>
        <p:nvSpPr>
          <p:cNvPr id="7" name="Rectángulo: esquinas redondeadas 6">
            <a:extLst>
              <a:ext uri="{FF2B5EF4-FFF2-40B4-BE49-F238E27FC236}">
                <a16:creationId xmlns:a16="http://schemas.microsoft.com/office/drawing/2014/main" id="{1FC1F63D-FD1C-4B73-B29B-8D7D55B943A9}"/>
              </a:ext>
            </a:extLst>
          </p:cNvPr>
          <p:cNvSpPr>
            <a:spLocks noGrp="1"/>
          </p:cNvSpPr>
          <p:nvPr/>
        </p:nvSpPr>
        <p:spPr>
          <a:xfrm>
            <a:off x="9286875" y="2324100"/>
            <a:ext cx="2238375"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Viewer / browser</a:t>
            </a:r>
          </a:p>
        </p:txBody>
      </p:sp>
      <p:cxnSp>
        <p:nvCxnSpPr>
          <p:cNvPr id="27" name="Conector recto de flecha 26"/>
          <p:cNvCxnSpPr>
            <a:stCxn id="5" idx="3"/>
            <a:endCxn id="6" idx="1"/>
          </p:cNvCxnSpPr>
          <p:nvPr/>
        </p:nvCxnSpPr>
        <p:spPr>
          <a:xfrm>
            <a:off x="2905125" y="2800350"/>
            <a:ext cx="1762125" cy="0"/>
          </a:xfrm>
          <a:prstGeom prst="straightConnector1">
            <a:avLst/>
          </a:prstGeom>
          <a:ln w="19050">
            <a:solidFill>
              <a:srgbClr val="830051"/>
            </a:solidFill>
            <a:prstDash val="solid"/>
            <a:tailEnd type="triangle" w="sm" len="sm"/>
          </a:ln>
        </p:spPr>
      </p:cxnSp>
      <p:cxnSp>
        <p:nvCxnSpPr>
          <p:cNvPr id="28" name="Conector recto de flecha 27"/>
          <p:cNvCxnSpPr>
            <a:stCxn id="6" idx="3"/>
            <a:endCxn id="7" idx="1"/>
          </p:cNvCxnSpPr>
          <p:nvPr/>
        </p:nvCxnSpPr>
        <p:spPr>
          <a:xfrm>
            <a:off x="7524750" y="2800350"/>
            <a:ext cx="1762125" cy="0"/>
          </a:xfrm>
          <a:prstGeom prst="straightConnector1">
            <a:avLst/>
          </a:prstGeom>
          <a:ln w="19050">
            <a:solidFill>
              <a:srgbClr val="830051"/>
            </a:solidFill>
            <a:prstDash val="solid"/>
            <a:tailEnd type="triangle" w="sm" len="sm"/>
          </a:ln>
        </p:spPr>
      </p:cxnSp>
      <p:sp>
        <p:nvSpPr>
          <p:cNvPr id="10" name="Rectángulo 9">
            <a:extLst>
              <a:ext uri="{FF2B5EF4-FFF2-40B4-BE49-F238E27FC236}">
                <a16:creationId xmlns:a16="http://schemas.microsoft.com/office/drawing/2014/main" id="{D6FD8302-EB57-4BB1-A275-1BD05698EE6F}"/>
              </a:ext>
            </a:extLst>
          </p:cNvPr>
          <p:cNvSpPr>
            <a:spLocks noGrp="1"/>
          </p:cNvSpPr>
          <p:nvPr/>
        </p:nvSpPr>
        <p:spPr>
          <a:xfrm>
            <a:off x="3143250" y="2019300"/>
            <a:ext cx="1276350" cy="381000"/>
          </a:xfrm>
          <a:prstGeom prst="rect">
            <a:avLst/>
          </a:prstGeom>
          <a:noFill/>
          <a:ln w="0">
            <a:noFill/>
          </a:ln>
        </p:spPr>
        <p:txBody>
          <a:bodyPr wrap="square" lIns="0" tIns="0" rIns="0" bIns="0" anchor="t">
            <a:noAutofit/>
          </a:bodyPr>
          <a:lstStyle/>
          <a:p>
            <a:pPr algn="ctr">
              <a:lnSpc>
                <a:spcPct val="104000"/>
              </a:lnSpc>
              <a:buNone/>
              <a:defRPr sz="2250" b="1">
                <a:solidFill>
                  <a:srgbClr val="830051"/>
                </a:solidFill>
                <a:latin typeface="Arial"/>
                <a:ea typeface="Arial"/>
                <a:cs typeface="Arial"/>
              </a:defRPr>
            </a:pPr>
            <a:r>
              <a:rPr sz="2250" b="1">
                <a:solidFill>
                  <a:srgbClr val="830051"/>
                </a:solidFill>
                <a:latin typeface="Arial"/>
                <a:ea typeface="Arial"/>
                <a:cs typeface="Arial"/>
              </a:rPr>
              <a:t>WHIP</a:t>
            </a:r>
          </a:p>
        </p:txBody>
      </p:sp>
      <p:sp>
        <p:nvSpPr>
          <p:cNvPr id="11" name="Rectángulo 10">
            <a:extLst>
              <a:ext uri="{FF2B5EF4-FFF2-40B4-BE49-F238E27FC236}">
                <a16:creationId xmlns:a16="http://schemas.microsoft.com/office/drawing/2014/main" id="{6A2937FE-9C16-476E-91AC-DDE5430FEE73}"/>
              </a:ext>
            </a:extLst>
          </p:cNvPr>
          <p:cNvSpPr>
            <a:spLocks noGrp="1"/>
          </p:cNvSpPr>
          <p:nvPr/>
        </p:nvSpPr>
        <p:spPr>
          <a:xfrm>
            <a:off x="3143250" y="2457450"/>
            <a:ext cx="1276350" cy="266700"/>
          </a:xfrm>
          <a:prstGeom prst="rect">
            <a:avLst/>
          </a:prstGeom>
          <a:noFill/>
          <a:ln w="0">
            <a:noFill/>
          </a:ln>
        </p:spPr>
        <p:txBody>
          <a:bodyPr wrap="square" lIns="0" tIns="0" rIns="0" bIns="0" anchor="t">
            <a:noAutofit/>
          </a:bodyPr>
          <a:lstStyle/>
          <a:p>
            <a:pPr algn="ctr">
              <a:lnSpc>
                <a:spcPct val="104000"/>
              </a:lnSpc>
              <a:buNone/>
              <a:defRPr sz="1425" b="0">
                <a:solidFill>
                  <a:srgbClr val="6F686D"/>
                </a:solidFill>
                <a:latin typeface="Arial"/>
                <a:ea typeface="Arial"/>
                <a:cs typeface="Arial"/>
              </a:defRPr>
            </a:pPr>
            <a:r>
              <a:rPr sz="1425" b="0">
                <a:solidFill>
                  <a:srgbClr val="6F686D"/>
                </a:solidFill>
                <a:latin typeface="Arial"/>
                <a:ea typeface="Arial"/>
                <a:cs typeface="Arial"/>
              </a:rPr>
              <a:t>ingest</a:t>
            </a:r>
          </a:p>
        </p:txBody>
      </p:sp>
      <p:sp>
        <p:nvSpPr>
          <p:cNvPr id="12" name="Rectángulo 11">
            <a:extLst>
              <a:ext uri="{FF2B5EF4-FFF2-40B4-BE49-F238E27FC236}">
                <a16:creationId xmlns:a16="http://schemas.microsoft.com/office/drawing/2014/main" id="{9A1D6659-F94A-4D68-B1AC-74280416F9D6}"/>
              </a:ext>
            </a:extLst>
          </p:cNvPr>
          <p:cNvSpPr>
            <a:spLocks noGrp="1"/>
          </p:cNvSpPr>
          <p:nvPr/>
        </p:nvSpPr>
        <p:spPr>
          <a:xfrm>
            <a:off x="7772400" y="2019300"/>
            <a:ext cx="1276350" cy="381000"/>
          </a:xfrm>
          <a:prstGeom prst="rect">
            <a:avLst/>
          </a:prstGeom>
          <a:noFill/>
          <a:ln w="0">
            <a:noFill/>
          </a:ln>
        </p:spPr>
        <p:txBody>
          <a:bodyPr wrap="square" lIns="0" tIns="0" rIns="0" bIns="0" anchor="t">
            <a:noAutofit/>
          </a:bodyPr>
          <a:lstStyle/>
          <a:p>
            <a:pPr algn="ctr">
              <a:lnSpc>
                <a:spcPct val="104000"/>
              </a:lnSpc>
              <a:buNone/>
              <a:defRPr sz="2250" b="1">
                <a:solidFill>
                  <a:srgbClr val="830051"/>
                </a:solidFill>
                <a:latin typeface="Arial"/>
                <a:ea typeface="Arial"/>
                <a:cs typeface="Arial"/>
              </a:defRPr>
            </a:pPr>
            <a:r>
              <a:rPr sz="2250" b="1">
                <a:solidFill>
                  <a:srgbClr val="830051"/>
                </a:solidFill>
                <a:latin typeface="Arial"/>
                <a:ea typeface="Arial"/>
                <a:cs typeface="Arial"/>
              </a:rPr>
              <a:t>WHEP</a:t>
            </a:r>
          </a:p>
        </p:txBody>
      </p:sp>
      <p:sp>
        <p:nvSpPr>
          <p:cNvPr id="13" name="Rectángulo 12">
            <a:extLst>
              <a:ext uri="{FF2B5EF4-FFF2-40B4-BE49-F238E27FC236}">
                <a16:creationId xmlns:a16="http://schemas.microsoft.com/office/drawing/2014/main" id="{CA28D386-9EC8-40A4-9621-86AB18CA782F}"/>
              </a:ext>
            </a:extLst>
          </p:cNvPr>
          <p:cNvSpPr>
            <a:spLocks noGrp="1"/>
          </p:cNvSpPr>
          <p:nvPr/>
        </p:nvSpPr>
        <p:spPr>
          <a:xfrm>
            <a:off x="7772400" y="2457450"/>
            <a:ext cx="1276350" cy="266700"/>
          </a:xfrm>
          <a:prstGeom prst="rect">
            <a:avLst/>
          </a:prstGeom>
          <a:noFill/>
          <a:ln w="0">
            <a:noFill/>
          </a:ln>
        </p:spPr>
        <p:txBody>
          <a:bodyPr wrap="square" lIns="0" tIns="0" rIns="0" bIns="0" anchor="t">
            <a:noAutofit/>
          </a:bodyPr>
          <a:lstStyle/>
          <a:p>
            <a:pPr algn="ctr">
              <a:lnSpc>
                <a:spcPct val="104000"/>
              </a:lnSpc>
              <a:buNone/>
              <a:defRPr sz="1425" b="0">
                <a:solidFill>
                  <a:srgbClr val="6F686D"/>
                </a:solidFill>
                <a:latin typeface="Arial"/>
                <a:ea typeface="Arial"/>
                <a:cs typeface="Arial"/>
              </a:defRPr>
            </a:pPr>
            <a:r>
              <a:rPr sz="1425" b="0">
                <a:solidFill>
                  <a:srgbClr val="6F686D"/>
                </a:solidFill>
                <a:latin typeface="Arial"/>
                <a:ea typeface="Arial"/>
                <a:cs typeface="Arial"/>
              </a:rPr>
              <a:t>egress</a:t>
            </a:r>
          </a:p>
        </p:txBody>
      </p:sp>
      <p:sp>
        <p:nvSpPr>
          <p:cNvPr id="14" name="Rectángulo 13">
            <a:extLst>
              <a:ext uri="{FF2B5EF4-FFF2-40B4-BE49-F238E27FC236}">
                <a16:creationId xmlns:a16="http://schemas.microsoft.com/office/drawing/2014/main" id="{B8AF4BF9-A016-465A-AA58-6CF470A3644F}"/>
              </a:ext>
            </a:extLst>
          </p:cNvPr>
          <p:cNvSpPr>
            <a:spLocks noGrp="1"/>
          </p:cNvSpPr>
          <p:nvPr/>
        </p:nvSpPr>
        <p:spPr>
          <a:xfrm>
            <a:off x="2895600" y="3067050"/>
            <a:ext cx="1733550" cy="247650"/>
          </a:xfrm>
          <a:prstGeom prst="rect">
            <a:avLst/>
          </a:prstGeom>
          <a:noFill/>
          <a:ln w="0">
            <a:noFill/>
          </a:ln>
        </p:spPr>
        <p:txBody>
          <a:bodyPr wrap="square" lIns="0" tIns="0" rIns="0" bIns="0" anchor="t">
            <a:noAutofit/>
          </a:bodyPr>
          <a:lstStyle/>
          <a:p>
            <a:pPr algn="ctr">
              <a:lnSpc>
                <a:spcPct val="104000"/>
              </a:lnSpc>
              <a:buNone/>
              <a:defRPr sz="1275" b="1">
                <a:solidFill>
                  <a:srgbClr val="171417"/>
                </a:solidFill>
                <a:latin typeface="Arial"/>
                <a:ea typeface="Arial"/>
                <a:cs typeface="Arial"/>
              </a:defRPr>
            </a:pPr>
            <a:r>
              <a:rPr sz="1275" b="1">
                <a:solidFill>
                  <a:srgbClr val="171417"/>
                </a:solidFill>
                <a:latin typeface="Arial"/>
                <a:ea typeface="Arial"/>
                <a:cs typeface="Arial"/>
              </a:rPr>
              <a:t>WebRTC session 1</a:t>
            </a:r>
          </a:p>
        </p:txBody>
      </p:sp>
      <p:sp>
        <p:nvSpPr>
          <p:cNvPr id="15" name="Rectángulo 14">
            <a:extLst>
              <a:ext uri="{FF2B5EF4-FFF2-40B4-BE49-F238E27FC236}">
                <a16:creationId xmlns:a16="http://schemas.microsoft.com/office/drawing/2014/main" id="{1F7980CD-4735-4DC1-883F-58671DACA570}"/>
              </a:ext>
            </a:extLst>
          </p:cNvPr>
          <p:cNvSpPr>
            <a:spLocks noGrp="1"/>
          </p:cNvSpPr>
          <p:nvPr/>
        </p:nvSpPr>
        <p:spPr>
          <a:xfrm>
            <a:off x="7562850" y="3067050"/>
            <a:ext cx="1733550" cy="247650"/>
          </a:xfrm>
          <a:prstGeom prst="rect">
            <a:avLst/>
          </a:prstGeom>
          <a:noFill/>
          <a:ln w="0">
            <a:noFill/>
          </a:ln>
        </p:spPr>
        <p:txBody>
          <a:bodyPr wrap="square" lIns="0" tIns="0" rIns="0" bIns="0" anchor="t">
            <a:noAutofit/>
          </a:bodyPr>
          <a:lstStyle/>
          <a:p>
            <a:pPr algn="ctr">
              <a:lnSpc>
                <a:spcPct val="104000"/>
              </a:lnSpc>
              <a:buNone/>
              <a:defRPr sz="1275" b="1">
                <a:solidFill>
                  <a:srgbClr val="171417"/>
                </a:solidFill>
                <a:latin typeface="Arial"/>
                <a:ea typeface="Arial"/>
                <a:cs typeface="Arial"/>
              </a:defRPr>
            </a:pPr>
            <a:r>
              <a:rPr sz="1275" b="1">
                <a:solidFill>
                  <a:srgbClr val="171417"/>
                </a:solidFill>
                <a:latin typeface="Arial"/>
                <a:ea typeface="Arial"/>
                <a:cs typeface="Arial"/>
              </a:rPr>
              <a:t>WebRTC session 2</a:t>
            </a:r>
          </a:p>
        </p:txBody>
      </p:sp>
      <p:sp>
        <p:nvSpPr>
          <p:cNvPr id="16" name="Rectángulo: esquinas redondeadas 15">
            <a:extLst>
              <a:ext uri="{FF2B5EF4-FFF2-40B4-BE49-F238E27FC236}">
                <a16:creationId xmlns:a16="http://schemas.microsoft.com/office/drawing/2014/main" id="{84B2128C-5866-45BF-8659-458BAE9C61CA}"/>
              </a:ext>
            </a:extLst>
          </p:cNvPr>
          <p:cNvSpPr>
            <a:spLocks noGrp="1"/>
          </p:cNvSpPr>
          <p:nvPr/>
        </p:nvSpPr>
        <p:spPr>
          <a:xfrm>
            <a:off x="952500" y="4152900"/>
            <a:ext cx="10287000" cy="1162050"/>
          </a:xfrm>
          <a:prstGeom prst="roundRect">
            <a:avLst>
              <a:gd name="adj" fmla="val 11475"/>
            </a:avLst>
          </a:prstGeom>
          <a:solidFill>
            <a:srgbClr val="F5EDF2"/>
          </a:solidFill>
          <a:ln w="0">
            <a:noFill/>
          </a:ln>
        </p:spPr>
        <p:txBody>
          <a:bodyPr/>
          <a:lstStyle/>
          <a:p>
            <a:endParaRPr/>
          </a:p>
        </p:txBody>
      </p:sp>
      <p:sp>
        <p:nvSpPr>
          <p:cNvPr id="17" name="Rectángulo 16">
            <a:extLst>
              <a:ext uri="{FF2B5EF4-FFF2-40B4-BE49-F238E27FC236}">
                <a16:creationId xmlns:a16="http://schemas.microsoft.com/office/drawing/2014/main" id="{8D7505FE-036C-404C-85F7-84AB0AC5FC85}"/>
              </a:ext>
            </a:extLst>
          </p:cNvPr>
          <p:cNvSpPr>
            <a:spLocks noGrp="1"/>
          </p:cNvSpPr>
          <p:nvPr/>
        </p:nvSpPr>
        <p:spPr>
          <a:xfrm>
            <a:off x="1238250" y="4400550"/>
            <a:ext cx="2381250" cy="333375"/>
          </a:xfrm>
          <a:prstGeom prst="rect">
            <a:avLst/>
          </a:prstGeom>
          <a:noFill/>
          <a:ln w="0">
            <a:noFill/>
          </a:ln>
        </p:spPr>
        <p:txBody>
          <a:bodyPr wrap="square" lIns="0" tIns="0" rIns="0" bIns="0" anchor="t">
            <a:noAutofit/>
          </a:bodyPr>
          <a:lstStyle/>
          <a:p>
            <a:pPr algn="l">
              <a:lnSpc>
                <a:spcPct val="104000"/>
              </a:lnSpc>
              <a:buNone/>
              <a:defRPr sz="1875" b="1">
                <a:solidFill>
                  <a:srgbClr val="510034"/>
                </a:solidFill>
                <a:latin typeface="Arial"/>
                <a:ea typeface="Arial"/>
                <a:cs typeface="Arial"/>
              </a:defRPr>
            </a:pPr>
            <a:r>
              <a:rPr sz="1875" b="1">
                <a:solidFill>
                  <a:srgbClr val="510034"/>
                </a:solidFill>
                <a:latin typeface="Arial"/>
                <a:ea typeface="Arial"/>
                <a:cs typeface="Arial"/>
              </a:rPr>
              <a:t>HTTP session lifecycle</a:t>
            </a:r>
          </a:p>
        </p:txBody>
      </p:sp>
      <p:sp>
        <p:nvSpPr>
          <p:cNvPr id="18" name="Rectángulo 17">
            <a:extLst>
              <a:ext uri="{FF2B5EF4-FFF2-40B4-BE49-F238E27FC236}">
                <a16:creationId xmlns:a16="http://schemas.microsoft.com/office/drawing/2014/main" id="{CFBC03B7-1172-4C4D-9DEE-9D823012C74E}"/>
              </a:ext>
            </a:extLst>
          </p:cNvPr>
          <p:cNvSpPr>
            <a:spLocks noGrp="1"/>
          </p:cNvSpPr>
          <p:nvPr/>
        </p:nvSpPr>
        <p:spPr>
          <a:xfrm>
            <a:off x="3829050" y="4400550"/>
            <a:ext cx="7086600" cy="590550"/>
          </a:xfrm>
          <a:prstGeom prst="rect">
            <a:avLst/>
          </a:prstGeom>
          <a:noFill/>
          <a:ln w="0">
            <a:noFill/>
          </a:ln>
        </p:spPr>
        <p:txBody>
          <a:bodyPr wrap="square" lIns="0" tIns="0" rIns="0" bIns="0" anchor="ctr">
            <a:noAutofit/>
          </a:bodyPr>
          <a:lstStyle/>
          <a:p>
            <a:pPr algn="l">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POST offer, 201 answer + Location, PATCH ICE updates, DELETE teardown</a:t>
            </a:r>
          </a:p>
        </p:txBody>
      </p:sp>
      <p:sp>
        <p:nvSpPr>
          <p:cNvPr id="19" name="Rectángulo 18">
            <a:extLst>
              <a:ext uri="{FF2B5EF4-FFF2-40B4-BE49-F238E27FC236}">
                <a16:creationId xmlns:a16="http://schemas.microsoft.com/office/drawing/2014/main" id="{E695D87A-2396-4879-898F-E01A164AC5FB}"/>
              </a:ext>
            </a:extLst>
          </p:cNvPr>
          <p:cNvSpPr>
            <a:spLocks noGrp="1"/>
          </p:cNvSpPr>
          <p:nvPr/>
        </p:nvSpPr>
        <p:spPr>
          <a:xfrm>
            <a:off x="1390650" y="5657850"/>
            <a:ext cx="9410700" cy="400050"/>
          </a:xfrm>
          <a:prstGeom prst="rect">
            <a:avLst/>
          </a:prstGeom>
          <a:noFill/>
          <a:ln w="0">
            <a:noFill/>
          </a:ln>
        </p:spPr>
        <p:txBody>
          <a:bodyPr wrap="square" lIns="0" tIns="0" rIns="0" bIns="0" anchor="t">
            <a:noAutofit/>
          </a:bodyPr>
          <a:lstStyle/>
          <a:p>
            <a:pPr algn="ctr">
              <a:lnSpc>
                <a:spcPct val="104000"/>
              </a:lnSpc>
              <a:buNone/>
              <a:defRPr sz="1575" b="1">
                <a:solidFill>
                  <a:srgbClr val="510034"/>
                </a:solidFill>
                <a:latin typeface="Arial"/>
                <a:ea typeface="Arial"/>
                <a:cs typeface="Arial"/>
              </a:defRPr>
            </a:pPr>
            <a:r>
              <a:rPr sz="1575" b="1">
                <a:solidFill>
                  <a:srgbClr val="510034"/>
                </a:solidFill>
                <a:latin typeface="Arial"/>
                <a:ea typeface="Arial"/>
                <a:cs typeface="Arial"/>
              </a:rPr>
              <a:t>WHIP is RFC 9725. WHEP remains draft-ietf-wish-whep-04 as of 5 September 2026.</a:t>
            </a:r>
          </a:p>
        </p:txBody>
      </p:sp>
    </p:spTree>
    <p:extLst>
      <p:ext uri="{BB962C8B-B14F-4D97-AF65-F5344CB8AC3E}">
        <p14:creationId xmlns:p14="http://schemas.microsoft.com/office/powerpoint/2010/main" val="8268870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0C6F254D-3F6A-4148-BA6E-96F184E0346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A2928B2C-61A7-4EF9-896F-DC8A9BCEAC24}"/>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Initial Prototype Architecture</a:t>
            </a:r>
          </a:p>
        </p:txBody>
      </p:sp>
      <p:sp>
        <p:nvSpPr>
          <p:cNvPr id="3" name="Rectángulo 2">
            <a:extLst>
              <a:ext uri="{FF2B5EF4-FFF2-40B4-BE49-F238E27FC236}">
                <a16:creationId xmlns:a16="http://schemas.microsoft.com/office/drawing/2014/main" id="{53DED930-5044-49B9-96A4-6A663E9490B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70F9C258-FAB2-482E-BD25-BA2371E0A99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13</a:t>
            </a:r>
          </a:p>
        </p:txBody>
      </p:sp>
      <p:sp>
        <p:nvSpPr>
          <p:cNvPr id="5" name="Rectángulo: esquinas redondeadas 4">
            <a:extLst>
              <a:ext uri="{FF2B5EF4-FFF2-40B4-BE49-F238E27FC236}">
                <a16:creationId xmlns:a16="http://schemas.microsoft.com/office/drawing/2014/main" id="{B506B1E6-D505-45F6-BB44-0422D22FE157}"/>
              </a:ext>
            </a:extLst>
          </p:cNvPr>
          <p:cNvSpPr>
            <a:spLocks noGrp="1"/>
          </p:cNvSpPr>
          <p:nvPr/>
        </p:nvSpPr>
        <p:spPr>
          <a:xfrm>
            <a:off x="628650" y="2400300"/>
            <a:ext cx="2667000" cy="1123950"/>
          </a:xfrm>
          <a:prstGeom prst="roundRect">
            <a:avLst>
              <a:gd name="adj" fmla="val 11864"/>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RC car / Raspberry Pi</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Camera + WebRTC sender</a:t>
            </a:r>
          </a:p>
        </p:txBody>
      </p:sp>
      <p:sp>
        <p:nvSpPr>
          <p:cNvPr id="6" name="Rectángulo: esquinas redondeadas 5">
            <a:extLst>
              <a:ext uri="{FF2B5EF4-FFF2-40B4-BE49-F238E27FC236}">
                <a16:creationId xmlns:a16="http://schemas.microsoft.com/office/drawing/2014/main" id="{0FE3CAD8-0C42-414D-8F7E-A0AEE809DD0C}"/>
              </a:ext>
            </a:extLst>
          </p:cNvPr>
          <p:cNvSpPr>
            <a:spLocks noGrp="1"/>
          </p:cNvSpPr>
          <p:nvPr/>
        </p:nvSpPr>
        <p:spPr>
          <a:xfrm>
            <a:off x="4762500" y="1657350"/>
            <a:ext cx="2667000" cy="1047750"/>
          </a:xfrm>
          <a:prstGeom prst="roundRect">
            <a:avLst>
              <a:gd name="adj" fmla="val 12727"/>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ASP.NET Core</a:t>
            </a:r>
          </a:p>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SignalR coordination</a:t>
            </a:r>
          </a:p>
        </p:txBody>
      </p:sp>
      <p:sp>
        <p:nvSpPr>
          <p:cNvPr id="7" name="Rectángulo: esquinas redondeadas 6">
            <a:extLst>
              <a:ext uri="{FF2B5EF4-FFF2-40B4-BE49-F238E27FC236}">
                <a16:creationId xmlns:a16="http://schemas.microsoft.com/office/drawing/2014/main" id="{1A5EC3B5-BD31-409F-9924-012990776421}"/>
              </a:ext>
            </a:extLst>
          </p:cNvPr>
          <p:cNvSpPr>
            <a:spLocks noGrp="1"/>
          </p:cNvSpPr>
          <p:nvPr/>
        </p:nvSpPr>
        <p:spPr>
          <a:xfrm>
            <a:off x="8896350" y="2400300"/>
            <a:ext cx="2667000" cy="1123950"/>
          </a:xfrm>
          <a:prstGeom prst="roundRect">
            <a:avLst>
              <a:gd name="adj" fmla="val 11864"/>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Remote browser</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React + WebRTC viewer</a:t>
            </a:r>
          </a:p>
        </p:txBody>
      </p:sp>
      <p:sp>
        <p:nvSpPr>
          <p:cNvPr id="8" name="Rectángulo: esquinas redondeadas 7">
            <a:extLst>
              <a:ext uri="{FF2B5EF4-FFF2-40B4-BE49-F238E27FC236}">
                <a16:creationId xmlns:a16="http://schemas.microsoft.com/office/drawing/2014/main" id="{A158B179-B9B0-4F3B-ABAA-0D32CB91D9CA}"/>
              </a:ext>
            </a:extLst>
          </p:cNvPr>
          <p:cNvSpPr>
            <a:spLocks noGrp="1"/>
          </p:cNvSpPr>
          <p:nvPr/>
        </p:nvSpPr>
        <p:spPr>
          <a:xfrm>
            <a:off x="4762500" y="4476750"/>
            <a:ext cx="2667000" cy="990600"/>
          </a:xfrm>
          <a:prstGeom prst="roundRect">
            <a:avLst>
              <a:gd name="adj" fmla="val 13462"/>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STUN</a:t>
            </a:r>
          </a:p>
        </p:txBody>
      </p:sp>
      <p:cxnSp>
        <p:nvCxnSpPr>
          <p:cNvPr id="27" name="Conector recto de flecha 26"/>
          <p:cNvCxnSpPr>
            <a:stCxn id="5" idx="0"/>
            <a:endCxn id="6" idx="1"/>
          </p:cNvCxnSpPr>
          <p:nvPr/>
        </p:nvCxnSpPr>
        <p:spPr>
          <a:xfrm flipV="1">
            <a:off x="1962150" y="2181225"/>
            <a:ext cx="2800350" cy="219075"/>
          </a:xfrm>
          <a:prstGeom prst="straightConnector1">
            <a:avLst/>
          </a:prstGeom>
          <a:ln w="19050">
            <a:solidFill>
              <a:srgbClr val="A69FA3"/>
            </a:solidFill>
            <a:prstDash val="solid"/>
            <a:headEnd type="triangle" w="sm" len="sm"/>
            <a:tailEnd type="triangle" w="sm" len="sm"/>
          </a:ln>
        </p:spPr>
      </p:cxnSp>
      <p:cxnSp>
        <p:nvCxnSpPr>
          <p:cNvPr id="28" name="Conector recto de flecha 27"/>
          <p:cNvCxnSpPr>
            <a:stCxn id="6" idx="3"/>
            <a:endCxn id="7" idx="0"/>
          </p:cNvCxnSpPr>
          <p:nvPr/>
        </p:nvCxnSpPr>
        <p:spPr>
          <a:xfrm>
            <a:off x="7429500" y="2181225"/>
            <a:ext cx="2800350" cy="219075"/>
          </a:xfrm>
          <a:prstGeom prst="straightConnector1">
            <a:avLst/>
          </a:prstGeom>
          <a:ln w="19050">
            <a:solidFill>
              <a:srgbClr val="A69FA3"/>
            </a:solidFill>
            <a:prstDash val="solid"/>
            <a:headEnd type="triangle" w="sm" len="sm"/>
            <a:tailEnd type="triangle" w="sm" len="sm"/>
          </a:ln>
        </p:spPr>
      </p:cxnSp>
      <p:cxnSp>
        <p:nvCxnSpPr>
          <p:cNvPr id="29" name="Conector recto de flecha 28"/>
          <p:cNvCxnSpPr>
            <a:stCxn id="5" idx="3"/>
            <a:endCxn id="7" idx="1"/>
          </p:cNvCxnSpPr>
          <p:nvPr/>
        </p:nvCxnSpPr>
        <p:spPr>
          <a:xfrm>
            <a:off x="3295650" y="2962275"/>
            <a:ext cx="5600700" cy="0"/>
          </a:xfrm>
          <a:prstGeom prst="straightConnector1">
            <a:avLst/>
          </a:prstGeom>
          <a:ln w="38100">
            <a:solidFill>
              <a:srgbClr val="830051"/>
            </a:solidFill>
            <a:prstDash val="solid"/>
            <a:tailEnd type="triangle" w="sm" len="sm"/>
          </a:ln>
        </p:spPr>
      </p:cxnSp>
      <p:cxnSp>
        <p:nvCxnSpPr>
          <p:cNvPr id="30" name="Conector recto de flecha 29"/>
          <p:cNvCxnSpPr>
            <a:stCxn id="5" idx="2"/>
            <a:endCxn id="8" idx="1"/>
          </p:cNvCxnSpPr>
          <p:nvPr/>
        </p:nvCxnSpPr>
        <p:spPr>
          <a:xfrm>
            <a:off x="1962150" y="3524250"/>
            <a:ext cx="2800350" cy="1447800"/>
          </a:xfrm>
          <a:prstGeom prst="straightConnector1">
            <a:avLst/>
          </a:prstGeom>
          <a:ln w="19050">
            <a:solidFill>
              <a:srgbClr val="A69FA3"/>
            </a:solidFill>
            <a:prstDash val="dash"/>
          </a:ln>
        </p:spPr>
      </p:cxnSp>
      <p:cxnSp>
        <p:nvCxnSpPr>
          <p:cNvPr id="31" name="Conector recto de flecha 30"/>
          <p:cNvCxnSpPr>
            <a:stCxn id="7" idx="2"/>
            <a:endCxn id="8" idx="3"/>
          </p:cNvCxnSpPr>
          <p:nvPr/>
        </p:nvCxnSpPr>
        <p:spPr>
          <a:xfrm flipH="1">
            <a:off x="7429500" y="3524250"/>
            <a:ext cx="2800350" cy="1447800"/>
          </a:xfrm>
          <a:prstGeom prst="straightConnector1">
            <a:avLst/>
          </a:prstGeom>
          <a:ln w="19050">
            <a:solidFill>
              <a:srgbClr val="A69FA3"/>
            </a:solidFill>
            <a:prstDash val="dash"/>
          </a:ln>
        </p:spPr>
      </p:cxnSp>
      <p:sp>
        <p:nvSpPr>
          <p:cNvPr id="14" name="Rectángulo 13">
            <a:extLst>
              <a:ext uri="{FF2B5EF4-FFF2-40B4-BE49-F238E27FC236}">
                <a16:creationId xmlns:a16="http://schemas.microsoft.com/office/drawing/2014/main" id="{39AFAD37-1CFD-403A-92F1-1DE0079345BC}"/>
              </a:ext>
            </a:extLst>
          </p:cNvPr>
          <p:cNvSpPr>
            <a:spLocks noGrp="1"/>
          </p:cNvSpPr>
          <p:nvPr/>
        </p:nvSpPr>
        <p:spPr>
          <a:xfrm>
            <a:off x="3162300" y="1857375"/>
            <a:ext cx="1638300" cy="266700"/>
          </a:xfrm>
          <a:prstGeom prst="rect">
            <a:avLst/>
          </a:prstGeom>
          <a:noFill/>
          <a:ln w="0">
            <a:noFill/>
          </a:ln>
        </p:spPr>
        <p:txBody>
          <a:bodyPr wrap="square" lIns="0" tIns="0" rIns="0" bIns="0" anchor="t">
            <a:noAutofit/>
          </a:bodyPr>
          <a:lstStyle/>
          <a:p>
            <a:pPr algn="ctr">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SIGNALING</a:t>
            </a:r>
          </a:p>
        </p:txBody>
      </p:sp>
      <p:sp>
        <p:nvSpPr>
          <p:cNvPr id="15" name="Rectángulo 14">
            <a:extLst>
              <a:ext uri="{FF2B5EF4-FFF2-40B4-BE49-F238E27FC236}">
                <a16:creationId xmlns:a16="http://schemas.microsoft.com/office/drawing/2014/main" id="{765C0F84-15DA-43DD-80AE-CAEC6BCC3C34}"/>
              </a:ext>
            </a:extLst>
          </p:cNvPr>
          <p:cNvSpPr>
            <a:spLocks noGrp="1"/>
          </p:cNvSpPr>
          <p:nvPr/>
        </p:nvSpPr>
        <p:spPr>
          <a:xfrm>
            <a:off x="7429500" y="1857375"/>
            <a:ext cx="1638300" cy="266700"/>
          </a:xfrm>
          <a:prstGeom prst="rect">
            <a:avLst/>
          </a:prstGeom>
          <a:noFill/>
          <a:ln w="0">
            <a:noFill/>
          </a:ln>
        </p:spPr>
        <p:txBody>
          <a:bodyPr wrap="square" lIns="0" tIns="0" rIns="0" bIns="0" anchor="t">
            <a:noAutofit/>
          </a:bodyPr>
          <a:lstStyle/>
          <a:p>
            <a:pPr algn="ctr">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SIGNALING</a:t>
            </a:r>
          </a:p>
        </p:txBody>
      </p:sp>
      <p:sp>
        <p:nvSpPr>
          <p:cNvPr id="16" name="Rectángulo 15">
            <a:extLst>
              <a:ext uri="{FF2B5EF4-FFF2-40B4-BE49-F238E27FC236}">
                <a16:creationId xmlns:a16="http://schemas.microsoft.com/office/drawing/2014/main" id="{3D32CA54-A2A5-4FBD-8562-C3DDCB05BC50}"/>
              </a:ext>
            </a:extLst>
          </p:cNvPr>
          <p:cNvSpPr>
            <a:spLocks noGrp="1"/>
          </p:cNvSpPr>
          <p:nvPr/>
        </p:nvSpPr>
        <p:spPr>
          <a:xfrm>
            <a:off x="3638550" y="3162300"/>
            <a:ext cx="4914900" cy="304800"/>
          </a:xfrm>
          <a:prstGeom prst="rect">
            <a:avLst/>
          </a:prstGeom>
          <a:noFill/>
          <a:ln w="0">
            <a:noFill/>
          </a:ln>
        </p:spPr>
        <p:txBody>
          <a:bodyPr wrap="square" lIns="0" tIns="0" rIns="0" bIns="0" anchor="t">
            <a:noAutofit/>
          </a:bodyPr>
          <a:lstStyle/>
          <a:p>
            <a:pPr algn="ctr">
              <a:lnSpc>
                <a:spcPct val="104000"/>
              </a:lnSpc>
              <a:buNone/>
              <a:defRPr sz="1350" b="1">
                <a:solidFill>
                  <a:srgbClr val="830051"/>
                </a:solidFill>
                <a:latin typeface="Arial"/>
                <a:ea typeface="Arial"/>
                <a:cs typeface="Arial"/>
              </a:defRPr>
            </a:pPr>
            <a:r>
              <a:rPr sz="1350" b="1">
                <a:solidFill>
                  <a:srgbClr val="830051"/>
                </a:solidFill>
                <a:latin typeface="Arial"/>
                <a:ea typeface="Arial"/>
                <a:cs typeface="Arial"/>
              </a:rPr>
              <a:t>EXPECTED DIRECT WEBRTC VIDEO</a:t>
            </a:r>
          </a:p>
        </p:txBody>
      </p:sp>
      <p:sp>
        <p:nvSpPr>
          <p:cNvPr id="17" name="Rectángulo: esquinas redondeadas 16">
            <a:extLst>
              <a:ext uri="{FF2B5EF4-FFF2-40B4-BE49-F238E27FC236}">
                <a16:creationId xmlns:a16="http://schemas.microsoft.com/office/drawing/2014/main" id="{DB92D7A8-283C-4AE7-8F6D-B62AE7A83C8B}"/>
              </a:ext>
            </a:extLst>
          </p:cNvPr>
          <p:cNvSpPr>
            <a:spLocks noGrp="1"/>
          </p:cNvSpPr>
          <p:nvPr/>
        </p:nvSpPr>
        <p:spPr>
          <a:xfrm>
            <a:off x="628650" y="5791200"/>
            <a:ext cx="10934700" cy="381000"/>
          </a:xfrm>
          <a:prstGeom prst="roundRect">
            <a:avLst>
              <a:gd name="adj" fmla="val 20000"/>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C331C6BE-B91E-4630-89D2-00B20E708A45}"/>
              </a:ext>
            </a:extLst>
          </p:cNvPr>
          <p:cNvSpPr>
            <a:spLocks noGrp="1"/>
          </p:cNvSpPr>
          <p:nvPr/>
        </p:nvSpPr>
        <p:spPr>
          <a:xfrm>
            <a:off x="876300" y="5876925"/>
            <a:ext cx="10439400" cy="2286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Initial assumption: Let WebRTC handle the magic</a:t>
            </a:r>
          </a:p>
        </p:txBody>
      </p:sp>
    </p:spTree>
    <p:extLst>
      <p:ext uri="{BB962C8B-B14F-4D97-AF65-F5344CB8AC3E}">
        <p14:creationId xmlns:p14="http://schemas.microsoft.com/office/powerpoint/2010/main" val="13264543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2" name="Rectángulo 21">
            <a:extLst>
              <a:ext uri="{FF2B5EF4-FFF2-40B4-BE49-F238E27FC236}">
                <a16:creationId xmlns:a16="http://schemas.microsoft.com/office/drawing/2014/main" id="{A8B64447-A3A3-461B-8473-4F891E9FC30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C1C6A4F9-5A2B-408C-8BE3-66A40F3EE87C}"/>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NAT</a:t>
            </a:r>
            <a:endParaRPr sz="3375" b="1" dirty="0">
              <a:solidFill>
                <a:srgbClr val="171417"/>
              </a:solidFill>
              <a:latin typeface="Arial"/>
              <a:ea typeface="Arial"/>
              <a:cs typeface="Arial"/>
            </a:endParaRPr>
          </a:p>
        </p:txBody>
      </p:sp>
      <p:sp>
        <p:nvSpPr>
          <p:cNvPr id="3" name="Rectángulo 2">
            <a:extLst>
              <a:ext uri="{FF2B5EF4-FFF2-40B4-BE49-F238E27FC236}">
                <a16:creationId xmlns:a16="http://schemas.microsoft.com/office/drawing/2014/main" id="{BA08698D-F42F-4921-9D7F-FE319C2FD97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0AD137E-8DC1-4C16-9C90-908CC1E2A38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14</a:t>
            </a:r>
          </a:p>
        </p:txBody>
      </p:sp>
      <p:sp>
        <p:nvSpPr>
          <p:cNvPr id="5" name="Rectángulo: esquinas redondeadas 4">
            <a:extLst>
              <a:ext uri="{FF2B5EF4-FFF2-40B4-BE49-F238E27FC236}">
                <a16:creationId xmlns:a16="http://schemas.microsoft.com/office/drawing/2014/main" id="{BBA07CBF-D991-4C86-9869-912744B020A3}"/>
              </a:ext>
            </a:extLst>
          </p:cNvPr>
          <p:cNvSpPr>
            <a:spLocks noGrp="1"/>
          </p:cNvSpPr>
          <p:nvPr/>
        </p:nvSpPr>
        <p:spPr>
          <a:xfrm>
            <a:off x="514350" y="2381250"/>
            <a:ext cx="1809750" cy="857250"/>
          </a:xfrm>
          <a:prstGeom prst="roundRect">
            <a:avLst>
              <a:gd name="adj" fmla="val 15556"/>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Camera peer</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IPv4</a:t>
            </a:r>
          </a:p>
        </p:txBody>
      </p:sp>
      <p:sp>
        <p:nvSpPr>
          <p:cNvPr id="6" name="Rectángulo: esquinas redondeadas 5">
            <a:extLst>
              <a:ext uri="{FF2B5EF4-FFF2-40B4-BE49-F238E27FC236}">
                <a16:creationId xmlns:a16="http://schemas.microsoft.com/office/drawing/2014/main" id="{9AA949E6-5B6C-458F-AD48-AD93B67A283B}"/>
              </a:ext>
            </a:extLst>
          </p:cNvPr>
          <p:cNvSpPr>
            <a:spLocks noGrp="1"/>
          </p:cNvSpPr>
          <p:nvPr/>
        </p:nvSpPr>
        <p:spPr>
          <a:xfrm>
            <a:off x="2647950" y="2381250"/>
            <a:ext cx="1809750" cy="857250"/>
          </a:xfrm>
          <a:prstGeom prst="roundRect">
            <a:avLst>
              <a:gd name="adj" fmla="val 15556"/>
            </a:avLst>
          </a:prstGeom>
          <a:solidFill>
            <a:srgbClr val="F5EDF2"/>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Mobile hotspot</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first NAT</a:t>
            </a:r>
          </a:p>
        </p:txBody>
      </p:sp>
      <p:sp>
        <p:nvSpPr>
          <p:cNvPr id="7" name="Rectángulo: esquinas redondeadas 6">
            <a:extLst>
              <a:ext uri="{FF2B5EF4-FFF2-40B4-BE49-F238E27FC236}">
                <a16:creationId xmlns:a16="http://schemas.microsoft.com/office/drawing/2014/main" id="{35129D90-D7AB-4795-BF96-0D4569D361A7}"/>
              </a:ext>
            </a:extLst>
          </p:cNvPr>
          <p:cNvSpPr>
            <a:spLocks noGrp="1"/>
          </p:cNvSpPr>
          <p:nvPr/>
        </p:nvSpPr>
        <p:spPr>
          <a:xfrm>
            <a:off x="4781550" y="2209800"/>
            <a:ext cx="2095500" cy="1200150"/>
          </a:xfrm>
          <a:prstGeom prst="roundRect">
            <a:avLst>
              <a:gd name="adj" fmla="val 11111"/>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Carrier network</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possible CGNAT</a:t>
            </a:r>
          </a:p>
        </p:txBody>
      </p:sp>
      <p:sp>
        <p:nvSpPr>
          <p:cNvPr id="8" name="Rectángulo: esquinas redondeadas 7">
            <a:extLst>
              <a:ext uri="{FF2B5EF4-FFF2-40B4-BE49-F238E27FC236}">
                <a16:creationId xmlns:a16="http://schemas.microsoft.com/office/drawing/2014/main" id="{804F2EED-FEE5-484A-90E8-524D1186EAE9}"/>
              </a:ext>
            </a:extLst>
          </p:cNvPr>
          <p:cNvSpPr>
            <a:spLocks noGrp="1"/>
          </p:cNvSpPr>
          <p:nvPr/>
        </p:nvSpPr>
        <p:spPr>
          <a:xfrm>
            <a:off x="7200900" y="2381250"/>
            <a:ext cx="2000250" cy="857250"/>
          </a:xfrm>
          <a:prstGeom prst="roundRect">
            <a:avLst>
              <a:gd name="adj" fmla="val 15556"/>
            </a:avLst>
          </a:prstGeom>
          <a:solidFill>
            <a:srgbClr val="F5EDF2"/>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Browser network</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or firewall</a:t>
            </a:r>
          </a:p>
        </p:txBody>
      </p:sp>
      <p:sp>
        <p:nvSpPr>
          <p:cNvPr id="9" name="Rectángulo: esquinas redondeadas 8">
            <a:extLst>
              <a:ext uri="{FF2B5EF4-FFF2-40B4-BE49-F238E27FC236}">
                <a16:creationId xmlns:a16="http://schemas.microsoft.com/office/drawing/2014/main" id="{9027A70B-A441-409F-AE8C-4ECDD0BD5BAB}"/>
              </a:ext>
            </a:extLst>
          </p:cNvPr>
          <p:cNvSpPr>
            <a:spLocks noGrp="1"/>
          </p:cNvSpPr>
          <p:nvPr/>
        </p:nvSpPr>
        <p:spPr>
          <a:xfrm>
            <a:off x="9525000" y="2381250"/>
            <a:ext cx="1809750" cy="857250"/>
          </a:xfrm>
          <a:prstGeom prst="roundRect">
            <a:avLst>
              <a:gd name="adj" fmla="val 15556"/>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Viewer peer</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IPv4</a:t>
            </a:r>
          </a:p>
        </p:txBody>
      </p:sp>
      <p:cxnSp>
        <p:nvCxnSpPr>
          <p:cNvPr id="31" name="Conector recto de flecha 30"/>
          <p:cNvCxnSpPr>
            <a:stCxn id="5" idx="3"/>
            <a:endCxn id="6" idx="1"/>
          </p:cNvCxnSpPr>
          <p:nvPr/>
        </p:nvCxnSpPr>
        <p:spPr>
          <a:xfrm>
            <a:off x="2324100" y="2809875"/>
            <a:ext cx="323850" cy="0"/>
          </a:xfrm>
          <a:prstGeom prst="straightConnector1">
            <a:avLst/>
          </a:prstGeom>
          <a:ln w="19050">
            <a:solidFill>
              <a:srgbClr val="A69FA3"/>
            </a:solidFill>
            <a:prstDash val="solid"/>
          </a:ln>
        </p:spPr>
      </p:cxnSp>
      <p:cxnSp>
        <p:nvCxnSpPr>
          <p:cNvPr id="32" name="Conector recto de flecha 31"/>
          <p:cNvCxnSpPr>
            <a:stCxn id="6" idx="3"/>
            <a:endCxn id="7" idx="1"/>
          </p:cNvCxnSpPr>
          <p:nvPr/>
        </p:nvCxnSpPr>
        <p:spPr>
          <a:xfrm>
            <a:off x="4457700" y="2809875"/>
            <a:ext cx="323850" cy="0"/>
          </a:xfrm>
          <a:prstGeom prst="straightConnector1">
            <a:avLst/>
          </a:prstGeom>
          <a:ln w="19050">
            <a:solidFill>
              <a:srgbClr val="A69FA3"/>
            </a:solidFill>
            <a:prstDash val="solid"/>
          </a:ln>
        </p:spPr>
      </p:cxnSp>
      <p:cxnSp>
        <p:nvCxnSpPr>
          <p:cNvPr id="33" name="Conector recto de flecha 32"/>
          <p:cNvCxnSpPr>
            <a:stCxn id="7" idx="3"/>
            <a:endCxn id="8" idx="1"/>
          </p:cNvCxnSpPr>
          <p:nvPr/>
        </p:nvCxnSpPr>
        <p:spPr>
          <a:xfrm>
            <a:off x="6877050" y="2809875"/>
            <a:ext cx="323850" cy="0"/>
          </a:xfrm>
          <a:prstGeom prst="straightConnector1">
            <a:avLst/>
          </a:prstGeom>
          <a:ln w="19050">
            <a:solidFill>
              <a:srgbClr val="A69FA3"/>
            </a:solidFill>
            <a:prstDash val="solid"/>
          </a:ln>
        </p:spPr>
      </p:cxnSp>
      <p:cxnSp>
        <p:nvCxnSpPr>
          <p:cNvPr id="34" name="Conector recto de flecha 33"/>
          <p:cNvCxnSpPr>
            <a:stCxn id="8" idx="3"/>
            <a:endCxn id="9" idx="1"/>
          </p:cNvCxnSpPr>
          <p:nvPr/>
        </p:nvCxnSpPr>
        <p:spPr>
          <a:xfrm>
            <a:off x="9201150" y="2809875"/>
            <a:ext cx="323850" cy="0"/>
          </a:xfrm>
          <a:prstGeom prst="straightConnector1">
            <a:avLst/>
          </a:prstGeom>
          <a:ln w="19050">
            <a:solidFill>
              <a:srgbClr val="A69FA3"/>
            </a:solidFill>
            <a:prstDash val="solid"/>
          </a:ln>
        </p:spPr>
      </p:cxnSp>
      <p:sp>
        <p:nvSpPr>
          <p:cNvPr id="14" name="Rectángulo 13">
            <a:extLst>
              <a:ext uri="{FF2B5EF4-FFF2-40B4-BE49-F238E27FC236}">
                <a16:creationId xmlns:a16="http://schemas.microsoft.com/office/drawing/2014/main" id="{121A3D50-0B8F-452E-A7A3-2BE4BF219B13}"/>
              </a:ext>
            </a:extLst>
          </p:cNvPr>
          <p:cNvSpPr>
            <a:spLocks noGrp="1"/>
          </p:cNvSpPr>
          <p:nvPr/>
        </p:nvSpPr>
        <p:spPr>
          <a:xfrm>
            <a:off x="1181100" y="1600200"/>
            <a:ext cx="2762250" cy="514350"/>
          </a:xfrm>
          <a:prstGeom prst="rect">
            <a:avLst/>
          </a:prstGeom>
          <a:noFill/>
          <a:ln w="0">
            <a:noFill/>
          </a:ln>
        </p:spPr>
        <p:txBody>
          <a:bodyPr wrap="square" lIns="0" tIns="0" rIns="0" bIns="0" anchor="t">
            <a:noAutofit/>
          </a:bodyPr>
          <a:lstStyle/>
          <a:p>
            <a:pPr algn="l">
              <a:lnSpc>
                <a:spcPct val="104000"/>
              </a:lnSpc>
              <a:buNone/>
              <a:defRPr sz="1800" b="1">
                <a:solidFill>
                  <a:srgbClr val="830051"/>
                </a:solidFill>
                <a:latin typeface="Arial"/>
                <a:ea typeface="Arial"/>
                <a:cs typeface="Arial"/>
              </a:defRPr>
            </a:pPr>
            <a:r>
              <a:rPr sz="1800" b="1">
                <a:solidFill>
                  <a:srgbClr val="830051"/>
                </a:solidFill>
                <a:latin typeface="Arial"/>
                <a:ea typeface="Arial"/>
                <a:cs typeface="Arial"/>
              </a:rPr>
              <a:t>STUN reports one</a:t>
            </a:r>
          </a:p>
          <a:p>
            <a:pPr algn="l">
              <a:lnSpc>
                <a:spcPct val="104000"/>
              </a:lnSpc>
              <a:buNone/>
              <a:defRPr sz="1800" b="1">
                <a:solidFill>
                  <a:srgbClr val="830051"/>
                </a:solidFill>
                <a:latin typeface="Arial"/>
                <a:ea typeface="Arial"/>
                <a:cs typeface="Arial"/>
              </a:defRPr>
            </a:pPr>
            <a:r>
              <a:rPr sz="1800" b="1">
                <a:solidFill>
                  <a:srgbClr val="830051"/>
                </a:solidFill>
                <a:latin typeface="Arial"/>
                <a:ea typeface="Arial"/>
                <a:cs typeface="Arial"/>
              </a:rPr>
              <a:t>mapped IP:port</a:t>
            </a:r>
          </a:p>
        </p:txBody>
      </p:sp>
      <p:sp>
        <p:nvSpPr>
          <p:cNvPr id="15" name="Conector recto 14">
            <a:extLst>
              <a:ext uri="{FF2B5EF4-FFF2-40B4-BE49-F238E27FC236}">
                <a16:creationId xmlns:a16="http://schemas.microsoft.com/office/drawing/2014/main" id="{D670C41A-E288-4AC6-A2F0-01ED3155992D}"/>
              </a:ext>
            </a:extLst>
          </p:cNvPr>
          <p:cNvSpPr>
            <a:spLocks noGrp="1"/>
          </p:cNvSpPr>
          <p:nvPr/>
        </p:nvSpPr>
        <p:spPr>
          <a:xfrm>
            <a:off x="3238500" y="2038350"/>
            <a:ext cx="2152650" cy="0"/>
          </a:xfrm>
          <a:prstGeom prst="line">
            <a:avLst/>
          </a:prstGeom>
          <a:noFill/>
          <a:ln w="19050">
            <a:solidFill>
              <a:srgbClr val="830051"/>
            </a:solidFill>
            <a:prstDash val="dash"/>
          </a:ln>
        </p:spPr>
        <p:txBody>
          <a:bodyPr/>
          <a:lstStyle/>
          <a:p>
            <a:endParaRPr/>
          </a:p>
        </p:txBody>
      </p:sp>
      <p:sp>
        <p:nvSpPr>
          <p:cNvPr id="16" name="Rectángulo 15">
            <a:extLst>
              <a:ext uri="{FF2B5EF4-FFF2-40B4-BE49-F238E27FC236}">
                <a16:creationId xmlns:a16="http://schemas.microsoft.com/office/drawing/2014/main" id="{AC06F026-AF15-4568-9DF4-6553C4B4D4D6}"/>
              </a:ext>
            </a:extLst>
          </p:cNvPr>
          <p:cNvSpPr>
            <a:spLocks noGrp="1"/>
          </p:cNvSpPr>
          <p:nvPr/>
        </p:nvSpPr>
        <p:spPr>
          <a:xfrm>
            <a:off x="1809750" y="3848100"/>
            <a:ext cx="8572500" cy="533400"/>
          </a:xfrm>
          <a:prstGeom prst="rect">
            <a:avLst/>
          </a:prstGeom>
          <a:noFill/>
          <a:ln w="0">
            <a:noFill/>
          </a:ln>
        </p:spPr>
        <p:txBody>
          <a:bodyPr wrap="square" lIns="0" tIns="0" rIns="0" bIns="0" anchor="ctr">
            <a:noAutofit/>
          </a:bodyPr>
          <a:lstStyle/>
          <a:p>
            <a:pPr algn="ctr">
              <a:lnSpc>
                <a:spcPct val="104000"/>
              </a:lnSpc>
              <a:buNone/>
              <a:defRPr sz="2400" b="1">
                <a:solidFill>
                  <a:srgbClr val="510034"/>
                </a:solidFill>
                <a:latin typeface="Arial"/>
                <a:ea typeface="Arial"/>
                <a:cs typeface="Arial"/>
              </a:defRPr>
            </a:pPr>
            <a:r>
              <a:rPr sz="2400" b="1">
                <a:solidFill>
                  <a:srgbClr val="510034"/>
                </a:solidFill>
                <a:latin typeface="Arial"/>
                <a:ea typeface="Arial"/>
                <a:cs typeface="Arial"/>
              </a:rPr>
              <a:t>STUN finds a candidate. ICE must prove reachability.</a:t>
            </a:r>
          </a:p>
        </p:txBody>
      </p:sp>
      <p:sp>
        <p:nvSpPr>
          <p:cNvPr id="17" name="Rectángulo: esquinas redondeadas 16">
            <a:extLst>
              <a:ext uri="{FF2B5EF4-FFF2-40B4-BE49-F238E27FC236}">
                <a16:creationId xmlns:a16="http://schemas.microsoft.com/office/drawing/2014/main" id="{505F28F7-9623-433E-9B16-C95FB38EA344}"/>
              </a:ext>
            </a:extLst>
          </p:cNvPr>
          <p:cNvSpPr>
            <a:spLocks noGrp="1"/>
          </p:cNvSpPr>
          <p:nvPr/>
        </p:nvSpPr>
        <p:spPr>
          <a:xfrm>
            <a:off x="762000" y="4762500"/>
            <a:ext cx="10668000" cy="1104900"/>
          </a:xfrm>
          <a:prstGeom prst="roundRect">
            <a:avLst>
              <a:gd name="adj" fmla="val 10345"/>
            </a:avLst>
          </a:prstGeom>
          <a:solidFill>
            <a:srgbClr val="FFFFFF"/>
          </a:solidFill>
          <a:ln w="9525">
            <a:solidFill>
              <a:srgbClr val="E7E3E5"/>
            </a:solidFill>
            <a:prstDash val="solid"/>
          </a:ln>
        </p:spPr>
        <p:txBody>
          <a:bodyPr/>
          <a:lstStyle/>
          <a:p>
            <a:endParaRPr/>
          </a:p>
        </p:txBody>
      </p:sp>
      <p:sp>
        <p:nvSpPr>
          <p:cNvPr id="18" name="Rectángulo 17">
            <a:extLst>
              <a:ext uri="{FF2B5EF4-FFF2-40B4-BE49-F238E27FC236}">
                <a16:creationId xmlns:a16="http://schemas.microsoft.com/office/drawing/2014/main" id="{5414EC45-9A16-46DB-8A28-402C14059C72}"/>
              </a:ext>
            </a:extLst>
          </p:cNvPr>
          <p:cNvSpPr>
            <a:spLocks noGrp="1"/>
          </p:cNvSpPr>
          <p:nvPr/>
        </p:nvSpPr>
        <p:spPr>
          <a:xfrm>
            <a:off x="990600" y="4953000"/>
            <a:ext cx="2724150" cy="266700"/>
          </a:xfrm>
          <a:prstGeom prst="rect">
            <a:avLst/>
          </a:prstGeom>
          <a:noFill/>
          <a:ln w="0">
            <a:noFill/>
          </a:ln>
        </p:spPr>
        <p:txBody>
          <a:bodyPr wrap="square" lIns="0" tIns="0" rIns="0" bIns="0" anchor="t">
            <a:noAutofit/>
          </a:bodyPr>
          <a:lstStyle/>
          <a:p>
            <a:pPr algn="l">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WHY ICE CHECKS CAN FAIL</a:t>
            </a:r>
          </a:p>
        </p:txBody>
      </p:sp>
      <p:sp>
        <p:nvSpPr>
          <p:cNvPr id="19" name="Rectángulo 18">
            <a:extLst>
              <a:ext uri="{FF2B5EF4-FFF2-40B4-BE49-F238E27FC236}">
                <a16:creationId xmlns:a16="http://schemas.microsoft.com/office/drawing/2014/main" id="{EA066426-8AC7-40CF-ADC5-23656CB8CAE4}"/>
              </a:ext>
            </a:extLst>
          </p:cNvPr>
          <p:cNvSpPr>
            <a:spLocks noGrp="1"/>
          </p:cNvSpPr>
          <p:nvPr/>
        </p:nvSpPr>
        <p:spPr>
          <a:xfrm>
            <a:off x="3752850" y="4819650"/>
            <a:ext cx="24574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IPs are not publicly routable</a:t>
            </a:r>
          </a:p>
        </p:txBody>
      </p:sp>
      <p:sp>
        <p:nvSpPr>
          <p:cNvPr id="20" name="Rectángulo 19">
            <a:extLst>
              <a:ext uri="{FF2B5EF4-FFF2-40B4-BE49-F238E27FC236}">
                <a16:creationId xmlns:a16="http://schemas.microsoft.com/office/drawing/2014/main" id="{72FD759A-CC0E-4FCA-8668-3CE42307BD1F}"/>
              </a:ext>
            </a:extLst>
          </p:cNvPr>
          <p:cNvSpPr>
            <a:spLocks noGrp="1"/>
          </p:cNvSpPr>
          <p:nvPr/>
        </p:nvSpPr>
        <p:spPr>
          <a:xfrm>
            <a:off x="6286500" y="4819650"/>
            <a:ext cx="21907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may change the mapping by destination</a:t>
            </a:r>
          </a:p>
        </p:txBody>
      </p:sp>
      <p:sp>
        <p:nvSpPr>
          <p:cNvPr id="21" name="Rectángulo 20">
            <a:extLst>
              <a:ext uri="{FF2B5EF4-FFF2-40B4-BE49-F238E27FC236}">
                <a16:creationId xmlns:a16="http://schemas.microsoft.com/office/drawing/2014/main" id="{A41BB460-AA80-4665-999B-F61B245E2F39}"/>
              </a:ext>
            </a:extLst>
          </p:cNvPr>
          <p:cNvSpPr>
            <a:spLocks noGrp="1"/>
          </p:cNvSpPr>
          <p:nvPr/>
        </p:nvSpPr>
        <p:spPr>
          <a:xfrm>
            <a:off x="8553450" y="4819650"/>
            <a:ext cx="25336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or a firewall may filter peer UDP</a:t>
            </a:r>
          </a:p>
        </p:txBody>
      </p:sp>
    </p:spTree>
    <p:extLst>
      <p:ext uri="{BB962C8B-B14F-4D97-AF65-F5344CB8AC3E}">
        <p14:creationId xmlns:p14="http://schemas.microsoft.com/office/powerpoint/2010/main" val="18278443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5" name="Rectángulo 24">
            <a:extLst>
              <a:ext uri="{FF2B5EF4-FFF2-40B4-BE49-F238E27FC236}">
                <a16:creationId xmlns:a16="http://schemas.microsoft.com/office/drawing/2014/main" id="{B0BB7A55-AD36-42BA-961A-F16FA284479F}"/>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571B83E5-3711-4998-8BDC-7036FD6578A0}"/>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Solution: IPv6</a:t>
            </a:r>
          </a:p>
        </p:txBody>
      </p:sp>
      <p:sp>
        <p:nvSpPr>
          <p:cNvPr id="3" name="Rectángulo 2">
            <a:extLst>
              <a:ext uri="{FF2B5EF4-FFF2-40B4-BE49-F238E27FC236}">
                <a16:creationId xmlns:a16="http://schemas.microsoft.com/office/drawing/2014/main" id="{63D733E5-84EB-4D39-AA3A-9E72DB2CC3EF}"/>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3D736175-EFE2-4E63-99BC-2756B63F57C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16</a:t>
            </a:r>
          </a:p>
        </p:txBody>
      </p:sp>
      <p:sp>
        <p:nvSpPr>
          <p:cNvPr id="5" name="Rectángulo: esquinas redondeadas 4">
            <a:extLst>
              <a:ext uri="{FF2B5EF4-FFF2-40B4-BE49-F238E27FC236}">
                <a16:creationId xmlns:a16="http://schemas.microsoft.com/office/drawing/2014/main" id="{3859A777-97BE-4710-BA84-544BFBACFE69}"/>
              </a:ext>
            </a:extLst>
          </p:cNvPr>
          <p:cNvSpPr>
            <a:spLocks noGrp="1"/>
          </p:cNvSpPr>
          <p:nvPr/>
        </p:nvSpPr>
        <p:spPr>
          <a:xfrm>
            <a:off x="666750" y="1581150"/>
            <a:ext cx="2895600" cy="990600"/>
          </a:xfrm>
          <a:prstGeom prst="roundRect">
            <a:avLst>
              <a:gd name="adj" fmla="val 11538"/>
            </a:avLst>
          </a:prstGeom>
          <a:solidFill>
            <a:srgbClr val="F5EDF2"/>
          </a:solidFill>
          <a:ln w="0">
            <a:noFill/>
          </a:ln>
        </p:spPr>
        <p:txBody>
          <a:bodyPr/>
          <a:lstStyle/>
          <a:p>
            <a:endParaRPr/>
          </a:p>
        </p:txBody>
      </p:sp>
      <p:sp>
        <p:nvSpPr>
          <p:cNvPr id="6" name="Rectángulo 5">
            <a:extLst>
              <a:ext uri="{FF2B5EF4-FFF2-40B4-BE49-F238E27FC236}">
                <a16:creationId xmlns:a16="http://schemas.microsoft.com/office/drawing/2014/main" id="{45796A23-425F-4221-B05A-92056417D1B0}"/>
              </a:ext>
            </a:extLst>
          </p:cNvPr>
          <p:cNvSpPr>
            <a:spLocks noGrp="1"/>
          </p:cNvSpPr>
          <p:nvPr/>
        </p:nvSpPr>
        <p:spPr>
          <a:xfrm>
            <a:off x="876300" y="1752600"/>
            <a:ext cx="2476500" cy="228600"/>
          </a:xfrm>
          <a:prstGeom prst="rect">
            <a:avLst/>
          </a:prstGeom>
          <a:noFill/>
          <a:ln w="0">
            <a:noFill/>
          </a:ln>
        </p:spPr>
        <p:txBody>
          <a:bodyPr wrap="square" lIns="0" tIns="0" rIns="0" bIns="0" anchor="t">
            <a:noAutofit/>
          </a:bodyPr>
          <a:lstStyle/>
          <a:p>
            <a:pPr algn="l">
              <a:lnSpc>
                <a:spcPct val="104000"/>
              </a:lnSpc>
              <a:buNone/>
              <a:defRPr sz="1275" b="1">
                <a:solidFill>
                  <a:srgbClr val="830051"/>
                </a:solidFill>
                <a:latin typeface="Arial"/>
                <a:ea typeface="Arial"/>
                <a:cs typeface="Arial"/>
              </a:defRPr>
            </a:pPr>
            <a:r>
              <a:rPr sz="1275" b="1">
                <a:solidFill>
                  <a:srgbClr val="830051"/>
                </a:solidFill>
                <a:latin typeface="Arial"/>
                <a:ea typeface="Arial"/>
                <a:cs typeface="Arial"/>
              </a:rPr>
              <a:t>PROMISING</a:t>
            </a:r>
          </a:p>
        </p:txBody>
      </p:sp>
      <p:sp>
        <p:nvSpPr>
          <p:cNvPr id="7" name="Rectángulo 6">
            <a:extLst>
              <a:ext uri="{FF2B5EF4-FFF2-40B4-BE49-F238E27FC236}">
                <a16:creationId xmlns:a16="http://schemas.microsoft.com/office/drawing/2014/main" id="{FC838489-0D6B-46D3-926F-78ED0E81CEDE}"/>
              </a:ext>
            </a:extLst>
          </p:cNvPr>
          <p:cNvSpPr>
            <a:spLocks noGrp="1"/>
          </p:cNvSpPr>
          <p:nvPr/>
        </p:nvSpPr>
        <p:spPr>
          <a:xfrm>
            <a:off x="876300" y="2076450"/>
            <a:ext cx="2476500" cy="361950"/>
          </a:xfrm>
          <a:prstGeom prst="rect">
            <a:avLst/>
          </a:prstGeom>
          <a:noFill/>
          <a:ln w="0">
            <a:noFill/>
          </a:ln>
        </p:spPr>
        <p:txBody>
          <a:bodyPr wrap="square" lIns="0" tIns="0" rIns="0" bIns="0" anchor="t">
            <a:noAutofit/>
          </a:bodyPr>
          <a:lstStyle/>
          <a:p>
            <a:pPr algn="l">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ICE can test IPv6 beside IPv4 and TURN.</a:t>
            </a:r>
          </a:p>
        </p:txBody>
      </p:sp>
      <p:sp>
        <p:nvSpPr>
          <p:cNvPr id="11" name="Rectángulo: esquinas redondeadas 10">
            <a:extLst>
              <a:ext uri="{FF2B5EF4-FFF2-40B4-BE49-F238E27FC236}">
                <a16:creationId xmlns:a16="http://schemas.microsoft.com/office/drawing/2014/main" id="{4BF3757C-7668-4741-852D-CBEAEF0E070B}"/>
              </a:ext>
            </a:extLst>
          </p:cNvPr>
          <p:cNvSpPr>
            <a:spLocks noGrp="1"/>
          </p:cNvSpPr>
          <p:nvPr/>
        </p:nvSpPr>
        <p:spPr>
          <a:xfrm>
            <a:off x="762000" y="3314700"/>
            <a:ext cx="1809750" cy="762000"/>
          </a:xfrm>
          <a:prstGeom prst="roundRect">
            <a:avLst>
              <a:gd name="adj" fmla="val 175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Mobile device</a:t>
            </a:r>
          </a:p>
        </p:txBody>
      </p:sp>
      <p:sp>
        <p:nvSpPr>
          <p:cNvPr id="12" name="Rectángulo: esquinas redondeadas 11">
            <a:extLst>
              <a:ext uri="{FF2B5EF4-FFF2-40B4-BE49-F238E27FC236}">
                <a16:creationId xmlns:a16="http://schemas.microsoft.com/office/drawing/2014/main" id="{CAF7E180-74E6-49C9-9E3B-304F517F52FE}"/>
              </a:ext>
            </a:extLst>
          </p:cNvPr>
          <p:cNvSpPr>
            <a:spLocks noGrp="1"/>
          </p:cNvSpPr>
          <p:nvPr/>
        </p:nvSpPr>
        <p:spPr>
          <a:xfrm>
            <a:off x="9620250" y="3314700"/>
            <a:ext cx="1809750" cy="762000"/>
          </a:xfrm>
          <a:prstGeom prst="roundRect">
            <a:avLst>
              <a:gd name="adj" fmla="val 175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Remote browser</a:t>
            </a:r>
          </a:p>
        </p:txBody>
      </p:sp>
      <p:sp>
        <p:nvSpPr>
          <p:cNvPr id="13" name="Rectángulo: esquinas redondeadas 12">
            <a:extLst>
              <a:ext uri="{FF2B5EF4-FFF2-40B4-BE49-F238E27FC236}">
                <a16:creationId xmlns:a16="http://schemas.microsoft.com/office/drawing/2014/main" id="{6A8E7A26-3214-457D-810C-8E35C79C08EC}"/>
              </a:ext>
            </a:extLst>
          </p:cNvPr>
          <p:cNvSpPr>
            <a:spLocks noGrp="1"/>
          </p:cNvSpPr>
          <p:nvPr/>
        </p:nvSpPr>
        <p:spPr>
          <a:xfrm>
            <a:off x="3676650" y="2724150"/>
            <a:ext cx="2095500" cy="857250"/>
          </a:xfrm>
          <a:prstGeom prst="roundRect">
            <a:avLst>
              <a:gd name="adj" fmla="val 15556"/>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IPv4</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carrier-grade NAT</a:t>
            </a:r>
          </a:p>
        </p:txBody>
      </p:sp>
      <p:sp>
        <p:nvSpPr>
          <p:cNvPr id="14" name="Rectángulo: esquinas redondeadas 13">
            <a:extLst>
              <a:ext uri="{FF2B5EF4-FFF2-40B4-BE49-F238E27FC236}">
                <a16:creationId xmlns:a16="http://schemas.microsoft.com/office/drawing/2014/main" id="{2AB14DA1-A894-4514-A896-688382690240}"/>
              </a:ext>
            </a:extLst>
          </p:cNvPr>
          <p:cNvSpPr>
            <a:spLocks noGrp="1"/>
          </p:cNvSpPr>
          <p:nvPr/>
        </p:nvSpPr>
        <p:spPr>
          <a:xfrm>
            <a:off x="6477000" y="2800350"/>
            <a:ext cx="2038350" cy="704850"/>
          </a:xfrm>
          <a:prstGeom prst="roundRect">
            <a:avLst>
              <a:gd name="adj" fmla="val 1891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IPv4 NAT / firewall</a:t>
            </a:r>
          </a:p>
        </p:txBody>
      </p:sp>
      <p:cxnSp>
        <p:nvCxnSpPr>
          <p:cNvPr id="39" name="Conector recto de flecha 38"/>
          <p:cNvCxnSpPr>
            <a:stCxn id="11" idx="0"/>
            <a:endCxn id="13" idx="1"/>
          </p:cNvCxnSpPr>
          <p:nvPr/>
        </p:nvCxnSpPr>
        <p:spPr>
          <a:xfrm flipV="1">
            <a:off x="1666875" y="3152775"/>
            <a:ext cx="2009775" cy="161925"/>
          </a:xfrm>
          <a:prstGeom prst="straightConnector1">
            <a:avLst/>
          </a:prstGeom>
          <a:ln w="19050">
            <a:solidFill>
              <a:srgbClr val="A69FA3"/>
            </a:solidFill>
            <a:prstDash val="solid"/>
            <a:tailEnd type="triangle" w="sm" len="sm"/>
          </a:ln>
        </p:spPr>
      </p:cxnSp>
      <p:cxnSp>
        <p:nvCxnSpPr>
          <p:cNvPr id="40" name="Conector recto de flecha 39"/>
          <p:cNvCxnSpPr>
            <a:stCxn id="13" idx="3"/>
            <a:endCxn id="14" idx="1"/>
          </p:cNvCxnSpPr>
          <p:nvPr/>
        </p:nvCxnSpPr>
        <p:spPr>
          <a:xfrm>
            <a:off x="5772150" y="3152775"/>
            <a:ext cx="704850" cy="0"/>
          </a:xfrm>
          <a:prstGeom prst="straightConnector1">
            <a:avLst/>
          </a:prstGeom>
          <a:ln w="19050">
            <a:solidFill>
              <a:srgbClr val="A69FA3"/>
            </a:solidFill>
            <a:prstDash val="solid"/>
            <a:tailEnd type="triangle" w="sm" len="sm"/>
          </a:ln>
        </p:spPr>
      </p:cxnSp>
      <p:cxnSp>
        <p:nvCxnSpPr>
          <p:cNvPr id="41" name="Conector recto de flecha 40"/>
          <p:cNvCxnSpPr>
            <a:stCxn id="14" idx="3"/>
            <a:endCxn id="12" idx="0"/>
          </p:cNvCxnSpPr>
          <p:nvPr/>
        </p:nvCxnSpPr>
        <p:spPr>
          <a:xfrm>
            <a:off x="8515350" y="3152775"/>
            <a:ext cx="2009775" cy="161925"/>
          </a:xfrm>
          <a:prstGeom prst="straightConnector1">
            <a:avLst/>
          </a:prstGeom>
          <a:ln w="19050">
            <a:solidFill>
              <a:srgbClr val="A69FA3"/>
            </a:solidFill>
            <a:prstDash val="solid"/>
            <a:tailEnd type="triangle" w="sm" len="sm"/>
          </a:ln>
        </p:spPr>
      </p:cxnSp>
      <p:sp>
        <p:nvSpPr>
          <p:cNvPr id="18" name="Rectángulo 17">
            <a:extLst>
              <a:ext uri="{FF2B5EF4-FFF2-40B4-BE49-F238E27FC236}">
                <a16:creationId xmlns:a16="http://schemas.microsoft.com/office/drawing/2014/main" id="{1B837E7C-458E-41A9-890E-D6FF0DC47D9E}"/>
              </a:ext>
            </a:extLst>
          </p:cNvPr>
          <p:cNvSpPr>
            <a:spLocks noGrp="1"/>
          </p:cNvSpPr>
          <p:nvPr/>
        </p:nvSpPr>
        <p:spPr>
          <a:xfrm>
            <a:off x="5200650" y="2419350"/>
            <a:ext cx="1809750" cy="228600"/>
          </a:xfrm>
          <a:prstGeom prst="rect">
            <a:avLst/>
          </a:prstGeom>
          <a:noFill/>
          <a:ln w="0">
            <a:noFill/>
          </a:ln>
        </p:spPr>
        <p:txBody>
          <a:bodyPr wrap="square" lIns="0" tIns="0" rIns="0" bIns="0" anchor="t">
            <a:noAutofit/>
          </a:bodyPr>
          <a:lstStyle/>
          <a:p>
            <a:pPr algn="ctr">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IPv4 path</a:t>
            </a:r>
          </a:p>
        </p:txBody>
      </p:sp>
      <p:sp>
        <p:nvSpPr>
          <p:cNvPr id="19" name="Rectángulo: esquinas redondeadas 18">
            <a:extLst>
              <a:ext uri="{FF2B5EF4-FFF2-40B4-BE49-F238E27FC236}">
                <a16:creationId xmlns:a16="http://schemas.microsoft.com/office/drawing/2014/main" id="{079A4A78-CE42-4E3B-A82C-2EAA5EE0E1F1}"/>
              </a:ext>
            </a:extLst>
          </p:cNvPr>
          <p:cNvSpPr>
            <a:spLocks noGrp="1"/>
          </p:cNvSpPr>
          <p:nvPr/>
        </p:nvSpPr>
        <p:spPr>
          <a:xfrm>
            <a:off x="4000500" y="4552950"/>
            <a:ext cx="2095500" cy="742950"/>
          </a:xfrm>
          <a:prstGeom prst="roundRect">
            <a:avLst>
              <a:gd name="adj" fmla="val 1794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IPv6 Internet</a:t>
            </a:r>
          </a:p>
        </p:txBody>
      </p:sp>
      <p:sp>
        <p:nvSpPr>
          <p:cNvPr id="20" name="Rectángulo: esquinas redondeadas 19">
            <a:extLst>
              <a:ext uri="{FF2B5EF4-FFF2-40B4-BE49-F238E27FC236}">
                <a16:creationId xmlns:a16="http://schemas.microsoft.com/office/drawing/2014/main" id="{6C6C0567-ECAB-4B49-A07C-832699A6A5C5}"/>
              </a:ext>
            </a:extLst>
          </p:cNvPr>
          <p:cNvSpPr>
            <a:spLocks noGrp="1"/>
          </p:cNvSpPr>
          <p:nvPr/>
        </p:nvSpPr>
        <p:spPr>
          <a:xfrm>
            <a:off x="6819900" y="4552950"/>
            <a:ext cx="2000250" cy="742950"/>
          </a:xfrm>
          <a:prstGeom prst="roundRect">
            <a:avLst>
              <a:gd name="adj" fmla="val 17949"/>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Firewall policy</a:t>
            </a:r>
          </a:p>
        </p:txBody>
      </p:sp>
      <p:cxnSp>
        <p:nvCxnSpPr>
          <p:cNvPr id="45" name="Conector recto de flecha 44"/>
          <p:cNvCxnSpPr>
            <a:stCxn id="11" idx="2"/>
            <a:endCxn id="19" idx="1"/>
          </p:cNvCxnSpPr>
          <p:nvPr/>
        </p:nvCxnSpPr>
        <p:spPr>
          <a:xfrm>
            <a:off x="1666875" y="4076700"/>
            <a:ext cx="2333625" cy="847725"/>
          </a:xfrm>
          <a:prstGeom prst="straightConnector1">
            <a:avLst/>
          </a:prstGeom>
          <a:ln w="19050">
            <a:solidFill>
              <a:srgbClr val="830051"/>
            </a:solidFill>
            <a:prstDash val="solid"/>
            <a:tailEnd type="triangle" w="sm" len="sm"/>
          </a:ln>
        </p:spPr>
      </p:cxnSp>
      <p:cxnSp>
        <p:nvCxnSpPr>
          <p:cNvPr id="46" name="Conector recto de flecha 45"/>
          <p:cNvCxnSpPr>
            <a:stCxn id="19" idx="3"/>
            <a:endCxn id="20" idx="1"/>
          </p:cNvCxnSpPr>
          <p:nvPr/>
        </p:nvCxnSpPr>
        <p:spPr>
          <a:xfrm>
            <a:off x="6096000" y="4924425"/>
            <a:ext cx="723900" cy="0"/>
          </a:xfrm>
          <a:prstGeom prst="straightConnector1">
            <a:avLst/>
          </a:prstGeom>
          <a:ln w="19050">
            <a:solidFill>
              <a:srgbClr val="830051"/>
            </a:solidFill>
            <a:prstDash val="solid"/>
            <a:tailEnd type="triangle" w="sm" len="sm"/>
          </a:ln>
        </p:spPr>
      </p:cxnSp>
      <p:cxnSp>
        <p:nvCxnSpPr>
          <p:cNvPr id="47" name="Conector recto de flecha 46"/>
          <p:cNvCxnSpPr>
            <a:stCxn id="20" idx="3"/>
            <a:endCxn id="12" idx="2"/>
          </p:cNvCxnSpPr>
          <p:nvPr/>
        </p:nvCxnSpPr>
        <p:spPr>
          <a:xfrm flipV="1">
            <a:off x="8820150" y="4076700"/>
            <a:ext cx="1704975" cy="847725"/>
          </a:xfrm>
          <a:prstGeom prst="straightConnector1">
            <a:avLst/>
          </a:prstGeom>
          <a:ln w="19050">
            <a:solidFill>
              <a:srgbClr val="830051"/>
            </a:solidFill>
            <a:prstDash val="solid"/>
            <a:tailEnd type="triangle" w="sm" len="sm"/>
          </a:ln>
        </p:spPr>
      </p:cxnSp>
      <p:sp>
        <p:nvSpPr>
          <p:cNvPr id="24" name="Rectángulo 23">
            <a:extLst>
              <a:ext uri="{FF2B5EF4-FFF2-40B4-BE49-F238E27FC236}">
                <a16:creationId xmlns:a16="http://schemas.microsoft.com/office/drawing/2014/main" id="{FEC71F6F-3F00-4FAF-947F-5E7F19608E27}"/>
              </a:ext>
            </a:extLst>
          </p:cNvPr>
          <p:cNvSpPr>
            <a:spLocks noGrp="1"/>
          </p:cNvSpPr>
          <p:nvPr/>
        </p:nvSpPr>
        <p:spPr>
          <a:xfrm>
            <a:off x="2457450" y="5562599"/>
            <a:ext cx="7277100" cy="542921"/>
          </a:xfrm>
          <a:prstGeom prst="rect">
            <a:avLst/>
          </a:prstGeom>
          <a:noFill/>
          <a:ln w="0">
            <a:noFill/>
          </a:ln>
        </p:spPr>
        <p:txBody>
          <a:bodyPr wrap="square" lIns="0" tIns="0" rIns="0" bIns="0" anchor="t">
            <a:noAutofit/>
          </a:bodyPr>
          <a:lstStyle/>
          <a:p>
            <a:pPr algn="ctr">
              <a:lnSpc>
                <a:spcPct val="104000"/>
              </a:lnSpc>
              <a:buNone/>
              <a:defRPr sz="1650" b="1">
                <a:solidFill>
                  <a:srgbClr val="510034"/>
                </a:solidFill>
                <a:latin typeface="Arial"/>
                <a:ea typeface="Arial"/>
                <a:cs typeface="Arial"/>
              </a:defRPr>
            </a:pPr>
            <a:r>
              <a:rPr sz="1650" b="1" dirty="0">
                <a:solidFill>
                  <a:srgbClr val="510034"/>
                </a:solidFill>
                <a:latin typeface="Arial"/>
                <a:ea typeface="Arial"/>
                <a:cs typeface="Arial"/>
              </a:rPr>
              <a:t>IPv6 can avoid the IPv4 CGNAT layer, but not firewall policy or latency limits.</a:t>
            </a:r>
          </a:p>
        </p:txBody>
      </p:sp>
    </p:spTree>
    <p:extLst>
      <p:ext uri="{BB962C8B-B14F-4D97-AF65-F5344CB8AC3E}">
        <p14:creationId xmlns:p14="http://schemas.microsoft.com/office/powerpoint/2010/main" val="19776546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E01EAB4A-07EE-40F9-88AD-C1326D26425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3D52D4C3-E2F8-4788-BAC9-805C36ABD1C6}"/>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Solution: TURN</a:t>
            </a:r>
          </a:p>
        </p:txBody>
      </p:sp>
      <p:sp>
        <p:nvSpPr>
          <p:cNvPr id="3" name="Rectángulo 2">
            <a:extLst>
              <a:ext uri="{FF2B5EF4-FFF2-40B4-BE49-F238E27FC236}">
                <a16:creationId xmlns:a16="http://schemas.microsoft.com/office/drawing/2014/main" id="{5CD16D6D-476C-4FB6-8EDE-5CC68D2C450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F762F46-2E43-41A9-AE74-FC68A7FAC8B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15</a:t>
            </a:r>
          </a:p>
        </p:txBody>
      </p:sp>
      <p:sp>
        <p:nvSpPr>
          <p:cNvPr id="5" name="Rectángulo 4">
            <a:extLst>
              <a:ext uri="{FF2B5EF4-FFF2-40B4-BE49-F238E27FC236}">
                <a16:creationId xmlns:a16="http://schemas.microsoft.com/office/drawing/2014/main" id="{D8D4C5D7-9846-4918-B8FE-C3161D44B664}"/>
              </a:ext>
            </a:extLst>
          </p:cNvPr>
          <p:cNvSpPr>
            <a:spLocks noGrp="1"/>
          </p:cNvSpPr>
          <p:nvPr/>
        </p:nvSpPr>
        <p:spPr>
          <a:xfrm>
            <a:off x="704850" y="1609725"/>
            <a:ext cx="4667250" cy="266700"/>
          </a:xfrm>
          <a:prstGeom prst="rect">
            <a:avLst/>
          </a:prstGeom>
          <a:noFill/>
          <a:ln w="0">
            <a:noFill/>
          </a:ln>
        </p:spPr>
        <p:txBody>
          <a:bodyPr wrap="square" lIns="0" tIns="0" rIns="0" bIns="0" anchor="t">
            <a:noAutofit/>
          </a:bodyPr>
          <a:lstStyle/>
          <a:p>
            <a:pPr algn="l">
              <a:lnSpc>
                <a:spcPct val="104000"/>
              </a:lnSpc>
              <a:buNone/>
              <a:defRPr sz="1500" b="1">
                <a:solidFill>
                  <a:srgbClr val="6F686D"/>
                </a:solidFill>
                <a:latin typeface="Arial"/>
                <a:ea typeface="Arial"/>
                <a:cs typeface="Arial"/>
              </a:defRPr>
            </a:pPr>
            <a:r>
              <a:rPr sz="1500" b="1">
                <a:solidFill>
                  <a:srgbClr val="6F686D"/>
                </a:solidFill>
                <a:latin typeface="Arial"/>
                <a:ea typeface="Arial"/>
                <a:cs typeface="Arial"/>
              </a:rPr>
              <a:t>WHY DIRECT CAN FAIL</a:t>
            </a:r>
          </a:p>
        </p:txBody>
      </p:sp>
      <p:sp>
        <p:nvSpPr>
          <p:cNvPr id="6" name="Rectángulo 5">
            <a:extLst>
              <a:ext uri="{FF2B5EF4-FFF2-40B4-BE49-F238E27FC236}">
                <a16:creationId xmlns:a16="http://schemas.microsoft.com/office/drawing/2014/main" id="{547B3DB8-0586-4E53-90D1-3DA19B60A794}"/>
              </a:ext>
            </a:extLst>
          </p:cNvPr>
          <p:cNvSpPr>
            <a:spLocks noGrp="1"/>
          </p:cNvSpPr>
          <p:nvPr/>
        </p:nvSpPr>
        <p:spPr>
          <a:xfrm>
            <a:off x="704850" y="1971675"/>
            <a:ext cx="4762500" cy="400050"/>
          </a:xfrm>
          <a:prstGeom prst="rect">
            <a:avLst/>
          </a:prstGeom>
          <a:noFill/>
          <a:ln w="0">
            <a:noFill/>
          </a:ln>
        </p:spPr>
        <p:txBody>
          <a:bodyPr wrap="square" lIns="0" tIns="0" rIns="0" bIns="0" anchor="t">
            <a:noAutofit/>
          </a:bodyPr>
          <a:lstStyle/>
          <a:p>
            <a:pPr algn="l">
              <a:lnSpc>
                <a:spcPct val="104000"/>
              </a:lnSpc>
              <a:buNone/>
              <a:defRPr sz="2250" b="1">
                <a:solidFill>
                  <a:srgbClr val="171417"/>
                </a:solidFill>
                <a:latin typeface="Arial"/>
                <a:ea typeface="Arial"/>
                <a:cs typeface="Arial"/>
              </a:defRPr>
            </a:pPr>
            <a:r>
              <a:rPr sz="2250" b="1">
                <a:solidFill>
                  <a:srgbClr val="171417"/>
                </a:solidFill>
                <a:latin typeface="Arial"/>
                <a:ea typeface="Arial"/>
                <a:cs typeface="Arial"/>
              </a:rPr>
              <a:t>STUN discovers an address</a:t>
            </a:r>
          </a:p>
        </p:txBody>
      </p:sp>
      <p:sp>
        <p:nvSpPr>
          <p:cNvPr id="7" name="Rectángulo 6">
            <a:extLst>
              <a:ext uri="{FF2B5EF4-FFF2-40B4-BE49-F238E27FC236}">
                <a16:creationId xmlns:a16="http://schemas.microsoft.com/office/drawing/2014/main" id="{101ED8DC-B90C-4626-AF66-BD55CF908135}"/>
              </a:ext>
            </a:extLst>
          </p:cNvPr>
          <p:cNvSpPr>
            <a:spLocks noGrp="1"/>
          </p:cNvSpPr>
          <p:nvPr/>
        </p:nvSpPr>
        <p:spPr>
          <a:xfrm>
            <a:off x="704850" y="2438400"/>
            <a:ext cx="4953000" cy="819150"/>
          </a:xfrm>
          <a:prstGeom prst="rect">
            <a:avLst/>
          </a:prstGeom>
          <a:noFill/>
          <a:ln w="0">
            <a:noFill/>
          </a:ln>
        </p:spPr>
        <p:txBody>
          <a:bodyPr wrap="square" lIns="0" tIns="0" rIns="0" bIns="0" anchor="t">
            <a:noAutofit/>
          </a:bodyPr>
          <a:lstStyle/>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NAT may still block packets from the other peer.</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Learning the public IP and port does not</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guarantee that a direct path will work.</a:t>
            </a:r>
          </a:p>
        </p:txBody>
      </p:sp>
      <p:sp>
        <p:nvSpPr>
          <p:cNvPr id="8" name="Conector recto 7">
            <a:extLst>
              <a:ext uri="{FF2B5EF4-FFF2-40B4-BE49-F238E27FC236}">
                <a16:creationId xmlns:a16="http://schemas.microsoft.com/office/drawing/2014/main" id="{6629F8E9-E380-4308-9AD7-AC25EAF7EED6}"/>
              </a:ext>
            </a:extLst>
          </p:cNvPr>
          <p:cNvSpPr>
            <a:spLocks noGrp="1"/>
          </p:cNvSpPr>
          <p:nvPr/>
        </p:nvSpPr>
        <p:spPr>
          <a:xfrm>
            <a:off x="3162300" y="2152650"/>
            <a:ext cx="1943100" cy="0"/>
          </a:xfrm>
          <a:prstGeom prst="line">
            <a:avLst/>
          </a:prstGeom>
          <a:noFill/>
          <a:ln w="0">
            <a:noFill/>
          </a:ln>
        </p:spPr>
        <p:txBody>
          <a:bodyPr/>
          <a:lstStyle/>
          <a:p>
            <a:endParaRPr/>
          </a:p>
        </p:txBody>
      </p:sp>
      <p:sp>
        <p:nvSpPr>
          <p:cNvPr id="9" name="Rectángulo 8">
            <a:extLst>
              <a:ext uri="{FF2B5EF4-FFF2-40B4-BE49-F238E27FC236}">
                <a16:creationId xmlns:a16="http://schemas.microsoft.com/office/drawing/2014/main" id="{63D62EDE-0990-4E82-A9F6-3A48DB8C1B76}"/>
              </a:ext>
            </a:extLst>
          </p:cNvPr>
          <p:cNvSpPr>
            <a:spLocks noGrp="1"/>
          </p:cNvSpPr>
          <p:nvPr/>
        </p:nvSpPr>
        <p:spPr>
          <a:xfrm>
            <a:off x="6191250" y="1609725"/>
            <a:ext cx="5238750" cy="266700"/>
          </a:xfrm>
          <a:prstGeom prst="rect">
            <a:avLst/>
          </a:prstGeom>
          <a:noFill/>
          <a:ln w="0">
            <a:noFill/>
          </a:ln>
        </p:spPr>
        <p:txBody>
          <a:bodyPr wrap="square" lIns="0" tIns="0" rIns="0" bIns="0" anchor="t">
            <a:noAutofit/>
          </a:bodyPr>
          <a:lstStyle/>
          <a:p>
            <a:pPr algn="l">
              <a:lnSpc>
                <a:spcPct val="104000"/>
              </a:lnSpc>
              <a:buNone/>
              <a:defRPr sz="1500" b="1">
                <a:solidFill>
                  <a:srgbClr val="830051"/>
                </a:solidFill>
                <a:latin typeface="Arial"/>
                <a:ea typeface="Arial"/>
                <a:cs typeface="Arial"/>
              </a:defRPr>
            </a:pPr>
            <a:r>
              <a:rPr sz="1500" b="1">
                <a:solidFill>
                  <a:srgbClr val="830051"/>
                </a:solidFill>
                <a:latin typeface="Arial"/>
                <a:ea typeface="Arial"/>
                <a:cs typeface="Arial"/>
              </a:rPr>
              <a:t>WHY TURN WORKS</a:t>
            </a:r>
          </a:p>
        </p:txBody>
      </p:sp>
      <p:sp>
        <p:nvSpPr>
          <p:cNvPr id="10" name="Rectángulo 9">
            <a:extLst>
              <a:ext uri="{FF2B5EF4-FFF2-40B4-BE49-F238E27FC236}">
                <a16:creationId xmlns:a16="http://schemas.microsoft.com/office/drawing/2014/main" id="{6879CD94-B09B-4144-A91A-F0F7E18CDD40}"/>
              </a:ext>
            </a:extLst>
          </p:cNvPr>
          <p:cNvSpPr>
            <a:spLocks noGrp="1"/>
          </p:cNvSpPr>
          <p:nvPr/>
        </p:nvSpPr>
        <p:spPr>
          <a:xfrm>
            <a:off x="6191250" y="1971675"/>
            <a:ext cx="5238750" cy="400050"/>
          </a:xfrm>
          <a:prstGeom prst="rect">
            <a:avLst/>
          </a:prstGeom>
          <a:noFill/>
          <a:ln w="0">
            <a:noFill/>
          </a:ln>
        </p:spPr>
        <p:txBody>
          <a:bodyPr wrap="square" lIns="0" tIns="0" rIns="0" bIns="0" anchor="t">
            <a:noAutofit/>
          </a:bodyPr>
          <a:lstStyle/>
          <a:p>
            <a:pPr algn="l">
              <a:lnSpc>
                <a:spcPct val="104000"/>
              </a:lnSpc>
              <a:buNone/>
              <a:defRPr sz="2250" b="1">
                <a:solidFill>
                  <a:srgbClr val="510034"/>
                </a:solidFill>
                <a:latin typeface="Arial"/>
                <a:ea typeface="Arial"/>
                <a:cs typeface="Arial"/>
              </a:defRPr>
            </a:pPr>
            <a:r>
              <a:rPr sz="2250" b="1">
                <a:solidFill>
                  <a:srgbClr val="510034"/>
                </a:solidFill>
                <a:latin typeface="Arial"/>
                <a:ea typeface="Arial"/>
                <a:cs typeface="Arial"/>
              </a:rPr>
              <a:t>A public relay bridges NAT</a:t>
            </a:r>
          </a:p>
        </p:txBody>
      </p:sp>
      <p:sp>
        <p:nvSpPr>
          <p:cNvPr id="11" name="Rectángulo 10">
            <a:extLst>
              <a:ext uri="{FF2B5EF4-FFF2-40B4-BE49-F238E27FC236}">
                <a16:creationId xmlns:a16="http://schemas.microsoft.com/office/drawing/2014/main" id="{F49B5258-5D0D-4B3F-803F-8B9505F4E8BC}"/>
              </a:ext>
            </a:extLst>
          </p:cNvPr>
          <p:cNvSpPr>
            <a:spLocks noGrp="1"/>
          </p:cNvSpPr>
          <p:nvPr/>
        </p:nvSpPr>
        <p:spPr>
          <a:xfrm>
            <a:off x="6191250" y="2438400"/>
            <a:ext cx="5334000" cy="819150"/>
          </a:xfrm>
          <a:prstGeom prst="rect">
            <a:avLst/>
          </a:prstGeom>
          <a:noFill/>
          <a:ln w="0">
            <a:noFill/>
          </a:ln>
        </p:spPr>
        <p:txBody>
          <a:bodyPr wrap="square" lIns="0" tIns="0" rIns="0" bIns="0" anchor="t">
            <a:noAutofit/>
          </a:bodyPr>
          <a:lstStyle/>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The client sends outbound traffic to TURN.</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NAT allows replies over that mapping. TURN</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forwards the peer’s media back along this path.</a:t>
            </a:r>
          </a:p>
        </p:txBody>
      </p:sp>
      <p:sp>
        <p:nvSpPr>
          <p:cNvPr id="12" name="Rectángulo: esquinas redondeadas 11">
            <a:extLst>
              <a:ext uri="{FF2B5EF4-FFF2-40B4-BE49-F238E27FC236}">
                <a16:creationId xmlns:a16="http://schemas.microsoft.com/office/drawing/2014/main" id="{96752687-ED8C-408A-AEAA-F03C5AF5B7EF}"/>
              </a:ext>
            </a:extLst>
          </p:cNvPr>
          <p:cNvSpPr>
            <a:spLocks noGrp="1"/>
          </p:cNvSpPr>
          <p:nvPr/>
        </p:nvSpPr>
        <p:spPr>
          <a:xfrm>
            <a:off x="1047750" y="3790950"/>
            <a:ext cx="16192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Device</a:t>
            </a:r>
          </a:p>
        </p:txBody>
      </p:sp>
      <p:sp>
        <p:nvSpPr>
          <p:cNvPr id="13" name="Rectángulo: esquinas redondeadas 12">
            <a:extLst>
              <a:ext uri="{FF2B5EF4-FFF2-40B4-BE49-F238E27FC236}">
                <a16:creationId xmlns:a16="http://schemas.microsoft.com/office/drawing/2014/main" id="{85467C66-A8B3-4795-9E9B-5FD7BC14D2B2}"/>
              </a:ext>
            </a:extLst>
          </p:cNvPr>
          <p:cNvSpPr>
            <a:spLocks noGrp="1"/>
          </p:cNvSpPr>
          <p:nvPr/>
        </p:nvSpPr>
        <p:spPr>
          <a:xfrm>
            <a:off x="9525000" y="3790950"/>
            <a:ext cx="16192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Browser</a:t>
            </a:r>
          </a:p>
        </p:txBody>
      </p:sp>
      <p:sp>
        <p:nvSpPr>
          <p:cNvPr id="14" name="Rectángulo: esquinas redondeadas 13">
            <a:extLst>
              <a:ext uri="{FF2B5EF4-FFF2-40B4-BE49-F238E27FC236}">
                <a16:creationId xmlns:a16="http://schemas.microsoft.com/office/drawing/2014/main" id="{D04E8C78-19C8-4C61-A4E5-D96828612C8E}"/>
              </a:ext>
            </a:extLst>
          </p:cNvPr>
          <p:cNvSpPr>
            <a:spLocks noGrp="1"/>
          </p:cNvSpPr>
          <p:nvPr/>
        </p:nvSpPr>
        <p:spPr>
          <a:xfrm>
            <a:off x="5162550" y="4800600"/>
            <a:ext cx="1866900" cy="857250"/>
          </a:xfrm>
          <a:prstGeom prst="roundRect">
            <a:avLst>
              <a:gd name="adj" fmla="val 15556"/>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TURN relay</a:t>
            </a:r>
          </a:p>
        </p:txBody>
      </p:sp>
      <p:cxnSp>
        <p:nvCxnSpPr>
          <p:cNvPr id="53" name="Conector recto de flecha 34"/>
          <p:cNvCxnSpPr>
            <a:stCxn id="12" idx="3"/>
            <a:endCxn id="13" idx="1"/>
          </p:cNvCxnSpPr>
          <p:nvPr/>
        </p:nvCxnSpPr>
        <p:spPr>
          <a:xfrm>
            <a:off x="2667000" y="4191000"/>
            <a:ext cx="6858000" cy="0"/>
          </a:xfrm>
          <a:prstGeom prst="straightConnector1">
            <a:avLst/>
          </a:prstGeom>
          <a:ln w="38100">
            <a:solidFill>
              <a:srgbClr val="830051"/>
            </a:solidFill>
            <a:prstDash val="solid"/>
            <a:tailEnd type="triangle" w="sm" len="sm"/>
          </a:ln>
        </p:spPr>
      </p:cxnSp>
      <p:sp>
        <p:nvSpPr>
          <p:cNvPr id="16" name="Rectángulo 15">
            <a:extLst>
              <a:ext uri="{FF2B5EF4-FFF2-40B4-BE49-F238E27FC236}">
                <a16:creationId xmlns:a16="http://schemas.microsoft.com/office/drawing/2014/main" id="{FEA17C36-2732-496D-A9ED-EDFB0B411564}"/>
              </a:ext>
            </a:extLst>
          </p:cNvPr>
          <p:cNvSpPr>
            <a:spLocks noGrp="1"/>
          </p:cNvSpPr>
          <p:nvPr/>
        </p:nvSpPr>
        <p:spPr>
          <a:xfrm>
            <a:off x="3962400" y="3543300"/>
            <a:ext cx="4267200" cy="266700"/>
          </a:xfrm>
          <a:prstGeom prst="rect">
            <a:avLst/>
          </a:prstGeom>
          <a:noFill/>
          <a:ln w="0">
            <a:noFill/>
          </a:ln>
        </p:spPr>
        <p:txBody>
          <a:bodyPr wrap="square" lIns="0" tIns="0" rIns="0" bIns="0" anchor="t">
            <a:noAutofit/>
          </a:bodyPr>
          <a:lstStyle/>
          <a:p>
            <a:pPr algn="ctr">
              <a:lnSpc>
                <a:spcPct val="104000"/>
              </a:lnSpc>
              <a:buNone/>
              <a:defRPr sz="1275" b="1">
                <a:solidFill>
                  <a:srgbClr val="830051"/>
                </a:solidFill>
                <a:latin typeface="Arial"/>
                <a:ea typeface="Arial"/>
                <a:cs typeface="Arial"/>
              </a:defRPr>
            </a:pPr>
            <a:r>
              <a:rPr sz="1275" b="1">
                <a:solidFill>
                  <a:srgbClr val="830051"/>
                </a:solidFill>
                <a:latin typeface="Arial"/>
                <a:ea typeface="Arial"/>
                <a:cs typeface="Arial"/>
              </a:rPr>
              <a:t>DIRECT CANDIDATES PREFERRED</a:t>
            </a:r>
          </a:p>
        </p:txBody>
      </p:sp>
      <p:cxnSp>
        <p:nvCxnSpPr>
          <p:cNvPr id="55" name="Conector recto de flecha 36"/>
          <p:cNvCxnSpPr>
            <a:stCxn id="12" idx="2"/>
            <a:endCxn id="14" idx="1"/>
          </p:cNvCxnSpPr>
          <p:nvPr/>
        </p:nvCxnSpPr>
        <p:spPr>
          <a:xfrm>
            <a:off x="1857375" y="4591050"/>
            <a:ext cx="3305175" cy="638175"/>
          </a:xfrm>
          <a:prstGeom prst="straightConnector1">
            <a:avLst/>
          </a:prstGeom>
          <a:ln w="19050">
            <a:solidFill>
              <a:srgbClr val="6F686D"/>
            </a:solidFill>
            <a:prstDash val="dash"/>
            <a:tailEnd type="triangle" w="sm" len="sm"/>
          </a:ln>
        </p:spPr>
      </p:cxnSp>
      <p:cxnSp>
        <p:nvCxnSpPr>
          <p:cNvPr id="56" name="Conector recto de flecha 37"/>
          <p:cNvCxnSpPr>
            <a:stCxn id="14" idx="3"/>
            <a:endCxn id="13" idx="2"/>
          </p:cNvCxnSpPr>
          <p:nvPr/>
        </p:nvCxnSpPr>
        <p:spPr>
          <a:xfrm flipV="1">
            <a:off x="7029450" y="4591050"/>
            <a:ext cx="3305175" cy="638175"/>
          </a:xfrm>
          <a:prstGeom prst="straightConnector1">
            <a:avLst/>
          </a:prstGeom>
          <a:ln w="19050">
            <a:solidFill>
              <a:srgbClr val="6F686D"/>
            </a:solidFill>
            <a:prstDash val="dash"/>
            <a:tailEnd type="triangle" w="sm" len="sm"/>
          </a:ln>
        </p:spPr>
      </p:cxnSp>
      <p:sp>
        <p:nvSpPr>
          <p:cNvPr id="19" name="Rectángulo 18">
            <a:extLst>
              <a:ext uri="{FF2B5EF4-FFF2-40B4-BE49-F238E27FC236}">
                <a16:creationId xmlns:a16="http://schemas.microsoft.com/office/drawing/2014/main" id="{91EB4C4D-784D-4D24-B79E-21FEFBA717D1}"/>
              </a:ext>
            </a:extLst>
          </p:cNvPr>
          <p:cNvSpPr>
            <a:spLocks noGrp="1"/>
          </p:cNvSpPr>
          <p:nvPr/>
        </p:nvSpPr>
        <p:spPr>
          <a:xfrm>
            <a:off x="3143250" y="5810250"/>
            <a:ext cx="5905500" cy="266700"/>
          </a:xfrm>
          <a:prstGeom prst="rect">
            <a:avLst/>
          </a:prstGeom>
          <a:noFill/>
          <a:ln w="0">
            <a:noFill/>
          </a:ln>
        </p:spPr>
        <p:txBody>
          <a:bodyPr wrap="square" lIns="0" tIns="0" rIns="0" bIns="0" anchor="t">
            <a:noAutofit/>
          </a:bodyPr>
          <a:lstStyle/>
          <a:p>
            <a:pPr algn="ctr">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ICE USES THE RELAY WHEN DIRECT CHECKS FAIL</a:t>
            </a:r>
          </a:p>
        </p:txBody>
      </p:sp>
      <p:sp>
        <p:nvSpPr>
          <p:cNvPr id="20" name="Rectángulo 19">
            <a:extLst>
              <a:ext uri="{FF2B5EF4-FFF2-40B4-BE49-F238E27FC236}">
                <a16:creationId xmlns:a16="http://schemas.microsoft.com/office/drawing/2014/main" id="{13D42BC2-3C9E-4267-AFF8-91C518EAE24E}"/>
              </a:ext>
            </a:extLst>
          </p:cNvPr>
          <p:cNvSpPr>
            <a:spLocks noGrp="1"/>
          </p:cNvSpPr>
          <p:nvPr/>
        </p:nvSpPr>
        <p:spPr>
          <a:xfrm>
            <a:off x="1524000" y="6200775"/>
            <a:ext cx="9144000" cy="247650"/>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TURN must be reachable. Relaying adds a network hop and server bandwidth cost.</a:t>
            </a:r>
          </a:p>
        </p:txBody>
      </p:sp>
    </p:spTree>
    <p:extLst>
      <p:ext uri="{BB962C8B-B14F-4D97-AF65-F5344CB8AC3E}">
        <p14:creationId xmlns:p14="http://schemas.microsoft.com/office/powerpoint/2010/main" val="16650202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E01EAB4A-07EE-40F9-88AD-C1326D26425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3D52D4C3-E2F8-4788-BAC9-805C36ABD1C6}"/>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a:t>
            </a:r>
            <a:r>
              <a:rPr sz="3375" b="1" dirty="0">
                <a:solidFill>
                  <a:srgbClr val="171417"/>
                </a:solidFill>
                <a:latin typeface="Arial"/>
                <a:ea typeface="Arial"/>
                <a:cs typeface="Arial"/>
              </a:rPr>
              <a:t>“Perfect” Signaling</a:t>
            </a:r>
          </a:p>
        </p:txBody>
      </p:sp>
      <p:sp>
        <p:nvSpPr>
          <p:cNvPr id="3" name="Rectángulo 2">
            <a:extLst>
              <a:ext uri="{FF2B5EF4-FFF2-40B4-BE49-F238E27FC236}">
                <a16:creationId xmlns:a16="http://schemas.microsoft.com/office/drawing/2014/main" id="{5CD16D6D-476C-4FB6-8EDE-5CC68D2C450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F762F46-2E43-41A9-AE74-FC68A7FAC8B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sz="1125" b="1">
                <a:solidFill>
                  <a:srgbClr val="6F686D"/>
                </a:solidFill>
                <a:latin typeface="Arial"/>
                <a:ea typeface="Arial"/>
                <a:cs typeface="Arial"/>
              </a:rPr>
              <a:t>16</a:t>
            </a: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SignalR carries messages. The application keeps the WebRTC peers in sync.</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Protocol and roles</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Define who creates offers, where answers go,</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which device or viewer owns each session.</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SDP and ICE timing</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ICE candidates can arrive before the remote SDP.</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Queue them until the peer is ready.</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Reconnects and stale state</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SignalR and WebRTC have separate connection states.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Rejoin groups and repair the peer connection if needed.</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Session lifecycle</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Track active peers, handle timeouts and disconnects,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clean up abandoned sessions.</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Clear roles and session lifecycles motivated the WHIP / WHEP investigation.</a:t>
            </a:r>
          </a:p>
        </p:txBody>
      </p:sp>
    </p:spTree>
    <p:extLst>
      <p:ext uri="{BB962C8B-B14F-4D97-AF65-F5344CB8AC3E}">
        <p14:creationId xmlns:p14="http://schemas.microsoft.com/office/powerpoint/2010/main" val="16650202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A65336D7-4DA3-4FD8-95A9-A5DD5863256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3" name="WHIP and WHEP title">
            <a:extLst>
              <a:ext uri="{FF2B5EF4-FFF2-40B4-BE49-F238E27FC236}">
                <a16:creationId xmlns:a16="http://schemas.microsoft.com/office/drawing/2014/main" id="{71FBE574-1A20-428E-9E93-3A78B67C917E}"/>
              </a:ext>
            </a:extLst>
          </p:cNvPr>
          <p:cNvSpPr>
            <a:spLocks noGrp="1"/>
          </p:cNvSpPr>
          <p:nvPr/>
        </p:nvSpPr>
        <p:spPr>
          <a:xfrm>
            <a:off x="533400" y="590550"/>
            <a:ext cx="11125200" cy="619125"/>
          </a:xfrm>
          <a:prstGeom prst="rect">
            <a:avLst/>
          </a:prstGeom>
          <a:noFill/>
          <a:ln w="0">
            <a:noFill/>
          </a:ln>
        </p:spPr>
        <p:txBody>
          <a:bodyPr wrap="square" lIns="0" tIns="0" rIns="0" bIns="0" anchor="t"/>
          <a:lstStyle/>
          <a:p>
            <a:pPr marL="0" indent="0" algn="l">
              <a:lnSpc>
                <a:spcPct val="108000"/>
              </a:lnSpc>
              <a:buNone/>
            </a:pPr>
            <a:r>
              <a:rPr lang="en-US" sz="3375" b="1" dirty="0">
                <a:solidFill>
                  <a:srgbClr val="171417"/>
                </a:solidFill>
                <a:latin typeface="Arial"/>
              </a:rPr>
              <a:t>Solution: WHIP and WHEP</a:t>
            </a:r>
            <a:endParaRPr lang="en-US" sz="3375">
              <a:latin typeface="Arial"/>
            </a:endParaRPr>
          </a:p>
        </p:txBody>
      </p:sp>
      <p:sp>
        <p:nvSpPr>
          <p:cNvPr id="2" name="Rectángulo 2">
            <a:extLst>
              <a:ext uri="{FF2B5EF4-FFF2-40B4-BE49-F238E27FC236}">
                <a16:creationId xmlns:a16="http://schemas.microsoft.com/office/drawing/2014/main" id="{0F0186AD-C91A-4131-AC34-68B788173D2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4942BA0A-69DF-432A-96AC-8256132EFAD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17</a:t>
            </a:r>
          </a:p>
        </p:txBody>
      </p:sp>
      <p:sp>
        <p:nvSpPr>
          <p:cNvPr id="100" name="WHIP and WHEP inspiration">
            <a:extLst>
              <a:ext uri="{FF2B5EF4-FFF2-40B4-BE49-F238E27FC236}">
                <a16:creationId xmlns:a16="http://schemas.microsoft.com/office/drawing/2014/main" id="{71FBE574-1A20-428E-9E93-3A78B67C917E}"/>
              </a:ext>
            </a:extLst>
          </p:cNvPr>
          <p:cNvSpPr>
            <a:spLocks noGrp="1"/>
          </p:cNvSpPr>
          <p:nvPr/>
        </p:nvSpPr>
        <p:spPr>
          <a:xfrm>
            <a:off x="704850" y="1581150"/>
            <a:ext cx="10763250" cy="476250"/>
          </a:xfrm>
          <a:prstGeom prst="rect">
            <a:avLst/>
          </a:prstGeom>
          <a:noFill/>
          <a:ln w="0">
            <a:noFill/>
          </a:ln>
        </p:spPr>
        <p:txBody>
          <a:bodyPr wrap="square" lIns="0" tIns="0" rIns="0" bIns="0" anchor="t"/>
          <a:lstStyle/>
          <a:p>
            <a:pPr marL="0" indent="0" algn="l">
              <a:lnSpc>
                <a:spcPct val="108000"/>
              </a:lnSpc>
              <a:buNone/>
            </a:pPr>
            <a:r>
              <a:rPr lang="en-US" sz="1800" b="0" dirty="0">
                <a:solidFill>
                  <a:srgbClr val="6F686D"/>
                </a:solidFill>
                <a:latin typeface="Arial"/>
              </a:rPr>
              <a:t>The protocol model behind the full SignalR signaling rework.</a:t>
            </a:r>
            <a:endParaRPr lang="en-US" sz="1800">
              <a:latin typeface="Arial"/>
            </a:endParaRPr>
          </a:p>
        </p:txBody>
      </p:sp>
      <p:sp>
        <p:nvSpPr>
          <p:cNvPr id="101" name="WHIP">
            <a:extLst>
              <a:ext uri="{FF2B5EF4-FFF2-40B4-BE49-F238E27FC236}">
                <a16:creationId xmlns:a16="http://schemas.microsoft.com/office/drawing/2014/main" id="{71FBE574-1A20-428E-9E93-3A78B67C917E}"/>
              </a:ext>
            </a:extLst>
          </p:cNvPr>
          <p:cNvSpPr>
            <a:spLocks noGrp="1"/>
          </p:cNvSpPr>
          <p:nvPr/>
        </p:nvSpPr>
        <p:spPr>
          <a:xfrm>
            <a:off x="704850" y="2171700"/>
            <a:ext cx="4953000" cy="476250"/>
          </a:xfrm>
          <a:prstGeom prst="rect">
            <a:avLst/>
          </a:prstGeom>
          <a:noFill/>
          <a:ln w="0">
            <a:noFill/>
          </a:ln>
        </p:spPr>
        <p:txBody>
          <a:bodyPr wrap="square" lIns="0" tIns="0" rIns="0" bIns="0" anchor="t"/>
          <a:lstStyle/>
          <a:p>
            <a:pPr marL="0" indent="0" algn="l">
              <a:lnSpc>
                <a:spcPct val="108000"/>
              </a:lnSpc>
              <a:buNone/>
            </a:pPr>
            <a:r>
              <a:rPr lang="en-US" sz="3000" b="1" dirty="0">
                <a:solidFill>
                  <a:srgbClr val="830051"/>
                </a:solidFill>
                <a:latin typeface="Arial"/>
              </a:rPr>
              <a:t>WHIP</a:t>
            </a:r>
            <a:endParaRPr lang="en-US" sz="3000">
              <a:latin typeface="Arial"/>
            </a:endParaRPr>
          </a:p>
        </p:txBody>
      </p:sp>
      <p:sp>
        <p:nvSpPr>
          <p:cNvPr id="102" name="WHIP purpose">
            <a:extLst>
              <a:ext uri="{FF2B5EF4-FFF2-40B4-BE49-F238E27FC236}">
                <a16:creationId xmlns:a16="http://schemas.microsoft.com/office/drawing/2014/main" id="{71FBE574-1A20-428E-9E93-3A78B67C917E}"/>
              </a:ext>
            </a:extLst>
          </p:cNvPr>
          <p:cNvSpPr>
            <a:spLocks noGrp="1"/>
          </p:cNvSpPr>
          <p:nvPr/>
        </p:nvSpPr>
        <p:spPr>
          <a:xfrm>
            <a:off x="704850" y="2724150"/>
            <a:ext cx="5048250" cy="666750"/>
          </a:xfrm>
          <a:prstGeom prst="rect">
            <a:avLst/>
          </a:prstGeom>
          <a:noFill/>
          <a:ln w="0">
            <a:noFill/>
          </a:ln>
        </p:spPr>
        <p:txBody>
          <a:bodyPr wrap="square" lIns="0" tIns="0" rIns="0" bIns="0" anchor="t"/>
          <a:lstStyle/>
          <a:p>
            <a:pPr marL="0" indent="0" algn="l">
              <a:lnSpc>
                <a:spcPct val="108000"/>
              </a:lnSpc>
              <a:buNone/>
            </a:pPr>
            <a:r>
              <a:rPr lang="en-US" sz="1725" b="0" dirty="0">
                <a:solidFill>
                  <a:srgbClr val="171417"/>
                </a:solidFill>
                <a:latin typeface="Arial"/>
              </a:rPr>
              <a:t>WebRTC-HTTP Ingestion Protocol</a:t>
            </a:r>
            <a:endParaRPr lang="en-US" sz="1725">
              <a:latin typeface="Arial"/>
            </a:endParaRPr>
          </a:p>
          <a:p>
            <a:pPr marL="0" indent="0" algn="l">
              <a:lnSpc>
                <a:spcPct val="108000"/>
              </a:lnSpc>
              <a:buNone/>
            </a:pPr>
            <a:r>
              <a:rPr lang="en-US" sz="1725" b="0" dirty="0">
                <a:solidFill>
                  <a:srgbClr val="171417"/>
                </a:solidFill>
                <a:latin typeface="Arial"/>
              </a:rPr>
              <a:t>Publisher sends media to a server.</a:t>
            </a:r>
            <a:endParaRPr lang="en-US" sz="1725">
              <a:latin typeface="Arial"/>
            </a:endParaRPr>
          </a:p>
        </p:txBody>
      </p:sp>
      <p:sp>
        <p:nvSpPr>
          <p:cNvPr id="103" name="WHEP">
            <a:extLst>
              <a:ext uri="{FF2B5EF4-FFF2-40B4-BE49-F238E27FC236}">
                <a16:creationId xmlns:a16="http://schemas.microsoft.com/office/drawing/2014/main" id="{71FBE574-1A20-428E-9E93-3A78B67C917E}"/>
              </a:ext>
            </a:extLst>
          </p:cNvPr>
          <p:cNvSpPr>
            <a:spLocks noGrp="1"/>
          </p:cNvSpPr>
          <p:nvPr/>
        </p:nvSpPr>
        <p:spPr>
          <a:xfrm>
            <a:off x="6419850" y="2171700"/>
            <a:ext cx="4953000" cy="476250"/>
          </a:xfrm>
          <a:prstGeom prst="rect">
            <a:avLst/>
          </a:prstGeom>
          <a:noFill/>
          <a:ln w="0">
            <a:noFill/>
          </a:ln>
        </p:spPr>
        <p:txBody>
          <a:bodyPr wrap="square" lIns="0" tIns="0" rIns="0" bIns="0" anchor="t"/>
          <a:lstStyle/>
          <a:p>
            <a:pPr marL="0" indent="0" algn="l">
              <a:lnSpc>
                <a:spcPct val="108000"/>
              </a:lnSpc>
              <a:buNone/>
            </a:pPr>
            <a:r>
              <a:rPr lang="en-US" sz="3000" b="1" dirty="0">
                <a:solidFill>
                  <a:srgbClr val="830051"/>
                </a:solidFill>
                <a:latin typeface="Arial"/>
              </a:rPr>
              <a:t>WHEP</a:t>
            </a:r>
            <a:endParaRPr lang="en-US" sz="3000">
              <a:latin typeface="Arial"/>
            </a:endParaRPr>
          </a:p>
        </p:txBody>
      </p:sp>
      <p:sp>
        <p:nvSpPr>
          <p:cNvPr id="104" name="WHEP purpose">
            <a:extLst>
              <a:ext uri="{FF2B5EF4-FFF2-40B4-BE49-F238E27FC236}">
                <a16:creationId xmlns:a16="http://schemas.microsoft.com/office/drawing/2014/main" id="{71FBE574-1A20-428E-9E93-3A78B67C917E}"/>
              </a:ext>
            </a:extLst>
          </p:cNvPr>
          <p:cNvSpPr>
            <a:spLocks noGrp="1"/>
          </p:cNvSpPr>
          <p:nvPr/>
        </p:nvSpPr>
        <p:spPr>
          <a:xfrm>
            <a:off x="6419850" y="2724150"/>
            <a:ext cx="5143500" cy="666750"/>
          </a:xfrm>
          <a:prstGeom prst="rect">
            <a:avLst/>
          </a:prstGeom>
          <a:noFill/>
          <a:ln w="0">
            <a:noFill/>
          </a:ln>
        </p:spPr>
        <p:txBody>
          <a:bodyPr wrap="square" lIns="0" tIns="0" rIns="0" bIns="0" anchor="t"/>
          <a:lstStyle/>
          <a:p>
            <a:pPr marL="0" indent="0" algn="l">
              <a:lnSpc>
                <a:spcPct val="108000"/>
              </a:lnSpc>
              <a:buNone/>
            </a:pPr>
            <a:r>
              <a:rPr lang="en-US" sz="1725" b="0" dirty="0">
                <a:solidFill>
                  <a:srgbClr val="171417"/>
                </a:solidFill>
                <a:latin typeface="Arial"/>
              </a:rPr>
              <a:t>WebRTC-HTTP Egress Protocol</a:t>
            </a:r>
            <a:endParaRPr lang="en-US" sz="1725">
              <a:latin typeface="Arial"/>
            </a:endParaRPr>
          </a:p>
          <a:p>
            <a:pPr marL="0" indent="0" algn="l">
              <a:lnSpc>
                <a:spcPct val="108000"/>
              </a:lnSpc>
              <a:buNone/>
            </a:pPr>
            <a:r>
              <a:rPr lang="en-US" sz="1725" b="0" dirty="0">
                <a:solidFill>
                  <a:srgbClr val="171417"/>
                </a:solidFill>
                <a:latin typeface="Arial"/>
              </a:rPr>
              <a:t>Viewer receives media from a server.</a:t>
            </a:r>
            <a:endParaRPr lang="en-US" sz="1725">
              <a:latin typeface="Arial"/>
            </a:endParaRPr>
          </a:p>
        </p:txBody>
      </p:sp>
      <p:sp>
        <p:nvSpPr>
          <p:cNvPr id="105" name="HTTP lifecycle heading">
            <a:extLst>
              <a:ext uri="{FF2B5EF4-FFF2-40B4-BE49-F238E27FC236}">
                <a16:creationId xmlns:a16="http://schemas.microsoft.com/office/drawing/2014/main" id="{71FBE574-1A20-428E-9E93-3A78B67C917E}"/>
              </a:ext>
            </a:extLst>
          </p:cNvPr>
          <p:cNvSpPr>
            <a:spLocks noGrp="1"/>
          </p:cNvSpPr>
          <p:nvPr/>
        </p:nvSpPr>
        <p:spPr>
          <a:xfrm>
            <a:off x="704850" y="3676650"/>
            <a:ext cx="10763250" cy="381000"/>
          </a:xfrm>
          <a:prstGeom prst="rect">
            <a:avLst/>
          </a:prstGeom>
          <a:noFill/>
          <a:ln w="0">
            <a:noFill/>
          </a:ln>
        </p:spPr>
        <p:txBody>
          <a:bodyPr wrap="square" lIns="0" tIns="0" rIns="0" bIns="0" anchor="t"/>
          <a:lstStyle/>
          <a:p>
            <a:pPr marL="0" indent="0" algn="l">
              <a:lnSpc>
                <a:spcPct val="108000"/>
              </a:lnSpc>
              <a:buNone/>
            </a:pPr>
            <a:r>
              <a:rPr lang="en-US" sz="1875" b="1" dirty="0">
                <a:solidFill>
                  <a:srgbClr val="171417"/>
                </a:solidFill>
                <a:latin typeface="Arial"/>
              </a:rPr>
              <a:t>Shared HTTP session lifecycle</a:t>
            </a:r>
            <a:endParaRPr lang="en-US" sz="1875">
              <a:latin typeface="Arial"/>
            </a:endParaRPr>
          </a:p>
        </p:txBody>
      </p:sp>
      <p:sp>
        <p:nvSpPr>
          <p:cNvPr id="106" name="POST operation">
            <a:extLst>
              <a:ext uri="{FF2B5EF4-FFF2-40B4-BE49-F238E27FC236}">
                <a16:creationId xmlns:a16="http://schemas.microsoft.com/office/drawing/2014/main" id="{71FBE574-1A20-428E-9E93-3A78B67C917E}"/>
              </a:ext>
            </a:extLst>
          </p:cNvPr>
          <p:cNvSpPr>
            <a:spLocks noGrp="1"/>
          </p:cNvSpPr>
          <p:nvPr/>
        </p:nvSpPr>
        <p:spPr>
          <a:xfrm>
            <a:off x="704850" y="4267200"/>
            <a:ext cx="3190875" cy="428625"/>
          </a:xfrm>
          <a:prstGeom prst="rect">
            <a:avLst/>
          </a:prstGeom>
          <a:noFill/>
          <a:ln w="0">
            <a:noFill/>
          </a:ln>
        </p:spPr>
        <p:txBody>
          <a:bodyPr wrap="square" lIns="0" tIns="0" rIns="0" bIns="0" anchor="t"/>
          <a:lstStyle/>
          <a:p>
            <a:pPr marL="0" indent="0" algn="l">
              <a:lnSpc>
                <a:spcPct val="108000"/>
              </a:lnSpc>
              <a:buNone/>
            </a:pPr>
            <a:r>
              <a:rPr lang="en-US" sz="2325" b="1" dirty="0">
                <a:solidFill>
                  <a:srgbClr val="830051"/>
                </a:solidFill>
                <a:latin typeface="Arial"/>
              </a:rPr>
              <a:t>POST</a:t>
            </a:r>
            <a:endParaRPr lang="en-US" sz="2325">
              <a:latin typeface="Arial"/>
            </a:endParaRPr>
          </a:p>
        </p:txBody>
      </p:sp>
      <p:sp>
        <p:nvSpPr>
          <p:cNvPr id="107" name="POST behavior">
            <a:extLst>
              <a:ext uri="{FF2B5EF4-FFF2-40B4-BE49-F238E27FC236}">
                <a16:creationId xmlns:a16="http://schemas.microsoft.com/office/drawing/2014/main" id="{71FBE574-1A20-428E-9E93-3A78B67C917E}"/>
              </a:ext>
            </a:extLst>
          </p:cNvPr>
          <p:cNvSpPr>
            <a:spLocks noGrp="1"/>
          </p:cNvSpPr>
          <p:nvPr/>
        </p:nvSpPr>
        <p:spPr>
          <a:xfrm>
            <a:off x="704850" y="4772025"/>
            <a:ext cx="3381375" cy="857250"/>
          </a:xfrm>
          <a:prstGeom prst="rect">
            <a:avLst/>
          </a:prstGeom>
          <a:noFill/>
          <a:ln w="0">
            <a:noFill/>
          </a:ln>
        </p:spPr>
        <p:txBody>
          <a:bodyPr wrap="square" lIns="0" tIns="0" rIns="0" bIns="0" anchor="t"/>
          <a:lstStyle/>
          <a:p>
            <a:pPr marL="0" indent="0" algn="l">
              <a:lnSpc>
                <a:spcPct val="108000"/>
              </a:lnSpc>
              <a:buNone/>
            </a:pPr>
            <a:r>
              <a:rPr lang="en-US" sz="1650" b="0" dirty="0">
                <a:solidFill>
                  <a:srgbClr val="171417"/>
                </a:solidFill>
                <a:latin typeface="Arial"/>
              </a:rPr>
              <a:t>Create a session</a:t>
            </a:r>
            <a:endParaRPr lang="en-US" sz="1650">
              <a:latin typeface="Arial"/>
            </a:endParaRPr>
          </a:p>
          <a:p>
            <a:pPr marL="0" indent="0" algn="l">
              <a:lnSpc>
                <a:spcPct val="108000"/>
              </a:lnSpc>
              <a:buNone/>
            </a:pPr>
            <a:r>
              <a:rPr lang="en-US" sz="1650" b="0" dirty="0">
                <a:solidFill>
                  <a:srgbClr val="171417"/>
                </a:solidFill>
                <a:latin typeface="Arial"/>
              </a:rPr>
              <a:t>Exchange SDP and receive</a:t>
            </a:r>
            <a:endParaRPr lang="en-US" sz="1650">
              <a:latin typeface="Arial"/>
            </a:endParaRPr>
          </a:p>
          <a:p>
            <a:pPr marL="0" indent="0" algn="l">
              <a:lnSpc>
                <a:spcPct val="108000"/>
              </a:lnSpc>
              <a:buNone/>
            </a:pPr>
            <a:r>
              <a:rPr lang="en-US" sz="1650" b="0" dirty="0">
                <a:solidFill>
                  <a:srgbClr val="171417"/>
                </a:solidFill>
                <a:latin typeface="Arial"/>
              </a:rPr>
              <a:t>a session URL.</a:t>
            </a:r>
            <a:endParaRPr lang="en-US" sz="1650">
              <a:latin typeface="Arial"/>
            </a:endParaRPr>
          </a:p>
        </p:txBody>
      </p:sp>
      <p:sp>
        <p:nvSpPr>
          <p:cNvPr id="108" name="PATCH operation">
            <a:extLst>
              <a:ext uri="{FF2B5EF4-FFF2-40B4-BE49-F238E27FC236}">
                <a16:creationId xmlns:a16="http://schemas.microsoft.com/office/drawing/2014/main" id="{71FBE574-1A20-428E-9E93-3A78B67C917E}"/>
              </a:ext>
            </a:extLst>
          </p:cNvPr>
          <p:cNvSpPr>
            <a:spLocks noGrp="1"/>
          </p:cNvSpPr>
          <p:nvPr/>
        </p:nvSpPr>
        <p:spPr>
          <a:xfrm>
            <a:off x="4514850" y="4267200"/>
            <a:ext cx="3190875" cy="428625"/>
          </a:xfrm>
          <a:prstGeom prst="rect">
            <a:avLst/>
          </a:prstGeom>
          <a:noFill/>
          <a:ln w="0">
            <a:noFill/>
          </a:ln>
        </p:spPr>
        <p:txBody>
          <a:bodyPr wrap="square" lIns="0" tIns="0" rIns="0" bIns="0" anchor="t"/>
          <a:lstStyle/>
          <a:p>
            <a:pPr marL="0" indent="0" algn="l">
              <a:lnSpc>
                <a:spcPct val="108000"/>
              </a:lnSpc>
              <a:buNone/>
            </a:pPr>
            <a:r>
              <a:rPr lang="en-US" sz="2325" b="1" dirty="0">
                <a:solidFill>
                  <a:srgbClr val="830051"/>
                </a:solidFill>
                <a:latin typeface="Arial"/>
              </a:rPr>
              <a:t>PATCH</a:t>
            </a:r>
            <a:endParaRPr lang="en-US" sz="2325">
              <a:latin typeface="Arial"/>
            </a:endParaRPr>
          </a:p>
        </p:txBody>
      </p:sp>
      <p:sp>
        <p:nvSpPr>
          <p:cNvPr id="109" name="PATCH behavior">
            <a:extLst>
              <a:ext uri="{FF2B5EF4-FFF2-40B4-BE49-F238E27FC236}">
                <a16:creationId xmlns:a16="http://schemas.microsoft.com/office/drawing/2014/main" id="{71FBE574-1A20-428E-9E93-3A78B67C917E}"/>
              </a:ext>
            </a:extLst>
          </p:cNvPr>
          <p:cNvSpPr>
            <a:spLocks noGrp="1"/>
          </p:cNvSpPr>
          <p:nvPr/>
        </p:nvSpPr>
        <p:spPr>
          <a:xfrm>
            <a:off x="4514850" y="4772025"/>
            <a:ext cx="3381375" cy="857250"/>
          </a:xfrm>
          <a:prstGeom prst="rect">
            <a:avLst/>
          </a:prstGeom>
          <a:noFill/>
          <a:ln w="0">
            <a:noFill/>
          </a:ln>
        </p:spPr>
        <p:txBody>
          <a:bodyPr wrap="square" lIns="0" tIns="0" rIns="0" bIns="0" anchor="t"/>
          <a:lstStyle/>
          <a:p>
            <a:pPr marL="0" indent="0" algn="l">
              <a:lnSpc>
                <a:spcPct val="108000"/>
              </a:lnSpc>
              <a:buNone/>
            </a:pPr>
            <a:r>
              <a:rPr lang="en-US" sz="1650" b="0" dirty="0">
                <a:solidFill>
                  <a:srgbClr val="171417"/>
                </a:solidFill>
                <a:latin typeface="Arial"/>
              </a:rPr>
              <a:t>Update ICE</a:t>
            </a:r>
            <a:endParaRPr lang="en-US" sz="1650">
              <a:latin typeface="Arial"/>
            </a:endParaRPr>
          </a:p>
          <a:p>
            <a:pPr marL="0" indent="0" algn="l">
              <a:lnSpc>
                <a:spcPct val="108000"/>
              </a:lnSpc>
              <a:buNone/>
            </a:pPr>
            <a:r>
              <a:rPr lang="en-US" sz="1650" b="0" dirty="0">
                <a:solidFill>
                  <a:srgbClr val="171417"/>
                </a:solidFill>
                <a:latin typeface="Arial"/>
              </a:rPr>
              <a:t>Send candidates or restart ICE,</a:t>
            </a:r>
            <a:endParaRPr lang="en-US" sz="1650">
              <a:latin typeface="Arial"/>
            </a:endParaRPr>
          </a:p>
          <a:p>
            <a:pPr marL="0" indent="0" algn="l">
              <a:lnSpc>
                <a:spcPct val="108000"/>
              </a:lnSpc>
              <a:buNone/>
            </a:pPr>
            <a:r>
              <a:rPr lang="en-US" sz="1650" b="0" dirty="0">
                <a:solidFill>
                  <a:srgbClr val="171417"/>
                </a:solidFill>
                <a:latin typeface="Arial"/>
              </a:rPr>
              <a:t>when supported.</a:t>
            </a:r>
            <a:endParaRPr lang="en-US" sz="1650">
              <a:latin typeface="Arial"/>
            </a:endParaRPr>
          </a:p>
        </p:txBody>
      </p:sp>
      <p:sp>
        <p:nvSpPr>
          <p:cNvPr id="110" name="DELETE operation">
            <a:extLst>
              <a:ext uri="{FF2B5EF4-FFF2-40B4-BE49-F238E27FC236}">
                <a16:creationId xmlns:a16="http://schemas.microsoft.com/office/drawing/2014/main" id="{71FBE574-1A20-428E-9E93-3A78B67C917E}"/>
              </a:ext>
            </a:extLst>
          </p:cNvPr>
          <p:cNvSpPr>
            <a:spLocks noGrp="1"/>
          </p:cNvSpPr>
          <p:nvPr/>
        </p:nvSpPr>
        <p:spPr>
          <a:xfrm>
            <a:off x="8324850" y="4267200"/>
            <a:ext cx="3190875" cy="428625"/>
          </a:xfrm>
          <a:prstGeom prst="rect">
            <a:avLst/>
          </a:prstGeom>
          <a:noFill/>
          <a:ln w="0">
            <a:noFill/>
          </a:ln>
        </p:spPr>
        <p:txBody>
          <a:bodyPr wrap="square" lIns="0" tIns="0" rIns="0" bIns="0" anchor="t"/>
          <a:lstStyle/>
          <a:p>
            <a:pPr marL="0" indent="0" algn="l">
              <a:lnSpc>
                <a:spcPct val="108000"/>
              </a:lnSpc>
              <a:buNone/>
            </a:pPr>
            <a:r>
              <a:rPr lang="en-US" sz="2325" b="1" dirty="0">
                <a:solidFill>
                  <a:srgbClr val="830051"/>
                </a:solidFill>
                <a:latin typeface="Arial"/>
              </a:rPr>
              <a:t>DELETE</a:t>
            </a:r>
            <a:endParaRPr lang="en-US" sz="2325">
              <a:latin typeface="Arial"/>
            </a:endParaRPr>
          </a:p>
        </p:txBody>
      </p:sp>
      <p:sp>
        <p:nvSpPr>
          <p:cNvPr id="111" name="DELETE behavior">
            <a:extLst>
              <a:ext uri="{FF2B5EF4-FFF2-40B4-BE49-F238E27FC236}">
                <a16:creationId xmlns:a16="http://schemas.microsoft.com/office/drawing/2014/main" id="{71FBE574-1A20-428E-9E93-3A78B67C917E}"/>
              </a:ext>
            </a:extLst>
          </p:cNvPr>
          <p:cNvSpPr>
            <a:spLocks noGrp="1"/>
          </p:cNvSpPr>
          <p:nvPr/>
        </p:nvSpPr>
        <p:spPr>
          <a:xfrm>
            <a:off x="8324850" y="4772025"/>
            <a:ext cx="3190875" cy="857250"/>
          </a:xfrm>
          <a:prstGeom prst="rect">
            <a:avLst/>
          </a:prstGeom>
          <a:noFill/>
          <a:ln w="0">
            <a:noFill/>
          </a:ln>
        </p:spPr>
        <p:txBody>
          <a:bodyPr wrap="square" lIns="0" tIns="0" rIns="0" bIns="0" anchor="t"/>
          <a:lstStyle/>
          <a:p>
            <a:pPr marL="0" indent="0" algn="l">
              <a:lnSpc>
                <a:spcPct val="108000"/>
              </a:lnSpc>
              <a:buNone/>
            </a:pPr>
            <a:r>
              <a:rPr lang="en-US" sz="1650" b="0" dirty="0">
                <a:solidFill>
                  <a:srgbClr val="171417"/>
                </a:solidFill>
                <a:latin typeface="Arial"/>
              </a:rPr>
              <a:t>End the session</a:t>
            </a:r>
            <a:endParaRPr lang="en-US" sz="1650">
              <a:latin typeface="Arial"/>
            </a:endParaRPr>
          </a:p>
          <a:p>
            <a:pPr marL="0" indent="0" algn="l">
              <a:lnSpc>
                <a:spcPct val="108000"/>
              </a:lnSpc>
              <a:buNone/>
            </a:pPr>
            <a:r>
              <a:rPr lang="en-US" sz="1650" b="0" dirty="0">
                <a:solidFill>
                  <a:srgbClr val="171417"/>
                </a:solidFill>
                <a:latin typeface="Arial"/>
              </a:rPr>
              <a:t>Release the session</a:t>
            </a:r>
            <a:endParaRPr lang="en-US" sz="1650">
              <a:latin typeface="Arial"/>
            </a:endParaRPr>
          </a:p>
          <a:p>
            <a:pPr marL="0" indent="0" algn="l">
              <a:lnSpc>
                <a:spcPct val="108000"/>
              </a:lnSpc>
              <a:buNone/>
            </a:pPr>
            <a:r>
              <a:rPr lang="en-US" sz="1650" b="0" dirty="0">
                <a:solidFill>
                  <a:srgbClr val="171417"/>
                </a:solidFill>
                <a:latin typeface="Arial"/>
              </a:rPr>
              <a:t>resources.</a:t>
            </a:r>
            <a:endParaRPr lang="en-US" sz="1650">
              <a:latin typeface="Arial"/>
            </a:endParaRPr>
          </a:p>
        </p:txBody>
      </p:sp>
      <p:sp>
        <p:nvSpPr>
          <p:cNvPr id="112" name="SignalR application heading">
            <a:extLst>
              <a:ext uri="{FF2B5EF4-FFF2-40B4-BE49-F238E27FC236}">
                <a16:creationId xmlns:a16="http://schemas.microsoft.com/office/drawing/2014/main" id="{71FBE574-1A20-428E-9E93-3A78B67C917E}"/>
              </a:ext>
            </a:extLst>
          </p:cNvPr>
          <p:cNvSpPr>
            <a:spLocks noGrp="1"/>
          </p:cNvSpPr>
          <p:nvPr/>
        </p:nvSpPr>
        <p:spPr>
          <a:xfrm>
            <a:off x="704850" y="5943600"/>
            <a:ext cx="3143250" cy="476250"/>
          </a:xfrm>
          <a:prstGeom prst="rect">
            <a:avLst/>
          </a:prstGeom>
          <a:noFill/>
          <a:ln w="0">
            <a:noFill/>
          </a:ln>
        </p:spPr>
        <p:txBody>
          <a:bodyPr wrap="square" lIns="0" tIns="0" rIns="0" bIns="0" anchor="t"/>
          <a:lstStyle/>
          <a:p>
            <a:pPr marL="0" indent="0" algn="l">
              <a:lnSpc>
                <a:spcPct val="108000"/>
              </a:lnSpc>
              <a:buNone/>
            </a:pPr>
            <a:r>
              <a:rPr lang="en-US" sz="1800" b="1" dirty="0">
                <a:solidFill>
                  <a:srgbClr val="830051"/>
                </a:solidFill>
                <a:latin typeface="Arial"/>
              </a:rPr>
              <a:t>Full SignalR rework</a:t>
            </a:r>
            <a:endParaRPr lang="en-US" sz="1800">
              <a:latin typeface="Arial"/>
            </a:endParaRPr>
          </a:p>
        </p:txBody>
      </p:sp>
      <p:sp>
        <p:nvSpPr>
          <p:cNvPr id="113" name="SignalR application">
            <a:extLst>
              <a:ext uri="{FF2B5EF4-FFF2-40B4-BE49-F238E27FC236}">
                <a16:creationId xmlns:a16="http://schemas.microsoft.com/office/drawing/2014/main" id="{71FBE574-1A20-428E-9E93-3A78B67C917E}"/>
              </a:ext>
            </a:extLst>
          </p:cNvPr>
          <p:cNvSpPr>
            <a:spLocks noGrp="1"/>
          </p:cNvSpPr>
          <p:nvPr/>
        </p:nvSpPr>
        <p:spPr>
          <a:xfrm>
            <a:off x="4038600" y="5905500"/>
            <a:ext cx="7524750" cy="552450"/>
          </a:xfrm>
          <a:prstGeom prst="rect">
            <a:avLst/>
          </a:prstGeom>
          <a:noFill/>
          <a:ln w="0">
            <a:noFill/>
          </a:ln>
        </p:spPr>
        <p:txBody>
          <a:bodyPr wrap="square" lIns="0" tIns="0" rIns="0" bIns="0" anchor="t"/>
          <a:lstStyle/>
          <a:p>
            <a:pPr marL="0" indent="0" algn="l">
              <a:lnSpc>
                <a:spcPct val="108000"/>
              </a:lnSpc>
              <a:buNone/>
            </a:pPr>
            <a:r>
              <a:rPr lang="en-US" sz="1650" b="0" dirty="0">
                <a:solidFill>
                  <a:srgbClr val="510034"/>
                </a:solidFill>
                <a:latin typeface="Arial"/>
              </a:rPr>
              <a:t>Strongly inspired by these roles and lifecycle concepts,</a:t>
            </a:r>
            <a:endParaRPr lang="en-US" sz="1650">
              <a:latin typeface="Arial"/>
            </a:endParaRPr>
          </a:p>
          <a:p>
            <a:pPr marL="0" indent="0" algn="l">
              <a:lnSpc>
                <a:spcPct val="108000"/>
              </a:lnSpc>
              <a:buNone/>
            </a:pPr>
            <a:r>
              <a:rPr lang="en-US" sz="1650" b="0" dirty="0">
                <a:solidFill>
                  <a:srgbClr val="510034"/>
                </a:solidFill>
                <a:latin typeface="Arial"/>
              </a:rPr>
              <a:t>applied across the device, hub and browser.</a:t>
            </a:r>
            <a:endParaRPr lang="en-US" sz="1650">
              <a:latin typeface="Arial"/>
            </a:endParaRPr>
          </a:p>
        </p:txBody>
      </p:sp>
    </p:spTree>
    <p:extLst>
      <p:ext uri="{BB962C8B-B14F-4D97-AF65-F5344CB8AC3E}">
        <p14:creationId xmlns:p14="http://schemas.microsoft.com/office/powerpoint/2010/main" val="9699304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0097807-70C9-4DCD-8962-211A764A3E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49AF854C-A4AB-4F7E-95E9-75ABF86DE75D}"/>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Libcamera</a:t>
            </a:r>
          </a:p>
        </p:txBody>
      </p:sp>
      <p:sp>
        <p:nvSpPr>
          <p:cNvPr id="3" name="Rectángulo 2">
            <a:extLst>
              <a:ext uri="{FF2B5EF4-FFF2-40B4-BE49-F238E27FC236}">
                <a16:creationId xmlns:a16="http://schemas.microsoft.com/office/drawing/2014/main" id="{F8BD6D83-3F77-43EF-A702-C4C6BF235912}"/>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7594AB0-1A5D-4B34-8602-3D31D0F7F949}"/>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sz="1125" b="1">
                <a:solidFill>
                  <a:srgbClr val="6F686D"/>
                </a:solidFill>
                <a:latin typeface="Arial"/>
                <a:ea typeface="Arial"/>
                <a:cs typeface="Arial"/>
              </a:rPr>
              <a:t>18</a:t>
            </a: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dirty="0" err="1">
                <a:solidFill>
                  <a:srgbClr val="6F686D"/>
                </a:solidFill>
                <a:latin typeface="Arial"/>
                <a:ea typeface="Arial"/>
                <a:cs typeface="Arial"/>
              </a:rPr>
              <a:t>libcamera</a:t>
            </a:r>
            <a:r>
              <a:rPr sz="1800" b="0" dirty="0">
                <a:solidFill>
                  <a:srgbClr val="6F686D"/>
                </a:solidFill>
                <a:latin typeface="Arial"/>
                <a:ea typeface="Arial"/>
                <a:cs typeface="Arial"/>
              </a:rPr>
              <a:t> is the advertised route.</a:t>
            </a:r>
          </a:p>
        </p:txBody>
      </p:sp>
      <p:sp>
        <p:nvSpPr>
          <p:cNvPr id="101" name="Signaling text 101"/>
          <p:cNvSpPr>
            <a:spLocks noGrp="1"/>
          </p:cNvSpPr>
          <p:nvPr/>
        </p:nvSpPr>
        <p:spPr>
          <a:xfrm>
            <a:off x="704850" y="2524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Advertised route</a:t>
            </a:r>
          </a:p>
        </p:txBody>
      </p:sp>
      <p:sp>
        <p:nvSpPr>
          <p:cNvPr id="102" name="Signaling text 102"/>
          <p:cNvSpPr>
            <a:spLocks noGrp="1"/>
          </p:cNvSpPr>
          <p:nvPr/>
        </p:nvSpPr>
        <p:spPr>
          <a:xfrm>
            <a:off x="4400550" y="2524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Raspberry Pi promotes libcamera as the modern</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camera stack, especially for its camera modules.</a:t>
            </a:r>
          </a:p>
        </p:txBody>
      </p:sp>
      <p:sp>
        <p:nvSpPr>
          <p:cNvPr id="103" name="Signaling text 103"/>
          <p:cNvSpPr>
            <a:spLocks noGrp="1"/>
          </p:cNvSpPr>
          <p:nvPr/>
        </p:nvSpPr>
        <p:spPr>
          <a:xfrm>
            <a:off x="704850" y="3667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Practical reality</a:t>
            </a:r>
          </a:p>
        </p:txBody>
      </p:sp>
      <p:sp>
        <p:nvSpPr>
          <p:cNvPr id="104" name="Signaling text 104"/>
          <p:cNvSpPr>
            <a:spLocks noGrp="1"/>
          </p:cNvSpPr>
          <p:nvPr/>
        </p:nvSpPr>
        <p:spPr>
          <a:xfrm>
            <a:off x="4400550" y="3667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Logitech C920 is a USB camera.</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working FFmpeg integration uses V4L2 directly.</a:t>
            </a:r>
          </a:p>
        </p:txBody>
      </p:sp>
      <p:sp>
        <p:nvSpPr>
          <p:cNvPr id="105" name="Signaling text 105"/>
          <p:cNvSpPr>
            <a:spLocks noGrp="1"/>
          </p:cNvSpPr>
          <p:nvPr/>
        </p:nvSpPr>
        <p:spPr>
          <a:xfrm>
            <a:off x="704850" y="4810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Working capture path</a:t>
            </a:r>
          </a:p>
        </p:txBody>
      </p:sp>
      <p:sp>
        <p:nvSpPr>
          <p:cNvPr id="106" name="Signaling text 106"/>
          <p:cNvSpPr>
            <a:spLocks noGrp="1"/>
          </p:cNvSpPr>
          <p:nvPr/>
        </p:nvSpPr>
        <p:spPr>
          <a:xfrm>
            <a:off x="4400550" y="4810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opens the V4L2 device and captures MJPEG</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for H.264 encoding and WebRTC delivery.</a:t>
            </a:r>
          </a:p>
        </p:txBody>
      </p:sp>
    </p:spTree>
    <p:extLst>
      <p:ext uri="{BB962C8B-B14F-4D97-AF65-F5344CB8AC3E}">
        <p14:creationId xmlns:p14="http://schemas.microsoft.com/office/powerpoint/2010/main" val="16650202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BF4B398B-D2F2-44F9-9653-791D1E3F393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574917A8-5FF5-4E83-92E1-5E4E159DBA5E}"/>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Ffmpeg Shared</a:t>
            </a:r>
          </a:p>
        </p:txBody>
      </p:sp>
      <p:sp>
        <p:nvSpPr>
          <p:cNvPr id="3" name="Rectángulo 2">
            <a:extLst>
              <a:ext uri="{FF2B5EF4-FFF2-40B4-BE49-F238E27FC236}">
                <a16:creationId xmlns:a16="http://schemas.microsoft.com/office/drawing/2014/main" id="{149D3802-1E8A-434F-8786-63DB326ADD3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2953A9CE-3F8A-4A0E-8AEF-66CF9EF1E1D4}"/>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sz="1125" b="1">
                <a:solidFill>
                  <a:srgbClr val="6F686D"/>
                </a:solidFill>
                <a:latin typeface="Arial"/>
                <a:ea typeface="Arial"/>
                <a:cs typeface="Arial"/>
              </a:rPr>
              <a:t>19</a:t>
            </a: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Direct integration tied the .NET application to compatible native FFmpeg libraries.</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First implementation</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SIPSorceryMedia.FFmpeg handled camera capture</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encoding inside the .NET process.</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Encoded-sample callbacks</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application received encoded video samples directly</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through in-process callbacks.</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Version compatibility</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8.1 native libraries had to match</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FFmpeg.AutoGen bindings.</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Raspberry Pi deployment</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Deployment required a compatible shared-library build</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beyond the older distribution packages.</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Native library versions became a deployment constraint.</a:t>
            </a:r>
          </a:p>
        </p:txBody>
      </p:sp>
    </p:spTree>
    <p:extLst>
      <p:ext uri="{BB962C8B-B14F-4D97-AF65-F5344CB8AC3E}">
        <p14:creationId xmlns:p14="http://schemas.microsoft.com/office/powerpoint/2010/main" val="16650202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089B90E-ACA5-498C-9C61-9EC31C49FB4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67B26396-97DA-41A0-8BC2-C1EF15713831}"/>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Solution: Ffmpeg RTP</a:t>
            </a:r>
          </a:p>
        </p:txBody>
      </p:sp>
      <p:sp>
        <p:nvSpPr>
          <p:cNvPr id="3" name="Rectángulo 2">
            <a:extLst>
              <a:ext uri="{FF2B5EF4-FFF2-40B4-BE49-F238E27FC236}">
                <a16:creationId xmlns:a16="http://schemas.microsoft.com/office/drawing/2014/main" id="{75FD5AC4-56AB-4483-9F6F-C4310F11A576}"/>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8A376B6-3A7D-48FD-B289-4590AF58435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sz="1125" b="1">
                <a:solidFill>
                  <a:srgbClr val="6F686D"/>
                </a:solidFill>
                <a:latin typeface="Arial"/>
                <a:ea typeface="Arial"/>
                <a:cs typeface="Arial"/>
              </a:rPr>
              <a:t>20</a:t>
            </a: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A supervised FFmpeg executable sends encoded H.264 over local RTP.</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Separate process</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captures and encodes the camera stream.</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.NET starts and supervises the executable.</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Local RTP transport</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sends RTP over IPv6 loopback.</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.NET receiver rebuilds H.264 access units.</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WebRTC delivery</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SIPSorcery repacketizes the encoded video</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sends it to the browser through WebRTC / SRTP.</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Deployment benefit</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executable replaces shared-library bindings.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can restart while the local receiver stays active.</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Software H.264 encoding still consumes CPU on the Raspberry Pi.</a:t>
            </a:r>
          </a:p>
        </p:txBody>
      </p:sp>
    </p:spTree>
    <p:extLst>
      <p:ext uri="{BB962C8B-B14F-4D97-AF65-F5344CB8AC3E}">
        <p14:creationId xmlns:p14="http://schemas.microsoft.com/office/powerpoint/2010/main" val="16650202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9" name="Rectángulo 28">
            <a:extLst>
              <a:ext uri="{FF2B5EF4-FFF2-40B4-BE49-F238E27FC236}">
                <a16:creationId xmlns:a16="http://schemas.microsoft.com/office/drawing/2014/main" id="{0ECD5326-2450-4739-A2EE-1A2A328B90A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2D968B80-D6BF-49C1-8427-32A4E665ADF1}"/>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Solution: </a:t>
            </a:r>
            <a:r>
              <a:rPr sz="3375" b="1" dirty="0">
                <a:solidFill>
                  <a:srgbClr val="171417"/>
                </a:solidFill>
                <a:latin typeface="Arial"/>
                <a:ea typeface="Arial"/>
                <a:cs typeface="Arial"/>
              </a:rPr>
              <a:t>Final Media Pipeline</a:t>
            </a:r>
          </a:p>
        </p:txBody>
      </p:sp>
      <p:sp>
        <p:nvSpPr>
          <p:cNvPr id="3" name="Rectángulo 2">
            <a:extLst>
              <a:ext uri="{FF2B5EF4-FFF2-40B4-BE49-F238E27FC236}">
                <a16:creationId xmlns:a16="http://schemas.microsoft.com/office/drawing/2014/main" id="{F27B061F-AB14-40E8-A6C0-3C5217807C4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2106B2F-43F0-4B04-86B0-06AE762C1B7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21</a:t>
            </a:r>
          </a:p>
        </p:txBody>
      </p:sp>
      <p:sp>
        <p:nvSpPr>
          <p:cNvPr id="5" name="Rectángulo 4">
            <a:extLst>
              <a:ext uri="{FF2B5EF4-FFF2-40B4-BE49-F238E27FC236}">
                <a16:creationId xmlns:a16="http://schemas.microsoft.com/office/drawing/2014/main" id="{B17A412F-A074-4183-8A13-A1EED2DD6682}"/>
              </a:ext>
            </a:extLst>
          </p:cNvPr>
          <p:cNvSpPr>
            <a:spLocks noGrp="1"/>
          </p:cNvSpPr>
          <p:nvPr/>
        </p:nvSpPr>
        <p:spPr>
          <a:xfrm>
            <a:off x="609600" y="1524000"/>
            <a:ext cx="50673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FFMPEG PROCESS</a:t>
            </a:r>
          </a:p>
        </p:txBody>
      </p:sp>
      <p:sp>
        <p:nvSpPr>
          <p:cNvPr id="6" name="Rectángulo 5">
            <a:extLst>
              <a:ext uri="{FF2B5EF4-FFF2-40B4-BE49-F238E27FC236}">
                <a16:creationId xmlns:a16="http://schemas.microsoft.com/office/drawing/2014/main" id="{2354CCDB-7F8A-4B74-B1AD-5C4FD027E4BD}"/>
              </a:ext>
            </a:extLst>
          </p:cNvPr>
          <p:cNvSpPr>
            <a:spLocks noGrp="1"/>
          </p:cNvSpPr>
          <p:nvPr/>
        </p:nvSpPr>
        <p:spPr>
          <a:xfrm>
            <a:off x="6629400" y="1524000"/>
            <a:ext cx="4953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.NET + SIPSORCERY</a:t>
            </a:r>
          </a:p>
        </p:txBody>
      </p:sp>
      <p:sp>
        <p:nvSpPr>
          <p:cNvPr id="7" name="Rectángulo: esquinas redondeadas 6">
            <a:extLst>
              <a:ext uri="{FF2B5EF4-FFF2-40B4-BE49-F238E27FC236}">
                <a16:creationId xmlns:a16="http://schemas.microsoft.com/office/drawing/2014/main" id="{3696A4E2-33E9-47F6-80BF-111FA1B25591}"/>
              </a:ext>
            </a:extLst>
          </p:cNvPr>
          <p:cNvSpPr>
            <a:spLocks noGrp="1"/>
          </p:cNvSpPr>
          <p:nvPr/>
        </p:nvSpPr>
        <p:spPr>
          <a:xfrm>
            <a:off x="533400" y="1828800"/>
            <a:ext cx="5334000" cy="3086100"/>
          </a:xfrm>
          <a:prstGeom prst="roundRect">
            <a:avLst>
              <a:gd name="adj" fmla="val 4321"/>
            </a:avLst>
          </a:prstGeom>
          <a:solidFill>
            <a:srgbClr val="F5EDF2"/>
          </a:solidFill>
          <a:ln w="9525">
            <a:solidFill>
              <a:srgbClr val="EAD8E3"/>
            </a:solidFill>
            <a:prstDash val="solid"/>
          </a:ln>
        </p:spPr>
        <p:txBody>
          <a:bodyPr/>
          <a:lstStyle/>
          <a:p>
            <a:endParaRPr/>
          </a:p>
        </p:txBody>
      </p:sp>
      <p:sp>
        <p:nvSpPr>
          <p:cNvPr id="8" name="Rectángulo: esquinas redondeadas 7">
            <a:extLst>
              <a:ext uri="{FF2B5EF4-FFF2-40B4-BE49-F238E27FC236}">
                <a16:creationId xmlns:a16="http://schemas.microsoft.com/office/drawing/2014/main" id="{D2E17B21-6A39-4CEF-9A54-F56E1D1197B4}"/>
              </a:ext>
            </a:extLst>
          </p:cNvPr>
          <p:cNvSpPr>
            <a:spLocks noGrp="1"/>
          </p:cNvSpPr>
          <p:nvPr/>
        </p:nvSpPr>
        <p:spPr>
          <a:xfrm>
            <a:off x="6324600" y="1828800"/>
            <a:ext cx="5334000" cy="3086100"/>
          </a:xfrm>
          <a:prstGeom prst="roundRect">
            <a:avLst>
              <a:gd name="adj" fmla="val 4321"/>
            </a:avLst>
          </a:prstGeom>
          <a:solidFill>
            <a:srgbClr val="FFFFFF"/>
          </a:solidFill>
          <a:ln w="9525">
            <a:solidFill>
              <a:srgbClr val="E7E3E5"/>
            </a:solidFill>
            <a:prstDash val="solid"/>
          </a:ln>
        </p:spPr>
        <p:txBody>
          <a:bodyPr/>
          <a:lstStyle/>
          <a:p>
            <a:endParaRPr/>
          </a:p>
        </p:txBody>
      </p:sp>
      <p:sp>
        <p:nvSpPr>
          <p:cNvPr id="9" name="Rectángulo: esquinas redondeadas 8">
            <a:extLst>
              <a:ext uri="{FF2B5EF4-FFF2-40B4-BE49-F238E27FC236}">
                <a16:creationId xmlns:a16="http://schemas.microsoft.com/office/drawing/2014/main" id="{4A2D8395-6680-47BB-BE24-529E5C6C7A93}"/>
              </a:ext>
            </a:extLst>
          </p:cNvPr>
          <p:cNvSpPr>
            <a:spLocks noGrp="1"/>
          </p:cNvSpPr>
          <p:nvPr/>
        </p:nvSpPr>
        <p:spPr>
          <a:xfrm>
            <a:off x="742950" y="2133600"/>
            <a:ext cx="148590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Logitech C920</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MJPEG</a:t>
            </a:r>
          </a:p>
        </p:txBody>
      </p:sp>
      <p:sp>
        <p:nvSpPr>
          <p:cNvPr id="10" name="Rectángulo: esquinas redondeadas 9">
            <a:extLst>
              <a:ext uri="{FF2B5EF4-FFF2-40B4-BE49-F238E27FC236}">
                <a16:creationId xmlns:a16="http://schemas.microsoft.com/office/drawing/2014/main" id="{D7E21FA1-FAD2-49EE-816B-4B0AC3657793}"/>
              </a:ext>
            </a:extLst>
          </p:cNvPr>
          <p:cNvSpPr>
            <a:spLocks noGrp="1"/>
          </p:cNvSpPr>
          <p:nvPr/>
        </p:nvSpPr>
        <p:spPr>
          <a:xfrm>
            <a:off x="2457450" y="2133600"/>
            <a:ext cx="123825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V4L2</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capture</a:t>
            </a:r>
          </a:p>
        </p:txBody>
      </p:sp>
      <p:sp>
        <p:nvSpPr>
          <p:cNvPr id="11" name="Rectángulo: esquinas redondeadas 10">
            <a:extLst>
              <a:ext uri="{FF2B5EF4-FFF2-40B4-BE49-F238E27FC236}">
                <a16:creationId xmlns:a16="http://schemas.microsoft.com/office/drawing/2014/main" id="{2AC41AA0-C425-4F05-9CB3-3BE3099D930C}"/>
              </a:ext>
            </a:extLst>
          </p:cNvPr>
          <p:cNvSpPr>
            <a:spLocks noGrp="1"/>
          </p:cNvSpPr>
          <p:nvPr/>
        </p:nvSpPr>
        <p:spPr>
          <a:xfrm>
            <a:off x="3924300" y="2133600"/>
            <a:ext cx="140970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MJPEG</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decode</a:t>
            </a:r>
          </a:p>
        </p:txBody>
      </p:sp>
      <p:sp>
        <p:nvSpPr>
          <p:cNvPr id="12" name="Rectángulo: esquinas redondeadas 11">
            <a:extLst>
              <a:ext uri="{FF2B5EF4-FFF2-40B4-BE49-F238E27FC236}">
                <a16:creationId xmlns:a16="http://schemas.microsoft.com/office/drawing/2014/main" id="{EF7C1E94-19D1-4F4C-AB96-1E40B906D077}"/>
              </a:ext>
            </a:extLst>
          </p:cNvPr>
          <p:cNvSpPr>
            <a:spLocks noGrp="1"/>
          </p:cNvSpPr>
          <p:nvPr/>
        </p:nvSpPr>
        <p:spPr>
          <a:xfrm>
            <a:off x="1771650" y="3600450"/>
            <a:ext cx="171450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libx264</a:t>
            </a:r>
          </a:p>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H.264 baseline</a:t>
            </a:r>
          </a:p>
        </p:txBody>
      </p:sp>
      <p:sp>
        <p:nvSpPr>
          <p:cNvPr id="13" name="Rectángulo: esquinas redondeadas 12">
            <a:extLst>
              <a:ext uri="{FF2B5EF4-FFF2-40B4-BE49-F238E27FC236}">
                <a16:creationId xmlns:a16="http://schemas.microsoft.com/office/drawing/2014/main" id="{FB975FB7-7ED8-49D8-A219-9B35B9DE37BB}"/>
              </a:ext>
            </a:extLst>
          </p:cNvPr>
          <p:cNvSpPr>
            <a:spLocks noGrp="1"/>
          </p:cNvSpPr>
          <p:nvPr/>
        </p:nvSpPr>
        <p:spPr>
          <a:xfrm>
            <a:off x="3848100" y="3600450"/>
            <a:ext cx="169545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RTP over</a:t>
            </a:r>
          </a:p>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IPv6 loopback</a:t>
            </a:r>
          </a:p>
        </p:txBody>
      </p:sp>
      <p:sp>
        <p:nvSpPr>
          <p:cNvPr id="14" name="Rectángulo: esquinas redondeadas 13">
            <a:extLst>
              <a:ext uri="{FF2B5EF4-FFF2-40B4-BE49-F238E27FC236}">
                <a16:creationId xmlns:a16="http://schemas.microsoft.com/office/drawing/2014/main" id="{9709D48E-A11F-40FC-BAB8-2F0C5F72B6D5}"/>
              </a:ext>
            </a:extLst>
          </p:cNvPr>
          <p:cNvSpPr>
            <a:spLocks noGrp="1"/>
          </p:cNvSpPr>
          <p:nvPr/>
        </p:nvSpPr>
        <p:spPr>
          <a:xfrm>
            <a:off x="6553200" y="2133600"/>
            <a:ext cx="1809750" cy="723900"/>
          </a:xfrm>
          <a:prstGeom prst="roundRect">
            <a:avLst>
              <a:gd name="adj" fmla="val 18421"/>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RTP parse +</a:t>
            </a:r>
          </a:p>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H.264 depacketize</a:t>
            </a:r>
          </a:p>
        </p:txBody>
      </p:sp>
      <p:sp>
        <p:nvSpPr>
          <p:cNvPr id="15" name="Rectángulo: esquinas redondeadas 14">
            <a:extLst>
              <a:ext uri="{FF2B5EF4-FFF2-40B4-BE49-F238E27FC236}">
                <a16:creationId xmlns:a16="http://schemas.microsoft.com/office/drawing/2014/main" id="{6237FE39-45FA-4C84-AEDC-0563340BBD36}"/>
              </a:ext>
            </a:extLst>
          </p:cNvPr>
          <p:cNvSpPr>
            <a:spLocks noGrp="1"/>
          </p:cNvSpPr>
          <p:nvPr/>
        </p:nvSpPr>
        <p:spPr>
          <a:xfrm>
            <a:off x="8591550" y="2133600"/>
            <a:ext cx="1333500" cy="723900"/>
          </a:xfrm>
          <a:prstGeom prst="roundRect">
            <a:avLst>
              <a:gd name="adj" fmla="val 18421"/>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Annex-B +</a:t>
            </a:r>
          </a:p>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SPS / PPS</a:t>
            </a:r>
          </a:p>
        </p:txBody>
      </p:sp>
      <p:sp>
        <p:nvSpPr>
          <p:cNvPr id="16" name="Rectángulo: esquinas redondeadas 15">
            <a:extLst>
              <a:ext uri="{FF2B5EF4-FFF2-40B4-BE49-F238E27FC236}">
                <a16:creationId xmlns:a16="http://schemas.microsoft.com/office/drawing/2014/main" id="{AE622FEA-D9E1-4E19-8B0E-B0E35B4483C9}"/>
              </a:ext>
            </a:extLst>
          </p:cNvPr>
          <p:cNvSpPr>
            <a:spLocks noGrp="1"/>
          </p:cNvSpPr>
          <p:nvPr/>
        </p:nvSpPr>
        <p:spPr>
          <a:xfrm>
            <a:off x="10153650" y="2133600"/>
            <a:ext cx="1295400" cy="723900"/>
          </a:xfrm>
          <a:prstGeom prst="roundRect">
            <a:avLst>
              <a:gd name="adj" fmla="val 18421"/>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SIPSorcery</a:t>
            </a:r>
          </a:p>
          <a:p>
            <a:pPr algn="ctr">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WebRTC / SRTP</a:t>
            </a:r>
          </a:p>
        </p:txBody>
      </p:sp>
      <p:sp>
        <p:nvSpPr>
          <p:cNvPr id="17" name="Rectángulo: esquinas redondeadas 16">
            <a:extLst>
              <a:ext uri="{FF2B5EF4-FFF2-40B4-BE49-F238E27FC236}">
                <a16:creationId xmlns:a16="http://schemas.microsoft.com/office/drawing/2014/main" id="{14481480-5560-45B6-A169-F3F0473CDC89}"/>
              </a:ext>
            </a:extLst>
          </p:cNvPr>
          <p:cNvSpPr>
            <a:spLocks noGrp="1"/>
          </p:cNvSpPr>
          <p:nvPr/>
        </p:nvSpPr>
        <p:spPr>
          <a:xfrm>
            <a:off x="8248650" y="3771900"/>
            <a:ext cx="1619250" cy="723900"/>
          </a:xfrm>
          <a:prstGeom prst="roundRect">
            <a:avLst>
              <a:gd name="adj" fmla="val 18421"/>
            </a:avLst>
          </a:prstGeom>
          <a:solidFill>
            <a:srgbClr val="171417"/>
          </a:solidFill>
          <a:ln w="0">
            <a:noFill/>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Browser</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playback</a:t>
            </a:r>
          </a:p>
        </p:txBody>
      </p:sp>
      <p:cxnSp>
        <p:nvCxnSpPr>
          <p:cNvPr id="46" name="Conector recto de flecha 45"/>
          <p:cNvCxnSpPr>
            <a:stCxn id="9" idx="3"/>
            <a:endCxn id="10" idx="1"/>
          </p:cNvCxnSpPr>
          <p:nvPr/>
        </p:nvCxnSpPr>
        <p:spPr>
          <a:xfrm>
            <a:off x="2228850" y="2495550"/>
            <a:ext cx="228600" cy="0"/>
          </a:xfrm>
          <a:prstGeom prst="straightConnector1">
            <a:avLst/>
          </a:prstGeom>
          <a:ln w="19050">
            <a:solidFill>
              <a:srgbClr val="A69FA3"/>
            </a:solidFill>
            <a:prstDash val="solid"/>
            <a:tailEnd type="triangle" w="sm" len="sm"/>
          </a:ln>
        </p:spPr>
      </p:cxnSp>
      <p:cxnSp>
        <p:nvCxnSpPr>
          <p:cNvPr id="47" name="Conector recto de flecha 46"/>
          <p:cNvCxnSpPr>
            <a:stCxn id="10" idx="3"/>
            <a:endCxn id="11" idx="1"/>
          </p:cNvCxnSpPr>
          <p:nvPr/>
        </p:nvCxnSpPr>
        <p:spPr>
          <a:xfrm>
            <a:off x="3695700" y="2495550"/>
            <a:ext cx="228600" cy="0"/>
          </a:xfrm>
          <a:prstGeom prst="straightConnector1">
            <a:avLst/>
          </a:prstGeom>
          <a:ln w="19050">
            <a:solidFill>
              <a:srgbClr val="A69FA3"/>
            </a:solidFill>
            <a:prstDash val="solid"/>
            <a:tailEnd type="triangle" w="sm" len="sm"/>
          </a:ln>
        </p:spPr>
      </p:cxnSp>
      <p:cxnSp>
        <p:nvCxnSpPr>
          <p:cNvPr id="48" name="Conector: angular 47"/>
          <p:cNvCxnSpPr>
            <a:stCxn id="11" idx="2"/>
            <a:endCxn id="12" idx="0"/>
          </p:cNvCxnSpPr>
          <p:nvPr/>
        </p:nvCxnSpPr>
        <p:spPr>
          <a:xfrm flipH="1">
            <a:off x="2628900" y="2857500"/>
            <a:ext cx="2000250" cy="742950"/>
          </a:xfrm>
          <a:prstGeom prst="bentConnector4">
            <a:avLst>
              <a:gd name="adj1" fmla="val 0"/>
              <a:gd name="adj2" fmla="val 50000"/>
            </a:avLst>
          </a:prstGeom>
          <a:ln w="19050">
            <a:solidFill>
              <a:srgbClr val="830051"/>
            </a:solidFill>
            <a:prstDash val="solid"/>
            <a:tailEnd type="triangle" w="sm" len="sm"/>
          </a:ln>
        </p:spPr>
      </p:cxnSp>
      <p:cxnSp>
        <p:nvCxnSpPr>
          <p:cNvPr id="49" name="Conector recto de flecha 48"/>
          <p:cNvCxnSpPr>
            <a:stCxn id="12" idx="3"/>
            <a:endCxn id="13" idx="1"/>
          </p:cNvCxnSpPr>
          <p:nvPr/>
        </p:nvCxnSpPr>
        <p:spPr>
          <a:xfrm>
            <a:off x="3486150" y="4000500"/>
            <a:ext cx="361950" cy="0"/>
          </a:xfrm>
          <a:prstGeom prst="straightConnector1">
            <a:avLst/>
          </a:prstGeom>
          <a:ln w="19050">
            <a:solidFill>
              <a:srgbClr val="830051"/>
            </a:solidFill>
            <a:prstDash val="solid"/>
            <a:tailEnd type="triangle" w="sm" len="sm"/>
          </a:ln>
        </p:spPr>
      </p:cxnSp>
      <p:cxnSp>
        <p:nvCxnSpPr>
          <p:cNvPr id="50" name="Conector: angular 49"/>
          <p:cNvCxnSpPr>
            <a:stCxn id="13" idx="3"/>
            <a:endCxn id="14" idx="1"/>
          </p:cNvCxnSpPr>
          <p:nvPr/>
        </p:nvCxnSpPr>
        <p:spPr>
          <a:xfrm flipV="1">
            <a:off x="5543550" y="2495550"/>
            <a:ext cx="1009650" cy="1504950"/>
          </a:xfrm>
          <a:prstGeom prst="bentConnector3">
            <a:avLst>
              <a:gd name="adj1" fmla="val 50000"/>
            </a:avLst>
          </a:prstGeom>
          <a:ln w="19050">
            <a:solidFill>
              <a:srgbClr val="830051"/>
            </a:solidFill>
            <a:prstDash val="solid"/>
            <a:tailEnd type="triangle" w="sm" len="sm"/>
          </a:ln>
        </p:spPr>
      </p:cxnSp>
      <p:cxnSp>
        <p:nvCxnSpPr>
          <p:cNvPr id="51" name="Conector recto de flecha 50"/>
          <p:cNvCxnSpPr>
            <a:stCxn id="14" idx="3"/>
            <a:endCxn id="15" idx="1"/>
          </p:cNvCxnSpPr>
          <p:nvPr/>
        </p:nvCxnSpPr>
        <p:spPr>
          <a:xfrm>
            <a:off x="8362950" y="2495550"/>
            <a:ext cx="228600" cy="0"/>
          </a:xfrm>
          <a:prstGeom prst="straightConnector1">
            <a:avLst/>
          </a:prstGeom>
          <a:ln w="19050">
            <a:solidFill>
              <a:srgbClr val="A69FA3"/>
            </a:solidFill>
            <a:prstDash val="solid"/>
            <a:tailEnd type="triangle" w="sm" len="sm"/>
          </a:ln>
        </p:spPr>
      </p:cxnSp>
      <p:cxnSp>
        <p:nvCxnSpPr>
          <p:cNvPr id="52" name="Conector recto de flecha 51"/>
          <p:cNvCxnSpPr>
            <a:stCxn id="15" idx="3"/>
            <a:endCxn id="16" idx="1"/>
          </p:cNvCxnSpPr>
          <p:nvPr/>
        </p:nvCxnSpPr>
        <p:spPr>
          <a:xfrm>
            <a:off x="9925050" y="2495550"/>
            <a:ext cx="228600" cy="0"/>
          </a:xfrm>
          <a:prstGeom prst="straightConnector1">
            <a:avLst/>
          </a:prstGeom>
          <a:ln w="19050">
            <a:solidFill>
              <a:srgbClr val="830051"/>
            </a:solidFill>
            <a:prstDash val="solid"/>
            <a:tailEnd type="triangle" w="sm" len="sm"/>
          </a:ln>
        </p:spPr>
      </p:cxnSp>
      <p:cxnSp>
        <p:nvCxnSpPr>
          <p:cNvPr id="53" name="Conector: angular 52"/>
          <p:cNvCxnSpPr>
            <a:stCxn id="16" idx="2"/>
            <a:endCxn id="17" idx="0"/>
          </p:cNvCxnSpPr>
          <p:nvPr/>
        </p:nvCxnSpPr>
        <p:spPr>
          <a:xfrm flipH="1">
            <a:off x="9058275" y="2857500"/>
            <a:ext cx="1743075" cy="914400"/>
          </a:xfrm>
          <a:prstGeom prst="bentConnector4">
            <a:avLst>
              <a:gd name="adj1" fmla="val 0"/>
              <a:gd name="adj2" fmla="val 50000"/>
            </a:avLst>
          </a:prstGeom>
          <a:ln w="19050">
            <a:solidFill>
              <a:srgbClr val="830051"/>
            </a:solidFill>
            <a:prstDash val="solid"/>
            <a:tailEnd type="triangle" w="sm" len="sm"/>
          </a:ln>
        </p:spPr>
      </p:cxnSp>
      <p:sp>
        <p:nvSpPr>
          <p:cNvPr id="26" name="Rectángulo 25">
            <a:extLst>
              <a:ext uri="{FF2B5EF4-FFF2-40B4-BE49-F238E27FC236}">
                <a16:creationId xmlns:a16="http://schemas.microsoft.com/office/drawing/2014/main" id="{AA4EF036-9819-4BFF-A4A9-7AB32023C977}"/>
              </a:ext>
            </a:extLst>
          </p:cNvPr>
          <p:cNvSpPr>
            <a:spLocks noGrp="1"/>
          </p:cNvSpPr>
          <p:nvPr/>
        </p:nvSpPr>
        <p:spPr>
          <a:xfrm>
            <a:off x="895350" y="5257800"/>
            <a:ext cx="10401300" cy="3429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1280×720 at 30 fps, 1.5 Mb/s, superfast, zerolatency, no B-frames</a:t>
            </a:r>
          </a:p>
        </p:txBody>
      </p:sp>
      <p:sp>
        <p:nvSpPr>
          <p:cNvPr id="27" name="Rectángulo: esquinas redondeadas 26">
            <a:extLst>
              <a:ext uri="{FF2B5EF4-FFF2-40B4-BE49-F238E27FC236}">
                <a16:creationId xmlns:a16="http://schemas.microsoft.com/office/drawing/2014/main" id="{E4358D2B-A134-460B-8959-1ED6F464BA20}"/>
              </a:ext>
            </a:extLst>
          </p:cNvPr>
          <p:cNvSpPr>
            <a:spLocks noGrp="1"/>
          </p:cNvSpPr>
          <p:nvPr/>
        </p:nvSpPr>
        <p:spPr>
          <a:xfrm>
            <a:off x="1047750" y="5715000"/>
            <a:ext cx="10096500" cy="495300"/>
          </a:xfrm>
          <a:prstGeom prst="roundRect">
            <a:avLst>
              <a:gd name="adj" fmla="val 15385"/>
            </a:avLst>
          </a:prstGeom>
          <a:solidFill>
            <a:srgbClr val="F5EDF2"/>
          </a:solidFill>
          <a:ln w="0">
            <a:noFill/>
          </a:ln>
        </p:spPr>
        <p:txBody>
          <a:bodyPr/>
          <a:lstStyle/>
          <a:p>
            <a:endParaRPr/>
          </a:p>
        </p:txBody>
      </p:sp>
      <p:sp>
        <p:nvSpPr>
          <p:cNvPr id="28" name="Rectángulo 27">
            <a:extLst>
              <a:ext uri="{FF2B5EF4-FFF2-40B4-BE49-F238E27FC236}">
                <a16:creationId xmlns:a16="http://schemas.microsoft.com/office/drawing/2014/main" id="{7F92B5DC-E02E-4C16-AA7F-42DB24B57681}"/>
              </a:ext>
            </a:extLst>
          </p:cNvPr>
          <p:cNvSpPr>
            <a:spLocks noGrp="1"/>
          </p:cNvSpPr>
          <p:nvPr/>
        </p:nvSpPr>
        <p:spPr>
          <a:xfrm>
            <a:off x="1257300" y="5838825"/>
            <a:ext cx="9677400" cy="2667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FFmpeg captures and encodes; SIPSorcery owns the secure WebRTC peer connection.</a:t>
            </a:r>
          </a:p>
        </p:txBody>
      </p:sp>
    </p:spTree>
    <p:extLst>
      <p:ext uri="{BB962C8B-B14F-4D97-AF65-F5344CB8AC3E}">
        <p14:creationId xmlns:p14="http://schemas.microsoft.com/office/powerpoint/2010/main" val="3256903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38CF84AB-E7BF-42AB-9B17-484BFD79FB8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D6AB8FAF-4F5C-46A2-9C20-522410343538}"/>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Problem: CPU Encoding</a:t>
            </a:r>
          </a:p>
        </p:txBody>
      </p:sp>
      <p:sp>
        <p:nvSpPr>
          <p:cNvPr id="3" name="Rectángulo 2">
            <a:extLst>
              <a:ext uri="{FF2B5EF4-FFF2-40B4-BE49-F238E27FC236}">
                <a16:creationId xmlns:a16="http://schemas.microsoft.com/office/drawing/2014/main" id="{C1E9DB93-08FB-4491-9144-AAC159944FD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D7086B4B-20CF-4621-98BD-BD03F46B1D3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22</a:t>
            </a:r>
          </a:p>
        </p:txBody>
      </p:sp>
      <p:sp>
        <p:nvSpPr>
          <p:cNvPr id="5" name="Rectángulo: esquinas redondeadas 4">
            <a:extLst>
              <a:ext uri="{FF2B5EF4-FFF2-40B4-BE49-F238E27FC236}">
                <a16:creationId xmlns:a16="http://schemas.microsoft.com/office/drawing/2014/main" id="{0BA58F7F-F4BB-4073-A4E8-FDE909046CA3}"/>
              </a:ext>
            </a:extLst>
          </p:cNvPr>
          <p:cNvSpPr>
            <a:spLocks noGrp="1"/>
          </p:cNvSpPr>
          <p:nvPr/>
        </p:nvSpPr>
        <p:spPr>
          <a:xfrm>
            <a:off x="7696200" y="1600200"/>
            <a:ext cx="3752850" cy="3200400"/>
          </a:xfrm>
          <a:prstGeom prst="roundRect">
            <a:avLst>
              <a:gd name="adj" fmla="val 2976"/>
            </a:avLst>
          </a:prstGeom>
          <a:solidFill>
            <a:srgbClr val="FFFFFF"/>
          </a:solidFill>
          <a:ln w="9525">
            <a:solidFill>
              <a:srgbClr val="E7E3E5"/>
            </a:solidFill>
            <a:prstDash val="solid"/>
          </a:ln>
        </p:spPr>
        <p:txBody>
          <a:bodyPr/>
          <a:lstStyle/>
          <a:p>
            <a:endParaRPr/>
          </a:p>
        </p:txBody>
      </p:sp>
      <p:pic>
        <p:nvPicPr>
          <p:cNvPr id="26" name="Imagen 25"/>
          <p:cNvPicPr>
            <a:picLocks noChangeAspect="1"/>
          </p:cNvPicPr>
          <p:nvPr/>
        </p:nvPicPr>
        <p:blipFill>
          <a:blip r:embed="rId3"/>
          <a:stretch/>
        </p:blipFill>
        <p:spPr>
          <a:xfrm>
            <a:off x="7715250" y="1790652"/>
            <a:ext cx="3714750" cy="2819495"/>
          </a:xfrm>
          <a:prstGeom prst="roundRect">
            <a:avLst/>
          </a:prstGeom>
        </p:spPr>
      </p:pic>
      <p:sp>
        <p:nvSpPr>
          <p:cNvPr id="17" name="Rectángulo: esquinas redondeadas 16">
            <a:extLst>
              <a:ext uri="{FF2B5EF4-FFF2-40B4-BE49-F238E27FC236}">
                <a16:creationId xmlns:a16="http://schemas.microsoft.com/office/drawing/2014/main" id="{15F56F71-0190-450A-B06D-B1F915365E3C}"/>
              </a:ext>
            </a:extLst>
          </p:cNvPr>
          <p:cNvSpPr>
            <a:spLocks noGrp="1"/>
          </p:cNvSpPr>
          <p:nvPr/>
        </p:nvSpPr>
        <p:spPr>
          <a:xfrm>
            <a:off x="685800" y="5048250"/>
            <a:ext cx="10744200" cy="990600"/>
          </a:xfrm>
          <a:prstGeom prst="roundRect">
            <a:avLst>
              <a:gd name="adj" fmla="val 13462"/>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12878158-841C-4652-9FDE-20E28EE0FEDC}"/>
              </a:ext>
            </a:extLst>
          </p:cNvPr>
          <p:cNvSpPr>
            <a:spLocks noGrp="1"/>
          </p:cNvSpPr>
          <p:nvPr/>
        </p:nvSpPr>
        <p:spPr>
          <a:xfrm>
            <a:off x="933450" y="5257800"/>
            <a:ext cx="24384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CPU ENCODING COST</a:t>
            </a:r>
          </a:p>
        </p:txBody>
      </p:sp>
      <p:sp>
        <p:nvSpPr>
          <p:cNvPr id="19" name="Rectángulo 18">
            <a:extLst>
              <a:ext uri="{FF2B5EF4-FFF2-40B4-BE49-F238E27FC236}">
                <a16:creationId xmlns:a16="http://schemas.microsoft.com/office/drawing/2014/main" id="{765BCFBD-AA24-4F08-9B9A-B06822027F0E}"/>
              </a:ext>
            </a:extLst>
          </p:cNvPr>
          <p:cNvSpPr>
            <a:spLocks noGrp="1"/>
          </p:cNvSpPr>
          <p:nvPr/>
        </p:nvSpPr>
        <p:spPr>
          <a:xfrm>
            <a:off x="3238500" y="5200650"/>
            <a:ext cx="7715250" cy="361950"/>
          </a:xfrm>
          <a:prstGeom prst="rect">
            <a:avLst/>
          </a:prstGeom>
          <a:noFill/>
          <a:ln w="0">
            <a:noFill/>
          </a:ln>
        </p:spPr>
        <p:txBody>
          <a:bodyPr wrap="square" lIns="0" tIns="0" rIns="0" bIns="0" anchor="t">
            <a:noAutofit/>
          </a:bodyPr>
          <a:lstStyle/>
          <a:p>
            <a:pPr algn="ctr">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More CPU load, heat and encoding latency</a:t>
            </a:r>
          </a:p>
        </p:txBody>
      </p:sp>
      <p:sp>
        <p:nvSpPr>
          <p:cNvPr id="20" name="Rectángulo 19">
            <a:extLst>
              <a:ext uri="{FF2B5EF4-FFF2-40B4-BE49-F238E27FC236}">
                <a16:creationId xmlns:a16="http://schemas.microsoft.com/office/drawing/2014/main" id="{96888A22-376B-4F4B-A893-DDDB3AB80AE3}"/>
              </a:ext>
            </a:extLst>
          </p:cNvPr>
          <p:cNvSpPr>
            <a:spLocks noGrp="1"/>
          </p:cNvSpPr>
          <p:nvPr/>
        </p:nvSpPr>
        <p:spPr>
          <a:xfrm>
            <a:off x="3238500" y="5657850"/>
            <a:ext cx="7810500" cy="266700"/>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Low-latency settings reduce buffering, but encoding still runs on the CPU.</a:t>
            </a:r>
          </a:p>
        </p:txBody>
      </p:sp>
      <p:sp>
        <p:nvSpPr>
          <p:cNvPr id="100" name="CPU encoding text 100"/>
          <p:cNvSpPr>
            <a:spLocks noGrp="1"/>
          </p:cNvSpPr>
          <p:nvPr/>
        </p:nvSpPr>
        <p:spPr>
          <a:xfrm>
            <a:off x="685800" y="1714500"/>
            <a:ext cx="6572250" cy="4000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Advertised H.264 support</a:t>
            </a:r>
          </a:p>
        </p:txBody>
      </p:sp>
      <p:sp>
        <p:nvSpPr>
          <p:cNvPr id="101" name="CPU encoding text 101"/>
          <p:cNvSpPr>
            <a:spLocks noGrp="1"/>
          </p:cNvSpPr>
          <p:nvPr/>
        </p:nvSpPr>
        <p:spPr>
          <a:xfrm>
            <a:off x="685800" y="2133600"/>
            <a:ext cx="6591300" cy="809625"/>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Logitech advertised the C920 as H.264-ready.</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Newer revisions removed the in-camera encoder.</a:t>
            </a:r>
          </a:p>
        </p:txBody>
      </p:sp>
      <p:sp>
        <p:nvSpPr>
          <p:cNvPr id="102" name="CPU encoding text 102"/>
          <p:cNvSpPr>
            <a:spLocks noGrp="1"/>
          </p:cNvSpPr>
          <p:nvPr/>
        </p:nvSpPr>
        <p:spPr>
          <a:xfrm>
            <a:off x="685800" y="3276600"/>
            <a:ext cx="6572250" cy="4000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Re-encoding on the Raspberry Pi</a:t>
            </a:r>
          </a:p>
        </p:txBody>
      </p:sp>
      <p:sp>
        <p:nvSpPr>
          <p:cNvPr id="103" name="CPU encoding text 103"/>
          <p:cNvSpPr>
            <a:spLocks noGrp="1"/>
          </p:cNvSpPr>
          <p:nvPr/>
        </p:nvSpPr>
        <p:spPr>
          <a:xfrm>
            <a:off x="685800" y="3695700"/>
            <a:ext cx="6591300" cy="106680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Our camera supplies MJPEG. The Raspberry Pi</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must decode it and re-encode to H.264 using</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FFmpeg/libx264 for our WebRTC stream.</a:t>
            </a:r>
          </a:p>
        </p:txBody>
      </p:sp>
    </p:spTree>
    <p:extLst>
      <p:ext uri="{BB962C8B-B14F-4D97-AF65-F5344CB8AC3E}">
        <p14:creationId xmlns:p14="http://schemas.microsoft.com/office/powerpoint/2010/main" val="17179426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8DFDA8C8-F355-49B1-9AC6-3CA960EDE9D0}"/>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788E2A48-4511-40E4-BD5C-38FF131858A1}"/>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Electrical Input to the Raspberry Pi</a:t>
            </a:r>
          </a:p>
        </p:txBody>
      </p:sp>
      <p:sp>
        <p:nvSpPr>
          <p:cNvPr id="3" name="Rectángulo 2">
            <a:extLst>
              <a:ext uri="{FF2B5EF4-FFF2-40B4-BE49-F238E27FC236}">
                <a16:creationId xmlns:a16="http://schemas.microsoft.com/office/drawing/2014/main" id="{D9569A0E-4967-4B24-A732-C70FA494F69D}"/>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80A0514-0159-455A-A39C-90E3356C6E5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24</a:t>
            </a:r>
          </a:p>
        </p:txBody>
      </p:sp>
      <p:sp>
        <p:nvSpPr>
          <p:cNvPr id="5" name="Rectángulo 4">
            <a:extLst>
              <a:ext uri="{FF2B5EF4-FFF2-40B4-BE49-F238E27FC236}">
                <a16:creationId xmlns:a16="http://schemas.microsoft.com/office/drawing/2014/main" id="{E444671C-A169-498D-A9BB-BC187D5339B3}"/>
              </a:ext>
            </a:extLst>
          </p:cNvPr>
          <p:cNvSpPr>
            <a:spLocks noGrp="1"/>
          </p:cNvSpPr>
          <p:nvPr/>
        </p:nvSpPr>
        <p:spPr>
          <a:xfrm>
            <a:off x="685800" y="1619250"/>
            <a:ext cx="43243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AUTHOR-REPORTED OBSERVATION</a:t>
            </a:r>
          </a:p>
        </p:txBody>
      </p:sp>
      <p:sp>
        <p:nvSpPr>
          <p:cNvPr id="6" name="Rectángulo: esquinas redondeadas 5">
            <a:extLst>
              <a:ext uri="{FF2B5EF4-FFF2-40B4-BE49-F238E27FC236}">
                <a16:creationId xmlns:a16="http://schemas.microsoft.com/office/drawing/2014/main" id="{B46558CF-A41C-4FC3-B83F-37623E7E03A3}"/>
              </a:ext>
            </a:extLst>
          </p:cNvPr>
          <p:cNvSpPr>
            <a:spLocks noGrp="1"/>
          </p:cNvSpPr>
          <p:nvPr/>
        </p:nvSpPr>
        <p:spPr>
          <a:xfrm>
            <a:off x="723900" y="2171700"/>
            <a:ext cx="2095500"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Motor demands</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high current</a:t>
            </a:r>
          </a:p>
        </p:txBody>
      </p:sp>
      <p:sp>
        <p:nvSpPr>
          <p:cNvPr id="7" name="Rectángulo: esquinas redondeadas 6">
            <a:extLst>
              <a:ext uri="{FF2B5EF4-FFF2-40B4-BE49-F238E27FC236}">
                <a16:creationId xmlns:a16="http://schemas.microsoft.com/office/drawing/2014/main" id="{B03EA668-B313-4191-8786-5388D2B4D9C2}"/>
              </a:ext>
            </a:extLst>
          </p:cNvPr>
          <p:cNvSpPr>
            <a:spLocks noGrp="1"/>
          </p:cNvSpPr>
          <p:nvPr/>
        </p:nvSpPr>
        <p:spPr>
          <a:xfrm>
            <a:off x="3390900" y="2171700"/>
            <a:ext cx="2095500" cy="952500"/>
          </a:xfrm>
          <a:prstGeom prst="roundRect">
            <a:avLst>
              <a:gd name="adj" fmla="val 14000"/>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Supply voltage</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dips</a:t>
            </a:r>
          </a:p>
        </p:txBody>
      </p:sp>
      <p:sp>
        <p:nvSpPr>
          <p:cNvPr id="8" name="Rectángulo: esquinas redondeadas 7">
            <a:extLst>
              <a:ext uri="{FF2B5EF4-FFF2-40B4-BE49-F238E27FC236}">
                <a16:creationId xmlns:a16="http://schemas.microsoft.com/office/drawing/2014/main" id="{388E0C5D-A3B6-4E89-9F14-9685AEFF96AF}"/>
              </a:ext>
            </a:extLst>
          </p:cNvPr>
          <p:cNvSpPr>
            <a:spLocks noGrp="1"/>
          </p:cNvSpPr>
          <p:nvPr/>
        </p:nvSpPr>
        <p:spPr>
          <a:xfrm>
            <a:off x="6057900" y="2171700"/>
            <a:ext cx="2286000" cy="952500"/>
          </a:xfrm>
          <a:prstGeom prst="roundRect">
            <a:avLst>
              <a:gd name="adj" fmla="val 14000"/>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Raspberry Pi</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disconnects briefly</a:t>
            </a:r>
          </a:p>
        </p:txBody>
      </p:sp>
      <p:cxnSp>
        <p:nvCxnSpPr>
          <p:cNvPr id="28" name="Conector recto de flecha 27"/>
          <p:cNvCxnSpPr>
            <a:stCxn id="6" idx="3"/>
            <a:endCxn id="7" idx="1"/>
          </p:cNvCxnSpPr>
          <p:nvPr/>
        </p:nvCxnSpPr>
        <p:spPr>
          <a:xfrm>
            <a:off x="2819400" y="2647950"/>
            <a:ext cx="57150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5486400" y="2647950"/>
            <a:ext cx="571500" cy="0"/>
          </a:xfrm>
          <a:prstGeom prst="straightConnector1">
            <a:avLst/>
          </a:prstGeom>
          <a:ln w="19050">
            <a:solidFill>
              <a:srgbClr val="830051"/>
            </a:solidFill>
            <a:prstDash val="solid"/>
            <a:tailEnd type="triangle" w="sm" len="sm"/>
          </a:ln>
        </p:spPr>
      </p:cxnSp>
      <p:sp>
        <p:nvSpPr>
          <p:cNvPr id="11" name="Rectángulo: esquinas redondeadas 10">
            <a:extLst>
              <a:ext uri="{FF2B5EF4-FFF2-40B4-BE49-F238E27FC236}">
                <a16:creationId xmlns:a16="http://schemas.microsoft.com/office/drawing/2014/main" id="{80615159-F99D-4C5D-BC31-A0C79C2DA635}"/>
              </a:ext>
            </a:extLst>
          </p:cNvPr>
          <p:cNvSpPr>
            <a:spLocks noGrp="1"/>
          </p:cNvSpPr>
          <p:nvPr/>
        </p:nvSpPr>
        <p:spPr>
          <a:xfrm>
            <a:off x="8839200" y="1676400"/>
            <a:ext cx="2419350" cy="2419350"/>
          </a:xfrm>
          <a:prstGeom prst="roundRect">
            <a:avLst>
              <a:gd name="adj" fmla="val 3937"/>
            </a:avLst>
          </a:prstGeom>
          <a:solidFill>
            <a:srgbClr val="FFFFFF"/>
          </a:solidFill>
          <a:ln w="9525">
            <a:solidFill>
              <a:srgbClr val="E7E3E5"/>
            </a:solidFill>
            <a:prstDash val="solid"/>
          </a:ln>
        </p:spPr>
        <p:txBody>
          <a:bodyPr/>
          <a:lstStyle/>
          <a:p>
            <a:endParaRPr/>
          </a:p>
        </p:txBody>
      </p:sp>
      <p:pic>
        <p:nvPicPr>
          <p:cNvPr id="31" name="Imagen 30"/>
          <p:cNvPicPr>
            <a:picLocks noChangeAspect="1"/>
          </p:cNvPicPr>
          <p:nvPr/>
        </p:nvPicPr>
        <p:blipFill>
          <a:blip r:embed="rId3"/>
          <a:stretch/>
        </p:blipFill>
        <p:spPr>
          <a:xfrm>
            <a:off x="8858250" y="1732657"/>
            <a:ext cx="2381250" cy="2306836"/>
          </a:xfrm>
          <a:prstGeom prst="roundRect">
            <a:avLst/>
          </a:prstGeom>
        </p:spPr>
      </p:pic>
      <p:sp>
        <p:nvSpPr>
          <p:cNvPr id="13" name="Rectángulo 12">
            <a:extLst>
              <a:ext uri="{FF2B5EF4-FFF2-40B4-BE49-F238E27FC236}">
                <a16:creationId xmlns:a16="http://schemas.microsoft.com/office/drawing/2014/main" id="{4B2B28BD-763C-4D8D-B9F1-426C94348056}"/>
              </a:ext>
            </a:extLst>
          </p:cNvPr>
          <p:cNvSpPr>
            <a:spLocks noGrp="1"/>
          </p:cNvSpPr>
          <p:nvPr/>
        </p:nvSpPr>
        <p:spPr>
          <a:xfrm>
            <a:off x="9010650" y="4171950"/>
            <a:ext cx="2076450" cy="266700"/>
          </a:xfrm>
          <a:prstGeom prst="rect">
            <a:avLst/>
          </a:prstGeom>
          <a:noFill/>
          <a:ln w="0">
            <a:noFill/>
          </a:ln>
        </p:spPr>
        <p:txBody>
          <a:bodyPr wrap="square" lIns="0" tIns="0" rIns="0" bIns="0" anchor="t">
            <a:noAutofit/>
          </a:bodyPr>
          <a:lstStyle/>
          <a:p>
            <a:pPr algn="ctr">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NiMH supply</a:t>
            </a:r>
          </a:p>
        </p:txBody>
      </p:sp>
      <p:sp>
        <p:nvSpPr>
          <p:cNvPr id="14" name="Rectángulo: esquinas redondeadas 13">
            <a:extLst>
              <a:ext uri="{FF2B5EF4-FFF2-40B4-BE49-F238E27FC236}">
                <a16:creationId xmlns:a16="http://schemas.microsoft.com/office/drawing/2014/main" id="{9C86A77B-6CBD-42B6-B034-7241FD91FCB1}"/>
              </a:ext>
            </a:extLst>
          </p:cNvPr>
          <p:cNvSpPr>
            <a:spLocks noGrp="1"/>
          </p:cNvSpPr>
          <p:nvPr/>
        </p:nvSpPr>
        <p:spPr>
          <a:xfrm>
            <a:off x="685800" y="4686300"/>
            <a:ext cx="10553700" cy="1257300"/>
          </a:xfrm>
          <a:prstGeom prst="roundRect">
            <a:avLst>
              <a:gd name="adj" fmla="val 9091"/>
            </a:avLst>
          </a:prstGeom>
          <a:solidFill>
            <a:srgbClr val="FFFFFF"/>
          </a:solidFill>
          <a:ln w="9525">
            <a:solidFill>
              <a:srgbClr val="E7E3E5"/>
            </a:solidFill>
            <a:prstDash val="solid"/>
          </a:ln>
        </p:spPr>
        <p:txBody>
          <a:bodyPr/>
          <a:lstStyle/>
          <a:p>
            <a:endParaRPr/>
          </a:p>
        </p:txBody>
      </p:sp>
      <p:sp>
        <p:nvSpPr>
          <p:cNvPr id="15" name="Rectángulo 14">
            <a:extLst>
              <a:ext uri="{FF2B5EF4-FFF2-40B4-BE49-F238E27FC236}">
                <a16:creationId xmlns:a16="http://schemas.microsoft.com/office/drawing/2014/main" id="{5C589F36-6A91-4E78-9359-363836C58CF6}"/>
              </a:ext>
            </a:extLst>
          </p:cNvPr>
          <p:cNvSpPr>
            <a:spLocks noGrp="1"/>
          </p:cNvSpPr>
          <p:nvPr/>
        </p:nvSpPr>
        <p:spPr>
          <a:xfrm>
            <a:off x="933450" y="4914900"/>
            <a:ext cx="27241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PROTECTED POWER DESIGN</a:t>
            </a:r>
          </a:p>
        </p:txBody>
      </p:sp>
      <p:sp>
        <p:nvSpPr>
          <p:cNvPr id="16" name="Rectángulo 15">
            <a:extLst>
              <a:ext uri="{FF2B5EF4-FFF2-40B4-BE49-F238E27FC236}">
                <a16:creationId xmlns:a16="http://schemas.microsoft.com/office/drawing/2014/main" id="{24E2CF15-F669-45E1-9F2E-27B878F5CA14}"/>
              </a:ext>
            </a:extLst>
          </p:cNvPr>
          <p:cNvSpPr>
            <a:spLocks noGrp="1"/>
          </p:cNvSpPr>
          <p:nvPr/>
        </p:nvSpPr>
        <p:spPr>
          <a:xfrm>
            <a:off x="3790950" y="4857750"/>
            <a:ext cx="2000250" cy="32385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Separate fused branch</a:t>
            </a:r>
          </a:p>
        </p:txBody>
      </p:sp>
      <p:sp>
        <p:nvSpPr>
          <p:cNvPr id="17" name="Rectángulo 16">
            <a:extLst>
              <a:ext uri="{FF2B5EF4-FFF2-40B4-BE49-F238E27FC236}">
                <a16:creationId xmlns:a16="http://schemas.microsoft.com/office/drawing/2014/main" id="{51F073C2-6AB0-4618-A236-6B8B38B3DE7B}"/>
              </a:ext>
            </a:extLst>
          </p:cNvPr>
          <p:cNvSpPr>
            <a:spLocks noGrp="1"/>
          </p:cNvSpPr>
          <p:nvPr/>
        </p:nvSpPr>
        <p:spPr>
          <a:xfrm>
            <a:off x="5943600" y="4857750"/>
            <a:ext cx="2457450" cy="5715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DC-DC regulation + decoupling</a:t>
            </a:r>
          </a:p>
        </p:txBody>
      </p:sp>
      <p:sp>
        <p:nvSpPr>
          <p:cNvPr id="18" name="Rectángulo 17">
            <a:extLst>
              <a:ext uri="{FF2B5EF4-FFF2-40B4-BE49-F238E27FC236}">
                <a16:creationId xmlns:a16="http://schemas.microsoft.com/office/drawing/2014/main" id="{2AE9619B-1060-4933-8B7C-8002B1D95397}"/>
              </a:ext>
            </a:extLst>
          </p:cNvPr>
          <p:cNvSpPr>
            <a:spLocks noGrp="1"/>
          </p:cNvSpPr>
          <p:nvPr/>
        </p:nvSpPr>
        <p:spPr>
          <a:xfrm>
            <a:off x="8572500" y="4857750"/>
            <a:ext cx="2381250" cy="5715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Transient suppression + grounding</a:t>
            </a:r>
          </a:p>
        </p:txBody>
      </p:sp>
      <p:sp>
        <p:nvSpPr>
          <p:cNvPr id="19" name="Rectángulo 18">
            <a:extLst>
              <a:ext uri="{FF2B5EF4-FFF2-40B4-BE49-F238E27FC236}">
                <a16:creationId xmlns:a16="http://schemas.microsoft.com/office/drawing/2014/main" id="{B1ED62EE-685E-45B9-B710-D3157B114E08}"/>
              </a:ext>
            </a:extLst>
          </p:cNvPr>
          <p:cNvSpPr>
            <a:spLocks noGrp="1"/>
          </p:cNvSpPr>
          <p:nvPr/>
        </p:nvSpPr>
        <p:spPr>
          <a:xfrm>
            <a:off x="3162300" y="5543550"/>
            <a:ext cx="7620000" cy="247650"/>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Add brownout monitoring and verify worst-case motor-stall current before field tests.</a:t>
            </a:r>
          </a:p>
        </p:txBody>
      </p:sp>
    </p:spTree>
    <p:extLst>
      <p:ext uri="{BB962C8B-B14F-4D97-AF65-F5344CB8AC3E}">
        <p14:creationId xmlns:p14="http://schemas.microsoft.com/office/powerpoint/2010/main" val="9515104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BDF14BC3-DD77-4479-BEB8-1555D52A990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FA3B72B3-2732-4C99-BBAE-6DD749B62F0C}"/>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Prototype Result and Limitations</a:t>
            </a:r>
          </a:p>
        </p:txBody>
      </p:sp>
      <p:sp>
        <p:nvSpPr>
          <p:cNvPr id="3" name="Rectángulo 2">
            <a:extLst>
              <a:ext uri="{FF2B5EF4-FFF2-40B4-BE49-F238E27FC236}">
                <a16:creationId xmlns:a16="http://schemas.microsoft.com/office/drawing/2014/main" id="{5AFEAC81-86EB-4746-941D-A908E6B5A741}"/>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01499673-964C-4F40-8080-D33A9389511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25</a:t>
            </a:r>
          </a:p>
        </p:txBody>
      </p:sp>
      <p:sp>
        <p:nvSpPr>
          <p:cNvPr id="5" name="Rectángulo 4">
            <a:extLst>
              <a:ext uri="{FF2B5EF4-FFF2-40B4-BE49-F238E27FC236}">
                <a16:creationId xmlns:a16="http://schemas.microsoft.com/office/drawing/2014/main" id="{7F803295-5083-4F2D-8418-B368819B6683}"/>
              </a:ext>
            </a:extLst>
          </p:cNvPr>
          <p:cNvSpPr>
            <a:spLocks noGrp="1"/>
          </p:cNvSpPr>
          <p:nvPr/>
        </p:nvSpPr>
        <p:spPr>
          <a:xfrm>
            <a:off x="666750" y="1771650"/>
            <a:ext cx="3238500" cy="952500"/>
          </a:xfrm>
          <a:prstGeom prst="rect">
            <a:avLst/>
          </a:prstGeom>
          <a:noFill/>
          <a:ln w="0">
            <a:noFill/>
          </a:ln>
        </p:spPr>
        <p:txBody>
          <a:bodyPr wrap="square" lIns="0" tIns="0" rIns="0" bIns="0" anchor="t">
            <a:noAutofit/>
          </a:bodyPr>
          <a:lstStyle/>
          <a:p>
            <a:pPr algn="l">
              <a:lnSpc>
                <a:spcPct val="104000"/>
              </a:lnSpc>
              <a:buNone/>
              <a:defRPr sz="6450" b="1">
                <a:solidFill>
                  <a:srgbClr val="830051"/>
                </a:solidFill>
                <a:latin typeface="Arial"/>
                <a:ea typeface="Arial"/>
                <a:cs typeface="Arial"/>
              </a:defRPr>
            </a:pPr>
            <a:r>
              <a:rPr sz="6450" b="1">
                <a:solidFill>
                  <a:srgbClr val="830051"/>
                </a:solidFill>
                <a:latin typeface="Arial"/>
                <a:ea typeface="Arial"/>
                <a:cs typeface="Arial"/>
              </a:rPr>
              <a:t>340 ms</a:t>
            </a:r>
          </a:p>
        </p:txBody>
      </p:sp>
      <p:sp>
        <p:nvSpPr>
          <p:cNvPr id="6" name="Rectángulo 5">
            <a:extLst>
              <a:ext uri="{FF2B5EF4-FFF2-40B4-BE49-F238E27FC236}">
                <a16:creationId xmlns:a16="http://schemas.microsoft.com/office/drawing/2014/main" id="{038A73A8-B5CF-455C-ABBF-48B5F1EA2825}"/>
              </a:ext>
            </a:extLst>
          </p:cNvPr>
          <p:cNvSpPr>
            <a:spLocks noGrp="1"/>
          </p:cNvSpPr>
          <p:nvPr/>
        </p:nvSpPr>
        <p:spPr>
          <a:xfrm>
            <a:off x="723900" y="2800350"/>
            <a:ext cx="3048000" cy="266700"/>
          </a:xfrm>
          <a:prstGeom prst="rect">
            <a:avLst/>
          </a:prstGeom>
          <a:noFill/>
          <a:ln w="0">
            <a:noFill/>
          </a:ln>
        </p:spPr>
        <p:txBody>
          <a:bodyPr wrap="square" lIns="0" tIns="0" rIns="0" bIns="0" anchor="t">
            <a:noAutofit/>
          </a:bodyPr>
          <a:lstStyle/>
          <a:p>
            <a:pPr algn="l">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ONE OBSERVATION</a:t>
            </a:r>
          </a:p>
        </p:txBody>
      </p:sp>
      <p:sp>
        <p:nvSpPr>
          <p:cNvPr id="7" name="Rectángulo 6">
            <a:extLst>
              <a:ext uri="{FF2B5EF4-FFF2-40B4-BE49-F238E27FC236}">
                <a16:creationId xmlns:a16="http://schemas.microsoft.com/office/drawing/2014/main" id="{D7E5E204-0883-42B0-942D-7ECDB9CC6E4F}"/>
              </a:ext>
            </a:extLst>
          </p:cNvPr>
          <p:cNvSpPr>
            <a:spLocks noGrp="1"/>
          </p:cNvSpPr>
          <p:nvPr/>
        </p:nvSpPr>
        <p:spPr>
          <a:xfrm>
            <a:off x="723900" y="3257550"/>
            <a:ext cx="3238500" cy="857250"/>
          </a:xfrm>
          <a:prstGeom prst="rect">
            <a:avLst/>
          </a:prstGeom>
          <a:noFill/>
          <a:ln w="0">
            <a:noFill/>
          </a:ln>
        </p:spPr>
        <p:txBody>
          <a:bodyPr wrap="square" lIns="0" tIns="0" rIns="0" bIns="0" anchor="t">
            <a:noAutofit/>
          </a:bodyPr>
          <a:lstStyle/>
          <a:p>
            <a:pPr algn="l">
              <a:lnSpc>
                <a:spcPct val="108000"/>
              </a:lnSpc>
              <a:buNone/>
              <a:defRPr sz="1950" b="1">
                <a:solidFill>
                  <a:srgbClr val="171417"/>
                </a:solidFill>
                <a:latin typeface="Arial"/>
                <a:ea typeface="Arial"/>
                <a:cs typeface="Arial"/>
              </a:defRPr>
            </a:pPr>
            <a:r>
              <a:rPr sz="1950" b="1">
                <a:solidFill>
                  <a:srgbClr val="171417"/>
                </a:solidFill>
                <a:latin typeface="Arial"/>
                <a:ea typeface="Arial"/>
                <a:cs typeface="Arial"/>
              </a:rPr>
              <a:t>Glass-to-glass under the tested 4G configuration</a:t>
            </a:r>
          </a:p>
        </p:txBody>
      </p:sp>
      <p:sp>
        <p:nvSpPr>
          <p:cNvPr id="8" name="Rectángulo: esquinas redondeadas 7">
            <a:extLst>
              <a:ext uri="{FF2B5EF4-FFF2-40B4-BE49-F238E27FC236}">
                <a16:creationId xmlns:a16="http://schemas.microsoft.com/office/drawing/2014/main" id="{EC0FAFD9-DA1B-406A-AA08-3750FCA608ED}"/>
              </a:ext>
            </a:extLst>
          </p:cNvPr>
          <p:cNvSpPr>
            <a:spLocks noGrp="1"/>
          </p:cNvSpPr>
          <p:nvPr/>
        </p:nvSpPr>
        <p:spPr>
          <a:xfrm>
            <a:off x="723900" y="4438650"/>
            <a:ext cx="3143250" cy="1066800"/>
          </a:xfrm>
          <a:prstGeom prst="roundRect">
            <a:avLst>
              <a:gd name="adj" fmla="val 10714"/>
            </a:avLst>
          </a:prstGeom>
          <a:solidFill>
            <a:srgbClr val="F5EDF2"/>
          </a:solidFill>
          <a:ln w="0">
            <a:noFill/>
          </a:ln>
        </p:spPr>
        <p:txBody>
          <a:bodyPr/>
          <a:lstStyle/>
          <a:p>
            <a:endParaRPr/>
          </a:p>
        </p:txBody>
      </p:sp>
      <p:sp>
        <p:nvSpPr>
          <p:cNvPr id="9" name="Rectángulo 8">
            <a:extLst>
              <a:ext uri="{FF2B5EF4-FFF2-40B4-BE49-F238E27FC236}">
                <a16:creationId xmlns:a16="http://schemas.microsoft.com/office/drawing/2014/main" id="{7CB33469-7907-471C-A565-FB32BCC3C79E}"/>
              </a:ext>
            </a:extLst>
          </p:cNvPr>
          <p:cNvSpPr>
            <a:spLocks noGrp="1"/>
          </p:cNvSpPr>
          <p:nvPr/>
        </p:nvSpPr>
        <p:spPr>
          <a:xfrm>
            <a:off x="914400" y="4629150"/>
            <a:ext cx="85725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TARGET</a:t>
            </a:r>
          </a:p>
        </p:txBody>
      </p:sp>
      <p:sp>
        <p:nvSpPr>
          <p:cNvPr id="10" name="Rectángulo 9">
            <a:extLst>
              <a:ext uri="{FF2B5EF4-FFF2-40B4-BE49-F238E27FC236}">
                <a16:creationId xmlns:a16="http://schemas.microsoft.com/office/drawing/2014/main" id="{FD7E4280-321B-477B-9255-A2D557BBB31E}"/>
              </a:ext>
            </a:extLst>
          </p:cNvPr>
          <p:cNvSpPr>
            <a:spLocks noGrp="1"/>
          </p:cNvSpPr>
          <p:nvPr/>
        </p:nvSpPr>
        <p:spPr>
          <a:xfrm>
            <a:off x="914400" y="4933950"/>
            <a:ext cx="2571750" cy="400050"/>
          </a:xfrm>
          <a:prstGeom prst="rect">
            <a:avLst/>
          </a:prstGeom>
          <a:noFill/>
          <a:ln w="0">
            <a:noFill/>
          </a:ln>
        </p:spPr>
        <p:txBody>
          <a:bodyPr wrap="square" lIns="0" tIns="0" rIns="0" bIns="0" anchor="t">
            <a:noAutofit/>
          </a:bodyPr>
          <a:lstStyle/>
          <a:p>
            <a:pPr algn="l">
              <a:lnSpc>
                <a:spcPct val="104000"/>
              </a:lnSpc>
              <a:buNone/>
              <a:defRPr sz="2550" b="1">
                <a:solidFill>
                  <a:srgbClr val="510034"/>
                </a:solidFill>
                <a:latin typeface="Arial"/>
                <a:ea typeface="Arial"/>
                <a:cs typeface="Arial"/>
              </a:defRPr>
            </a:pPr>
            <a:r>
              <a:rPr sz="2550" b="1">
                <a:solidFill>
                  <a:srgbClr val="510034"/>
                </a:solidFill>
                <a:latin typeface="Arial"/>
                <a:ea typeface="Arial"/>
                <a:cs typeface="Arial"/>
              </a:rPr>
              <a:t>&lt; 400 ms</a:t>
            </a:r>
          </a:p>
        </p:txBody>
      </p:sp>
      <p:sp>
        <p:nvSpPr>
          <p:cNvPr id="11" name="Rectángulo: esquinas redondeadas 10">
            <a:extLst>
              <a:ext uri="{FF2B5EF4-FFF2-40B4-BE49-F238E27FC236}">
                <a16:creationId xmlns:a16="http://schemas.microsoft.com/office/drawing/2014/main" id="{9DD67A95-20C0-4D9F-B091-9A725668D3CA}"/>
              </a:ext>
            </a:extLst>
          </p:cNvPr>
          <p:cNvSpPr>
            <a:spLocks noGrp="1"/>
          </p:cNvSpPr>
          <p:nvPr/>
        </p:nvSpPr>
        <p:spPr>
          <a:xfrm>
            <a:off x="4324350" y="1543050"/>
            <a:ext cx="7124700" cy="4476750"/>
          </a:xfrm>
          <a:prstGeom prst="roundRect">
            <a:avLst>
              <a:gd name="adj" fmla="val 2128"/>
            </a:avLst>
          </a:prstGeom>
          <a:solidFill>
            <a:srgbClr val="FFFFFF"/>
          </a:solidFill>
          <a:ln w="9525">
            <a:solidFill>
              <a:srgbClr val="E7E3E5"/>
            </a:solidFill>
            <a:prstDash val="solid"/>
          </a:ln>
        </p:spPr>
        <p:txBody>
          <a:bodyPr/>
          <a:lstStyle/>
          <a:p>
            <a:endParaRPr/>
          </a:p>
        </p:txBody>
      </p:sp>
      <p:pic>
        <p:nvPicPr>
          <p:cNvPr id="26" name="Imagen 25"/>
          <p:cNvPicPr>
            <a:picLocks noChangeAspect="1"/>
          </p:cNvPicPr>
          <p:nvPr/>
        </p:nvPicPr>
        <p:blipFill>
          <a:blip r:embed="rId3"/>
          <a:stretch/>
        </p:blipFill>
        <p:spPr>
          <a:xfrm>
            <a:off x="4345224" y="1562100"/>
            <a:ext cx="7082952" cy="4438650"/>
          </a:xfrm>
          <a:prstGeom prst="roundRect">
            <a:avLst/>
          </a:prstGeom>
        </p:spPr>
      </p:pic>
      <p:sp>
        <p:nvSpPr>
          <p:cNvPr id="13" name="Rectángulo: esquinas redondeadas 12">
            <a:extLst>
              <a:ext uri="{FF2B5EF4-FFF2-40B4-BE49-F238E27FC236}">
                <a16:creationId xmlns:a16="http://schemas.microsoft.com/office/drawing/2014/main" id="{18F8B6EE-08B4-4D03-849A-571D74844027}"/>
              </a:ext>
            </a:extLst>
          </p:cNvPr>
          <p:cNvSpPr>
            <a:spLocks noGrp="1"/>
          </p:cNvSpPr>
          <p:nvPr/>
        </p:nvSpPr>
        <p:spPr>
          <a:xfrm>
            <a:off x="5314950" y="5762625"/>
            <a:ext cx="5181600" cy="209550"/>
          </a:xfrm>
          <a:prstGeom prst="roundRect">
            <a:avLst>
              <a:gd name="adj" fmla="val 27273"/>
            </a:avLst>
          </a:prstGeom>
          <a:solidFill>
            <a:srgbClr val="830051"/>
          </a:solidFill>
          <a:ln w="0">
            <a:noFill/>
          </a:ln>
        </p:spPr>
        <p:txBody>
          <a:bodyPr wrap="square" lIns="47625" tIns="28575" rIns="47625" bIns="28575" anchor="ctr">
            <a:noAutofit/>
          </a:bodyPr>
          <a:lstStyle/>
          <a:p>
            <a:pPr algn="ctr">
              <a:lnSpc>
                <a:spcPct val="104000"/>
              </a:lnSpc>
              <a:buNone/>
              <a:defRPr sz="1275" b="1">
                <a:solidFill>
                  <a:srgbClr val="FFFFFF"/>
                </a:solidFill>
                <a:latin typeface="Arial"/>
                <a:ea typeface="Arial"/>
                <a:cs typeface="Arial"/>
              </a:defRPr>
            </a:pPr>
            <a:r>
              <a:rPr sz="1275" b="1">
                <a:solidFill>
                  <a:srgbClr val="FFFFFF"/>
                </a:solidFill>
                <a:latin typeface="Arial"/>
                <a:ea typeface="Arial"/>
                <a:cs typeface="Arial"/>
              </a:rPr>
              <a:t>1788024617068 − 1788024616728 = 340 ms</a:t>
            </a:r>
          </a:p>
        </p:txBody>
      </p:sp>
      <p:sp>
        <p:nvSpPr>
          <p:cNvPr id="14" name="Rectángulo 13">
            <a:extLst>
              <a:ext uri="{FF2B5EF4-FFF2-40B4-BE49-F238E27FC236}">
                <a16:creationId xmlns:a16="http://schemas.microsoft.com/office/drawing/2014/main" id="{0D311266-5698-4FF5-8A33-B42F04387995}"/>
              </a:ext>
            </a:extLst>
          </p:cNvPr>
          <p:cNvSpPr>
            <a:spLocks noGrp="1"/>
          </p:cNvSpPr>
          <p:nvPr/>
        </p:nvSpPr>
        <p:spPr>
          <a:xfrm>
            <a:off x="1276350" y="6153150"/>
            <a:ext cx="9639300" cy="2667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Evidence of feasibility, not a statistical guarantee or completed 5G validation</a:t>
            </a:r>
          </a:p>
        </p:txBody>
      </p:sp>
    </p:spTree>
    <p:extLst>
      <p:ext uri="{BB962C8B-B14F-4D97-AF65-F5344CB8AC3E}">
        <p14:creationId xmlns:p14="http://schemas.microsoft.com/office/powerpoint/2010/main" val="11654244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2A5BA53C-F909-4AD8-A391-6503A27E6BC7}"/>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5A8AC8F6-E6F0-47CE-B6A6-475C02F1DC9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Complete Remote Control</a:t>
            </a:r>
          </a:p>
        </p:txBody>
      </p:sp>
      <p:sp>
        <p:nvSpPr>
          <p:cNvPr id="3" name="Rectángulo 2">
            <a:extLst>
              <a:ext uri="{FF2B5EF4-FFF2-40B4-BE49-F238E27FC236}">
                <a16:creationId xmlns:a16="http://schemas.microsoft.com/office/drawing/2014/main" id="{269A8988-0230-4FE0-97B5-22EFA4EFF5FE}"/>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8B9759A-3422-4424-9246-114E9DE0FE03}"/>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26</a:t>
            </a:r>
          </a:p>
        </p:txBody>
      </p:sp>
      <p:sp>
        <p:nvSpPr>
          <p:cNvPr id="5" name="Rectángulo: esquinas redondeadas 4">
            <a:extLst>
              <a:ext uri="{FF2B5EF4-FFF2-40B4-BE49-F238E27FC236}">
                <a16:creationId xmlns:a16="http://schemas.microsoft.com/office/drawing/2014/main" id="{18AA099A-B0E1-47C0-812E-8884E48A2DF6}"/>
              </a:ext>
            </a:extLst>
          </p:cNvPr>
          <p:cNvSpPr>
            <a:spLocks noGrp="1"/>
          </p:cNvSpPr>
          <p:nvPr/>
        </p:nvSpPr>
        <p:spPr>
          <a:xfrm>
            <a:off x="6648450" y="1600200"/>
            <a:ext cx="4800600" cy="2705100"/>
          </a:xfrm>
          <a:prstGeom prst="roundRect">
            <a:avLst>
              <a:gd name="adj" fmla="val 3521"/>
            </a:avLst>
          </a:prstGeom>
          <a:solidFill>
            <a:srgbClr val="FFFFFF"/>
          </a:solidFill>
          <a:ln w="9525">
            <a:solidFill>
              <a:srgbClr val="E7E3E5"/>
            </a:solidFill>
            <a:prstDash val="solid"/>
          </a:ln>
        </p:spPr>
        <p:txBody>
          <a:bodyPr/>
          <a:lstStyle/>
          <a:p>
            <a:endParaRPr/>
          </a:p>
        </p:txBody>
      </p:sp>
      <p:pic>
        <p:nvPicPr>
          <p:cNvPr id="24" name="Imagen 23"/>
          <p:cNvPicPr>
            <a:picLocks noChangeAspect="1"/>
          </p:cNvPicPr>
          <p:nvPr/>
        </p:nvPicPr>
        <p:blipFill>
          <a:blip r:embed="rId3"/>
          <a:stretch/>
        </p:blipFill>
        <p:spPr>
          <a:xfrm>
            <a:off x="6667500" y="1750125"/>
            <a:ext cx="4762500" cy="2405249"/>
          </a:xfrm>
          <a:prstGeom prst="roundRect">
            <a:avLst/>
          </a:prstGeom>
        </p:spPr>
      </p:pic>
      <p:sp>
        <p:nvSpPr>
          <p:cNvPr id="7" name="Rectángulo 6">
            <a:extLst>
              <a:ext uri="{FF2B5EF4-FFF2-40B4-BE49-F238E27FC236}">
                <a16:creationId xmlns:a16="http://schemas.microsoft.com/office/drawing/2014/main" id="{63F405B1-2FC1-423D-AC63-A86EE1025B41}"/>
              </a:ext>
            </a:extLst>
          </p:cNvPr>
          <p:cNvSpPr>
            <a:spLocks noGrp="1"/>
          </p:cNvSpPr>
          <p:nvPr/>
        </p:nvSpPr>
        <p:spPr>
          <a:xfrm>
            <a:off x="723900" y="1676400"/>
            <a:ext cx="2667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NEXT PHASE</a:t>
            </a:r>
          </a:p>
        </p:txBody>
      </p:sp>
      <p:sp>
        <p:nvSpPr>
          <p:cNvPr id="8" name="Rectángulo 7">
            <a:extLst>
              <a:ext uri="{FF2B5EF4-FFF2-40B4-BE49-F238E27FC236}">
                <a16:creationId xmlns:a16="http://schemas.microsoft.com/office/drawing/2014/main" id="{16B7B524-D6DF-45D0-AEC0-E3E250E1AE60}"/>
              </a:ext>
            </a:extLst>
          </p:cNvPr>
          <p:cNvSpPr>
            <a:spLocks noGrp="1"/>
          </p:cNvSpPr>
          <p:nvPr/>
        </p:nvSpPr>
        <p:spPr>
          <a:xfrm>
            <a:off x="723900" y="2076450"/>
            <a:ext cx="5334000" cy="800100"/>
          </a:xfrm>
          <a:prstGeom prst="rect">
            <a:avLst/>
          </a:prstGeom>
          <a:noFill/>
          <a:ln w="0">
            <a:noFill/>
          </a:ln>
        </p:spPr>
        <p:txBody>
          <a:bodyPr wrap="square" lIns="0" tIns="0" rIns="0" bIns="0" anchor="t">
            <a:noAutofit/>
          </a:bodyPr>
          <a:lstStyle/>
          <a:p>
            <a:pPr algn="l">
              <a:lnSpc>
                <a:spcPct val="104000"/>
              </a:lnSpc>
              <a:buNone/>
              <a:defRPr sz="2325" b="1">
                <a:solidFill>
                  <a:srgbClr val="171417"/>
                </a:solidFill>
                <a:latin typeface="Arial"/>
                <a:ea typeface="Arial"/>
                <a:cs typeface="Arial"/>
              </a:defRPr>
            </a:pPr>
            <a:r>
              <a:rPr sz="2325" b="1">
                <a:solidFill>
                  <a:srgbClr val="171417"/>
                </a:solidFill>
                <a:latin typeface="Arial"/>
                <a:ea typeface="Arial"/>
                <a:cs typeface="Arial"/>
              </a:rPr>
              <a:t>Add a verified command loop without changing the completed video-scope claim.</a:t>
            </a:r>
          </a:p>
        </p:txBody>
      </p:sp>
      <p:sp>
        <p:nvSpPr>
          <p:cNvPr id="9" name="Rectángulo 8">
            <a:extLst>
              <a:ext uri="{FF2B5EF4-FFF2-40B4-BE49-F238E27FC236}">
                <a16:creationId xmlns:a16="http://schemas.microsoft.com/office/drawing/2014/main" id="{8F10589F-5CB2-4C54-8D7D-5CBE462C97E5}"/>
              </a:ext>
            </a:extLst>
          </p:cNvPr>
          <p:cNvSpPr>
            <a:spLocks noGrp="1"/>
          </p:cNvSpPr>
          <p:nvPr/>
        </p:nvSpPr>
        <p:spPr>
          <a:xfrm>
            <a:off x="72390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INPUT</a:t>
            </a:r>
          </a:p>
        </p:txBody>
      </p:sp>
      <p:sp>
        <p:nvSpPr>
          <p:cNvPr id="10" name="Rectángulo 9">
            <a:extLst>
              <a:ext uri="{FF2B5EF4-FFF2-40B4-BE49-F238E27FC236}">
                <a16:creationId xmlns:a16="http://schemas.microsoft.com/office/drawing/2014/main" id="{2A12775D-0E16-448C-85C0-1E4DE519FA1E}"/>
              </a:ext>
            </a:extLst>
          </p:cNvPr>
          <p:cNvSpPr>
            <a:spLocks noGrp="1"/>
          </p:cNvSpPr>
          <p:nvPr/>
        </p:nvSpPr>
        <p:spPr>
          <a:xfrm>
            <a:off x="72390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periodic gamepad sampling</a:t>
            </a:r>
          </a:p>
        </p:txBody>
      </p:sp>
      <p:sp>
        <p:nvSpPr>
          <p:cNvPr id="11" name="Rectángulo 10">
            <a:extLst>
              <a:ext uri="{FF2B5EF4-FFF2-40B4-BE49-F238E27FC236}">
                <a16:creationId xmlns:a16="http://schemas.microsoft.com/office/drawing/2014/main" id="{DAC05FB1-E8E8-4D43-AFE0-02639CD0A479}"/>
              </a:ext>
            </a:extLst>
          </p:cNvPr>
          <p:cNvSpPr>
            <a:spLocks noGrp="1"/>
          </p:cNvSpPr>
          <p:nvPr/>
        </p:nvSpPr>
        <p:spPr>
          <a:xfrm>
            <a:off x="340995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MESSAGE</a:t>
            </a:r>
          </a:p>
        </p:txBody>
      </p:sp>
      <p:sp>
        <p:nvSpPr>
          <p:cNvPr id="12" name="Rectángulo 11">
            <a:extLst>
              <a:ext uri="{FF2B5EF4-FFF2-40B4-BE49-F238E27FC236}">
                <a16:creationId xmlns:a16="http://schemas.microsoft.com/office/drawing/2014/main" id="{769989DC-A5F5-439B-8CAC-F2D9329D74BE}"/>
              </a:ext>
            </a:extLst>
          </p:cNvPr>
          <p:cNvSpPr>
            <a:spLocks noGrp="1"/>
          </p:cNvSpPr>
          <p:nvPr/>
        </p:nvSpPr>
        <p:spPr>
          <a:xfrm>
            <a:off x="340995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version + sequence + timestamp</a:t>
            </a:r>
          </a:p>
        </p:txBody>
      </p:sp>
      <p:sp>
        <p:nvSpPr>
          <p:cNvPr id="13" name="Rectángulo 12">
            <a:extLst>
              <a:ext uri="{FF2B5EF4-FFF2-40B4-BE49-F238E27FC236}">
                <a16:creationId xmlns:a16="http://schemas.microsoft.com/office/drawing/2014/main" id="{AD4A48D3-8EA5-4358-BAB9-31A9CE5D85F7}"/>
              </a:ext>
            </a:extLst>
          </p:cNvPr>
          <p:cNvSpPr>
            <a:spLocks noGrp="1"/>
          </p:cNvSpPr>
          <p:nvPr/>
        </p:nvSpPr>
        <p:spPr>
          <a:xfrm>
            <a:off x="609600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DEVICE</a:t>
            </a:r>
          </a:p>
        </p:txBody>
      </p:sp>
      <p:sp>
        <p:nvSpPr>
          <p:cNvPr id="14" name="Rectángulo 13">
            <a:extLst>
              <a:ext uri="{FF2B5EF4-FFF2-40B4-BE49-F238E27FC236}">
                <a16:creationId xmlns:a16="http://schemas.microsoft.com/office/drawing/2014/main" id="{790A21E0-2CC8-4592-88B6-1B87324267D7}"/>
              </a:ext>
            </a:extLst>
          </p:cNvPr>
          <p:cNvSpPr>
            <a:spLocks noGrp="1"/>
          </p:cNvSpPr>
          <p:nvPr/>
        </p:nvSpPr>
        <p:spPr>
          <a:xfrm>
            <a:off x="609600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range and staleness checks</a:t>
            </a:r>
          </a:p>
        </p:txBody>
      </p:sp>
      <p:sp>
        <p:nvSpPr>
          <p:cNvPr id="15" name="Rectángulo 14">
            <a:extLst>
              <a:ext uri="{FF2B5EF4-FFF2-40B4-BE49-F238E27FC236}">
                <a16:creationId xmlns:a16="http://schemas.microsoft.com/office/drawing/2014/main" id="{E67459AF-0949-40BD-8CD9-99DFCF8793EB}"/>
              </a:ext>
            </a:extLst>
          </p:cNvPr>
          <p:cNvSpPr>
            <a:spLocks noGrp="1"/>
          </p:cNvSpPr>
          <p:nvPr/>
        </p:nvSpPr>
        <p:spPr>
          <a:xfrm>
            <a:off x="878205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ACTUATION</a:t>
            </a:r>
          </a:p>
        </p:txBody>
      </p:sp>
      <p:sp>
        <p:nvSpPr>
          <p:cNvPr id="16" name="Rectángulo 15">
            <a:extLst>
              <a:ext uri="{FF2B5EF4-FFF2-40B4-BE49-F238E27FC236}">
                <a16:creationId xmlns:a16="http://schemas.microsoft.com/office/drawing/2014/main" id="{00CDD076-8215-4CA0-AFA4-60E3D13728CE}"/>
              </a:ext>
            </a:extLst>
          </p:cNvPr>
          <p:cNvSpPr>
            <a:spLocks noGrp="1"/>
          </p:cNvSpPr>
          <p:nvPr/>
        </p:nvSpPr>
        <p:spPr>
          <a:xfrm>
            <a:off x="878205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steering and throttle PWM</a:t>
            </a:r>
          </a:p>
        </p:txBody>
      </p:sp>
      <p:sp>
        <p:nvSpPr>
          <p:cNvPr id="17" name="Rectángulo: esquinas redondeadas 16">
            <a:extLst>
              <a:ext uri="{FF2B5EF4-FFF2-40B4-BE49-F238E27FC236}">
                <a16:creationId xmlns:a16="http://schemas.microsoft.com/office/drawing/2014/main" id="{A082C0C5-BE6A-454B-8F45-606C0B0B0A62}"/>
              </a:ext>
            </a:extLst>
          </p:cNvPr>
          <p:cNvSpPr>
            <a:spLocks noGrp="1"/>
          </p:cNvSpPr>
          <p:nvPr/>
        </p:nvSpPr>
        <p:spPr>
          <a:xfrm>
            <a:off x="723900" y="5657850"/>
            <a:ext cx="10668000" cy="514350"/>
          </a:xfrm>
          <a:prstGeom prst="roundRect">
            <a:avLst>
              <a:gd name="adj" fmla="val 16667"/>
            </a:avLst>
          </a:prstGeom>
          <a:solidFill>
            <a:srgbClr val="830051"/>
          </a:solidFill>
          <a:ln w="0">
            <a:noFill/>
          </a:ln>
        </p:spPr>
        <p:txBody>
          <a:bodyPr/>
          <a:lstStyle/>
          <a:p>
            <a:endParaRPr/>
          </a:p>
        </p:txBody>
      </p:sp>
      <p:sp>
        <p:nvSpPr>
          <p:cNvPr id="18" name="Rectángulo 17">
            <a:extLst>
              <a:ext uri="{FF2B5EF4-FFF2-40B4-BE49-F238E27FC236}">
                <a16:creationId xmlns:a16="http://schemas.microsoft.com/office/drawing/2014/main" id="{0C2A495B-FD06-4A52-B171-215955188DD5}"/>
              </a:ext>
            </a:extLst>
          </p:cNvPr>
          <p:cNvSpPr>
            <a:spLocks noGrp="1"/>
          </p:cNvSpPr>
          <p:nvPr/>
        </p:nvSpPr>
        <p:spPr>
          <a:xfrm>
            <a:off x="971550" y="5781675"/>
            <a:ext cx="10172700" cy="266700"/>
          </a:xfrm>
          <a:prstGeom prst="rect">
            <a:avLst/>
          </a:prstGeom>
          <a:noFill/>
          <a:ln w="0">
            <a:noFill/>
          </a:ln>
        </p:spPr>
        <p:txBody>
          <a:bodyPr wrap="square" lIns="0" tIns="0" rIns="0" bIns="0" anchor="t">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Fail safe to neutral on timeout, invalid data, channel loss, or emergency stop.</a:t>
            </a:r>
          </a:p>
        </p:txBody>
      </p:sp>
    </p:spTree>
    <p:extLst>
      <p:ext uri="{BB962C8B-B14F-4D97-AF65-F5344CB8AC3E}">
        <p14:creationId xmlns:p14="http://schemas.microsoft.com/office/powerpoint/2010/main" val="4044648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68739AD7-C74B-4A4A-B57E-984CECA09218}"/>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10AC394B-8B02-49A1-92D9-E5274943C81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Hardware and Direct H.264</a:t>
            </a:r>
          </a:p>
        </p:txBody>
      </p:sp>
      <p:sp>
        <p:nvSpPr>
          <p:cNvPr id="3" name="Rectángulo 2">
            <a:extLst>
              <a:ext uri="{FF2B5EF4-FFF2-40B4-BE49-F238E27FC236}">
                <a16:creationId xmlns:a16="http://schemas.microsoft.com/office/drawing/2014/main" id="{F5D7A1B3-95AA-4CCC-88E2-6FAF2E22B2F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4DF064EC-4430-4823-982E-DE76D2E5521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27</a:t>
            </a:r>
          </a:p>
        </p:txBody>
      </p:sp>
      <p:sp>
        <p:nvSpPr>
          <p:cNvPr id="5" name="Rectángulo 4">
            <a:extLst>
              <a:ext uri="{FF2B5EF4-FFF2-40B4-BE49-F238E27FC236}">
                <a16:creationId xmlns:a16="http://schemas.microsoft.com/office/drawing/2014/main" id="{1EC66FED-BA24-4602-8548-13AF5A3FC553}"/>
              </a:ext>
            </a:extLst>
          </p:cNvPr>
          <p:cNvSpPr>
            <a:spLocks noGrp="1"/>
          </p:cNvSpPr>
          <p:nvPr/>
        </p:nvSpPr>
        <p:spPr>
          <a:xfrm>
            <a:off x="704850" y="1676400"/>
            <a:ext cx="15240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CURRENT</a:t>
            </a:r>
          </a:p>
        </p:txBody>
      </p:sp>
      <p:sp>
        <p:nvSpPr>
          <p:cNvPr id="6" name="Rectángulo: esquinas redondeadas 5">
            <a:extLst>
              <a:ext uri="{FF2B5EF4-FFF2-40B4-BE49-F238E27FC236}">
                <a16:creationId xmlns:a16="http://schemas.microsoft.com/office/drawing/2014/main" id="{850A97BB-0899-436F-8845-617DC727CB2E}"/>
              </a:ext>
            </a:extLst>
          </p:cNvPr>
          <p:cNvSpPr>
            <a:spLocks noGrp="1"/>
          </p:cNvSpPr>
          <p:nvPr/>
        </p:nvSpPr>
        <p:spPr>
          <a:xfrm>
            <a:off x="704850" y="2171700"/>
            <a:ext cx="15811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C920</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MJPEG</a:t>
            </a:r>
          </a:p>
        </p:txBody>
      </p:sp>
      <p:sp>
        <p:nvSpPr>
          <p:cNvPr id="7" name="Rectángulo: esquinas redondeadas 6">
            <a:extLst>
              <a:ext uri="{FF2B5EF4-FFF2-40B4-BE49-F238E27FC236}">
                <a16:creationId xmlns:a16="http://schemas.microsoft.com/office/drawing/2014/main" id="{94A69880-7383-4B12-8F22-0FAE4912E009}"/>
              </a:ext>
            </a:extLst>
          </p:cNvPr>
          <p:cNvSpPr>
            <a:spLocks noGrp="1"/>
          </p:cNvSpPr>
          <p:nvPr/>
        </p:nvSpPr>
        <p:spPr>
          <a:xfrm>
            <a:off x="2647950" y="2171700"/>
            <a:ext cx="1581150" cy="800100"/>
          </a:xfrm>
          <a:prstGeom prst="roundRect">
            <a:avLst>
              <a:gd name="adj" fmla="val 16667"/>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MJPEG</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decode</a:t>
            </a:r>
          </a:p>
        </p:txBody>
      </p:sp>
      <p:sp>
        <p:nvSpPr>
          <p:cNvPr id="8" name="Rectángulo: esquinas redondeadas 7">
            <a:extLst>
              <a:ext uri="{FF2B5EF4-FFF2-40B4-BE49-F238E27FC236}">
                <a16:creationId xmlns:a16="http://schemas.microsoft.com/office/drawing/2014/main" id="{5AA7DCAF-E351-4F8F-ADEA-4F5C868FC5D4}"/>
              </a:ext>
            </a:extLst>
          </p:cNvPr>
          <p:cNvSpPr>
            <a:spLocks noGrp="1"/>
          </p:cNvSpPr>
          <p:nvPr/>
        </p:nvSpPr>
        <p:spPr>
          <a:xfrm>
            <a:off x="4591050" y="2171700"/>
            <a:ext cx="158115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Software</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libx264</a:t>
            </a:r>
          </a:p>
        </p:txBody>
      </p:sp>
      <p:cxnSp>
        <p:nvCxnSpPr>
          <p:cNvPr id="28" name="Conector recto de flecha 27"/>
          <p:cNvCxnSpPr>
            <a:stCxn id="6" idx="3"/>
            <a:endCxn id="7" idx="1"/>
          </p:cNvCxnSpPr>
          <p:nvPr/>
        </p:nvCxnSpPr>
        <p:spPr>
          <a:xfrm>
            <a:off x="2286000" y="2571750"/>
            <a:ext cx="36195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4229100" y="2571750"/>
            <a:ext cx="361950" cy="0"/>
          </a:xfrm>
          <a:prstGeom prst="straightConnector1">
            <a:avLst/>
          </a:prstGeom>
          <a:ln w="19050">
            <a:solidFill>
              <a:srgbClr val="830051"/>
            </a:solidFill>
            <a:prstDash val="solid"/>
            <a:tailEnd type="triangle" w="sm" len="sm"/>
          </a:ln>
        </p:spPr>
      </p:cxnSp>
      <p:sp>
        <p:nvSpPr>
          <p:cNvPr id="11" name="Rectángulo 10">
            <a:extLst>
              <a:ext uri="{FF2B5EF4-FFF2-40B4-BE49-F238E27FC236}">
                <a16:creationId xmlns:a16="http://schemas.microsoft.com/office/drawing/2014/main" id="{58773672-9662-405A-ACED-0366CCEDBA05}"/>
              </a:ext>
            </a:extLst>
          </p:cNvPr>
          <p:cNvSpPr>
            <a:spLocks noGrp="1"/>
          </p:cNvSpPr>
          <p:nvPr/>
        </p:nvSpPr>
        <p:spPr>
          <a:xfrm>
            <a:off x="704850" y="3695700"/>
            <a:ext cx="1524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TARGET</a:t>
            </a:r>
          </a:p>
        </p:txBody>
      </p:sp>
      <p:sp>
        <p:nvSpPr>
          <p:cNvPr id="12" name="Rectángulo: esquinas redondeadas 11">
            <a:extLst>
              <a:ext uri="{FF2B5EF4-FFF2-40B4-BE49-F238E27FC236}">
                <a16:creationId xmlns:a16="http://schemas.microsoft.com/office/drawing/2014/main" id="{76DB713F-4746-4BF0-9674-03C4C71F93D0}"/>
              </a:ext>
            </a:extLst>
          </p:cNvPr>
          <p:cNvSpPr>
            <a:spLocks noGrp="1"/>
          </p:cNvSpPr>
          <p:nvPr/>
        </p:nvSpPr>
        <p:spPr>
          <a:xfrm>
            <a:off x="704850" y="4191000"/>
            <a:ext cx="2286000" cy="876300"/>
          </a:xfrm>
          <a:prstGeom prst="roundRect">
            <a:avLst>
              <a:gd name="adj" fmla="val 1521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Camera or SoC</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H.264 output</a:t>
            </a:r>
          </a:p>
        </p:txBody>
      </p:sp>
      <p:sp>
        <p:nvSpPr>
          <p:cNvPr id="13" name="Rectángulo: esquinas redondeadas 12">
            <a:extLst>
              <a:ext uri="{FF2B5EF4-FFF2-40B4-BE49-F238E27FC236}">
                <a16:creationId xmlns:a16="http://schemas.microsoft.com/office/drawing/2014/main" id="{D06C77E3-AE69-4695-9BEC-4D9EBB038131}"/>
              </a:ext>
            </a:extLst>
          </p:cNvPr>
          <p:cNvSpPr>
            <a:spLocks noGrp="1"/>
          </p:cNvSpPr>
          <p:nvPr/>
        </p:nvSpPr>
        <p:spPr>
          <a:xfrm>
            <a:off x="3638550" y="4191000"/>
            <a:ext cx="2286000" cy="876300"/>
          </a:xfrm>
          <a:prstGeom prst="roundRect">
            <a:avLst>
              <a:gd name="adj" fmla="val 15217"/>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Packet adaptation</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only</a:t>
            </a:r>
          </a:p>
        </p:txBody>
      </p:sp>
      <p:cxnSp>
        <p:nvCxnSpPr>
          <p:cNvPr id="33" name="Conector recto de flecha 32"/>
          <p:cNvCxnSpPr>
            <a:stCxn id="12" idx="3"/>
            <a:endCxn id="13" idx="1"/>
          </p:cNvCxnSpPr>
          <p:nvPr/>
        </p:nvCxnSpPr>
        <p:spPr>
          <a:xfrm>
            <a:off x="2990850" y="4629150"/>
            <a:ext cx="647700" cy="0"/>
          </a:xfrm>
          <a:prstGeom prst="straightConnector1">
            <a:avLst/>
          </a:prstGeom>
          <a:ln w="19050">
            <a:solidFill>
              <a:srgbClr val="830051"/>
            </a:solidFill>
            <a:prstDash val="solid"/>
            <a:tailEnd type="triangle" w="sm" len="sm"/>
          </a:ln>
        </p:spPr>
      </p:cxnSp>
      <p:sp>
        <p:nvSpPr>
          <p:cNvPr id="15" name="Rectángulo: esquinas redondeadas 14">
            <a:extLst>
              <a:ext uri="{FF2B5EF4-FFF2-40B4-BE49-F238E27FC236}">
                <a16:creationId xmlns:a16="http://schemas.microsoft.com/office/drawing/2014/main" id="{B0E641D8-5CE4-456C-B665-8FF5696ABB47}"/>
              </a:ext>
            </a:extLst>
          </p:cNvPr>
          <p:cNvSpPr>
            <a:spLocks noGrp="1"/>
          </p:cNvSpPr>
          <p:nvPr/>
        </p:nvSpPr>
        <p:spPr>
          <a:xfrm>
            <a:off x="7505700" y="1733550"/>
            <a:ext cx="2133600" cy="2362200"/>
          </a:xfrm>
          <a:prstGeom prst="roundRect">
            <a:avLst>
              <a:gd name="adj" fmla="val 4464"/>
            </a:avLst>
          </a:prstGeom>
          <a:solidFill>
            <a:srgbClr val="FFFFFF"/>
          </a:solidFill>
          <a:ln w="9525">
            <a:solidFill>
              <a:srgbClr val="E7E3E5"/>
            </a:solidFill>
            <a:prstDash val="solid"/>
          </a:ln>
        </p:spPr>
        <p:txBody>
          <a:bodyPr/>
          <a:lstStyle/>
          <a:p>
            <a:endParaRPr/>
          </a:p>
        </p:txBody>
      </p:sp>
      <p:pic>
        <p:nvPicPr>
          <p:cNvPr id="35" name="Imagen 34"/>
          <p:cNvPicPr>
            <a:picLocks noChangeAspect="1"/>
          </p:cNvPicPr>
          <p:nvPr/>
        </p:nvPicPr>
        <p:blipFill>
          <a:blip r:embed="rId3"/>
          <a:stretch/>
        </p:blipFill>
        <p:spPr>
          <a:xfrm>
            <a:off x="7527721" y="1752600"/>
            <a:ext cx="2089558" cy="2324100"/>
          </a:xfrm>
          <a:prstGeom prst="roundRect">
            <a:avLst/>
          </a:prstGeom>
        </p:spPr>
      </p:pic>
      <p:sp>
        <p:nvSpPr>
          <p:cNvPr id="17" name="Rectángulo 16">
            <a:extLst>
              <a:ext uri="{FF2B5EF4-FFF2-40B4-BE49-F238E27FC236}">
                <a16:creationId xmlns:a16="http://schemas.microsoft.com/office/drawing/2014/main" id="{0DAB0CE5-8CBF-45C1-9569-613D15D98C03}"/>
              </a:ext>
            </a:extLst>
          </p:cNvPr>
          <p:cNvSpPr>
            <a:spLocks noGrp="1"/>
          </p:cNvSpPr>
          <p:nvPr/>
        </p:nvSpPr>
        <p:spPr>
          <a:xfrm>
            <a:off x="6858000" y="4343400"/>
            <a:ext cx="4191000" cy="533400"/>
          </a:xfrm>
          <a:prstGeom prst="rect">
            <a:avLst/>
          </a:prstGeom>
          <a:noFill/>
          <a:ln w="0">
            <a:noFill/>
          </a:ln>
        </p:spPr>
        <p:txBody>
          <a:bodyPr wrap="square" lIns="0" tIns="0" rIns="0" bIns="0" anchor="t">
            <a:noAutofit/>
          </a:bodyPr>
          <a:lstStyle/>
          <a:p>
            <a:pPr algn="ctr">
              <a:lnSpc>
                <a:spcPct val="104000"/>
              </a:lnSpc>
              <a:buNone/>
              <a:defRPr sz="2100" b="1">
                <a:solidFill>
                  <a:srgbClr val="510034"/>
                </a:solidFill>
                <a:latin typeface="Arial"/>
                <a:ea typeface="Arial"/>
                <a:cs typeface="Arial"/>
              </a:defRPr>
            </a:pPr>
            <a:r>
              <a:rPr sz="2100" b="1">
                <a:solidFill>
                  <a:srgbClr val="510034"/>
                </a:solidFill>
                <a:latin typeface="Arial"/>
                <a:ea typeface="Arial"/>
                <a:cs typeface="Arial"/>
              </a:rPr>
              <a:t>Remove two expensive stages where hardware permits</a:t>
            </a:r>
          </a:p>
        </p:txBody>
      </p:sp>
      <p:sp>
        <p:nvSpPr>
          <p:cNvPr id="18" name="Rectángulo: esquinas redondeadas 17">
            <a:extLst>
              <a:ext uri="{FF2B5EF4-FFF2-40B4-BE49-F238E27FC236}">
                <a16:creationId xmlns:a16="http://schemas.microsoft.com/office/drawing/2014/main" id="{076D4B58-3021-4B05-BD94-9386B73D2009}"/>
              </a:ext>
            </a:extLst>
          </p:cNvPr>
          <p:cNvSpPr>
            <a:spLocks noGrp="1"/>
          </p:cNvSpPr>
          <p:nvPr/>
        </p:nvSpPr>
        <p:spPr>
          <a:xfrm>
            <a:off x="6762750" y="5124450"/>
            <a:ext cx="4476750" cy="895350"/>
          </a:xfrm>
          <a:prstGeom prst="roundRect">
            <a:avLst>
              <a:gd name="adj" fmla="val 12766"/>
            </a:avLst>
          </a:prstGeom>
          <a:solidFill>
            <a:srgbClr val="FFFFFF"/>
          </a:solidFill>
          <a:ln w="9525">
            <a:solidFill>
              <a:srgbClr val="E7E3E5"/>
            </a:solidFill>
            <a:prstDash val="solid"/>
          </a:ln>
        </p:spPr>
        <p:txBody>
          <a:bodyPr/>
          <a:lstStyle/>
          <a:p>
            <a:endParaRPr/>
          </a:p>
        </p:txBody>
      </p:sp>
      <p:sp>
        <p:nvSpPr>
          <p:cNvPr id="19" name="Rectángulo 18">
            <a:extLst>
              <a:ext uri="{FF2B5EF4-FFF2-40B4-BE49-F238E27FC236}">
                <a16:creationId xmlns:a16="http://schemas.microsoft.com/office/drawing/2014/main" id="{5852D933-AEA6-440B-96FB-ADDDBA6C63DB}"/>
              </a:ext>
            </a:extLst>
          </p:cNvPr>
          <p:cNvSpPr>
            <a:spLocks noGrp="1"/>
          </p:cNvSpPr>
          <p:nvPr/>
        </p:nvSpPr>
        <p:spPr>
          <a:xfrm>
            <a:off x="7010400" y="5295900"/>
            <a:ext cx="3981450" cy="590550"/>
          </a:xfrm>
          <a:prstGeom prst="rect">
            <a:avLst/>
          </a:prstGeom>
          <a:noFill/>
          <a:ln w="0">
            <a:noFill/>
          </a:ln>
        </p:spPr>
        <p:txBody>
          <a:bodyPr wrap="square" lIns="0" tIns="0" rIns="0" bIns="0" anchor="ctr">
            <a:noAutofit/>
          </a:bodyPr>
          <a:lstStyle/>
          <a:p>
            <a:pPr algn="ctr">
              <a:lnSpc>
                <a:spcPct val="104000"/>
              </a:lnSpc>
              <a:buNone/>
              <a:defRPr sz="1500" b="0">
                <a:solidFill>
                  <a:srgbClr val="171417"/>
                </a:solidFill>
                <a:latin typeface="Arial"/>
                <a:ea typeface="Arial"/>
                <a:cs typeface="Arial"/>
              </a:defRPr>
            </a:pPr>
            <a:r>
              <a:rPr sz="1500" b="0">
                <a:solidFill>
                  <a:srgbClr val="171417"/>
                </a:solidFill>
                <a:latin typeface="Arial"/>
                <a:ea typeface="Arial"/>
                <a:cs typeface="Arial"/>
              </a:rPr>
              <a:t>Validate profile, SPS/PPS, GOP, bitrate, buffering, CPU load, and measured latency.</a:t>
            </a:r>
          </a:p>
        </p:txBody>
      </p:sp>
    </p:spTree>
    <p:extLst>
      <p:ext uri="{BB962C8B-B14F-4D97-AF65-F5344CB8AC3E}">
        <p14:creationId xmlns:p14="http://schemas.microsoft.com/office/powerpoint/2010/main" val="10651214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7EEDC26C-2FC7-479B-87E4-15B64003E78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A14C9EAB-B1CC-4DB4-8D94-3F1054F229C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Network Resilience</a:t>
            </a:r>
          </a:p>
        </p:txBody>
      </p:sp>
      <p:sp>
        <p:nvSpPr>
          <p:cNvPr id="3" name="Rectángulo 2">
            <a:extLst>
              <a:ext uri="{FF2B5EF4-FFF2-40B4-BE49-F238E27FC236}">
                <a16:creationId xmlns:a16="http://schemas.microsoft.com/office/drawing/2014/main" id="{3D2438D9-E613-4BD5-A346-7B7C47E5C19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F7E906A2-7A66-449B-B35F-8C68D9E58001}"/>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28</a:t>
            </a:r>
          </a:p>
        </p:txBody>
      </p:sp>
      <p:sp>
        <p:nvSpPr>
          <p:cNvPr id="5" name="Rectángulo 4">
            <a:extLst>
              <a:ext uri="{FF2B5EF4-FFF2-40B4-BE49-F238E27FC236}">
                <a16:creationId xmlns:a16="http://schemas.microsoft.com/office/drawing/2014/main" id="{6D0C6A9F-5D5B-4FF7-9435-0D81EA1B41D2}"/>
              </a:ext>
            </a:extLst>
          </p:cNvPr>
          <p:cNvSpPr>
            <a:spLocks noGrp="1"/>
          </p:cNvSpPr>
          <p:nvPr/>
        </p:nvSpPr>
        <p:spPr>
          <a:xfrm>
            <a:off x="609600" y="1543050"/>
            <a:ext cx="3048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PLANNED TEST MATRIX</a:t>
            </a:r>
          </a:p>
        </p:txBody>
      </p:sp>
      <p:graphicFrame>
        <p:nvGraphicFramePr>
          <p:cNvPr id="18" name="Tabla 17"/>
          <p:cNvGraphicFramePr/>
          <p:nvPr/>
        </p:nvGraphicFramePr>
        <p:xfrm>
          <a:off x="609600" y="1885950"/>
          <a:ext cx="10972800" cy="2857500"/>
        </p:xfrm>
        <a:graphic>
          <a:graphicData uri="http://schemas.openxmlformats.org/drawingml/2006/table">
            <a:tbl>
              <a:tblPr/>
              <a:tblGrid>
                <a:gridCol w="2857500">
                  <a:extLst>
                    <a:ext uri="{9D8B030D-6E8A-4147-A177-3AD203B41FA5}">
                      <a16:colId xmlns:a16="http://schemas.microsoft.com/office/drawing/2014/main" val="20000"/>
                    </a:ext>
                  </a:extLst>
                </a:gridCol>
                <a:gridCol w="2705100">
                  <a:extLst>
                    <a:ext uri="{9D8B030D-6E8A-4147-A177-3AD203B41FA5}">
                      <a16:colId xmlns:a16="http://schemas.microsoft.com/office/drawing/2014/main" val="20001"/>
                    </a:ext>
                  </a:extLst>
                </a:gridCol>
                <a:gridCol w="2705100">
                  <a:extLst>
                    <a:ext uri="{9D8B030D-6E8A-4147-A177-3AD203B41FA5}">
                      <a16:colId xmlns:a16="http://schemas.microsoft.com/office/drawing/2014/main" val="20002"/>
                    </a:ext>
                  </a:extLst>
                </a:gridCol>
                <a:gridCol w="2705100">
                  <a:extLst>
                    <a:ext uri="{9D8B030D-6E8A-4147-A177-3AD203B41FA5}">
                      <a16:colId xmlns:a16="http://schemas.microsoft.com/office/drawing/2014/main" val="20003"/>
                    </a:ext>
                  </a:extLst>
                </a:gridCol>
              </a:tblGrid>
              <a:tr h="714375">
                <a:tc>
                  <a:txBody>
                    <a:bodyPr/>
                    <a:lstStyle/>
                    <a:p>
                      <a:pPr algn="ctr">
                        <a:buNone/>
                      </a:pPr>
                      <a:r>
                        <a:rPr sz="1650" b="1">
                          <a:solidFill>
                            <a:srgbClr val="FFFFFF"/>
                          </a:solidFill>
                          <a:latin typeface="Arial"/>
                          <a:ea typeface="Arial"/>
                          <a:cs typeface="Arial"/>
                        </a:rPr>
                        <a:t>Candidate path</a:t>
                      </a:r>
                    </a:p>
                  </a:txBody>
                  <a:tcPr anchor="ctr">
                    <a:solidFill>
                      <a:srgbClr val="830051"/>
                    </a:solidFill>
                  </a:tcPr>
                </a:tc>
                <a:tc>
                  <a:txBody>
                    <a:bodyPr/>
                    <a:lstStyle/>
                    <a:p>
                      <a:pPr algn="ctr">
                        <a:buNone/>
                      </a:pPr>
                      <a:r>
                        <a:rPr sz="1650" b="1">
                          <a:solidFill>
                            <a:srgbClr val="FFFFFF"/>
                          </a:solidFill>
                          <a:latin typeface="Arial"/>
                          <a:ea typeface="Arial"/>
                          <a:cs typeface="Arial"/>
                        </a:rPr>
                        <a:t>4G</a:t>
                      </a:r>
                    </a:p>
                  </a:txBody>
                  <a:tcPr anchor="ctr">
                    <a:solidFill>
                      <a:srgbClr val="830051"/>
                    </a:solidFill>
                  </a:tcPr>
                </a:tc>
                <a:tc>
                  <a:txBody>
                    <a:bodyPr/>
                    <a:lstStyle/>
                    <a:p>
                      <a:pPr algn="ctr">
                        <a:buNone/>
                      </a:pPr>
                      <a:r>
                        <a:rPr sz="1650" b="1">
                          <a:solidFill>
                            <a:srgbClr val="FFFFFF"/>
                          </a:solidFill>
                          <a:latin typeface="Arial"/>
                          <a:ea typeface="Arial"/>
                          <a:cs typeface="Arial"/>
                        </a:rPr>
                        <a:t>5G NSA</a:t>
                      </a:r>
                    </a:p>
                  </a:txBody>
                  <a:tcPr anchor="ctr">
                    <a:solidFill>
                      <a:srgbClr val="830051"/>
                    </a:solidFill>
                  </a:tcPr>
                </a:tc>
                <a:tc>
                  <a:txBody>
                    <a:bodyPr/>
                    <a:lstStyle/>
                    <a:p>
                      <a:pPr algn="ctr">
                        <a:buNone/>
                      </a:pPr>
                      <a:r>
                        <a:rPr sz="1650" b="1">
                          <a:solidFill>
                            <a:srgbClr val="FFFFFF"/>
                          </a:solidFill>
                          <a:latin typeface="Arial"/>
                          <a:ea typeface="Arial"/>
                          <a:cs typeface="Arial"/>
                        </a:rPr>
                        <a:t>5G SA</a:t>
                      </a:r>
                    </a:p>
                  </a:txBody>
                  <a:tcPr anchor="ctr">
                    <a:solidFill>
                      <a:srgbClr val="830051"/>
                    </a:solidFill>
                  </a:tcPr>
                </a:tc>
                <a:extLst>
                  <a:ext uri="{0D108BD9-81ED-4DB2-BD59-A6C34878D82A}">
                    <a16:rowId xmlns:a16="http://schemas.microsoft.com/office/drawing/2014/main" val="10000"/>
                  </a:ext>
                </a:extLst>
              </a:tr>
              <a:tr h="714375">
                <a:tc>
                  <a:txBody>
                    <a:bodyPr/>
                    <a:lstStyle/>
                    <a:p>
                      <a:pPr algn="ctr">
                        <a:buNone/>
                      </a:pPr>
                      <a:r>
                        <a:rPr sz="1650" b="1">
                          <a:solidFill>
                            <a:srgbClr val="510034"/>
                          </a:solidFill>
                          <a:latin typeface="Arial"/>
                          <a:ea typeface="Arial"/>
                          <a:cs typeface="Arial"/>
                        </a:rPr>
                        <a:t>IPv4 direct</a:t>
                      </a:r>
                    </a:p>
                  </a:txBody>
                  <a:tcPr anchor="ctr">
                    <a:solidFill>
                      <a:srgbClr val="F5EDF2"/>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extLst>
                  <a:ext uri="{0D108BD9-81ED-4DB2-BD59-A6C34878D82A}">
                    <a16:rowId xmlns:a16="http://schemas.microsoft.com/office/drawing/2014/main" val="10001"/>
                  </a:ext>
                </a:extLst>
              </a:tr>
              <a:tr h="714375">
                <a:tc>
                  <a:txBody>
                    <a:bodyPr/>
                    <a:lstStyle/>
                    <a:p>
                      <a:pPr algn="ctr">
                        <a:buNone/>
                      </a:pPr>
                      <a:r>
                        <a:rPr sz="1650" b="1">
                          <a:solidFill>
                            <a:srgbClr val="510034"/>
                          </a:solidFill>
                          <a:latin typeface="Arial"/>
                          <a:ea typeface="Arial"/>
                          <a:cs typeface="Arial"/>
                        </a:rPr>
                        <a:t>IPv6 direct</a:t>
                      </a:r>
                    </a:p>
                  </a:txBody>
                  <a:tcPr anchor="ctr">
                    <a:solidFill>
                      <a:srgbClr val="F5EDF2"/>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extLst>
                  <a:ext uri="{0D108BD9-81ED-4DB2-BD59-A6C34878D82A}">
                    <a16:rowId xmlns:a16="http://schemas.microsoft.com/office/drawing/2014/main" val="10002"/>
                  </a:ext>
                </a:extLst>
              </a:tr>
              <a:tr h="714375">
                <a:tc>
                  <a:txBody>
                    <a:bodyPr/>
                    <a:lstStyle/>
                    <a:p>
                      <a:pPr algn="ctr">
                        <a:buNone/>
                      </a:pPr>
                      <a:r>
                        <a:rPr sz="1650" b="1">
                          <a:solidFill>
                            <a:srgbClr val="510034"/>
                          </a:solidFill>
                          <a:latin typeface="Arial"/>
                          <a:ea typeface="Arial"/>
                          <a:cs typeface="Arial"/>
                        </a:rPr>
                        <a:t>TURN relay</a:t>
                      </a:r>
                    </a:p>
                  </a:txBody>
                  <a:tcPr anchor="ctr">
                    <a:solidFill>
                      <a:srgbClr val="F5EDF2"/>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7" name="Rectángulo 6">
            <a:extLst>
              <a:ext uri="{FF2B5EF4-FFF2-40B4-BE49-F238E27FC236}">
                <a16:creationId xmlns:a16="http://schemas.microsoft.com/office/drawing/2014/main" id="{AC37F475-E982-4DFE-951A-F8534B598A84}"/>
              </a:ext>
            </a:extLst>
          </p:cNvPr>
          <p:cNvSpPr>
            <a:spLocks noGrp="1"/>
          </p:cNvSpPr>
          <p:nvPr/>
        </p:nvSpPr>
        <p:spPr>
          <a:xfrm>
            <a:off x="628650" y="5105400"/>
            <a:ext cx="28575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RECORD FOR EVERY RUN</a:t>
            </a:r>
          </a:p>
        </p:txBody>
      </p:sp>
      <p:sp>
        <p:nvSpPr>
          <p:cNvPr id="8" name="Rectángulo: esquinas redondeadas 7">
            <a:extLst>
              <a:ext uri="{FF2B5EF4-FFF2-40B4-BE49-F238E27FC236}">
                <a16:creationId xmlns:a16="http://schemas.microsoft.com/office/drawing/2014/main" id="{C038D738-99E3-48CC-A06A-F9AA6CD456CA}"/>
              </a:ext>
            </a:extLst>
          </p:cNvPr>
          <p:cNvSpPr>
            <a:spLocks noGrp="1"/>
          </p:cNvSpPr>
          <p:nvPr/>
        </p:nvSpPr>
        <p:spPr>
          <a:xfrm>
            <a:off x="6286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connection success</a:t>
            </a:r>
          </a:p>
        </p:txBody>
      </p:sp>
      <p:sp>
        <p:nvSpPr>
          <p:cNvPr id="9" name="Rectángulo: esquinas redondeadas 8">
            <a:extLst>
              <a:ext uri="{FF2B5EF4-FFF2-40B4-BE49-F238E27FC236}">
                <a16:creationId xmlns:a16="http://schemas.microsoft.com/office/drawing/2014/main" id="{4D0329AA-A55D-4E21-9787-D48B786CE8D1}"/>
              </a:ext>
            </a:extLst>
          </p:cNvPr>
          <p:cNvSpPr>
            <a:spLocks noGrp="1"/>
          </p:cNvSpPr>
          <p:nvPr/>
        </p:nvSpPr>
        <p:spPr>
          <a:xfrm>
            <a:off x="2762250" y="5467350"/>
            <a:ext cx="1943100" cy="438150"/>
          </a:xfrm>
          <a:prstGeom prst="roundRect">
            <a:avLst>
              <a:gd name="adj" fmla="val 19565"/>
            </a:avLst>
          </a:prstGeom>
          <a:solidFill>
            <a:srgbClr val="F5EDF2"/>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latency distribution</a:t>
            </a:r>
          </a:p>
        </p:txBody>
      </p:sp>
      <p:sp>
        <p:nvSpPr>
          <p:cNvPr id="10" name="Rectángulo: esquinas redondeadas 9">
            <a:extLst>
              <a:ext uri="{FF2B5EF4-FFF2-40B4-BE49-F238E27FC236}">
                <a16:creationId xmlns:a16="http://schemas.microsoft.com/office/drawing/2014/main" id="{8441B412-B240-4C14-8FDC-66C3BBAB19DD}"/>
              </a:ext>
            </a:extLst>
          </p:cNvPr>
          <p:cNvSpPr>
            <a:spLocks noGrp="1"/>
          </p:cNvSpPr>
          <p:nvPr/>
        </p:nvSpPr>
        <p:spPr>
          <a:xfrm>
            <a:off x="48958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jitter + loss</a:t>
            </a:r>
          </a:p>
        </p:txBody>
      </p:sp>
      <p:sp>
        <p:nvSpPr>
          <p:cNvPr id="11" name="Rectángulo: esquinas redondeadas 10">
            <a:extLst>
              <a:ext uri="{FF2B5EF4-FFF2-40B4-BE49-F238E27FC236}">
                <a16:creationId xmlns:a16="http://schemas.microsoft.com/office/drawing/2014/main" id="{07D75C5E-0108-4D1D-9859-40C184D6C6FF}"/>
              </a:ext>
            </a:extLst>
          </p:cNvPr>
          <p:cNvSpPr>
            <a:spLocks noGrp="1"/>
          </p:cNvSpPr>
          <p:nvPr/>
        </p:nvSpPr>
        <p:spPr>
          <a:xfrm>
            <a:off x="70294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mobility stability</a:t>
            </a:r>
          </a:p>
        </p:txBody>
      </p:sp>
      <p:sp>
        <p:nvSpPr>
          <p:cNvPr id="12" name="Rectángulo: esquinas redondeadas 11">
            <a:extLst>
              <a:ext uri="{FF2B5EF4-FFF2-40B4-BE49-F238E27FC236}">
                <a16:creationId xmlns:a16="http://schemas.microsoft.com/office/drawing/2014/main" id="{88D97A82-1B99-4CF5-9305-DED6353F4D38}"/>
              </a:ext>
            </a:extLst>
          </p:cNvPr>
          <p:cNvSpPr>
            <a:spLocks noGrp="1"/>
          </p:cNvSpPr>
          <p:nvPr/>
        </p:nvSpPr>
        <p:spPr>
          <a:xfrm>
            <a:off x="91630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uplink consistency</a:t>
            </a:r>
          </a:p>
        </p:txBody>
      </p:sp>
    </p:spTree>
    <p:extLst>
      <p:ext uri="{BB962C8B-B14F-4D97-AF65-F5344CB8AC3E}">
        <p14:creationId xmlns:p14="http://schemas.microsoft.com/office/powerpoint/2010/main" val="17612719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29C035B-F9D2-4BBB-906E-D74FC932840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151BCBEC-AA32-407B-9B14-2AD5E47B322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Protected Electrical Design</a:t>
            </a:r>
          </a:p>
        </p:txBody>
      </p:sp>
      <p:sp>
        <p:nvSpPr>
          <p:cNvPr id="3" name="Rectángulo 2">
            <a:extLst>
              <a:ext uri="{FF2B5EF4-FFF2-40B4-BE49-F238E27FC236}">
                <a16:creationId xmlns:a16="http://schemas.microsoft.com/office/drawing/2014/main" id="{98AD5373-2F49-41D7-B98F-82F04F34851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12CD36D-EC19-4D7B-818A-C4FB17EC4CD6}"/>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29</a:t>
            </a:r>
          </a:p>
        </p:txBody>
      </p:sp>
      <p:sp>
        <p:nvSpPr>
          <p:cNvPr id="5" name="Rectángulo 4">
            <a:extLst>
              <a:ext uri="{FF2B5EF4-FFF2-40B4-BE49-F238E27FC236}">
                <a16:creationId xmlns:a16="http://schemas.microsoft.com/office/drawing/2014/main" id="{AE680CAD-05C5-410D-8639-AF430B7DE157}"/>
              </a:ext>
            </a:extLst>
          </p:cNvPr>
          <p:cNvSpPr>
            <a:spLocks noGrp="1"/>
          </p:cNvSpPr>
          <p:nvPr/>
        </p:nvSpPr>
        <p:spPr>
          <a:xfrm>
            <a:off x="723900" y="1657350"/>
            <a:ext cx="23812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HARDWARE TRACK</a:t>
            </a:r>
          </a:p>
        </p:txBody>
      </p:sp>
      <p:sp>
        <p:nvSpPr>
          <p:cNvPr id="6" name="Rectángulo: esquinas redondeadas 5">
            <a:extLst>
              <a:ext uri="{FF2B5EF4-FFF2-40B4-BE49-F238E27FC236}">
                <a16:creationId xmlns:a16="http://schemas.microsoft.com/office/drawing/2014/main" id="{A2E87159-490C-42D5-9175-3A158CC834BA}"/>
              </a:ext>
            </a:extLst>
          </p:cNvPr>
          <p:cNvSpPr>
            <a:spLocks noGrp="1"/>
          </p:cNvSpPr>
          <p:nvPr/>
        </p:nvSpPr>
        <p:spPr>
          <a:xfrm>
            <a:off x="762000" y="2305050"/>
            <a:ext cx="1524000" cy="781050"/>
          </a:xfrm>
          <a:prstGeom prst="roundRect">
            <a:avLst>
              <a:gd name="adj" fmla="val 17073"/>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Battery</a:t>
            </a:r>
          </a:p>
        </p:txBody>
      </p:sp>
      <p:sp>
        <p:nvSpPr>
          <p:cNvPr id="7" name="Rectángulo: esquinas redondeadas 6">
            <a:extLst>
              <a:ext uri="{FF2B5EF4-FFF2-40B4-BE49-F238E27FC236}">
                <a16:creationId xmlns:a16="http://schemas.microsoft.com/office/drawing/2014/main" id="{47406072-30FE-4678-A900-240BF18765B9}"/>
              </a:ext>
            </a:extLst>
          </p:cNvPr>
          <p:cNvSpPr>
            <a:spLocks noGrp="1"/>
          </p:cNvSpPr>
          <p:nvPr/>
        </p:nvSpPr>
        <p:spPr>
          <a:xfrm>
            <a:off x="2781300" y="2209800"/>
            <a:ext cx="2095500" cy="971550"/>
          </a:xfrm>
          <a:prstGeom prst="roundRect">
            <a:avLst>
              <a:gd name="adj" fmla="val 13725"/>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Fuse + transient</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protection</a:t>
            </a:r>
          </a:p>
        </p:txBody>
      </p:sp>
      <p:sp>
        <p:nvSpPr>
          <p:cNvPr id="8" name="Rectángulo: esquinas redondeadas 7">
            <a:extLst>
              <a:ext uri="{FF2B5EF4-FFF2-40B4-BE49-F238E27FC236}">
                <a16:creationId xmlns:a16="http://schemas.microsoft.com/office/drawing/2014/main" id="{F4E35B38-6F8B-44AA-A0A5-16448776B4AC}"/>
              </a:ext>
            </a:extLst>
          </p:cNvPr>
          <p:cNvSpPr>
            <a:spLocks noGrp="1"/>
          </p:cNvSpPr>
          <p:nvPr/>
        </p:nvSpPr>
        <p:spPr>
          <a:xfrm>
            <a:off x="5372100" y="2209800"/>
            <a:ext cx="2095500" cy="971550"/>
          </a:xfrm>
          <a:prstGeom prst="roundRect">
            <a:avLst>
              <a:gd name="adj" fmla="val 13725"/>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Dedicated DC-DC</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regulator</a:t>
            </a:r>
          </a:p>
        </p:txBody>
      </p:sp>
      <p:sp>
        <p:nvSpPr>
          <p:cNvPr id="9" name="Rectángulo: esquinas redondeadas 8">
            <a:extLst>
              <a:ext uri="{FF2B5EF4-FFF2-40B4-BE49-F238E27FC236}">
                <a16:creationId xmlns:a16="http://schemas.microsoft.com/office/drawing/2014/main" id="{29A2CBE1-4B2D-4933-B7A2-3F9C73C0690B}"/>
              </a:ext>
            </a:extLst>
          </p:cNvPr>
          <p:cNvSpPr>
            <a:spLocks noGrp="1"/>
          </p:cNvSpPr>
          <p:nvPr/>
        </p:nvSpPr>
        <p:spPr>
          <a:xfrm>
            <a:off x="7962900" y="2305050"/>
            <a:ext cx="1676400" cy="781050"/>
          </a:xfrm>
          <a:prstGeom prst="roundRect">
            <a:avLst>
              <a:gd name="adj" fmla="val 17073"/>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Raspberry Pi</a:t>
            </a:r>
          </a:p>
        </p:txBody>
      </p:sp>
      <p:sp>
        <p:nvSpPr>
          <p:cNvPr id="10" name="Rectángulo: esquinas redondeadas 9">
            <a:extLst>
              <a:ext uri="{FF2B5EF4-FFF2-40B4-BE49-F238E27FC236}">
                <a16:creationId xmlns:a16="http://schemas.microsoft.com/office/drawing/2014/main" id="{679DBC03-1998-4CDC-BCC7-E27E8245F34D}"/>
              </a:ext>
            </a:extLst>
          </p:cNvPr>
          <p:cNvSpPr>
            <a:spLocks noGrp="1"/>
          </p:cNvSpPr>
          <p:nvPr/>
        </p:nvSpPr>
        <p:spPr>
          <a:xfrm>
            <a:off x="762000" y="3333750"/>
            <a:ext cx="1524000" cy="609600"/>
          </a:xfrm>
          <a:prstGeom prst="roundRect">
            <a:avLst>
              <a:gd name="adj" fmla="val 21875"/>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Motor branch</a:t>
            </a:r>
          </a:p>
        </p:txBody>
      </p:sp>
      <p:cxnSp>
        <p:nvCxnSpPr>
          <p:cNvPr id="31" name="Conector recto de flecha 30"/>
          <p:cNvCxnSpPr>
            <a:stCxn id="6" idx="3"/>
            <a:endCxn id="7" idx="1"/>
          </p:cNvCxnSpPr>
          <p:nvPr/>
        </p:nvCxnSpPr>
        <p:spPr>
          <a:xfrm>
            <a:off x="2286000" y="2695575"/>
            <a:ext cx="495300" cy="0"/>
          </a:xfrm>
          <a:prstGeom prst="straightConnector1">
            <a:avLst/>
          </a:prstGeom>
          <a:ln w="19050">
            <a:solidFill>
              <a:srgbClr val="A69FA3"/>
            </a:solidFill>
            <a:prstDash val="solid"/>
            <a:tailEnd type="triangle" w="sm" len="sm"/>
          </a:ln>
        </p:spPr>
      </p:cxnSp>
      <p:cxnSp>
        <p:nvCxnSpPr>
          <p:cNvPr id="32" name="Conector recto de flecha 31"/>
          <p:cNvCxnSpPr>
            <a:stCxn id="7" idx="3"/>
            <a:endCxn id="8" idx="1"/>
          </p:cNvCxnSpPr>
          <p:nvPr/>
        </p:nvCxnSpPr>
        <p:spPr>
          <a:xfrm>
            <a:off x="4876800" y="2695575"/>
            <a:ext cx="495300" cy="0"/>
          </a:xfrm>
          <a:prstGeom prst="straightConnector1">
            <a:avLst/>
          </a:prstGeom>
          <a:ln w="19050">
            <a:solidFill>
              <a:srgbClr val="830051"/>
            </a:solidFill>
            <a:prstDash val="solid"/>
            <a:tailEnd type="triangle" w="sm" len="sm"/>
          </a:ln>
        </p:spPr>
      </p:cxnSp>
      <p:cxnSp>
        <p:nvCxnSpPr>
          <p:cNvPr id="33" name="Conector recto de flecha 32"/>
          <p:cNvCxnSpPr>
            <a:stCxn id="8" idx="3"/>
            <a:endCxn id="9" idx="1"/>
          </p:cNvCxnSpPr>
          <p:nvPr/>
        </p:nvCxnSpPr>
        <p:spPr>
          <a:xfrm>
            <a:off x="7467600" y="2695575"/>
            <a:ext cx="495300" cy="0"/>
          </a:xfrm>
          <a:prstGeom prst="straightConnector1">
            <a:avLst/>
          </a:prstGeom>
          <a:ln w="19050">
            <a:solidFill>
              <a:srgbClr val="830051"/>
            </a:solidFill>
            <a:prstDash val="solid"/>
            <a:tailEnd type="triangle" w="sm" len="sm"/>
          </a:ln>
        </p:spPr>
      </p:cxnSp>
      <p:cxnSp>
        <p:nvCxnSpPr>
          <p:cNvPr id="34" name="Conector recto de flecha 33"/>
          <p:cNvCxnSpPr>
            <a:stCxn id="6" idx="2"/>
            <a:endCxn id="10" idx="0"/>
          </p:cNvCxnSpPr>
          <p:nvPr/>
        </p:nvCxnSpPr>
        <p:spPr>
          <a:xfrm>
            <a:off x="1524000" y="3086100"/>
            <a:ext cx="0" cy="247650"/>
          </a:xfrm>
          <a:prstGeom prst="straightConnector1">
            <a:avLst/>
          </a:prstGeom>
          <a:ln w="19050">
            <a:solidFill>
              <a:srgbClr val="A69FA3"/>
            </a:solidFill>
            <a:prstDash val="solid"/>
          </a:ln>
        </p:spPr>
      </p:cxnSp>
      <p:sp>
        <p:nvSpPr>
          <p:cNvPr id="15" name="Rectángulo 14">
            <a:extLst>
              <a:ext uri="{FF2B5EF4-FFF2-40B4-BE49-F238E27FC236}">
                <a16:creationId xmlns:a16="http://schemas.microsoft.com/office/drawing/2014/main" id="{05BD98F7-6CE7-41CE-86B8-EA82AEF89404}"/>
              </a:ext>
            </a:extLst>
          </p:cNvPr>
          <p:cNvSpPr>
            <a:spLocks noGrp="1"/>
          </p:cNvSpPr>
          <p:nvPr/>
        </p:nvSpPr>
        <p:spPr>
          <a:xfrm>
            <a:off x="2724150" y="3448050"/>
            <a:ext cx="8401050" cy="43815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Separate noisy motor current from the compute rail; add decoupling, strain relief, and brownout logging.</a:t>
            </a:r>
          </a:p>
        </p:txBody>
      </p:sp>
      <p:sp>
        <p:nvSpPr>
          <p:cNvPr id="16" name="Rectángulo: esquinas redondeadas 15">
            <a:extLst>
              <a:ext uri="{FF2B5EF4-FFF2-40B4-BE49-F238E27FC236}">
                <a16:creationId xmlns:a16="http://schemas.microsoft.com/office/drawing/2014/main" id="{66813F73-681A-4BE6-A7F4-97CC7A9AF147}"/>
              </a:ext>
            </a:extLst>
          </p:cNvPr>
          <p:cNvSpPr>
            <a:spLocks noGrp="1"/>
          </p:cNvSpPr>
          <p:nvPr/>
        </p:nvSpPr>
        <p:spPr>
          <a:xfrm>
            <a:off x="609600" y="4248150"/>
            <a:ext cx="10972800" cy="1581150"/>
          </a:xfrm>
          <a:prstGeom prst="roundRect">
            <a:avLst>
              <a:gd name="adj" fmla="val 8434"/>
            </a:avLst>
          </a:prstGeom>
          <a:solidFill>
            <a:srgbClr val="F5EDF2"/>
          </a:solidFill>
          <a:ln w="0">
            <a:noFill/>
          </a:ln>
        </p:spPr>
        <p:txBody>
          <a:bodyPr/>
          <a:lstStyle/>
          <a:p>
            <a:endParaRPr/>
          </a:p>
        </p:txBody>
      </p:sp>
      <p:sp>
        <p:nvSpPr>
          <p:cNvPr id="17" name="Rectángulo 16">
            <a:extLst>
              <a:ext uri="{FF2B5EF4-FFF2-40B4-BE49-F238E27FC236}">
                <a16:creationId xmlns:a16="http://schemas.microsoft.com/office/drawing/2014/main" id="{5286ADD4-6421-43A0-A4C5-6C8294112BA8}"/>
              </a:ext>
            </a:extLst>
          </p:cNvPr>
          <p:cNvSpPr>
            <a:spLocks noGrp="1"/>
          </p:cNvSpPr>
          <p:nvPr/>
        </p:nvSpPr>
        <p:spPr>
          <a:xfrm>
            <a:off x="838200" y="4476750"/>
            <a:ext cx="28194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SEPARATE PROTOCOL TRACK</a:t>
            </a:r>
          </a:p>
        </p:txBody>
      </p:sp>
      <p:sp>
        <p:nvSpPr>
          <p:cNvPr id="18" name="Rectángulo 17">
            <a:extLst>
              <a:ext uri="{FF2B5EF4-FFF2-40B4-BE49-F238E27FC236}">
                <a16:creationId xmlns:a16="http://schemas.microsoft.com/office/drawing/2014/main" id="{B5F2FD32-62BC-4FC4-806D-11605B27A197}"/>
              </a:ext>
            </a:extLst>
          </p:cNvPr>
          <p:cNvSpPr>
            <a:spLocks noGrp="1"/>
          </p:cNvSpPr>
          <p:nvPr/>
        </p:nvSpPr>
        <p:spPr>
          <a:xfrm>
            <a:off x="838200" y="4857750"/>
            <a:ext cx="3333750" cy="381000"/>
          </a:xfrm>
          <a:prstGeom prst="rect">
            <a:avLst/>
          </a:prstGeom>
          <a:noFill/>
          <a:ln w="0">
            <a:noFill/>
          </a:ln>
        </p:spPr>
        <p:txBody>
          <a:bodyPr wrap="square" lIns="0" tIns="0" rIns="0" bIns="0" anchor="t">
            <a:noAutofit/>
          </a:bodyPr>
          <a:lstStyle/>
          <a:p>
            <a:pPr algn="l">
              <a:lnSpc>
                <a:spcPct val="104000"/>
              </a:lnSpc>
              <a:buNone/>
              <a:defRPr sz="2250" b="1">
                <a:solidFill>
                  <a:srgbClr val="171417"/>
                </a:solidFill>
                <a:latin typeface="Arial"/>
                <a:ea typeface="Arial"/>
                <a:cs typeface="Arial"/>
              </a:defRPr>
            </a:pPr>
            <a:r>
              <a:rPr sz="2250" b="1">
                <a:solidFill>
                  <a:srgbClr val="171417"/>
                </a:solidFill>
                <a:latin typeface="Arial"/>
                <a:ea typeface="Arial"/>
                <a:cs typeface="Arial"/>
              </a:rPr>
              <a:t>Complete WHIP / WHEP</a:t>
            </a:r>
          </a:p>
        </p:txBody>
      </p:sp>
      <p:sp>
        <p:nvSpPr>
          <p:cNvPr id="19" name="Rectángulo 18">
            <a:extLst>
              <a:ext uri="{FF2B5EF4-FFF2-40B4-BE49-F238E27FC236}">
                <a16:creationId xmlns:a16="http://schemas.microsoft.com/office/drawing/2014/main" id="{2BD192A5-F267-4F72-B1DC-8CE96BD0AF7F}"/>
              </a:ext>
            </a:extLst>
          </p:cNvPr>
          <p:cNvSpPr>
            <a:spLocks noGrp="1"/>
          </p:cNvSpPr>
          <p:nvPr/>
        </p:nvSpPr>
        <p:spPr>
          <a:xfrm>
            <a:off x="4343400" y="4629150"/>
            <a:ext cx="6915150" cy="819150"/>
          </a:xfrm>
          <a:prstGeom prst="rect">
            <a:avLst/>
          </a:prstGeom>
          <a:noFill/>
          <a:ln w="0">
            <a:noFill/>
          </a:ln>
        </p:spPr>
        <p:txBody>
          <a:bodyPr wrap="square" lIns="0" tIns="0" rIns="0" bIns="0" anchor="ctr">
            <a:noAutofit/>
          </a:bodyPr>
          <a:lstStyle/>
          <a:p>
            <a:pPr algn="l">
              <a:lnSpc>
                <a:spcPct val="104000"/>
              </a:lnSpc>
              <a:buNone/>
              <a:defRPr sz="1650" b="0">
                <a:solidFill>
                  <a:srgbClr val="171417"/>
                </a:solidFill>
                <a:latin typeface="Arial"/>
                <a:ea typeface="Arial"/>
                <a:cs typeface="Arial"/>
              </a:defRPr>
            </a:pPr>
            <a:r>
              <a:rPr sz="1650" b="0">
                <a:solidFill>
                  <a:srgbClr val="171417"/>
                </a:solidFill>
                <a:latin typeface="Arial"/>
                <a:ea typeface="Arial"/>
                <a:cs typeface="Arial"/>
              </a:rPr>
              <a:t>Implement session resources, Location, PATCH, DELETE, HTTPS, and authorization if a central media-server architecture becomes a requirement.</a:t>
            </a:r>
          </a:p>
        </p:txBody>
      </p:sp>
      <p:sp>
        <p:nvSpPr>
          <p:cNvPr id="20" name="Rectángulo 19">
            <a:extLst>
              <a:ext uri="{FF2B5EF4-FFF2-40B4-BE49-F238E27FC236}">
                <a16:creationId xmlns:a16="http://schemas.microsoft.com/office/drawing/2014/main" id="{298A7593-7E8C-482F-8350-0A733CC99768}"/>
              </a:ext>
            </a:extLst>
          </p:cNvPr>
          <p:cNvSpPr>
            <a:spLocks noGrp="1"/>
          </p:cNvSpPr>
          <p:nvPr/>
        </p:nvSpPr>
        <p:spPr>
          <a:xfrm>
            <a:off x="4343400" y="5467350"/>
            <a:ext cx="6915150" cy="228600"/>
          </a:xfrm>
          <a:prstGeom prst="rect">
            <a:avLst/>
          </a:prstGeom>
          <a:noFill/>
          <a:ln w="0">
            <a:noFill/>
          </a:ln>
        </p:spPr>
        <p:txBody>
          <a:bodyPr wrap="square" lIns="0" tIns="0" rIns="0" bIns="0" anchor="t">
            <a:noAutofit/>
          </a:bodyPr>
          <a:lstStyle/>
          <a:p>
            <a:pPr algn="ctr">
              <a:lnSpc>
                <a:spcPct val="104000"/>
              </a:lnSpc>
              <a:buNone/>
              <a:defRPr sz="1350" b="1">
                <a:solidFill>
                  <a:srgbClr val="510034"/>
                </a:solidFill>
                <a:latin typeface="Arial"/>
                <a:ea typeface="Arial"/>
                <a:cs typeface="Arial"/>
              </a:defRPr>
            </a:pPr>
            <a:r>
              <a:rPr sz="1350" b="1">
                <a:solidFill>
                  <a:srgbClr val="510034"/>
                </a:solidFill>
                <a:latin typeface="Arial"/>
                <a:ea typeface="Arial"/>
                <a:cs typeface="Arial"/>
              </a:rPr>
              <a:t>This protocol track changes the media architecture and must be evaluated explicitly.</a:t>
            </a:r>
          </a:p>
        </p:txBody>
      </p:sp>
    </p:spTree>
    <p:extLst>
      <p:ext uri="{BB962C8B-B14F-4D97-AF65-F5344CB8AC3E}">
        <p14:creationId xmlns:p14="http://schemas.microsoft.com/office/powerpoint/2010/main" val="372192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C2514451-8A36-4804-8F64-D4D75929D9C0}"/>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86D52B5E-5609-4B1D-A16C-4B08F5E3B20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ESP32-P4 Integrated Rust Platform</a:t>
            </a:r>
          </a:p>
        </p:txBody>
      </p:sp>
      <p:sp>
        <p:nvSpPr>
          <p:cNvPr id="3" name="Rectángulo 2">
            <a:extLst>
              <a:ext uri="{FF2B5EF4-FFF2-40B4-BE49-F238E27FC236}">
                <a16:creationId xmlns:a16="http://schemas.microsoft.com/office/drawing/2014/main" id="{FE8595FF-BF9A-444A-B3CC-76916D84815F}"/>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5B63652C-8B44-4254-AE94-00EF00C7307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30</a:t>
            </a:r>
          </a:p>
        </p:txBody>
      </p:sp>
      <p:sp>
        <p:nvSpPr>
          <p:cNvPr id="5" name="Rectángulo 4">
            <a:extLst>
              <a:ext uri="{FF2B5EF4-FFF2-40B4-BE49-F238E27FC236}">
                <a16:creationId xmlns:a16="http://schemas.microsoft.com/office/drawing/2014/main" id="{4E20405B-9A19-4E89-8A06-55176DC06A78}"/>
              </a:ext>
            </a:extLst>
          </p:cNvPr>
          <p:cNvSpPr>
            <a:spLocks noGrp="1"/>
          </p:cNvSpPr>
          <p:nvPr/>
        </p:nvSpPr>
        <p:spPr>
          <a:xfrm>
            <a:off x="666750" y="1581150"/>
            <a:ext cx="4953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CANDIDATE PLATFORM, NOT IMPLEMENTED</a:t>
            </a:r>
          </a:p>
        </p:txBody>
      </p:sp>
      <p:sp>
        <p:nvSpPr>
          <p:cNvPr id="6" name="Rectángulo: esquinas redondeadas 5">
            <a:extLst>
              <a:ext uri="{FF2B5EF4-FFF2-40B4-BE49-F238E27FC236}">
                <a16:creationId xmlns:a16="http://schemas.microsoft.com/office/drawing/2014/main" id="{16ACCE06-2353-4C10-842E-6E107126FD53}"/>
              </a:ext>
            </a:extLst>
          </p:cNvPr>
          <p:cNvSpPr>
            <a:spLocks noGrp="1"/>
          </p:cNvSpPr>
          <p:nvPr/>
        </p:nvSpPr>
        <p:spPr>
          <a:xfrm>
            <a:off x="762000" y="2400300"/>
            <a:ext cx="1676400" cy="857250"/>
          </a:xfrm>
          <a:prstGeom prst="roundRect">
            <a:avLst>
              <a:gd name="adj" fmla="val 15556"/>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MIPI-CSI</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camera</a:t>
            </a:r>
          </a:p>
        </p:txBody>
      </p:sp>
      <p:sp>
        <p:nvSpPr>
          <p:cNvPr id="7" name="Rectángulo: esquinas redondeadas 6">
            <a:extLst>
              <a:ext uri="{FF2B5EF4-FFF2-40B4-BE49-F238E27FC236}">
                <a16:creationId xmlns:a16="http://schemas.microsoft.com/office/drawing/2014/main" id="{25AEFA47-2B18-4431-B939-E5105D88C3F4}"/>
              </a:ext>
            </a:extLst>
          </p:cNvPr>
          <p:cNvSpPr>
            <a:spLocks noGrp="1"/>
          </p:cNvSpPr>
          <p:nvPr/>
        </p:nvSpPr>
        <p:spPr>
          <a:xfrm>
            <a:off x="2914650" y="2305050"/>
            <a:ext cx="2000250" cy="1047750"/>
          </a:xfrm>
          <a:prstGeom prst="roundRect">
            <a:avLst>
              <a:gd name="adj" fmla="val 1272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ISP +</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H.264 encoder</a:t>
            </a:r>
          </a:p>
        </p:txBody>
      </p:sp>
      <p:sp>
        <p:nvSpPr>
          <p:cNvPr id="8" name="Rectángulo: esquinas redondeadas 7">
            <a:extLst>
              <a:ext uri="{FF2B5EF4-FFF2-40B4-BE49-F238E27FC236}">
                <a16:creationId xmlns:a16="http://schemas.microsoft.com/office/drawing/2014/main" id="{B9FA3AB5-455F-4AF1-9214-ED30410D5C56}"/>
              </a:ext>
            </a:extLst>
          </p:cNvPr>
          <p:cNvSpPr>
            <a:spLocks noGrp="1"/>
          </p:cNvSpPr>
          <p:nvPr/>
        </p:nvSpPr>
        <p:spPr>
          <a:xfrm>
            <a:off x="5391150" y="2209800"/>
            <a:ext cx="2286000" cy="1238250"/>
          </a:xfrm>
          <a:prstGeom prst="roundRect">
            <a:avLst>
              <a:gd name="adj" fmla="val 1076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Rust application</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media + safety state</a:t>
            </a:r>
          </a:p>
        </p:txBody>
      </p:sp>
      <p:sp>
        <p:nvSpPr>
          <p:cNvPr id="9" name="Rectángulo: esquinas redondeadas 8">
            <a:extLst>
              <a:ext uri="{FF2B5EF4-FFF2-40B4-BE49-F238E27FC236}">
                <a16:creationId xmlns:a16="http://schemas.microsoft.com/office/drawing/2014/main" id="{7CC33D2B-90E2-48F2-B78A-ACBBD77C3392}"/>
              </a:ext>
            </a:extLst>
          </p:cNvPr>
          <p:cNvSpPr>
            <a:spLocks noGrp="1"/>
          </p:cNvSpPr>
          <p:nvPr/>
        </p:nvSpPr>
        <p:spPr>
          <a:xfrm>
            <a:off x="8153400" y="2305050"/>
            <a:ext cx="2476500" cy="1047750"/>
          </a:xfrm>
          <a:prstGeom prst="roundRect">
            <a:avLst>
              <a:gd name="adj" fmla="val 1272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Ethernet or</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external radio / modem</a:t>
            </a:r>
          </a:p>
        </p:txBody>
      </p:sp>
      <p:cxnSp>
        <p:nvCxnSpPr>
          <p:cNvPr id="28" name="Conector recto de flecha 27"/>
          <p:cNvCxnSpPr>
            <a:stCxn id="6" idx="3"/>
            <a:endCxn id="7" idx="1"/>
          </p:cNvCxnSpPr>
          <p:nvPr/>
        </p:nvCxnSpPr>
        <p:spPr>
          <a:xfrm>
            <a:off x="2438400" y="2828925"/>
            <a:ext cx="47625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4914900" y="2828925"/>
            <a:ext cx="476250" cy="0"/>
          </a:xfrm>
          <a:prstGeom prst="straightConnector1">
            <a:avLst/>
          </a:prstGeom>
          <a:ln w="19050">
            <a:solidFill>
              <a:srgbClr val="830051"/>
            </a:solidFill>
            <a:prstDash val="solid"/>
            <a:tailEnd type="triangle" w="sm" len="sm"/>
          </a:ln>
        </p:spPr>
      </p:cxnSp>
      <p:cxnSp>
        <p:nvCxnSpPr>
          <p:cNvPr id="30" name="Conector recto de flecha 29"/>
          <p:cNvCxnSpPr>
            <a:stCxn id="8" idx="3"/>
            <a:endCxn id="9" idx="1"/>
          </p:cNvCxnSpPr>
          <p:nvPr/>
        </p:nvCxnSpPr>
        <p:spPr>
          <a:xfrm>
            <a:off x="7677150" y="2828925"/>
            <a:ext cx="476250" cy="0"/>
          </a:xfrm>
          <a:prstGeom prst="straightConnector1">
            <a:avLst/>
          </a:prstGeom>
          <a:ln w="19050">
            <a:solidFill>
              <a:srgbClr val="830051"/>
            </a:solidFill>
            <a:prstDash val="solid"/>
            <a:tailEnd type="triangle" w="sm" len="sm"/>
          </a:ln>
        </p:spPr>
      </p:cxnSp>
      <p:sp>
        <p:nvSpPr>
          <p:cNvPr id="13" name="Rectángulo: esquinas redondeadas 12">
            <a:extLst>
              <a:ext uri="{FF2B5EF4-FFF2-40B4-BE49-F238E27FC236}">
                <a16:creationId xmlns:a16="http://schemas.microsoft.com/office/drawing/2014/main" id="{4F29FD8A-4288-4618-8A22-157196FE25FA}"/>
              </a:ext>
            </a:extLst>
          </p:cNvPr>
          <p:cNvSpPr>
            <a:spLocks noGrp="1"/>
          </p:cNvSpPr>
          <p:nvPr/>
        </p:nvSpPr>
        <p:spPr>
          <a:xfrm>
            <a:off x="666750" y="3905250"/>
            <a:ext cx="10858500" cy="1790700"/>
          </a:xfrm>
          <a:prstGeom prst="roundRect">
            <a:avLst>
              <a:gd name="adj" fmla="val 6383"/>
            </a:avLst>
          </a:prstGeom>
          <a:solidFill>
            <a:srgbClr val="FFFFFF"/>
          </a:solidFill>
          <a:ln w="9525">
            <a:solidFill>
              <a:srgbClr val="E7E3E5"/>
            </a:solidFill>
            <a:prstDash val="solid"/>
          </a:ln>
        </p:spPr>
        <p:txBody>
          <a:bodyPr/>
          <a:lstStyle/>
          <a:p>
            <a:endParaRPr/>
          </a:p>
        </p:txBody>
      </p:sp>
      <p:sp>
        <p:nvSpPr>
          <p:cNvPr id="14" name="Rectángulo 13">
            <a:extLst>
              <a:ext uri="{FF2B5EF4-FFF2-40B4-BE49-F238E27FC236}">
                <a16:creationId xmlns:a16="http://schemas.microsoft.com/office/drawing/2014/main" id="{8CDFE75D-2DD3-4A40-A487-4082F4413711}"/>
              </a:ext>
            </a:extLst>
          </p:cNvPr>
          <p:cNvSpPr>
            <a:spLocks noGrp="1"/>
          </p:cNvSpPr>
          <p:nvPr/>
        </p:nvSpPr>
        <p:spPr>
          <a:xfrm>
            <a:off x="895350" y="4133850"/>
            <a:ext cx="23622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WHY INVESTIGATE</a:t>
            </a:r>
          </a:p>
        </p:txBody>
      </p:sp>
      <p:sp>
        <p:nvSpPr>
          <p:cNvPr id="15" name="Rectángulo 14">
            <a:extLst>
              <a:ext uri="{FF2B5EF4-FFF2-40B4-BE49-F238E27FC236}">
                <a16:creationId xmlns:a16="http://schemas.microsoft.com/office/drawing/2014/main" id="{493378E4-28FA-4741-BA9D-23F8421740F4}"/>
              </a:ext>
            </a:extLst>
          </p:cNvPr>
          <p:cNvSpPr>
            <a:spLocks noGrp="1"/>
          </p:cNvSpPr>
          <p:nvPr/>
        </p:nvSpPr>
        <p:spPr>
          <a:xfrm>
            <a:off x="895350" y="4514850"/>
            <a:ext cx="2857500" cy="1047750"/>
          </a:xfrm>
          <a:prstGeom prst="rect">
            <a:avLst/>
          </a:prstGeom>
          <a:noFill/>
          <a:ln w="0">
            <a:noFill/>
          </a:ln>
        </p:spPr>
        <p:txBody>
          <a:bodyPr wrap="square" lIns="0" tIns="0" rIns="0" bIns="0" anchor="t">
            <a:noAutofit/>
          </a:bodyPr>
          <a:lstStyle/>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Dual-core RISC-V</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Camera + ISP</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Hardware H.264</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Ethernet MAC</a:t>
            </a:r>
          </a:p>
        </p:txBody>
      </p:sp>
      <p:sp>
        <p:nvSpPr>
          <p:cNvPr id="16" name="Rectángulo 15">
            <a:extLst>
              <a:ext uri="{FF2B5EF4-FFF2-40B4-BE49-F238E27FC236}">
                <a16:creationId xmlns:a16="http://schemas.microsoft.com/office/drawing/2014/main" id="{C282155D-8D21-4F6B-A286-8948F21B6C3A}"/>
              </a:ext>
            </a:extLst>
          </p:cNvPr>
          <p:cNvSpPr>
            <a:spLocks noGrp="1"/>
          </p:cNvSpPr>
          <p:nvPr/>
        </p:nvSpPr>
        <p:spPr>
          <a:xfrm>
            <a:off x="4476750" y="4133850"/>
            <a:ext cx="23622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OPEN QUESTIONS</a:t>
            </a:r>
          </a:p>
        </p:txBody>
      </p:sp>
      <p:sp>
        <p:nvSpPr>
          <p:cNvPr id="17" name="Rectángulo 16">
            <a:extLst>
              <a:ext uri="{FF2B5EF4-FFF2-40B4-BE49-F238E27FC236}">
                <a16:creationId xmlns:a16="http://schemas.microsoft.com/office/drawing/2014/main" id="{DF13E665-010D-48AA-B8A5-3FC41545C1C1}"/>
              </a:ext>
            </a:extLst>
          </p:cNvPr>
          <p:cNvSpPr>
            <a:spLocks noGrp="1"/>
          </p:cNvSpPr>
          <p:nvPr/>
        </p:nvSpPr>
        <p:spPr>
          <a:xfrm>
            <a:off x="4476750" y="4514850"/>
            <a:ext cx="6191250" cy="1047750"/>
          </a:xfrm>
          <a:prstGeom prst="rect">
            <a:avLst/>
          </a:prstGeom>
          <a:noFill/>
          <a:ln w="0">
            <a:noFill/>
          </a:ln>
        </p:spPr>
        <p:txBody>
          <a:bodyPr wrap="square" lIns="0" tIns="0" rIns="0" bIns="0" anchor="t">
            <a:noAutofit/>
          </a:bodyPr>
          <a:lstStyle/>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WebRTC stack and memory budget</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Rust driver maturity</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Thermal and power envelope</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5G modem integration</a:t>
            </a:r>
          </a:p>
        </p:txBody>
      </p:sp>
      <p:sp>
        <p:nvSpPr>
          <p:cNvPr id="18" name="Rectángulo 17">
            <a:extLst>
              <a:ext uri="{FF2B5EF4-FFF2-40B4-BE49-F238E27FC236}">
                <a16:creationId xmlns:a16="http://schemas.microsoft.com/office/drawing/2014/main" id="{35F98F14-64C1-4F3C-913B-756E2FE5182E}"/>
              </a:ext>
            </a:extLst>
          </p:cNvPr>
          <p:cNvSpPr>
            <a:spLocks noGrp="1"/>
          </p:cNvSpPr>
          <p:nvPr/>
        </p:nvSpPr>
        <p:spPr>
          <a:xfrm>
            <a:off x="1466850" y="5886450"/>
            <a:ext cx="9258300" cy="266700"/>
          </a:xfrm>
          <a:prstGeom prst="rect">
            <a:avLst/>
          </a:prstGeom>
          <a:noFill/>
          <a:ln w="0">
            <a:noFill/>
          </a:ln>
        </p:spPr>
        <p:txBody>
          <a:bodyPr wrap="square" lIns="0" tIns="0" rIns="0" bIns="0" anchor="t">
            <a:noAutofit/>
          </a:bodyPr>
          <a:lstStyle/>
          <a:p>
            <a:pPr algn="ctr">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Espressif documents H.264 encode up to 1080p30. End-to-end feasibility still requires a prototype.</a:t>
            </a:r>
          </a:p>
        </p:txBody>
      </p:sp>
    </p:spTree>
    <p:extLst>
      <p:ext uri="{BB962C8B-B14F-4D97-AF65-F5344CB8AC3E}">
        <p14:creationId xmlns:p14="http://schemas.microsoft.com/office/powerpoint/2010/main" val="8533198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71417"/>
        </a:solidFill>
        <a:effectLst/>
      </p:bgPr>
    </p:bg>
    <p:spTree>
      <p:nvGrpSpPr>
        <p:cNvPr id="1" name=""/>
        <p:cNvGrpSpPr/>
        <p:nvPr/>
      </p:nvGrpSpPr>
      <p:grpSpPr>
        <a:xfrm>
          <a:off x="0" y="0"/>
          <a:ext cx="0" cy="0"/>
          <a:chOff x="0" y="0"/>
          <a:chExt cx="0" cy="0"/>
        </a:xfrm>
      </p:grpSpPr>
      <p:pic>
        <p:nvPicPr>
          <p:cNvPr id="9" name="Imagen 8"/>
          <p:cNvPicPr>
            <a:picLocks noChangeAspect="1"/>
          </p:cNvPicPr>
          <p:nvPr/>
        </p:nvPicPr>
        <p:blipFill>
          <a:blip r:embed="rId3"/>
          <a:srcRect t="27" b="27"/>
          <a:stretch>
            <a:fillRect/>
          </a:stretch>
        </p:blipFill>
        <p:spPr>
          <a:xfrm>
            <a:off x="0" y="0"/>
            <a:ext cx="12192000" cy="6858000"/>
          </a:xfrm>
          <a:prstGeom prst="roundRect">
            <a:avLst/>
          </a:prstGeom>
        </p:spPr>
      </p:pic>
      <p:sp>
        <p:nvSpPr>
          <p:cNvPr id="2" name="Rectángulo 1">
            <a:extLst>
              <a:ext uri="{FF2B5EF4-FFF2-40B4-BE49-F238E27FC236}">
                <a16:creationId xmlns:a16="http://schemas.microsoft.com/office/drawing/2014/main" id="{C10CE48B-9BFC-4BBF-B895-24F3A52485F8}"/>
              </a:ext>
            </a:extLst>
          </p:cNvPr>
          <p:cNvSpPr>
            <a:spLocks noGrp="1"/>
          </p:cNvSpPr>
          <p:nvPr/>
        </p:nvSpPr>
        <p:spPr>
          <a:xfrm>
            <a:off x="0" y="0"/>
            <a:ext cx="12192000" cy="1428750"/>
          </a:xfrm>
          <a:prstGeom prst="rect">
            <a:avLst/>
          </a:prstGeom>
          <a:solidFill>
            <a:srgbClr val="000000">
              <a:alpha val="62000"/>
            </a:srgbClr>
          </a:solidFill>
          <a:ln w="0">
            <a:noFill/>
          </a:ln>
        </p:spPr>
        <p:txBody>
          <a:bodyPr/>
          <a:lstStyle/>
          <a:p>
            <a:endParaRPr/>
          </a:p>
        </p:txBody>
      </p:sp>
      <p:sp>
        <p:nvSpPr>
          <p:cNvPr id="3" name="Rectángulo 2">
            <a:extLst>
              <a:ext uri="{FF2B5EF4-FFF2-40B4-BE49-F238E27FC236}">
                <a16:creationId xmlns:a16="http://schemas.microsoft.com/office/drawing/2014/main" id="{920D416F-39E1-4B6A-BD82-F3EA394368E2}"/>
              </a:ext>
            </a:extLst>
          </p:cNvPr>
          <p:cNvSpPr>
            <a:spLocks noGrp="1"/>
          </p:cNvSpPr>
          <p:nvPr/>
        </p:nvSpPr>
        <p:spPr>
          <a:xfrm>
            <a:off x="514350" y="24765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POTENTIAL APPLICATIONS</a:t>
            </a:r>
          </a:p>
        </p:txBody>
      </p:sp>
      <p:sp>
        <p:nvSpPr>
          <p:cNvPr id="4" name="Rectángulo 3">
            <a:extLst>
              <a:ext uri="{FF2B5EF4-FFF2-40B4-BE49-F238E27FC236}">
                <a16:creationId xmlns:a16="http://schemas.microsoft.com/office/drawing/2014/main" id="{25494355-39FC-4612-BB4B-48ABF715D670}"/>
              </a:ext>
            </a:extLst>
          </p:cNvPr>
          <p:cNvSpPr>
            <a:spLocks noGrp="1"/>
          </p:cNvSpPr>
          <p:nvPr/>
        </p:nvSpPr>
        <p:spPr>
          <a:xfrm>
            <a:off x="514350" y="571500"/>
            <a:ext cx="10572750" cy="685800"/>
          </a:xfrm>
          <a:prstGeom prst="rect">
            <a:avLst/>
          </a:prstGeom>
          <a:noFill/>
          <a:ln w="0">
            <a:noFill/>
          </a:ln>
        </p:spPr>
        <p:txBody>
          <a:bodyPr wrap="square" lIns="0" tIns="0" rIns="0" bIns="0" anchor="ctr">
            <a:noAutofit/>
          </a:bodyPr>
          <a:lstStyle/>
          <a:p>
            <a:pPr algn="l">
              <a:lnSpc>
                <a:spcPct val="104000"/>
              </a:lnSpc>
              <a:buNone/>
              <a:defRPr sz="3225" b="1">
                <a:solidFill>
                  <a:srgbClr val="FFFFFF"/>
                </a:solidFill>
                <a:latin typeface="Arial"/>
                <a:ea typeface="Arial"/>
                <a:cs typeface="Arial"/>
              </a:defRPr>
            </a:pPr>
            <a:r>
              <a:rPr sz="3225" b="1">
                <a:solidFill>
                  <a:srgbClr val="FFFFFF"/>
                </a:solidFill>
                <a:latin typeface="Arial"/>
                <a:ea typeface="Arial"/>
                <a:cs typeface="Arial"/>
              </a:rPr>
              <a:t>Autonomous Motorway Driving with Remote Final Approach</a:t>
            </a:r>
          </a:p>
        </p:txBody>
      </p:sp>
      <p:sp>
        <p:nvSpPr>
          <p:cNvPr id="5" name="Rectángulo 4">
            <a:extLst>
              <a:ext uri="{FF2B5EF4-FFF2-40B4-BE49-F238E27FC236}">
                <a16:creationId xmlns:a16="http://schemas.microsoft.com/office/drawing/2014/main" id="{565AE33F-3F2C-4F06-A816-E1EEE0D17B8D}"/>
              </a:ext>
            </a:extLst>
          </p:cNvPr>
          <p:cNvSpPr>
            <a:spLocks noGrp="1"/>
          </p:cNvSpPr>
          <p:nvPr/>
        </p:nvSpPr>
        <p:spPr>
          <a:xfrm>
            <a:off x="0" y="4953000"/>
            <a:ext cx="12192000" cy="1905000"/>
          </a:xfrm>
          <a:prstGeom prst="rect">
            <a:avLst/>
          </a:prstGeom>
          <a:solidFill>
            <a:srgbClr val="000000">
              <a:alpha val="70000"/>
            </a:srgbClr>
          </a:solidFill>
          <a:ln w="0">
            <a:noFill/>
          </a:ln>
        </p:spPr>
        <p:txBody>
          <a:bodyPr/>
          <a:lstStyle/>
          <a:p>
            <a:endParaRPr/>
          </a:p>
        </p:txBody>
      </p:sp>
      <p:sp>
        <p:nvSpPr>
          <p:cNvPr id="6" name="Rectángulo 5">
            <a:extLst>
              <a:ext uri="{FF2B5EF4-FFF2-40B4-BE49-F238E27FC236}">
                <a16:creationId xmlns:a16="http://schemas.microsoft.com/office/drawing/2014/main" id="{F737B2D3-9E24-404E-9E15-545D4816465B}"/>
              </a:ext>
            </a:extLst>
          </p:cNvPr>
          <p:cNvSpPr>
            <a:spLocks noGrp="1"/>
          </p:cNvSpPr>
          <p:nvPr/>
        </p:nvSpPr>
        <p:spPr>
          <a:xfrm>
            <a:off x="552450" y="5219700"/>
            <a:ext cx="8191500" cy="838200"/>
          </a:xfrm>
          <a:prstGeom prst="rect">
            <a:avLst/>
          </a:prstGeom>
          <a:noFill/>
          <a:ln w="0">
            <a:noFill/>
          </a:ln>
        </p:spPr>
        <p:txBody>
          <a:bodyPr wrap="square" lIns="0" tIns="0" rIns="0" bIns="0" anchor="t">
            <a:noAutofit/>
          </a:bodyPr>
          <a:lstStyle/>
          <a:p>
            <a:pPr algn="l">
              <a:lnSpc>
                <a:spcPct val="104000"/>
              </a:lnSpc>
              <a:buNone/>
              <a:defRPr sz="1950" b="1">
                <a:solidFill>
                  <a:srgbClr val="FFFFFF"/>
                </a:solidFill>
                <a:latin typeface="Arial"/>
                <a:ea typeface="Arial"/>
                <a:cs typeface="Arial"/>
              </a:defRPr>
            </a:pPr>
            <a:r>
              <a:rPr sz="1950" b="1">
                <a:solidFill>
                  <a:srgbClr val="FFFFFF"/>
                </a:solidFill>
                <a:latin typeface="Arial"/>
                <a:ea typeface="Arial"/>
                <a:cs typeface="Arial"/>
              </a:rPr>
              <a:t>A truck handles the long motorway segment autonomously. A remote driver takes over for depot entry, loading areas, and other complex final manoeuvres.</a:t>
            </a:r>
          </a:p>
        </p:txBody>
      </p:sp>
      <p:sp>
        <p:nvSpPr>
          <p:cNvPr id="7" name="Rectángulo 6">
            <a:extLst>
              <a:ext uri="{FF2B5EF4-FFF2-40B4-BE49-F238E27FC236}">
                <a16:creationId xmlns:a16="http://schemas.microsoft.com/office/drawing/2014/main" id="{0E4CEA42-9524-463F-B871-F4D801D14D1D}"/>
              </a:ext>
            </a:extLst>
          </p:cNvPr>
          <p:cNvSpPr>
            <a:spLocks noGrp="1"/>
          </p:cNvSpPr>
          <p:nvPr/>
        </p:nvSpPr>
        <p:spPr>
          <a:xfrm>
            <a:off x="9010650" y="5219700"/>
            <a:ext cx="2628900" cy="1066800"/>
          </a:xfrm>
          <a:prstGeom prst="rect">
            <a:avLst/>
          </a:prstGeom>
          <a:noFill/>
          <a:ln w="0">
            <a:noFill/>
          </a:ln>
        </p:spPr>
        <p:txBody>
          <a:bodyPr wrap="square" lIns="0" tIns="0" rIns="0" bIns="0" anchor="t">
            <a:noAutofit/>
          </a:bodyPr>
          <a:lstStyle/>
          <a:p>
            <a:pPr algn="r">
              <a:lnSpc>
                <a:spcPct val="104000"/>
              </a:lnSpc>
              <a:buNone/>
              <a:defRPr sz="1350" b="0">
                <a:solidFill>
                  <a:srgbClr val="FFFFFF"/>
                </a:solidFill>
                <a:latin typeface="Arial"/>
                <a:ea typeface="Arial"/>
                <a:cs typeface="Arial"/>
              </a:defRPr>
            </a:pPr>
            <a:r>
              <a:rPr sz="1350" b="0">
                <a:solidFill>
                  <a:srgbClr val="FFFFFF"/>
                </a:solidFill>
                <a:latin typeface="Arial"/>
                <a:ea typeface="Arial"/>
                <a:cs typeface="Arial"/>
              </a:rPr>
              <a:t>This project contributes the low-latency video path. Safe teleoperation also requires redundant control, vehicle safety systems, and operational approval.</a:t>
            </a:r>
          </a:p>
        </p:txBody>
      </p:sp>
      <p:sp>
        <p:nvSpPr>
          <p:cNvPr id="8" name="Rectángulo 7">
            <a:extLst>
              <a:ext uri="{FF2B5EF4-FFF2-40B4-BE49-F238E27FC236}">
                <a16:creationId xmlns:a16="http://schemas.microsoft.com/office/drawing/2014/main" id="{7DDE27EF-9022-417A-9056-80B5A929B78C}"/>
              </a:ext>
            </a:extLst>
          </p:cNvPr>
          <p:cNvSpPr>
            <a:spLocks noGrp="1"/>
          </p:cNvSpPr>
          <p:nvPr/>
        </p:nvSpPr>
        <p:spPr>
          <a:xfrm>
            <a:off x="9525000" y="6496050"/>
            <a:ext cx="2114550" cy="171450"/>
          </a:xfrm>
          <a:prstGeom prst="rect">
            <a:avLst/>
          </a:prstGeom>
          <a:noFill/>
          <a:ln w="0">
            <a:noFill/>
          </a:ln>
        </p:spPr>
        <p:txBody>
          <a:bodyPr wrap="square" lIns="0" tIns="0" rIns="0" bIns="0" anchor="t">
            <a:noAutofit/>
          </a:bodyPr>
          <a:lstStyle/>
          <a:p>
            <a:pPr algn="r">
              <a:lnSpc>
                <a:spcPct val="104000"/>
              </a:lnSpc>
              <a:buNone/>
              <a:defRPr sz="975" b="1">
                <a:solidFill>
                  <a:srgbClr val="FFFFFF"/>
                </a:solidFill>
                <a:latin typeface="Arial"/>
                <a:ea typeface="Arial"/>
                <a:cs typeface="Arial"/>
              </a:defRPr>
            </a:pPr>
            <a:r>
              <a:rPr sz="975" b="1">
                <a:solidFill>
                  <a:srgbClr val="FFFFFF"/>
                </a:solidFill>
                <a:latin typeface="Arial"/>
                <a:ea typeface="Arial"/>
                <a:cs typeface="Arial"/>
              </a:rPr>
              <a:t>CONCEPT ILLUSTRATION</a:t>
            </a:r>
          </a:p>
        </p:txBody>
      </p:sp>
    </p:spTree>
    <p:extLst>
      <p:ext uri="{BB962C8B-B14F-4D97-AF65-F5344CB8AC3E}">
        <p14:creationId xmlns:p14="http://schemas.microsoft.com/office/powerpoint/2010/main" val="6143485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71417"/>
        </a:solidFill>
        <a:effectLst/>
      </p:bgPr>
    </p:bg>
    <p:spTree>
      <p:nvGrpSpPr>
        <p:cNvPr id="1" name=""/>
        <p:cNvGrpSpPr/>
        <p:nvPr/>
      </p:nvGrpSpPr>
      <p:grpSpPr>
        <a:xfrm>
          <a:off x="0" y="0"/>
          <a:ext cx="0" cy="0"/>
          <a:chOff x="0" y="0"/>
          <a:chExt cx="0" cy="0"/>
        </a:xfrm>
      </p:grpSpPr>
      <p:pic>
        <p:nvPicPr>
          <p:cNvPr id="13" name="Imagen 12"/>
          <p:cNvPicPr>
            <a:picLocks noChangeAspect="1"/>
          </p:cNvPicPr>
          <p:nvPr/>
        </p:nvPicPr>
        <p:blipFill>
          <a:blip r:embed="rId3"/>
          <a:srcRect t="27" b="27"/>
          <a:stretch>
            <a:fillRect/>
          </a:stretch>
        </p:blipFill>
        <p:spPr>
          <a:xfrm>
            <a:off x="0" y="0"/>
            <a:ext cx="12192000" cy="6858000"/>
          </a:xfrm>
          <a:prstGeom prst="roundRect">
            <a:avLst/>
          </a:prstGeom>
        </p:spPr>
      </p:pic>
      <p:sp>
        <p:nvSpPr>
          <p:cNvPr id="2" name="Rectángulo 1">
            <a:extLst>
              <a:ext uri="{FF2B5EF4-FFF2-40B4-BE49-F238E27FC236}">
                <a16:creationId xmlns:a16="http://schemas.microsoft.com/office/drawing/2014/main" id="{24607529-79C1-45A2-82E2-1718A25ED2E1}"/>
              </a:ext>
            </a:extLst>
          </p:cNvPr>
          <p:cNvSpPr>
            <a:spLocks noGrp="1"/>
          </p:cNvSpPr>
          <p:nvPr/>
        </p:nvSpPr>
        <p:spPr>
          <a:xfrm>
            <a:off x="0" y="0"/>
            <a:ext cx="12192000" cy="1371600"/>
          </a:xfrm>
          <a:prstGeom prst="rect">
            <a:avLst/>
          </a:prstGeom>
          <a:solidFill>
            <a:srgbClr val="000000">
              <a:alpha val="58000"/>
            </a:srgbClr>
          </a:solidFill>
          <a:ln w="0">
            <a:noFill/>
          </a:ln>
        </p:spPr>
        <p:txBody>
          <a:bodyPr/>
          <a:lstStyle/>
          <a:p>
            <a:endParaRPr/>
          </a:p>
        </p:txBody>
      </p:sp>
      <p:sp>
        <p:nvSpPr>
          <p:cNvPr id="3" name="Rectángulo 2">
            <a:extLst>
              <a:ext uri="{FF2B5EF4-FFF2-40B4-BE49-F238E27FC236}">
                <a16:creationId xmlns:a16="http://schemas.microsoft.com/office/drawing/2014/main" id="{C711203A-72ED-4C81-87C9-057255158CAD}"/>
              </a:ext>
            </a:extLst>
          </p:cNvPr>
          <p:cNvSpPr>
            <a:spLocks noGrp="1"/>
          </p:cNvSpPr>
          <p:nvPr/>
        </p:nvSpPr>
        <p:spPr>
          <a:xfrm>
            <a:off x="514350" y="22860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POTENTIAL APPLICATIONS</a:t>
            </a:r>
          </a:p>
        </p:txBody>
      </p:sp>
      <p:sp>
        <p:nvSpPr>
          <p:cNvPr id="4" name="Rectángulo 3">
            <a:extLst>
              <a:ext uri="{FF2B5EF4-FFF2-40B4-BE49-F238E27FC236}">
                <a16:creationId xmlns:a16="http://schemas.microsoft.com/office/drawing/2014/main" id="{9A3E752F-69EB-4284-916E-81B5C4E5F206}"/>
              </a:ext>
            </a:extLst>
          </p:cNvPr>
          <p:cNvSpPr>
            <a:spLocks noGrp="1"/>
          </p:cNvSpPr>
          <p:nvPr/>
        </p:nvSpPr>
        <p:spPr>
          <a:xfrm>
            <a:off x="514350" y="571500"/>
            <a:ext cx="8572500" cy="609600"/>
          </a:xfrm>
          <a:prstGeom prst="rect">
            <a:avLst/>
          </a:prstGeom>
          <a:noFill/>
          <a:ln w="0">
            <a:noFill/>
          </a:ln>
        </p:spPr>
        <p:txBody>
          <a:bodyPr wrap="square" lIns="0" tIns="0" rIns="0" bIns="0" anchor="t">
            <a:noAutofit/>
          </a:bodyPr>
          <a:lstStyle/>
          <a:p>
            <a:pPr algn="l">
              <a:lnSpc>
                <a:spcPct val="104000"/>
              </a:lnSpc>
              <a:buNone/>
              <a:defRPr sz="3450" b="1">
                <a:solidFill>
                  <a:srgbClr val="FFFFFF"/>
                </a:solidFill>
                <a:latin typeface="Arial"/>
                <a:ea typeface="Arial"/>
                <a:cs typeface="Arial"/>
              </a:defRPr>
            </a:pPr>
            <a:r>
              <a:rPr sz="3450" b="1">
                <a:solidFill>
                  <a:srgbClr val="FFFFFF"/>
                </a:solidFill>
                <a:latin typeface="Arial"/>
                <a:ea typeface="Arial"/>
                <a:cs typeface="Arial"/>
              </a:rPr>
              <a:t>Teleoperated Heavy Vehicles</a:t>
            </a:r>
          </a:p>
        </p:txBody>
      </p:sp>
      <p:sp>
        <p:nvSpPr>
          <p:cNvPr id="5" name="Rectángulo 4">
            <a:extLst>
              <a:ext uri="{FF2B5EF4-FFF2-40B4-BE49-F238E27FC236}">
                <a16:creationId xmlns:a16="http://schemas.microsoft.com/office/drawing/2014/main" id="{674CA4BF-056A-4109-8299-CF59C7D19F79}"/>
              </a:ext>
            </a:extLst>
          </p:cNvPr>
          <p:cNvSpPr>
            <a:spLocks noGrp="1"/>
          </p:cNvSpPr>
          <p:nvPr/>
        </p:nvSpPr>
        <p:spPr>
          <a:xfrm>
            <a:off x="0" y="4953000"/>
            <a:ext cx="12192000" cy="1905000"/>
          </a:xfrm>
          <a:prstGeom prst="rect">
            <a:avLst/>
          </a:prstGeom>
          <a:solidFill>
            <a:srgbClr val="000000">
              <a:alpha val="72000"/>
            </a:srgbClr>
          </a:solidFill>
          <a:ln w="0">
            <a:noFill/>
          </a:ln>
        </p:spPr>
        <p:txBody>
          <a:bodyPr/>
          <a:lstStyle/>
          <a:p>
            <a:endParaRPr/>
          </a:p>
        </p:txBody>
      </p:sp>
      <p:sp>
        <p:nvSpPr>
          <p:cNvPr id="6" name="Rectángulo 5">
            <a:extLst>
              <a:ext uri="{FF2B5EF4-FFF2-40B4-BE49-F238E27FC236}">
                <a16:creationId xmlns:a16="http://schemas.microsoft.com/office/drawing/2014/main" id="{2A99DD78-DB96-4215-A956-C0BD1D55845A}"/>
              </a:ext>
            </a:extLst>
          </p:cNvPr>
          <p:cNvSpPr>
            <a:spLocks noGrp="1"/>
          </p:cNvSpPr>
          <p:nvPr/>
        </p:nvSpPr>
        <p:spPr>
          <a:xfrm>
            <a:off x="55245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CRANES</a:t>
            </a:r>
          </a:p>
        </p:txBody>
      </p:sp>
      <p:sp>
        <p:nvSpPr>
          <p:cNvPr id="7" name="Rectángulo 6">
            <a:extLst>
              <a:ext uri="{FF2B5EF4-FFF2-40B4-BE49-F238E27FC236}">
                <a16:creationId xmlns:a16="http://schemas.microsoft.com/office/drawing/2014/main" id="{0C76CD3A-173F-45E8-868F-06C319AAABC9}"/>
              </a:ext>
            </a:extLst>
          </p:cNvPr>
          <p:cNvSpPr>
            <a:spLocks noGrp="1"/>
          </p:cNvSpPr>
          <p:nvPr/>
        </p:nvSpPr>
        <p:spPr>
          <a:xfrm>
            <a:off x="55245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Move operators away from suspended loads</a:t>
            </a:r>
          </a:p>
        </p:txBody>
      </p:sp>
      <p:sp>
        <p:nvSpPr>
          <p:cNvPr id="8" name="Rectángulo 7">
            <a:extLst>
              <a:ext uri="{FF2B5EF4-FFF2-40B4-BE49-F238E27FC236}">
                <a16:creationId xmlns:a16="http://schemas.microsoft.com/office/drawing/2014/main" id="{8066C5AB-1C58-405D-B164-5F94889FDFF1}"/>
              </a:ext>
            </a:extLst>
          </p:cNvPr>
          <p:cNvSpPr>
            <a:spLocks noGrp="1"/>
          </p:cNvSpPr>
          <p:nvPr/>
        </p:nvSpPr>
        <p:spPr>
          <a:xfrm>
            <a:off x="445770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MINING</a:t>
            </a:r>
          </a:p>
        </p:txBody>
      </p:sp>
      <p:sp>
        <p:nvSpPr>
          <p:cNvPr id="9" name="Rectángulo 8">
            <a:extLst>
              <a:ext uri="{FF2B5EF4-FFF2-40B4-BE49-F238E27FC236}">
                <a16:creationId xmlns:a16="http://schemas.microsoft.com/office/drawing/2014/main" id="{E8D0222C-1FFC-46DA-ABBC-0BD84CB00ED5}"/>
              </a:ext>
            </a:extLst>
          </p:cNvPr>
          <p:cNvSpPr>
            <a:spLocks noGrp="1"/>
          </p:cNvSpPr>
          <p:nvPr/>
        </p:nvSpPr>
        <p:spPr>
          <a:xfrm>
            <a:off x="445770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Operate in dust, heat, and unstable terrain</a:t>
            </a:r>
          </a:p>
        </p:txBody>
      </p:sp>
      <p:sp>
        <p:nvSpPr>
          <p:cNvPr id="10" name="Rectángulo 9">
            <a:extLst>
              <a:ext uri="{FF2B5EF4-FFF2-40B4-BE49-F238E27FC236}">
                <a16:creationId xmlns:a16="http://schemas.microsoft.com/office/drawing/2014/main" id="{BE0E2B92-8031-4D26-8FBF-44E1EB7432BC}"/>
              </a:ext>
            </a:extLst>
          </p:cNvPr>
          <p:cNvSpPr>
            <a:spLocks noGrp="1"/>
          </p:cNvSpPr>
          <p:nvPr/>
        </p:nvSpPr>
        <p:spPr>
          <a:xfrm>
            <a:off x="836295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WORKBOATS</a:t>
            </a:r>
          </a:p>
        </p:txBody>
      </p:sp>
      <p:sp>
        <p:nvSpPr>
          <p:cNvPr id="11" name="Rectángulo 10">
            <a:extLst>
              <a:ext uri="{FF2B5EF4-FFF2-40B4-BE49-F238E27FC236}">
                <a16:creationId xmlns:a16="http://schemas.microsoft.com/office/drawing/2014/main" id="{55FF1748-97BC-4790-BCF1-FE9AE78A4BFE}"/>
              </a:ext>
            </a:extLst>
          </p:cNvPr>
          <p:cNvSpPr>
            <a:spLocks noGrp="1"/>
          </p:cNvSpPr>
          <p:nvPr/>
        </p:nvSpPr>
        <p:spPr>
          <a:xfrm>
            <a:off x="836295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Support manoeuvres in hazardous port areas</a:t>
            </a:r>
          </a:p>
        </p:txBody>
      </p:sp>
      <p:sp>
        <p:nvSpPr>
          <p:cNvPr id="12" name="Rectángulo 11">
            <a:extLst>
              <a:ext uri="{FF2B5EF4-FFF2-40B4-BE49-F238E27FC236}">
                <a16:creationId xmlns:a16="http://schemas.microsoft.com/office/drawing/2014/main" id="{CA9B1748-E8A5-483A-BCBB-1FAFEA0406EC}"/>
              </a:ext>
            </a:extLst>
          </p:cNvPr>
          <p:cNvSpPr>
            <a:spLocks noGrp="1"/>
          </p:cNvSpPr>
          <p:nvPr/>
        </p:nvSpPr>
        <p:spPr>
          <a:xfrm>
            <a:off x="3695700" y="6419850"/>
            <a:ext cx="7943850" cy="190500"/>
          </a:xfrm>
          <a:prstGeom prst="rect">
            <a:avLst/>
          </a:prstGeom>
          <a:noFill/>
          <a:ln w="0">
            <a:noFill/>
          </a:ln>
        </p:spPr>
        <p:txBody>
          <a:bodyPr wrap="square" lIns="0" tIns="0" rIns="0" bIns="0" anchor="t">
            <a:noAutofit/>
          </a:bodyPr>
          <a:lstStyle/>
          <a:p>
            <a:pPr algn="r">
              <a:lnSpc>
                <a:spcPct val="104000"/>
              </a:lnSpc>
              <a:buNone/>
              <a:defRPr sz="1125" b="0">
                <a:solidFill>
                  <a:srgbClr val="FFFFFF"/>
                </a:solidFill>
                <a:latin typeface="Arial"/>
                <a:ea typeface="Arial"/>
                <a:cs typeface="Arial"/>
              </a:defRPr>
            </a:pPr>
            <a:r>
              <a:rPr sz="1125" b="0">
                <a:solidFill>
                  <a:srgbClr val="FFFFFF"/>
                </a:solidFill>
                <a:latin typeface="Arial"/>
                <a:ea typeface="Arial"/>
                <a:cs typeface="Arial"/>
              </a:rPr>
              <a:t>Concept only. Production systems require redundant command paths and task-specific safety engineering.</a:t>
            </a:r>
          </a:p>
        </p:txBody>
      </p:sp>
    </p:spTree>
    <p:extLst>
      <p:ext uri="{BB962C8B-B14F-4D97-AF65-F5344CB8AC3E}">
        <p14:creationId xmlns:p14="http://schemas.microsoft.com/office/powerpoint/2010/main" val="20965163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6" name="Rectángulo 15">
            <a:extLst>
              <a:ext uri="{FF2B5EF4-FFF2-40B4-BE49-F238E27FC236}">
                <a16:creationId xmlns:a16="http://schemas.microsoft.com/office/drawing/2014/main" id="{7D327E33-67C5-4395-AA23-705F7041820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947E90A0-597C-49E8-995F-75D2F326944D}"/>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Demo Setup</a:t>
            </a:r>
          </a:p>
        </p:txBody>
      </p:sp>
      <p:sp>
        <p:nvSpPr>
          <p:cNvPr id="3" name="Rectángulo 2">
            <a:extLst>
              <a:ext uri="{FF2B5EF4-FFF2-40B4-BE49-F238E27FC236}">
                <a16:creationId xmlns:a16="http://schemas.microsoft.com/office/drawing/2014/main" id="{3BAE89E8-DE3A-4498-959A-8E4EDACBA4E0}"/>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548C60C3-64B3-4E46-8D48-6A830D99E504}"/>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33</a:t>
            </a:r>
          </a:p>
        </p:txBody>
      </p:sp>
      <p:sp>
        <p:nvSpPr>
          <p:cNvPr id="5" name="Rectángulo: esquinas redondeadas 4">
            <a:extLst>
              <a:ext uri="{FF2B5EF4-FFF2-40B4-BE49-F238E27FC236}">
                <a16:creationId xmlns:a16="http://schemas.microsoft.com/office/drawing/2014/main" id="{3DF02DA2-5B6A-47E7-BA77-2D8527C7CEC9}"/>
              </a:ext>
            </a:extLst>
          </p:cNvPr>
          <p:cNvSpPr>
            <a:spLocks noGrp="1"/>
          </p:cNvSpPr>
          <p:nvPr/>
        </p:nvSpPr>
        <p:spPr>
          <a:xfrm>
            <a:off x="571500" y="1638300"/>
            <a:ext cx="6705600" cy="3581400"/>
          </a:xfrm>
          <a:prstGeom prst="roundRect">
            <a:avLst>
              <a:gd name="adj" fmla="val 2660"/>
            </a:avLst>
          </a:prstGeom>
          <a:solidFill>
            <a:srgbClr val="FFFFFF"/>
          </a:solidFill>
          <a:ln w="9525">
            <a:solidFill>
              <a:srgbClr val="E7E3E5"/>
            </a:solidFill>
            <a:prstDash val="solid"/>
          </a:ln>
        </p:spPr>
        <p:txBody>
          <a:bodyPr/>
          <a:lstStyle/>
          <a:p>
            <a:endParaRPr/>
          </a:p>
        </p:txBody>
      </p:sp>
      <p:pic>
        <p:nvPicPr>
          <p:cNvPr id="21" name="Imagen 20"/>
          <p:cNvPicPr>
            <a:picLocks noChangeAspect="1"/>
          </p:cNvPicPr>
          <p:nvPr/>
        </p:nvPicPr>
        <p:blipFill>
          <a:blip r:embed="rId3"/>
          <a:srcRect l="51" r="51"/>
          <a:stretch>
            <a:fillRect/>
          </a:stretch>
        </p:blipFill>
        <p:spPr>
          <a:xfrm>
            <a:off x="590550" y="1657350"/>
            <a:ext cx="6667500" cy="3543300"/>
          </a:xfrm>
          <a:prstGeom prst="roundRect">
            <a:avLst/>
          </a:prstGeom>
        </p:spPr>
      </p:pic>
      <p:sp>
        <p:nvSpPr>
          <p:cNvPr id="7" name="Rectángulo 6">
            <a:extLst>
              <a:ext uri="{FF2B5EF4-FFF2-40B4-BE49-F238E27FC236}">
                <a16:creationId xmlns:a16="http://schemas.microsoft.com/office/drawing/2014/main" id="{20E4B4F0-943C-43D1-945C-489FAAA3AAF1}"/>
              </a:ext>
            </a:extLst>
          </p:cNvPr>
          <p:cNvSpPr>
            <a:spLocks noGrp="1"/>
          </p:cNvSpPr>
          <p:nvPr/>
        </p:nvSpPr>
        <p:spPr>
          <a:xfrm>
            <a:off x="7753350" y="1657350"/>
            <a:ext cx="3429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TWO INPUT PATHS</a:t>
            </a:r>
          </a:p>
        </p:txBody>
      </p:sp>
      <p:sp>
        <p:nvSpPr>
          <p:cNvPr id="8" name="Rectángulo 7">
            <a:extLst>
              <a:ext uri="{FF2B5EF4-FFF2-40B4-BE49-F238E27FC236}">
                <a16:creationId xmlns:a16="http://schemas.microsoft.com/office/drawing/2014/main" id="{A69BD589-DE7A-423B-B661-7B85E3F30CE5}"/>
              </a:ext>
            </a:extLst>
          </p:cNvPr>
          <p:cNvSpPr>
            <a:spLocks noGrp="1"/>
          </p:cNvSpPr>
          <p:nvPr/>
        </p:nvSpPr>
        <p:spPr>
          <a:xfrm>
            <a:off x="7753350" y="2076450"/>
            <a:ext cx="3238500" cy="323850"/>
          </a:xfrm>
          <a:prstGeom prst="rect">
            <a:avLst/>
          </a:prstGeom>
          <a:noFill/>
          <a:ln w="0">
            <a:noFill/>
          </a:ln>
        </p:spPr>
        <p:txBody>
          <a:bodyPr wrap="square" lIns="0" tIns="0" rIns="0" bIns="0" anchor="t">
            <a:noAutofit/>
          </a:bodyPr>
          <a:lstStyle/>
          <a:p>
            <a:pPr algn="l">
              <a:lnSpc>
                <a:spcPct val="104000"/>
              </a:lnSpc>
              <a:buNone/>
              <a:defRPr sz="2100" b="1">
                <a:solidFill>
                  <a:srgbClr val="171417"/>
                </a:solidFill>
                <a:latin typeface="Arial"/>
                <a:ea typeface="Arial"/>
                <a:cs typeface="Arial"/>
              </a:defRPr>
            </a:pPr>
            <a:r>
              <a:rPr sz="2100" b="1">
                <a:solidFill>
                  <a:srgbClr val="171417"/>
                </a:solidFill>
                <a:latin typeface="Arial"/>
                <a:ea typeface="Arial"/>
                <a:cs typeface="Arial"/>
              </a:rPr>
              <a:t>Physical car</a:t>
            </a:r>
          </a:p>
        </p:txBody>
      </p:sp>
      <p:sp>
        <p:nvSpPr>
          <p:cNvPr id="9" name="Rectángulo 8">
            <a:extLst>
              <a:ext uri="{FF2B5EF4-FFF2-40B4-BE49-F238E27FC236}">
                <a16:creationId xmlns:a16="http://schemas.microsoft.com/office/drawing/2014/main" id="{E63D221F-8C47-43DC-A569-62AA645CDB19}"/>
              </a:ext>
            </a:extLst>
          </p:cNvPr>
          <p:cNvSpPr>
            <a:spLocks noGrp="1"/>
          </p:cNvSpPr>
          <p:nvPr/>
        </p:nvSpPr>
        <p:spPr>
          <a:xfrm>
            <a:off x="7753350" y="2457450"/>
            <a:ext cx="3238500" cy="457200"/>
          </a:xfrm>
          <a:prstGeom prst="rect">
            <a:avLst/>
          </a:prstGeom>
          <a:noFill/>
          <a:ln w="0">
            <a:noFill/>
          </a:ln>
        </p:spPr>
        <p:txBody>
          <a:bodyPr wrap="square" lIns="0" tIns="0" rIns="0" bIns="0" anchor="t">
            <a:noAutofit/>
          </a:bodyPr>
          <a:lstStyle/>
          <a:p>
            <a:pPr algn="l">
              <a:lnSpc>
                <a:spcPct val="104000"/>
              </a:lnSpc>
              <a:buNone/>
              <a:defRPr sz="1575" b="0">
                <a:solidFill>
                  <a:srgbClr val="6F686D"/>
                </a:solidFill>
                <a:latin typeface="Arial"/>
                <a:ea typeface="Arial"/>
                <a:cs typeface="Arial"/>
              </a:defRPr>
            </a:pPr>
            <a:r>
              <a:rPr sz="1575" b="0">
                <a:solidFill>
                  <a:srgbClr val="6F686D"/>
                </a:solidFill>
                <a:latin typeface="Arial"/>
                <a:ea typeface="Arial"/>
                <a:cs typeface="Arial"/>
              </a:rPr>
              <a:t>Raspberry Pi + C920 + mobile link</a:t>
            </a:r>
          </a:p>
        </p:txBody>
      </p:sp>
      <p:sp>
        <p:nvSpPr>
          <p:cNvPr id="10" name="Conector recto 9">
            <a:extLst>
              <a:ext uri="{FF2B5EF4-FFF2-40B4-BE49-F238E27FC236}">
                <a16:creationId xmlns:a16="http://schemas.microsoft.com/office/drawing/2014/main" id="{CD6EF109-EC45-4B26-89F7-91E9ED30071F}"/>
              </a:ext>
            </a:extLst>
          </p:cNvPr>
          <p:cNvSpPr>
            <a:spLocks noGrp="1"/>
          </p:cNvSpPr>
          <p:nvPr/>
        </p:nvSpPr>
        <p:spPr>
          <a:xfrm>
            <a:off x="7753350" y="3105150"/>
            <a:ext cx="3238500" cy="0"/>
          </a:xfrm>
          <a:prstGeom prst="line">
            <a:avLst/>
          </a:prstGeom>
          <a:noFill/>
          <a:ln w="9525">
            <a:solidFill>
              <a:srgbClr val="E7E3E5"/>
            </a:solidFill>
            <a:prstDash val="solid"/>
          </a:ln>
        </p:spPr>
        <p:txBody>
          <a:bodyPr/>
          <a:lstStyle/>
          <a:p>
            <a:endParaRPr/>
          </a:p>
        </p:txBody>
      </p:sp>
      <p:sp>
        <p:nvSpPr>
          <p:cNvPr id="11" name="Rectángulo 10">
            <a:extLst>
              <a:ext uri="{FF2B5EF4-FFF2-40B4-BE49-F238E27FC236}">
                <a16:creationId xmlns:a16="http://schemas.microsoft.com/office/drawing/2014/main" id="{1929A87B-5FD7-4243-A0CF-2A77336DA5BF}"/>
              </a:ext>
            </a:extLst>
          </p:cNvPr>
          <p:cNvSpPr>
            <a:spLocks noGrp="1"/>
          </p:cNvSpPr>
          <p:nvPr/>
        </p:nvSpPr>
        <p:spPr>
          <a:xfrm>
            <a:off x="7753350" y="3333750"/>
            <a:ext cx="3238500" cy="323850"/>
          </a:xfrm>
          <a:prstGeom prst="rect">
            <a:avLst/>
          </a:prstGeom>
          <a:noFill/>
          <a:ln w="0">
            <a:noFill/>
          </a:ln>
        </p:spPr>
        <p:txBody>
          <a:bodyPr wrap="square" lIns="0" tIns="0" rIns="0" bIns="0" anchor="t">
            <a:noAutofit/>
          </a:bodyPr>
          <a:lstStyle/>
          <a:p>
            <a:pPr algn="l">
              <a:lnSpc>
                <a:spcPct val="104000"/>
              </a:lnSpc>
              <a:buNone/>
              <a:defRPr sz="2100" b="1">
                <a:solidFill>
                  <a:srgbClr val="171417"/>
                </a:solidFill>
                <a:latin typeface="Arial"/>
                <a:ea typeface="Arial"/>
                <a:cs typeface="Arial"/>
              </a:defRPr>
            </a:pPr>
            <a:r>
              <a:rPr sz="2100" b="1">
                <a:solidFill>
                  <a:srgbClr val="171417"/>
                </a:solidFill>
                <a:latin typeface="Arial"/>
                <a:ea typeface="Arial"/>
                <a:cs typeface="Arial"/>
              </a:rPr>
              <a:t>Browser simulator</a:t>
            </a:r>
          </a:p>
        </p:txBody>
      </p:sp>
      <p:sp>
        <p:nvSpPr>
          <p:cNvPr id="12" name="Rectángulo 11">
            <a:extLst>
              <a:ext uri="{FF2B5EF4-FFF2-40B4-BE49-F238E27FC236}">
                <a16:creationId xmlns:a16="http://schemas.microsoft.com/office/drawing/2014/main" id="{157EAAB7-41F0-48A3-B69A-1E3752975A13}"/>
              </a:ext>
            </a:extLst>
          </p:cNvPr>
          <p:cNvSpPr>
            <a:spLocks noGrp="1"/>
          </p:cNvSpPr>
          <p:nvPr/>
        </p:nvSpPr>
        <p:spPr>
          <a:xfrm>
            <a:off x="7753350" y="3714750"/>
            <a:ext cx="3238500" cy="590550"/>
          </a:xfrm>
          <a:prstGeom prst="rect">
            <a:avLst/>
          </a:prstGeom>
          <a:noFill/>
          <a:ln w="0">
            <a:noFill/>
          </a:ln>
        </p:spPr>
        <p:txBody>
          <a:bodyPr wrap="square" lIns="0" tIns="0" rIns="0" bIns="0" anchor="t">
            <a:noAutofit/>
          </a:bodyPr>
          <a:lstStyle/>
          <a:p>
            <a:pPr algn="l">
              <a:lnSpc>
                <a:spcPct val="104000"/>
              </a:lnSpc>
              <a:buNone/>
              <a:defRPr sz="1575" b="0">
                <a:solidFill>
                  <a:srgbClr val="6F686D"/>
                </a:solidFill>
                <a:latin typeface="Arial"/>
                <a:ea typeface="Arial"/>
                <a:cs typeface="Arial"/>
              </a:defRPr>
            </a:pPr>
            <a:r>
              <a:rPr sz="1575" b="0">
                <a:solidFill>
                  <a:srgbClr val="6F686D"/>
                </a:solidFill>
                <a:latin typeface="Arial"/>
                <a:ea typeface="Arial"/>
                <a:cs typeface="Arial"/>
              </a:rPr>
              <a:t>Countdown video captured as a WebRTC track</a:t>
            </a:r>
          </a:p>
        </p:txBody>
      </p:sp>
      <p:sp>
        <p:nvSpPr>
          <p:cNvPr id="13" name="Rectángulo: esquinas redondeadas 12">
            <a:extLst>
              <a:ext uri="{FF2B5EF4-FFF2-40B4-BE49-F238E27FC236}">
                <a16:creationId xmlns:a16="http://schemas.microsoft.com/office/drawing/2014/main" id="{13E5C0C8-EF02-4E7B-8260-370F55ED2159}"/>
              </a:ext>
            </a:extLst>
          </p:cNvPr>
          <p:cNvSpPr>
            <a:spLocks noGrp="1"/>
          </p:cNvSpPr>
          <p:nvPr/>
        </p:nvSpPr>
        <p:spPr>
          <a:xfrm>
            <a:off x="590550" y="5543550"/>
            <a:ext cx="10744200" cy="590550"/>
          </a:xfrm>
          <a:prstGeom prst="roundRect">
            <a:avLst>
              <a:gd name="adj" fmla="val 16129"/>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6BAEC851-9FA2-4C56-87CA-216CCD830040}"/>
              </a:ext>
            </a:extLst>
          </p:cNvPr>
          <p:cNvSpPr>
            <a:spLocks noGrp="1"/>
          </p:cNvSpPr>
          <p:nvPr/>
        </p:nvSpPr>
        <p:spPr>
          <a:xfrm>
            <a:off x="819150" y="5695950"/>
            <a:ext cx="10287000" cy="28575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Audience checklist: SignalR, SDP offer/answer, ICE candidate type, connection state, live video</a:t>
            </a:r>
          </a:p>
        </p:txBody>
      </p:sp>
      <p:sp>
        <p:nvSpPr>
          <p:cNvPr id="15" name="Rectángulo 14">
            <a:extLst>
              <a:ext uri="{FF2B5EF4-FFF2-40B4-BE49-F238E27FC236}">
                <a16:creationId xmlns:a16="http://schemas.microsoft.com/office/drawing/2014/main" id="{50E81C59-B980-4994-9D06-7718D0904B05}"/>
              </a:ext>
            </a:extLst>
          </p:cNvPr>
          <p:cNvSpPr>
            <a:spLocks noGrp="1"/>
          </p:cNvSpPr>
          <p:nvPr/>
        </p:nvSpPr>
        <p:spPr>
          <a:xfrm>
            <a:off x="1562100" y="5219700"/>
            <a:ext cx="4724400" cy="209550"/>
          </a:xfrm>
          <a:prstGeom prst="rect">
            <a:avLst/>
          </a:prstGeom>
          <a:noFill/>
          <a:ln w="0">
            <a:noFill/>
          </a:ln>
        </p:spPr>
        <p:txBody>
          <a:bodyPr wrap="square" lIns="0" tIns="0" rIns="0" bIns="0" anchor="t">
            <a:noAutofit/>
          </a:bodyPr>
          <a:lstStyle/>
          <a:p>
            <a:pPr algn="ctr">
              <a:lnSpc>
                <a:spcPct val="104000"/>
              </a:lnSpc>
              <a:buNone/>
              <a:defRPr sz="1125" b="0">
                <a:solidFill>
                  <a:srgbClr val="6F686D"/>
                </a:solidFill>
                <a:latin typeface="Arial"/>
                <a:ea typeface="Arial"/>
                <a:cs typeface="Arial"/>
              </a:defRPr>
            </a:pPr>
            <a:r>
              <a:rPr sz="1125" b="0">
                <a:solidFill>
                  <a:srgbClr val="6F686D"/>
                </a:solidFill>
                <a:latin typeface="Arial"/>
                <a:ea typeface="Arial"/>
                <a:cs typeface="Arial"/>
              </a:rPr>
              <a:t>The selector lists prototype entries; it is not a production fleet registry.</a:t>
            </a:r>
          </a:p>
        </p:txBody>
      </p:sp>
    </p:spTree>
    <p:extLst>
      <p:ext uri="{BB962C8B-B14F-4D97-AF65-F5344CB8AC3E}">
        <p14:creationId xmlns:p14="http://schemas.microsoft.com/office/powerpoint/2010/main" val="9967041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6" name="Rectángulo 25">
            <a:extLst>
              <a:ext uri="{FF2B5EF4-FFF2-40B4-BE49-F238E27FC236}">
                <a16:creationId xmlns:a16="http://schemas.microsoft.com/office/drawing/2014/main" id="{9C1F6566-7FAF-43D8-B437-5E48C9672EC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DAC06D5A-408D-4A07-B223-C07D60BD48D4}"/>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Live Demo Sequence</a:t>
            </a:r>
          </a:p>
        </p:txBody>
      </p:sp>
      <p:sp>
        <p:nvSpPr>
          <p:cNvPr id="3" name="Rectángulo 2">
            <a:extLst>
              <a:ext uri="{FF2B5EF4-FFF2-40B4-BE49-F238E27FC236}">
                <a16:creationId xmlns:a16="http://schemas.microsoft.com/office/drawing/2014/main" id="{C2FE53EF-E845-4E1A-8E5A-88B6DD0E0675}"/>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B25B9F2-F082-447E-887E-69E33C6DA04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34</a:t>
            </a:r>
          </a:p>
        </p:txBody>
      </p:sp>
      <p:sp>
        <p:nvSpPr>
          <p:cNvPr id="5" name="Rectángulo: esquinas redondeadas 4">
            <a:extLst>
              <a:ext uri="{FF2B5EF4-FFF2-40B4-BE49-F238E27FC236}">
                <a16:creationId xmlns:a16="http://schemas.microsoft.com/office/drawing/2014/main" id="{E5F5E854-C8F1-49DA-A8F7-DA3CBB31B480}"/>
              </a:ext>
            </a:extLst>
          </p:cNvPr>
          <p:cNvSpPr>
            <a:spLocks noGrp="1"/>
          </p:cNvSpPr>
          <p:nvPr/>
        </p:nvSpPr>
        <p:spPr>
          <a:xfrm>
            <a:off x="64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1</a:t>
            </a:r>
          </a:p>
        </p:txBody>
      </p:sp>
      <p:sp>
        <p:nvSpPr>
          <p:cNvPr id="6" name="Rectángulo 5">
            <a:extLst>
              <a:ext uri="{FF2B5EF4-FFF2-40B4-BE49-F238E27FC236}">
                <a16:creationId xmlns:a16="http://schemas.microsoft.com/office/drawing/2014/main" id="{FD0E020F-7867-4BC2-9253-3729F885B8FD}"/>
              </a:ext>
            </a:extLst>
          </p:cNvPr>
          <p:cNvSpPr>
            <a:spLocks noGrp="1"/>
          </p:cNvSpPr>
          <p:nvPr/>
        </p:nvSpPr>
        <p:spPr>
          <a:xfrm>
            <a:off x="135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Start server</a:t>
            </a:r>
          </a:p>
        </p:txBody>
      </p:sp>
      <p:sp>
        <p:nvSpPr>
          <p:cNvPr id="7" name="Rectángulo 6">
            <a:extLst>
              <a:ext uri="{FF2B5EF4-FFF2-40B4-BE49-F238E27FC236}">
                <a16:creationId xmlns:a16="http://schemas.microsoft.com/office/drawing/2014/main" id="{50D5FE07-8503-40C1-8241-164490F8E46E}"/>
              </a:ext>
            </a:extLst>
          </p:cNvPr>
          <p:cNvSpPr>
            <a:spLocks noGrp="1"/>
          </p:cNvSpPr>
          <p:nvPr/>
        </p:nvSpPr>
        <p:spPr>
          <a:xfrm>
            <a:off x="135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Open the selector page</a:t>
            </a:r>
          </a:p>
        </p:txBody>
      </p:sp>
      <p:sp>
        <p:nvSpPr>
          <p:cNvPr id="8" name="Rectángulo: esquinas redondeadas 7">
            <a:extLst>
              <a:ext uri="{FF2B5EF4-FFF2-40B4-BE49-F238E27FC236}">
                <a16:creationId xmlns:a16="http://schemas.microsoft.com/office/drawing/2014/main" id="{342C8493-9B9A-4FB9-93A5-3A35D0AB9F0D}"/>
              </a:ext>
            </a:extLst>
          </p:cNvPr>
          <p:cNvSpPr>
            <a:spLocks noGrp="1"/>
          </p:cNvSpPr>
          <p:nvPr/>
        </p:nvSpPr>
        <p:spPr>
          <a:xfrm>
            <a:off x="445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2</a:t>
            </a:r>
          </a:p>
        </p:txBody>
      </p:sp>
      <p:sp>
        <p:nvSpPr>
          <p:cNvPr id="9" name="Rectángulo 8">
            <a:extLst>
              <a:ext uri="{FF2B5EF4-FFF2-40B4-BE49-F238E27FC236}">
                <a16:creationId xmlns:a16="http://schemas.microsoft.com/office/drawing/2014/main" id="{BD1A803A-38C1-4E0D-AA62-16FFD4373ED8}"/>
              </a:ext>
            </a:extLst>
          </p:cNvPr>
          <p:cNvSpPr>
            <a:spLocks noGrp="1"/>
          </p:cNvSpPr>
          <p:nvPr/>
        </p:nvSpPr>
        <p:spPr>
          <a:xfrm>
            <a:off x="516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Start device</a:t>
            </a:r>
          </a:p>
        </p:txBody>
      </p:sp>
      <p:sp>
        <p:nvSpPr>
          <p:cNvPr id="10" name="Rectángulo 9">
            <a:extLst>
              <a:ext uri="{FF2B5EF4-FFF2-40B4-BE49-F238E27FC236}">
                <a16:creationId xmlns:a16="http://schemas.microsoft.com/office/drawing/2014/main" id="{BBE507E6-73A1-42D9-96AB-63989FF0A8BE}"/>
              </a:ext>
            </a:extLst>
          </p:cNvPr>
          <p:cNvSpPr>
            <a:spLocks noGrp="1"/>
          </p:cNvSpPr>
          <p:nvPr/>
        </p:nvSpPr>
        <p:spPr>
          <a:xfrm>
            <a:off x="516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Use the car or simulator</a:t>
            </a:r>
          </a:p>
        </p:txBody>
      </p:sp>
      <p:sp>
        <p:nvSpPr>
          <p:cNvPr id="11" name="Rectángulo: esquinas redondeadas 10">
            <a:extLst>
              <a:ext uri="{FF2B5EF4-FFF2-40B4-BE49-F238E27FC236}">
                <a16:creationId xmlns:a16="http://schemas.microsoft.com/office/drawing/2014/main" id="{0778B74F-4A68-464D-BE69-F889CE327143}"/>
              </a:ext>
            </a:extLst>
          </p:cNvPr>
          <p:cNvSpPr>
            <a:spLocks noGrp="1"/>
          </p:cNvSpPr>
          <p:nvPr/>
        </p:nvSpPr>
        <p:spPr>
          <a:xfrm>
            <a:off x="826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3</a:t>
            </a:r>
          </a:p>
        </p:txBody>
      </p:sp>
      <p:sp>
        <p:nvSpPr>
          <p:cNvPr id="12" name="Rectángulo 11">
            <a:extLst>
              <a:ext uri="{FF2B5EF4-FFF2-40B4-BE49-F238E27FC236}">
                <a16:creationId xmlns:a16="http://schemas.microsoft.com/office/drawing/2014/main" id="{DB1F277E-6A54-4CAA-BB9C-D084609D9722}"/>
              </a:ext>
            </a:extLst>
          </p:cNvPr>
          <p:cNvSpPr>
            <a:spLocks noGrp="1"/>
          </p:cNvSpPr>
          <p:nvPr/>
        </p:nvSpPr>
        <p:spPr>
          <a:xfrm>
            <a:off x="897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Open viewer</a:t>
            </a:r>
          </a:p>
        </p:txBody>
      </p:sp>
      <p:sp>
        <p:nvSpPr>
          <p:cNvPr id="13" name="Rectángulo 12">
            <a:extLst>
              <a:ext uri="{FF2B5EF4-FFF2-40B4-BE49-F238E27FC236}">
                <a16:creationId xmlns:a16="http://schemas.microsoft.com/office/drawing/2014/main" id="{CBFB7B23-6A6A-4004-A241-84B50F819FB4}"/>
              </a:ext>
            </a:extLst>
          </p:cNvPr>
          <p:cNvSpPr>
            <a:spLocks noGrp="1"/>
          </p:cNvSpPr>
          <p:nvPr/>
        </p:nvSpPr>
        <p:spPr>
          <a:xfrm>
            <a:off x="897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Viewer join triggers the offer</a:t>
            </a:r>
          </a:p>
        </p:txBody>
      </p:sp>
      <p:sp>
        <p:nvSpPr>
          <p:cNvPr id="14" name="Rectángulo: esquinas redondeadas 13">
            <a:extLst>
              <a:ext uri="{FF2B5EF4-FFF2-40B4-BE49-F238E27FC236}">
                <a16:creationId xmlns:a16="http://schemas.microsoft.com/office/drawing/2014/main" id="{63B7AB45-2B6F-4C25-80CD-58FF36D49324}"/>
              </a:ext>
            </a:extLst>
          </p:cNvPr>
          <p:cNvSpPr>
            <a:spLocks noGrp="1"/>
          </p:cNvSpPr>
          <p:nvPr/>
        </p:nvSpPr>
        <p:spPr>
          <a:xfrm>
            <a:off x="64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4</a:t>
            </a:r>
          </a:p>
        </p:txBody>
      </p:sp>
      <p:sp>
        <p:nvSpPr>
          <p:cNvPr id="15" name="Rectángulo 14">
            <a:extLst>
              <a:ext uri="{FF2B5EF4-FFF2-40B4-BE49-F238E27FC236}">
                <a16:creationId xmlns:a16="http://schemas.microsoft.com/office/drawing/2014/main" id="{230EAAFC-5BB6-442B-BD5B-3398EA4526C0}"/>
              </a:ext>
            </a:extLst>
          </p:cNvPr>
          <p:cNvSpPr>
            <a:spLocks noGrp="1"/>
          </p:cNvSpPr>
          <p:nvPr/>
        </p:nvSpPr>
        <p:spPr>
          <a:xfrm>
            <a:off x="135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Exchange SDP + ICE</a:t>
            </a:r>
          </a:p>
        </p:txBody>
      </p:sp>
      <p:sp>
        <p:nvSpPr>
          <p:cNvPr id="16" name="Rectángulo 15">
            <a:extLst>
              <a:ext uri="{FF2B5EF4-FFF2-40B4-BE49-F238E27FC236}">
                <a16:creationId xmlns:a16="http://schemas.microsoft.com/office/drawing/2014/main" id="{B213219E-D324-4816-8C77-06F45DB2F9F2}"/>
              </a:ext>
            </a:extLst>
          </p:cNvPr>
          <p:cNvSpPr>
            <a:spLocks noGrp="1"/>
          </p:cNvSpPr>
          <p:nvPr/>
        </p:nvSpPr>
        <p:spPr>
          <a:xfrm>
            <a:off x="135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SignalR carries both</a:t>
            </a:r>
          </a:p>
        </p:txBody>
      </p:sp>
      <p:sp>
        <p:nvSpPr>
          <p:cNvPr id="17" name="Rectángulo: esquinas redondeadas 16">
            <a:extLst>
              <a:ext uri="{FF2B5EF4-FFF2-40B4-BE49-F238E27FC236}">
                <a16:creationId xmlns:a16="http://schemas.microsoft.com/office/drawing/2014/main" id="{EE9BACCA-47E1-45EE-AB96-3215FBD397AC}"/>
              </a:ext>
            </a:extLst>
          </p:cNvPr>
          <p:cNvSpPr>
            <a:spLocks noGrp="1"/>
          </p:cNvSpPr>
          <p:nvPr/>
        </p:nvSpPr>
        <p:spPr>
          <a:xfrm>
            <a:off x="445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5</a:t>
            </a:r>
          </a:p>
        </p:txBody>
      </p:sp>
      <p:sp>
        <p:nvSpPr>
          <p:cNvPr id="18" name="Rectángulo 17">
            <a:extLst>
              <a:ext uri="{FF2B5EF4-FFF2-40B4-BE49-F238E27FC236}">
                <a16:creationId xmlns:a16="http://schemas.microsoft.com/office/drawing/2014/main" id="{C4A10371-A3A4-429E-8B4A-9E99FFB65E4C}"/>
              </a:ext>
            </a:extLst>
          </p:cNvPr>
          <p:cNvSpPr>
            <a:spLocks noGrp="1"/>
          </p:cNvSpPr>
          <p:nvPr/>
        </p:nvSpPr>
        <p:spPr>
          <a:xfrm>
            <a:off x="516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Inspect selected path</a:t>
            </a:r>
          </a:p>
        </p:txBody>
      </p:sp>
      <p:sp>
        <p:nvSpPr>
          <p:cNvPr id="19" name="Rectángulo 18">
            <a:extLst>
              <a:ext uri="{FF2B5EF4-FFF2-40B4-BE49-F238E27FC236}">
                <a16:creationId xmlns:a16="http://schemas.microsoft.com/office/drawing/2014/main" id="{C38D0CB8-D3ED-4A07-8882-18BA5FAF1BD5}"/>
              </a:ext>
            </a:extLst>
          </p:cNvPr>
          <p:cNvSpPr>
            <a:spLocks noGrp="1"/>
          </p:cNvSpPr>
          <p:nvPr/>
        </p:nvSpPr>
        <p:spPr>
          <a:xfrm>
            <a:off x="516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host, srflx, or relay</a:t>
            </a:r>
          </a:p>
        </p:txBody>
      </p:sp>
      <p:sp>
        <p:nvSpPr>
          <p:cNvPr id="20" name="Rectángulo: esquinas redondeadas 19">
            <a:extLst>
              <a:ext uri="{FF2B5EF4-FFF2-40B4-BE49-F238E27FC236}">
                <a16:creationId xmlns:a16="http://schemas.microsoft.com/office/drawing/2014/main" id="{77A24E0A-AE63-4A7F-868F-2FEE60D1D9E9}"/>
              </a:ext>
            </a:extLst>
          </p:cNvPr>
          <p:cNvSpPr>
            <a:spLocks noGrp="1"/>
          </p:cNvSpPr>
          <p:nvPr/>
        </p:nvSpPr>
        <p:spPr>
          <a:xfrm>
            <a:off x="826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6</a:t>
            </a:r>
          </a:p>
        </p:txBody>
      </p:sp>
      <p:sp>
        <p:nvSpPr>
          <p:cNvPr id="21" name="Rectángulo 20">
            <a:extLst>
              <a:ext uri="{FF2B5EF4-FFF2-40B4-BE49-F238E27FC236}">
                <a16:creationId xmlns:a16="http://schemas.microsoft.com/office/drawing/2014/main" id="{55059A3C-7EC1-44F1-836E-8DD1A07E7920}"/>
              </a:ext>
            </a:extLst>
          </p:cNvPr>
          <p:cNvSpPr>
            <a:spLocks noGrp="1"/>
          </p:cNvSpPr>
          <p:nvPr/>
        </p:nvSpPr>
        <p:spPr>
          <a:xfrm>
            <a:off x="897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Show live video</a:t>
            </a:r>
          </a:p>
        </p:txBody>
      </p:sp>
      <p:sp>
        <p:nvSpPr>
          <p:cNvPr id="22" name="Rectángulo 21">
            <a:extLst>
              <a:ext uri="{FF2B5EF4-FFF2-40B4-BE49-F238E27FC236}">
                <a16:creationId xmlns:a16="http://schemas.microsoft.com/office/drawing/2014/main" id="{D0D51A75-2087-4824-BCB5-FCAD5F62EE1D}"/>
              </a:ext>
            </a:extLst>
          </p:cNvPr>
          <p:cNvSpPr>
            <a:spLocks noGrp="1"/>
          </p:cNvSpPr>
          <p:nvPr/>
        </p:nvSpPr>
        <p:spPr>
          <a:xfrm>
            <a:off x="897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Demonstrate the latency target</a:t>
            </a:r>
          </a:p>
        </p:txBody>
      </p:sp>
      <p:sp>
        <p:nvSpPr>
          <p:cNvPr id="23" name="Rectángulo: esquinas redondeadas 22">
            <a:extLst>
              <a:ext uri="{FF2B5EF4-FFF2-40B4-BE49-F238E27FC236}">
                <a16:creationId xmlns:a16="http://schemas.microsoft.com/office/drawing/2014/main" id="{DE23BA1B-4095-4B67-BC5B-7ACAF1E7F9ED}"/>
              </a:ext>
            </a:extLst>
          </p:cNvPr>
          <p:cNvSpPr>
            <a:spLocks noGrp="1"/>
          </p:cNvSpPr>
          <p:nvPr/>
        </p:nvSpPr>
        <p:spPr>
          <a:xfrm>
            <a:off x="647700" y="5467350"/>
            <a:ext cx="10896600" cy="647700"/>
          </a:xfrm>
          <a:prstGeom prst="roundRect">
            <a:avLst>
              <a:gd name="adj" fmla="val 14706"/>
            </a:avLst>
          </a:prstGeom>
          <a:solidFill>
            <a:srgbClr val="F5EDF2"/>
          </a:solidFill>
          <a:ln w="0">
            <a:noFill/>
          </a:ln>
        </p:spPr>
        <p:txBody>
          <a:bodyPr/>
          <a:lstStyle/>
          <a:p>
            <a:endParaRPr/>
          </a:p>
        </p:txBody>
      </p:sp>
      <p:sp>
        <p:nvSpPr>
          <p:cNvPr id="24" name="Rectángulo 23">
            <a:extLst>
              <a:ext uri="{FF2B5EF4-FFF2-40B4-BE49-F238E27FC236}">
                <a16:creationId xmlns:a16="http://schemas.microsoft.com/office/drawing/2014/main" id="{5C00920E-46DD-4441-BAA8-DA2817A40AC0}"/>
              </a:ext>
            </a:extLst>
          </p:cNvPr>
          <p:cNvSpPr>
            <a:spLocks noGrp="1"/>
          </p:cNvSpPr>
          <p:nvPr/>
        </p:nvSpPr>
        <p:spPr>
          <a:xfrm>
            <a:off x="857250" y="5638800"/>
            <a:ext cx="2247900" cy="266700"/>
          </a:xfrm>
          <a:prstGeom prst="rect">
            <a:avLst/>
          </a:prstGeom>
          <a:noFill/>
          <a:ln w="0">
            <a:noFill/>
          </a:ln>
        </p:spPr>
        <p:txBody>
          <a:bodyPr wrap="square" lIns="0" tIns="0" rIns="0" bIns="0" anchor="t">
            <a:noAutofit/>
          </a:bodyPr>
          <a:lstStyle/>
          <a:p>
            <a:pPr algn="l">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Demo ordering detail</a:t>
            </a:r>
          </a:p>
        </p:txBody>
      </p:sp>
      <p:sp>
        <p:nvSpPr>
          <p:cNvPr id="25" name="Rectángulo 24">
            <a:extLst>
              <a:ext uri="{FF2B5EF4-FFF2-40B4-BE49-F238E27FC236}">
                <a16:creationId xmlns:a16="http://schemas.microsoft.com/office/drawing/2014/main" id="{AEEB818D-208E-4375-8A43-8604CA6472A3}"/>
              </a:ext>
            </a:extLst>
          </p:cNvPr>
          <p:cNvSpPr>
            <a:spLocks noGrp="1"/>
          </p:cNvSpPr>
          <p:nvPr/>
        </p:nvSpPr>
        <p:spPr>
          <a:xfrm>
            <a:off x="3105150" y="5591175"/>
            <a:ext cx="8172450" cy="381000"/>
          </a:xfrm>
          <a:prstGeom prst="rect">
            <a:avLst/>
          </a:prstGeom>
          <a:noFill/>
          <a:ln w="0">
            <a:noFill/>
          </a:ln>
        </p:spPr>
        <p:txBody>
          <a:bodyPr wrap="square" lIns="0" tIns="0" rIns="0" bIns="0" anchor="ctr">
            <a:noAutofit/>
          </a:bodyPr>
          <a:lstStyle/>
          <a:p>
            <a:pPr algn="l">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The real device creates an offer when it receives ClientJoined. Start it before opening or reloading the viewer page.</a:t>
            </a:r>
          </a:p>
        </p:txBody>
      </p:sp>
    </p:spTree>
    <p:extLst>
      <p:ext uri="{BB962C8B-B14F-4D97-AF65-F5344CB8AC3E}">
        <p14:creationId xmlns:p14="http://schemas.microsoft.com/office/powerpoint/2010/main" val="106518628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2" name="Rectángulo 11">
            <a:extLst>
              <a:ext uri="{FF2B5EF4-FFF2-40B4-BE49-F238E27FC236}">
                <a16:creationId xmlns:a16="http://schemas.microsoft.com/office/drawing/2014/main" id="{19D6B75E-0FF6-4830-871D-C5AC8A7AE25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C04A9D71-E416-4C6F-BA8A-8A94336F929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Fallback Video</a:t>
            </a:r>
          </a:p>
        </p:txBody>
      </p:sp>
      <p:sp>
        <p:nvSpPr>
          <p:cNvPr id="3" name="Rectángulo 2">
            <a:extLst>
              <a:ext uri="{FF2B5EF4-FFF2-40B4-BE49-F238E27FC236}">
                <a16:creationId xmlns:a16="http://schemas.microsoft.com/office/drawing/2014/main" id="{22285E20-A81C-4A83-843D-9C9E7863E57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2EDF4E9C-DC01-4A6B-A7A5-6EE93A2C685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35</a:t>
            </a:r>
          </a:p>
        </p:txBody>
      </p:sp>
      <p:sp>
        <p:nvSpPr>
          <p:cNvPr id="5" name="Rectángulo: esquinas redondeadas 4">
            <a:extLst>
              <a:ext uri="{FF2B5EF4-FFF2-40B4-BE49-F238E27FC236}">
                <a16:creationId xmlns:a16="http://schemas.microsoft.com/office/drawing/2014/main" id="{66BC364A-FB21-4252-8EE4-469F4DB4D45B}"/>
              </a:ext>
            </a:extLst>
          </p:cNvPr>
          <p:cNvSpPr>
            <a:spLocks noGrp="1"/>
          </p:cNvSpPr>
          <p:nvPr/>
        </p:nvSpPr>
        <p:spPr>
          <a:xfrm>
            <a:off x="781050" y="1581150"/>
            <a:ext cx="10629900" cy="4552950"/>
          </a:xfrm>
          <a:prstGeom prst="roundRect">
            <a:avLst>
              <a:gd name="adj" fmla="val 2510"/>
            </a:avLst>
          </a:prstGeom>
          <a:solidFill>
            <a:srgbClr val="171417"/>
          </a:solidFill>
          <a:ln w="28575">
            <a:solidFill>
              <a:srgbClr val="830051"/>
            </a:solidFill>
            <a:prstDash val="solid"/>
          </a:ln>
        </p:spPr>
        <p:txBody>
          <a:bodyPr/>
          <a:lstStyle/>
          <a:p>
            <a:endParaRPr/>
          </a:p>
        </p:txBody>
      </p:sp>
      <p:pic>
        <p:nvPicPr>
          <p:cNvPr id="17" name="Imagen 16"/>
          <p:cNvPicPr>
            <a:picLocks noChangeAspect="1"/>
          </p:cNvPicPr>
          <p:nvPr/>
        </p:nvPicPr>
        <p:blipFill>
          <a:blip r:embed="rId3"/>
          <a:srcRect t="13235" b="13235"/>
          <a:stretch>
            <a:fillRect/>
          </a:stretch>
        </p:blipFill>
        <p:spPr>
          <a:xfrm>
            <a:off x="914400" y="1714500"/>
            <a:ext cx="10363200" cy="4286250"/>
          </a:xfrm>
          <a:prstGeom prst="roundRect">
            <a:avLst/>
          </a:prstGeom>
        </p:spPr>
      </p:pic>
      <p:sp>
        <p:nvSpPr>
          <p:cNvPr id="7" name="Rectángulo 6">
            <a:extLst>
              <a:ext uri="{FF2B5EF4-FFF2-40B4-BE49-F238E27FC236}">
                <a16:creationId xmlns:a16="http://schemas.microsoft.com/office/drawing/2014/main" id="{54646A5D-3F95-4337-8E56-7AD8C094170B}"/>
              </a:ext>
            </a:extLst>
          </p:cNvPr>
          <p:cNvSpPr>
            <a:spLocks noGrp="1"/>
          </p:cNvSpPr>
          <p:nvPr/>
        </p:nvSpPr>
        <p:spPr>
          <a:xfrm>
            <a:off x="914400" y="1714500"/>
            <a:ext cx="10363200" cy="723900"/>
          </a:xfrm>
          <a:prstGeom prst="rect">
            <a:avLst/>
          </a:prstGeom>
          <a:solidFill>
            <a:srgbClr val="000000">
              <a:alpha val="72000"/>
            </a:srgbClr>
          </a:solidFill>
          <a:ln w="0">
            <a:noFill/>
          </a:ln>
        </p:spPr>
        <p:txBody>
          <a:bodyPr/>
          <a:lstStyle/>
          <a:p>
            <a:endParaRPr/>
          </a:p>
        </p:txBody>
      </p:sp>
      <p:sp>
        <p:nvSpPr>
          <p:cNvPr id="8" name="Rectángulo 7">
            <a:extLst>
              <a:ext uri="{FF2B5EF4-FFF2-40B4-BE49-F238E27FC236}">
                <a16:creationId xmlns:a16="http://schemas.microsoft.com/office/drawing/2014/main" id="{2F7A17FF-B04A-4345-A0F6-57C61C0F4F7C}"/>
              </a:ext>
            </a:extLst>
          </p:cNvPr>
          <p:cNvSpPr>
            <a:spLocks noGrp="1"/>
          </p:cNvSpPr>
          <p:nvPr/>
        </p:nvSpPr>
        <p:spPr>
          <a:xfrm>
            <a:off x="1200150" y="1895475"/>
            <a:ext cx="6858000" cy="323850"/>
          </a:xfrm>
          <a:prstGeom prst="rect">
            <a:avLst/>
          </a:prstGeom>
          <a:noFill/>
          <a:ln w="0">
            <a:noFill/>
          </a:ln>
        </p:spPr>
        <p:txBody>
          <a:bodyPr wrap="square" lIns="0" tIns="0" rIns="0" bIns="0" anchor="t">
            <a:noAutofit/>
          </a:bodyPr>
          <a:lstStyle/>
          <a:p>
            <a:pPr algn="l">
              <a:lnSpc>
                <a:spcPct val="104000"/>
              </a:lnSpc>
              <a:buNone/>
              <a:defRPr sz="1875" b="1">
                <a:solidFill>
                  <a:srgbClr val="FFFFFF"/>
                </a:solidFill>
                <a:latin typeface="Arial"/>
                <a:ea typeface="Arial"/>
                <a:cs typeface="Arial"/>
              </a:defRPr>
            </a:pPr>
            <a:r>
              <a:rPr sz="1875" b="1">
                <a:solidFill>
                  <a:srgbClr val="FFFFFF"/>
                </a:solidFill>
                <a:latin typeface="Arial"/>
                <a:ea typeface="Arial"/>
                <a:cs typeface="Arial"/>
              </a:rPr>
              <a:t>PHYSICAL-CAR RECORDING PLACEHOLDER</a:t>
            </a:r>
          </a:p>
        </p:txBody>
      </p:sp>
      <p:sp>
        <p:nvSpPr>
          <p:cNvPr id="9" name="Rectángulo: esquinas redondeadas 8">
            <a:extLst>
              <a:ext uri="{FF2B5EF4-FFF2-40B4-BE49-F238E27FC236}">
                <a16:creationId xmlns:a16="http://schemas.microsoft.com/office/drawing/2014/main" id="{53B99A8F-710E-4F6E-A159-5B4014F5E2EB}"/>
              </a:ext>
            </a:extLst>
          </p:cNvPr>
          <p:cNvSpPr>
            <a:spLocks noGrp="1"/>
          </p:cNvSpPr>
          <p:nvPr/>
        </p:nvSpPr>
        <p:spPr>
          <a:xfrm>
            <a:off x="1200150" y="5448300"/>
            <a:ext cx="8191500" cy="323850"/>
          </a:xfrm>
          <a:prstGeom prst="roundRect">
            <a:avLst>
              <a:gd name="adj" fmla="val 23529"/>
            </a:avLst>
          </a:prstGeom>
          <a:solidFill>
            <a:srgbClr val="830051">
              <a:alpha val="92000"/>
            </a:srgbClr>
          </a:solidFill>
          <a:ln w="0">
            <a:noFill/>
          </a:ln>
        </p:spPr>
        <p:txBody>
          <a:bodyPr wrap="square" lIns="133350" tIns="38100" rIns="133350" bIns="38100" anchor="ctr">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Replace with a 45–60 second RC-car demonstration before the defense</a:t>
            </a:r>
          </a:p>
        </p:txBody>
      </p:sp>
      <p:sp>
        <p:nvSpPr>
          <p:cNvPr id="10" name="Rectángulo 9">
            <a:extLst>
              <a:ext uri="{FF2B5EF4-FFF2-40B4-BE49-F238E27FC236}">
                <a16:creationId xmlns:a16="http://schemas.microsoft.com/office/drawing/2014/main" id="{C1DC7D46-FA70-4BF6-B152-A53088101CD3}"/>
              </a:ext>
            </a:extLst>
          </p:cNvPr>
          <p:cNvSpPr>
            <a:spLocks noGrp="1"/>
          </p:cNvSpPr>
          <p:nvPr/>
        </p:nvSpPr>
        <p:spPr>
          <a:xfrm>
            <a:off x="9544050" y="1876425"/>
            <a:ext cx="1485900" cy="209550"/>
          </a:xfrm>
          <a:prstGeom prst="rect">
            <a:avLst/>
          </a:prstGeom>
          <a:noFill/>
          <a:ln w="0">
            <a:noFill/>
          </a:ln>
        </p:spPr>
        <p:txBody>
          <a:bodyPr wrap="square" lIns="0" tIns="0" rIns="0" bIns="0" anchor="t">
            <a:noAutofit/>
          </a:bodyPr>
          <a:lstStyle/>
          <a:p>
            <a:pPr algn="r">
              <a:lnSpc>
                <a:spcPct val="104000"/>
              </a:lnSpc>
              <a:buNone/>
              <a:defRPr sz="1050" b="1">
                <a:solidFill>
                  <a:srgbClr val="FFFFFF"/>
                </a:solidFill>
                <a:latin typeface="Arial"/>
                <a:ea typeface="Arial"/>
                <a:cs typeface="Arial"/>
              </a:defRPr>
            </a:pPr>
            <a:r>
              <a:rPr sz="1050" b="1">
                <a:solidFill>
                  <a:srgbClr val="FFFFFF"/>
                </a:solidFill>
                <a:latin typeface="Arial"/>
                <a:ea typeface="Arial"/>
                <a:cs typeface="Arial"/>
              </a:rPr>
              <a:t>SIMULATOR ASSET</a:t>
            </a:r>
          </a:p>
        </p:txBody>
      </p:sp>
      <p:sp>
        <p:nvSpPr>
          <p:cNvPr id="11" name="Rectángulo 10">
            <a:extLst>
              <a:ext uri="{FF2B5EF4-FFF2-40B4-BE49-F238E27FC236}">
                <a16:creationId xmlns:a16="http://schemas.microsoft.com/office/drawing/2014/main" id="{1C8B408C-9BAC-4EF4-9B21-7D47BD88E662}"/>
              </a:ext>
            </a:extLst>
          </p:cNvPr>
          <p:cNvSpPr>
            <a:spLocks noGrp="1"/>
          </p:cNvSpPr>
          <p:nvPr/>
        </p:nvSpPr>
        <p:spPr>
          <a:xfrm>
            <a:off x="2057400" y="6238875"/>
            <a:ext cx="8077200" cy="266700"/>
          </a:xfrm>
          <a:prstGeom prst="rect">
            <a:avLst/>
          </a:prstGeom>
          <a:noFill/>
          <a:ln w="0">
            <a:noFill/>
          </a:ln>
        </p:spPr>
        <p:txBody>
          <a:bodyPr wrap="square" lIns="0" tIns="0" rIns="0" bIns="0" anchor="t">
            <a:noAutofit/>
          </a:bodyPr>
          <a:lstStyle/>
          <a:p>
            <a:pPr algn="ctr">
              <a:lnSpc>
                <a:spcPct val="104000"/>
              </a:lnSpc>
              <a:buNone/>
              <a:defRPr sz="1350" b="1">
                <a:solidFill>
                  <a:srgbClr val="510034"/>
                </a:solidFill>
                <a:latin typeface="Arial"/>
                <a:ea typeface="Arial"/>
                <a:cs typeface="Arial"/>
              </a:defRPr>
            </a:pPr>
            <a:r>
              <a:rPr sz="1350" b="1">
                <a:solidFill>
                  <a:srgbClr val="510034"/>
                </a:solidFill>
                <a:latin typeface="Arial"/>
                <a:ea typeface="Arial"/>
                <a:cs typeface="Arial"/>
              </a:rPr>
              <a:t>The committed countdown video supports a technical fallback only. It is not physical-car evidence.</a:t>
            </a:r>
          </a:p>
        </p:txBody>
      </p:sp>
    </p:spTree>
    <p:extLst>
      <p:ext uri="{BB962C8B-B14F-4D97-AF65-F5344CB8AC3E}">
        <p14:creationId xmlns:p14="http://schemas.microsoft.com/office/powerpoint/2010/main" val="17516727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F017C0D0-1742-4312-AFCF-E7243330BC9F}"/>
              </a:ext>
            </a:extLst>
          </p:cNvPr>
          <p:cNvSpPr>
            <a:spLocks noGrp="1"/>
          </p:cNvSpPr>
          <p:nvPr/>
        </p:nvSpPr>
        <p:spPr>
          <a:xfrm>
            <a:off x="609600" y="361950"/>
            <a:ext cx="5143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FINAL TAKEAWAYS</a:t>
            </a:r>
          </a:p>
        </p:txBody>
      </p:sp>
      <p:sp>
        <p:nvSpPr>
          <p:cNvPr id="2" name="Rectángulo 1">
            <a:extLst>
              <a:ext uri="{FF2B5EF4-FFF2-40B4-BE49-F238E27FC236}">
                <a16:creationId xmlns:a16="http://schemas.microsoft.com/office/drawing/2014/main" id="{B6F45ACA-1768-4857-8428-574058CADBCB}"/>
              </a:ext>
            </a:extLst>
          </p:cNvPr>
          <p:cNvSpPr>
            <a:spLocks noGrp="1"/>
          </p:cNvSpPr>
          <p:nvPr/>
        </p:nvSpPr>
        <p:spPr>
          <a:xfrm>
            <a:off x="609600" y="819150"/>
            <a:ext cx="5429250" cy="895350"/>
          </a:xfrm>
          <a:prstGeom prst="rect">
            <a:avLst/>
          </a:prstGeom>
          <a:noFill/>
          <a:ln w="0">
            <a:noFill/>
          </a:ln>
        </p:spPr>
        <p:txBody>
          <a:bodyPr wrap="square" lIns="0" tIns="0" rIns="0" bIns="0" anchor="t">
            <a:noAutofit/>
          </a:bodyPr>
          <a:lstStyle/>
          <a:p>
            <a:pPr algn="l">
              <a:lnSpc>
                <a:spcPct val="100000"/>
              </a:lnSpc>
              <a:buNone/>
              <a:defRPr sz="3525" b="1">
                <a:solidFill>
                  <a:srgbClr val="FFFFFF"/>
                </a:solidFill>
                <a:latin typeface="Arial"/>
                <a:ea typeface="Arial"/>
                <a:cs typeface="Arial"/>
              </a:defRPr>
            </a:pPr>
            <a:r>
              <a:rPr sz="3525" b="1">
                <a:solidFill>
                  <a:srgbClr val="FFFFFF"/>
                </a:solidFill>
                <a:latin typeface="Arial"/>
                <a:ea typeface="Arial"/>
                <a:cs typeface="Arial"/>
              </a:rPr>
              <a:t>WebRTC can meet the prototype latency target</a:t>
            </a:r>
          </a:p>
        </p:txBody>
      </p:sp>
      <p:sp>
        <p:nvSpPr>
          <p:cNvPr id="3" name="Conector recto 2">
            <a:extLst>
              <a:ext uri="{FF2B5EF4-FFF2-40B4-BE49-F238E27FC236}">
                <a16:creationId xmlns:a16="http://schemas.microsoft.com/office/drawing/2014/main" id="{05E33A8C-ED95-429C-A3B0-0BB6D356D628}"/>
              </a:ext>
            </a:extLst>
          </p:cNvPr>
          <p:cNvSpPr>
            <a:spLocks noGrp="1"/>
          </p:cNvSpPr>
          <p:nvPr/>
        </p:nvSpPr>
        <p:spPr>
          <a:xfrm>
            <a:off x="609600" y="1962150"/>
            <a:ext cx="1238250" cy="0"/>
          </a:xfrm>
          <a:prstGeom prst="line">
            <a:avLst/>
          </a:prstGeom>
          <a:noFill/>
          <a:ln w="38100">
            <a:solidFill>
              <a:srgbClr val="FFFFFF"/>
            </a:solidFill>
            <a:prstDash val="solid"/>
          </a:ln>
        </p:spPr>
        <p:txBody>
          <a:bodyPr/>
          <a:lstStyle/>
          <a:p>
            <a:endParaRPr/>
          </a:p>
        </p:txBody>
      </p:sp>
      <p:sp>
        <p:nvSpPr>
          <p:cNvPr id="4" name="Rectángulo 3">
            <a:extLst>
              <a:ext uri="{FF2B5EF4-FFF2-40B4-BE49-F238E27FC236}">
                <a16:creationId xmlns:a16="http://schemas.microsoft.com/office/drawing/2014/main" id="{B823ED0F-3394-490D-89B2-9828B0BA63A3}"/>
              </a:ext>
            </a:extLst>
          </p:cNvPr>
          <p:cNvSpPr>
            <a:spLocks noGrp="1"/>
          </p:cNvSpPr>
          <p:nvPr/>
        </p:nvSpPr>
        <p:spPr>
          <a:xfrm>
            <a:off x="609600" y="2343150"/>
            <a:ext cx="5219700" cy="2381250"/>
          </a:xfrm>
          <a:prstGeom prst="rect">
            <a:avLst/>
          </a:prstGeom>
          <a:noFill/>
          <a:ln w="0">
            <a:noFill/>
          </a:ln>
        </p:spPr>
        <p:txBody>
          <a:bodyPr wrap="square" lIns="38100" tIns="38100" rIns="38100" bIns="38100">
            <a:noAutofit/>
          </a:bodyPr>
          <a:lstStyle/>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One 4G run measured approximately 340 ms glass-to-glass.</a:t>
            </a:r>
          </a:p>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NAT traversal and software encoding drove the main engineering iterations.</a:t>
            </a:r>
          </a:p>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Hardware H.264, broader network testing, and production relay capacity are the next priorities.</a:t>
            </a:r>
          </a:p>
        </p:txBody>
      </p:sp>
      <p:sp>
        <p:nvSpPr>
          <p:cNvPr id="5" name="Rectángulo 4">
            <a:extLst>
              <a:ext uri="{FF2B5EF4-FFF2-40B4-BE49-F238E27FC236}">
                <a16:creationId xmlns:a16="http://schemas.microsoft.com/office/drawing/2014/main" id="{E4FAD5FF-1A86-4F7E-9FB8-A06DF91A4F7A}"/>
              </a:ext>
            </a:extLst>
          </p:cNvPr>
          <p:cNvSpPr>
            <a:spLocks noGrp="1"/>
          </p:cNvSpPr>
          <p:nvPr/>
        </p:nvSpPr>
        <p:spPr>
          <a:xfrm>
            <a:off x="609600" y="5391150"/>
            <a:ext cx="4000500" cy="666750"/>
          </a:xfrm>
          <a:prstGeom prst="rect">
            <a:avLst/>
          </a:prstGeom>
          <a:noFill/>
          <a:ln w="0">
            <a:noFill/>
          </a:ln>
        </p:spPr>
        <p:txBody>
          <a:bodyPr wrap="square" lIns="0" tIns="0" rIns="0" bIns="0" anchor="t">
            <a:noAutofit/>
          </a:bodyPr>
          <a:lstStyle/>
          <a:p>
            <a:pPr algn="l">
              <a:lnSpc>
                <a:spcPct val="104000"/>
              </a:lnSpc>
              <a:buNone/>
              <a:defRPr sz="4050" b="1">
                <a:solidFill>
                  <a:srgbClr val="FFFFFF"/>
                </a:solidFill>
                <a:latin typeface="Arial"/>
                <a:ea typeface="Arial"/>
                <a:cs typeface="Arial"/>
              </a:defRPr>
            </a:pPr>
            <a:r>
              <a:rPr sz="4050" b="1">
                <a:solidFill>
                  <a:srgbClr val="FFFFFF"/>
                </a:solidFill>
                <a:latin typeface="Arial"/>
                <a:ea typeface="Arial"/>
                <a:cs typeface="Arial"/>
              </a:rPr>
              <a:t>Questions?</a:t>
            </a:r>
          </a:p>
        </p:txBody>
      </p:sp>
      <p:sp>
        <p:nvSpPr>
          <p:cNvPr id="6" name="Rectángulo: esquinas redondeadas 5">
            <a:extLst>
              <a:ext uri="{FF2B5EF4-FFF2-40B4-BE49-F238E27FC236}">
                <a16:creationId xmlns:a16="http://schemas.microsoft.com/office/drawing/2014/main" id="{C9A91C1F-B23A-4843-9D6F-203C534A82C8}"/>
              </a:ext>
            </a:extLst>
          </p:cNvPr>
          <p:cNvSpPr>
            <a:spLocks noGrp="1"/>
          </p:cNvSpPr>
          <p:nvPr/>
        </p:nvSpPr>
        <p:spPr>
          <a:xfrm>
            <a:off x="6419850" y="666750"/>
            <a:ext cx="5219700" cy="4248150"/>
          </a:xfrm>
          <a:prstGeom prst="roundRect">
            <a:avLst>
              <a:gd name="adj" fmla="val 2242"/>
            </a:avLst>
          </a:prstGeom>
          <a:solidFill>
            <a:srgbClr val="FFFFFF"/>
          </a:solidFill>
          <a:ln w="9525">
            <a:solidFill>
              <a:srgbClr val="E7E3E5"/>
            </a:solidFill>
            <a:prstDash val="solid"/>
          </a:ln>
        </p:spPr>
        <p:txBody>
          <a:bodyPr/>
          <a:lstStyle/>
          <a:p>
            <a:endParaRPr/>
          </a:p>
        </p:txBody>
      </p:sp>
      <p:pic>
        <p:nvPicPr>
          <p:cNvPr id="16" name="Imagen 15"/>
          <p:cNvPicPr>
            <a:picLocks noChangeAspect="1"/>
          </p:cNvPicPr>
          <p:nvPr/>
        </p:nvPicPr>
        <p:blipFill>
          <a:blip r:embed="rId3"/>
          <a:srcRect l="16223" r="16223"/>
          <a:stretch>
            <a:fillRect/>
          </a:stretch>
        </p:blipFill>
        <p:spPr>
          <a:xfrm>
            <a:off x="6438900" y="685800"/>
            <a:ext cx="5181600" cy="4210050"/>
          </a:xfrm>
          <a:prstGeom prst="roundRect">
            <a:avLst/>
          </a:prstGeom>
        </p:spPr>
      </p:pic>
      <p:sp>
        <p:nvSpPr>
          <p:cNvPr id="8" name="Rectángulo 7">
            <a:extLst>
              <a:ext uri="{FF2B5EF4-FFF2-40B4-BE49-F238E27FC236}">
                <a16:creationId xmlns:a16="http://schemas.microsoft.com/office/drawing/2014/main" id="{65DF0C26-A832-446D-BE1D-E2D0C51EF5D9}"/>
              </a:ext>
            </a:extLst>
          </p:cNvPr>
          <p:cNvSpPr>
            <a:spLocks noGrp="1"/>
          </p:cNvSpPr>
          <p:nvPr/>
        </p:nvSpPr>
        <p:spPr>
          <a:xfrm>
            <a:off x="7772400" y="5048250"/>
            <a:ext cx="2571750" cy="228600"/>
          </a:xfrm>
          <a:prstGeom prst="rect">
            <a:avLst/>
          </a:prstGeom>
          <a:noFill/>
          <a:ln w="0">
            <a:noFill/>
          </a:ln>
        </p:spPr>
        <p:txBody>
          <a:bodyPr wrap="square" lIns="0" tIns="0" rIns="0" bIns="0" anchor="t">
            <a:noAutofit/>
          </a:bodyPr>
          <a:lstStyle/>
          <a:p>
            <a:pPr algn="ctr">
              <a:lnSpc>
                <a:spcPct val="104000"/>
              </a:lnSpc>
              <a:buNone/>
              <a:defRPr sz="1275" b="1">
                <a:solidFill>
                  <a:srgbClr val="FFFFFF"/>
                </a:solidFill>
                <a:latin typeface="Arial"/>
                <a:ea typeface="Arial"/>
                <a:cs typeface="Arial"/>
              </a:defRPr>
            </a:pPr>
            <a:r>
              <a:rPr sz="1275" b="1">
                <a:solidFill>
                  <a:srgbClr val="FFFFFF"/>
                </a:solidFill>
                <a:latin typeface="Arial"/>
                <a:ea typeface="Arial"/>
                <a:cs typeface="Arial"/>
              </a:rPr>
              <a:t>Physical prototype stream</a:t>
            </a:r>
          </a:p>
        </p:txBody>
      </p:sp>
      <p:pic>
        <p:nvPicPr>
          <p:cNvPr id="18" name="Imagen 17"/>
          <p:cNvPicPr>
            <a:picLocks noChangeAspect="1"/>
          </p:cNvPicPr>
          <p:nvPr/>
        </p:nvPicPr>
        <p:blipFill>
          <a:blip r:embed="rId4"/>
          <a:stretch/>
        </p:blipFill>
        <p:spPr>
          <a:xfrm>
            <a:off x="8248650" y="5770046"/>
            <a:ext cx="3143250" cy="709059"/>
          </a:xfrm>
          <a:prstGeom prst="roundRect">
            <a:avLst/>
          </a:prstGeom>
        </p:spPr>
      </p:pic>
    </p:spTree>
    <p:extLst>
      <p:ext uri="{BB962C8B-B14F-4D97-AF65-F5344CB8AC3E}">
        <p14:creationId xmlns:p14="http://schemas.microsoft.com/office/powerpoint/2010/main" val="6365409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D6E54195-700E-4987-97B1-9F6B39CA5C29}"/>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AFB4C0CE-1C00-49FD-A428-2187462683F6}"/>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Solution: WebCam with H264</a:t>
            </a:r>
          </a:p>
        </p:txBody>
      </p:sp>
      <p:sp>
        <p:nvSpPr>
          <p:cNvPr id="3" name="Rectángulo 2">
            <a:extLst>
              <a:ext uri="{FF2B5EF4-FFF2-40B4-BE49-F238E27FC236}">
                <a16:creationId xmlns:a16="http://schemas.microsoft.com/office/drawing/2014/main" id="{1A22150B-823A-40F8-AF42-E5E95B70EFF7}"/>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39F9313-55C5-4DDF-8023-4ADF4908E6E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sz="1125" b="1">
                <a:solidFill>
                  <a:srgbClr val="6F686D"/>
                </a:solidFill>
                <a:latin typeface="Arial"/>
                <a:ea typeface="Arial"/>
                <a:cs typeface="Arial"/>
              </a:rPr>
              <a:t>23</a:t>
            </a: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1">
                <a:solidFill>
                  <a:srgbClr val="830051"/>
                </a:solidFill>
                <a:latin typeface="Arial"/>
                <a:ea typeface="Arial"/>
                <a:cs typeface="Arial"/>
              </a:defRPr>
            </a:pPr>
            <a:r>
              <a:rPr sz="1800" b="1" dirty="0" err="1">
                <a:solidFill>
                  <a:srgbClr val="830051"/>
                </a:solidFill>
                <a:latin typeface="Arial"/>
                <a:ea typeface="Arial"/>
                <a:cs typeface="Arial"/>
              </a:rPr>
              <a:t>PENDING IMPLEMENTATION</a:t>
            </a:r>
          </a:p>
        </p:txBody>
      </p:sp>
      <p:sp>
        <p:nvSpPr>
          <p:cNvPr id="101" name="Signaling text 101"/>
          <p:cNvSpPr>
            <a:spLocks noGrp="1"/>
          </p:cNvSpPr>
          <p:nvPr/>
        </p:nvSpPr>
        <p:spPr>
          <a:xfrm>
            <a:off x="704850" y="2524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Proposed hardware</a:t>
            </a:r>
          </a:p>
        </p:txBody>
      </p:sp>
      <p:sp>
        <p:nvSpPr>
          <p:cNvPr id="102" name="Signaling text 102"/>
          <p:cNvSpPr>
            <a:spLocks noGrp="1"/>
          </p:cNvSpPr>
          <p:nvPr/>
        </p:nvSpPr>
        <p:spPr>
          <a:xfrm>
            <a:off x="4400550" y="2524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Use a webcam with a verified onboard H.264 encoder.</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Check H.264 output on the exact hardware revision.</a:t>
            </a:r>
          </a:p>
        </p:txBody>
      </p:sp>
      <p:sp>
        <p:nvSpPr>
          <p:cNvPr id="103" name="Signaling text 103"/>
          <p:cNvSpPr>
            <a:spLocks noGrp="1"/>
          </p:cNvSpPr>
          <p:nvPr/>
        </p:nvSpPr>
        <p:spPr>
          <a:xfrm>
            <a:off x="704850" y="3667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Planned media path</a:t>
            </a:r>
          </a:p>
        </p:txBody>
      </p:sp>
      <p:sp>
        <p:nvSpPr>
          <p:cNvPr id="104" name="Signaling text 104"/>
          <p:cNvSpPr>
            <a:spLocks noGrp="1"/>
          </p:cNvSpPr>
          <p:nvPr/>
        </p:nvSpPr>
        <p:spPr>
          <a:xfrm>
            <a:off x="4400550" y="3667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Capture browser-compatible H.264 directly and feed it</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into the existing RTP and WebRTC pipeline.</a:t>
            </a:r>
          </a:p>
        </p:txBody>
      </p:sp>
      <p:sp>
        <p:nvSpPr>
          <p:cNvPr id="105" name="Signaling text 105"/>
          <p:cNvSpPr>
            <a:spLocks noGrp="1"/>
          </p:cNvSpPr>
          <p:nvPr/>
        </p:nvSpPr>
        <p:spPr>
          <a:xfrm>
            <a:off x="704850" y="4810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Expected benefit</a:t>
            </a:r>
          </a:p>
        </p:txBody>
      </p:sp>
      <p:sp>
        <p:nvSpPr>
          <p:cNvPr id="106" name="Signaling text 106"/>
          <p:cNvSpPr>
            <a:spLocks noGrp="1"/>
          </p:cNvSpPr>
          <p:nvPr/>
        </p:nvSpPr>
        <p:spPr>
          <a:xfrm>
            <a:off x="4400550" y="4810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Skip MJPEG decoding and software H.264 encoding.</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Measure CPU savings and latency after integration.</a:t>
            </a:r>
          </a:p>
        </p:txBody>
      </p:sp>
    </p:spTree>
    <p:extLst>
      <p:ext uri="{BB962C8B-B14F-4D97-AF65-F5344CB8AC3E}">
        <p14:creationId xmlns:p14="http://schemas.microsoft.com/office/powerpoint/2010/main" val="674036520"/>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06478f47-69e8-4291-a44a-cc65aad15a8f}" enabled="1" method="Standard" siteId="{96c20d9e-b612-4c42-b402-9b9bc895eddf}" contentBits="0" removed="0"/>
</clbl:labelList>
</file>

<file path=docProps/app.xml><?xml version="1.0" encoding="utf-8"?>
<Properties xmlns="http://schemas.openxmlformats.org/officeDocument/2006/extended-properties" xmlns:vt="http://schemas.openxmlformats.org/officeDocument/2006/docPropsVTypes">
  <TotalTime>3</TotalTime>
  <Words>6255</Words>
  <Application>Microsoft Office PowerPoint</Application>
  <DocSecurity>0</DocSecurity>
  <PresentationFormat>Panorámica</PresentationFormat>
  <Paragraphs>845</Paragraphs>
  <Slides>36</Slides>
  <Notes>36</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36</vt:i4>
      </vt:variant>
    </vt:vector>
  </HeadingPairs>
  <TitlesOfParts>
    <vt:vector size="40" baseType="lpstr">
      <vt:lpstr>Arial</vt:lpstr>
      <vt:lpstr>Calibri</vt:lpstr>
      <vt:lpstr>Consolas</vt:lpstr>
      <vt:lpstr>ChatGPT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Solution: WebCam with H264</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Raul Hidalgo</cp:lastModifiedBy>
  <cp:revision>6</cp:revision>
  <dcterms:created xsi:type="dcterms:W3CDTF">2026-09-06T22:45:51Z</dcterms:created>
  <dcterms:modified xsi:type="dcterms:W3CDTF">2026-09-07T15:37:17Z</dcterms:modified>
</cp:coreProperties>
</file>